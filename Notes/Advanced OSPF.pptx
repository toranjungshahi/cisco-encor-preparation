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8FFE309-7343-4538-A7F7-E8CF0C7B6DCD}" type="slidenum"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0E1B94-BC5E-4E14-9986-560C243B4AAE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B7F763-CDF8-4E63-B4E2-62670FC4305E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A9F164-E513-4B38-9C3C-32B4A750EB1C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103E43-4550-48BF-92B3-BB2B1BF38237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9EE358-36BD-4A68-8F8E-97C6A6355145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0431CB-86AE-434C-B01D-C044C600DA89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+mn-lt"/>
              </a:rPr>
              <a:t>Red keywords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, </a:t>
            </a:r>
            <a:r>
              <a:rPr lang="en-AU" sz="2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+mn-lt"/>
              </a:rPr>
              <a:t>blue values</a:t>
            </a:r>
            <a:endParaRPr lang="en-A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02F4A0-3009-4CDC-B388-1B8F4CBB72CB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+mn-lt"/>
              </a:rPr>
              <a:t>Red keywords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, </a:t>
            </a:r>
            <a:r>
              <a:rPr lang="en-AU" sz="2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+mn-lt"/>
              </a:rPr>
              <a:t>blue values</a:t>
            </a:r>
            <a:endParaRPr lang="en-A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F0834B-1C17-4F8D-9AF8-D024BB33EF7D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+mn-lt"/>
              </a:rPr>
              <a:t>Red keywords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, </a:t>
            </a:r>
            <a:r>
              <a:rPr lang="en-AU" sz="2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+mn-lt"/>
              </a:rPr>
              <a:t>blue values, </a:t>
            </a:r>
            <a:r>
              <a:rPr lang="en-AU" sz="2600" b="0" u="none" strike="noStrike">
                <a:solidFill>
                  <a:srgbClr val="4EA72E"/>
                </a:solidFill>
                <a:effectLst/>
                <a:uFillTx/>
                <a:latin typeface="Aptos"/>
                <a:ea typeface="+mn-lt"/>
              </a:rPr>
              <a:t>[Options]</a:t>
            </a:r>
            <a:endParaRPr lang="en-A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F2C72D-139C-43D6-B418-D8B34804FD77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+mn-lt"/>
              </a:rPr>
              <a:t>Red keywords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, </a:t>
            </a:r>
            <a:r>
              <a:rPr lang="en-AU" sz="2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+mn-lt"/>
              </a:rPr>
              <a:t>blue values, </a:t>
            </a:r>
            <a:r>
              <a:rPr lang="en-AU" sz="2600" b="0" u="none" strike="noStrike">
                <a:solidFill>
                  <a:srgbClr val="4EA72E"/>
                </a:solidFill>
                <a:effectLst/>
                <a:uFillTx/>
                <a:latin typeface="Aptos"/>
                <a:ea typeface="+mn-lt"/>
              </a:rPr>
              <a:t>[Options]</a:t>
            </a:r>
            <a:endParaRPr lang="en-A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6B1A6F-599E-42B7-9719-B880B47C9111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AU" sz="2200" b="0" u="none" strike="noStrike">
                <a:solidFill>
                  <a:srgbClr val="C00000"/>
                </a:solidFill>
                <a:effectLst/>
                <a:uFillTx/>
                <a:latin typeface="Arial"/>
                <a:ea typeface="+mn-lt"/>
              </a:rPr>
              <a:t>Red keywords</a:t>
            </a:r>
            <a:r>
              <a:rPr lang="en-A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, </a:t>
            </a:r>
            <a:r>
              <a:rPr lang="en-AU" sz="2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+mn-lt"/>
              </a:rPr>
              <a:t>blue values, </a:t>
            </a:r>
            <a:r>
              <a:rPr lang="en-AU" sz="2600" b="0" u="none" strike="noStrike">
                <a:solidFill>
                  <a:srgbClr val="4EA72E"/>
                </a:solidFill>
                <a:effectLst/>
                <a:uFillTx/>
                <a:latin typeface="Aptos"/>
                <a:ea typeface="+mn-lt"/>
              </a:rPr>
              <a:t>[Options]</a:t>
            </a:r>
            <a:endParaRPr lang="en-A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66D2C7-E1ED-49AA-985D-5D6343B5E504}" type="slidenum">
              <a:rPr lang="en-A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68009-B431-4BF4-B1A3-C4F370AD0CA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11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8C6520-D7B6-4F1B-AD99-46A6E86E6A1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58501-415E-4A08-A673-C09BBC61D8B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E32CF9-FE3C-42C5-8ECB-0D0E0AAA823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1E8067-632E-4852-91D2-AD32294A861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F5F152-FE20-4BE2-B661-B9972E1B468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C3F741-A8D8-47A0-A2E9-100039AAC4B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FBD493-5BA8-48AA-877F-2363EDC98D2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7706D-95FB-4C4B-B4A6-F7967EF4D83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3D72AE-A6CC-4036-A8AD-7AC00D32BDD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A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A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AB9FF7-DD4D-4E2D-84C9-0B0A0AC7389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A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41320" y="548640"/>
            <a:ext cx="3273120" cy="543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rgbClr val="C00000"/>
                </a:solidFill>
                <a:effectLst/>
                <a:uFillTx/>
                <a:latin typeface="Aptos Display"/>
              </a:rPr>
              <a:t>Advanced Open Shortest Path First </a:t>
            </a:r>
            <a:br>
              <a:rPr sz="5400"/>
            </a:br>
            <a:r>
              <a:rPr lang="en-US" sz="5400" b="0" u="none" strike="noStrike">
                <a:solidFill>
                  <a:srgbClr val="C00000"/>
                </a:solidFill>
                <a:effectLst/>
                <a:uFillTx/>
                <a:latin typeface="Aptos Display"/>
              </a:rPr>
              <a:t>(OSPF)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4793400" y="337320"/>
            <a:ext cx="7125480" cy="62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Learning Outcomes: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ptos Display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Areas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Link State Advertisement (LSA)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Discontiguous Networks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OSPF Path Selection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Summarization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4EA72E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800" b="1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Route Filtering</a:t>
            </a: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A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9360"/>
            <a:ext cx="4280040" cy="1709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1. Areas 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63720" y="492840"/>
            <a:ext cx="7188840" cy="593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Logical partition of AS or grouping of router interfaces.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Floods and calculation of Dijsktra's algorithm is limited by area.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router in an area has exact same LSDB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To prevent overflooding, Dijsktra's algorithm run and limit size of LSDB, multiple area are needed.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Routes from one area to another are only injected via area 0 (backbone area).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Routers connecting area 0 to other areas (can be connected to multiple) are called Area Border Router (ABR).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Area ID can be in decimal format or dotted decimal format. Such as 0 or 0.0.0.0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0" name="Picture 3" descr="A diagram of a area&#10;&#10;AI-generated content may be incorrect."/>
          <p:cNvPicPr/>
          <p:nvPr/>
        </p:nvPicPr>
        <p:blipFill>
          <a:blip r:embed="rId1"/>
          <a:stretch/>
        </p:blipFill>
        <p:spPr>
          <a:xfrm>
            <a:off x="179640" y="3247920"/>
            <a:ext cx="4379400" cy="234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5"/>
          <p:cNvSpPr/>
          <p:nvPr/>
        </p:nvSpPr>
        <p:spPr>
          <a:xfrm>
            <a:off x="178200" y="2501280"/>
            <a:ext cx="40190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ABR R1 has interfaces in Area 0,1 and 2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8804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Link State Advertisement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340880" y="260640"/>
            <a:ext cx="7513920" cy="63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 Types of LSA used for IPv4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1 Router Link: Each router in OSPF area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2 Network Link: DR in multi-access (broadcast) segment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3 Network Summary: ABR originated for inter area link advertisement.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4 ASBR: Summary LSA for specific ASBR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5 AS External: External redistributed route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7 External NSSA: Advertises redistributed routes to NSSA.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External routes are learned from outside of OSPF domain and are injected through redistribution.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1,2 and 3 are used to create SPT for intra-area and inter-area communication.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159440" cy="1718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Link State Advertisement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851720" y="241920"/>
            <a:ext cx="7077240" cy="212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1: Router Link LSA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Exists for each OSPF enabled links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All links in same area of a router is advertised in a single Type 1 LSA identified by Link ID/RID.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Each link defined in Type 1 LSA has type of link (Stub, Transit, P2P), Link ID, Link Data and Metrics.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76" name="Table 4"/>
          <p:cNvGraphicFramePr/>
          <p:nvPr/>
        </p:nvGraphicFramePr>
        <p:xfrm>
          <a:off x="5027400" y="2694960"/>
          <a:ext cx="6905880" cy="3757680"/>
        </p:xfrm>
        <a:graphic>
          <a:graphicData uri="http://schemas.openxmlformats.org/drawingml/2006/table">
            <a:tbl>
              <a:tblPr/>
              <a:tblGrid>
                <a:gridCol w="2382840"/>
                <a:gridCol w="4523040"/>
              </a:tblGrid>
              <a:tr h="371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Field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</a:rPr>
                        <a:t>Description</a:t>
                      </a:r>
                      <a:endParaRPr lang="en-A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324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5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Age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age since LSA was generated. Discarded after max age time. 3600 Sec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324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5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  State ID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ID, usually same as RID of advertising router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16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ADV Router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RID of the advertising router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5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Seq#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seq# to identify old/stale and new LSA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60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Checksum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LSA Fletcher checksum 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52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Link Count</a:t>
                      </a:r>
                      <a:endParaRPr lang="en-A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Number of links connected to advertising router</a:t>
                      </a:r>
                      <a:endParaRPr lang="en-A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800">
                      <a:solidFill>
                        <a:srgbClr val="FFFFFF"/>
                      </a:solidFill>
                      <a:prstDash val="solid"/>
                    </a:lnL>
                    <a:lnR w="10800">
                      <a:solidFill>
                        <a:srgbClr val="FFFFFF"/>
                      </a:solidFill>
                      <a:prstDash val="solid"/>
                    </a:lnR>
                    <a:lnT w="1080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7" name="Picture 3" descr="A screenshot of a computer screen&#10;&#10;AI-generated content may be incorrect."/>
          <p:cNvPicPr/>
          <p:nvPr/>
        </p:nvPicPr>
        <p:blipFill>
          <a:blip r:embed="rId1"/>
          <a:stretch/>
        </p:blipFill>
        <p:spPr>
          <a:xfrm>
            <a:off x="100800" y="1887480"/>
            <a:ext cx="4537440" cy="482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880440" cy="6857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Link State Advertisement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312800" y="241920"/>
            <a:ext cx="7616160" cy="25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2: Network Link LSA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DR on a broadcast network segment in an area sends type 2 LSA.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Link State ID is the Designated Router interface IP in the segment.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2 LSA contains network mask of the segment and the routers(RID) connected in the segment.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0" name="Picture 3" descr="A computer screen 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4310640" y="2904120"/>
            <a:ext cx="7380360" cy="371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464720" cy="1607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Link State Advertisement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619520" y="241920"/>
            <a:ext cx="7309440" cy="425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3: Summary LSA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ABR constructs Type 3 LSA from received Type 1 LSA for an area and forwards them to area 0 to make sure that the networks in non-backbone area is reachable.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an ABR receives Type 3 LSA from area 0(reference), it constructs new Type 3 LSA for non-backbone area.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Thus, Type 3 LSAs are generated by ABR only.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Cost metric in Type 3 LSA is the total of cost metric in original LSA (Type 1 or Type 3) plus the metric to reach the Type 1 or Type 3 originating router.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cost metric for inter area prefix will be calculated at a non-backbone router as cost to reach the ABR generating Type 3 LSA plus metric in received Type 3 LSA.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ABR uses best path metric while constructing Type 3 LSA to the prefix even if it has multiple path to reach the prefix.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3" name="Picture 3" descr="A screenshot of a computer screen&#10;&#10;AI-generated content may be incorrect."/>
          <p:cNvPicPr/>
          <p:nvPr/>
        </p:nvPicPr>
        <p:blipFill>
          <a:blip r:embed="rId1"/>
          <a:stretch/>
        </p:blipFill>
        <p:spPr>
          <a:xfrm>
            <a:off x="6091560" y="4266360"/>
            <a:ext cx="4295520" cy="24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4" descr="A computer screen shot of a computer&#10;&#10;AI-generated content may be incorrect."/>
          <p:cNvPicPr/>
          <p:nvPr/>
        </p:nvPicPr>
        <p:blipFill>
          <a:blip r:embed="rId2"/>
          <a:stretch/>
        </p:blipFill>
        <p:spPr>
          <a:xfrm>
            <a:off x="262080" y="1714680"/>
            <a:ext cx="3803400" cy="506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464720" cy="1607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2. Link State Advertisement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619520" y="241920"/>
            <a:ext cx="7180920" cy="189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Type 3: Summary LSA Construction and Flow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Each link is Ethernet link and has metric 1.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What other LSA flow in this network?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Between which routers?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7" name="Picture 3" descr="A diagram of a dia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945000" y="2501280"/>
            <a:ext cx="9629640" cy="435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597840" cy="6855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3. Discontiguous Network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886200" y="241920"/>
            <a:ext cx="8042760" cy="58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Every non-backbone area needs to have an ABR that has at least one interface in backbone area (area 0).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not, the network is considered as discontiguous that affects inter-area communication.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non-backbone area must be connected to backbone area physically or virtually.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Virtual links can be configured in non-backbone transit area to connect distant non-backbone area to backbone area.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(config)#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router ospf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R1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(config-router)#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area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3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virtual-link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3.3.3.3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R3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(config)#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router ospf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R3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(config-router)#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area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3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virtual-link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Aptos"/>
                <a:ea typeface="Aptos"/>
              </a:rPr>
              <a:t>1.1.1.1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732480" cy="18190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4. OSPF Path Selection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177440" y="241920"/>
            <a:ext cx="7751520" cy="631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Multi-area path selection preference: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Intra-area (O)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Inter-area (O IA)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External Type 1 (O E1): Internal + external cost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External Type 2 (O E2): External cost only (redistribution)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If multiple intra-area paths to a prefix, then path with least path metric.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there is tie in path metric, then all the paths with equal cost is installed into RIB.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By default, OSPF installs upto 4 equal cost paths (ECMP) into RIB.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Default value can be changed with </a:t>
            </a:r>
            <a:r>
              <a:rPr lang="en-US" sz="28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maximum-paths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2800" b="0" u="none" strike="noStrike">
                <a:solidFill>
                  <a:schemeClr val="accent1"/>
                </a:solidFill>
                <a:effectLst/>
                <a:uFillTx/>
                <a:latin typeface="Aptos"/>
              </a:rPr>
              <a:t>maximum-paths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command under ospf process.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any inter-area path to be installed in RIB, it must traverse through backbone area (area 0).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R1 to reach prefix 10.4.4.0/24: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Path-1:R1-R3-R4, metric 111, intra-area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Path-2:R1-R2-R4, metric 12, inter-area 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R1 selects Path-1 as it is intra-area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2" name="Picture 3" descr="A diagram of a cloud with blue circles and arrows&#10;&#10;AI-generated content may be incorrect."/>
          <p:cNvPicPr/>
          <p:nvPr/>
        </p:nvPicPr>
        <p:blipFill>
          <a:blip r:embed="rId1"/>
          <a:stretch/>
        </p:blipFill>
        <p:spPr>
          <a:xfrm rot="16200000">
            <a:off x="-283320" y="2597400"/>
            <a:ext cx="4551120" cy="34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886920" cy="18190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5. Summarization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166640" y="429840"/>
            <a:ext cx="7795800" cy="579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Summarization occurs in ABR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Without summarization, Type 3 LSA at ABR needs to be modified as per the changes inside an area.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Summarization suppresses Type 3 LSA for all subordinate routes and creates single summary aggregate Type 3 LSA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Summariza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tion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helps to reduce the size of LSDB, number of SPF calculations and number of Link State Advertisements.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The metric for summary LSA is the lowest metric of the subordinate prefixes.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Change in subordinate prefix metrics needs to be reflected in summary LSA metric, thus explicitly setting summary metric LSA is preferred.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Summarization in OSPF creates a discard route to null0 interface on ABR to prevent routing loops.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Such route has AD of 110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118800" y="2078280"/>
            <a:ext cx="3888720" cy="36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Command: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area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rial"/>
              </a:rPr>
              <a:t>area-id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range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rial"/>
              </a:rPr>
              <a:t>network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rial"/>
              </a:rPr>
              <a:t>subnet-mask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4EA72E"/>
                </a:solidFill>
                <a:effectLst/>
                <a:uFillTx/>
                <a:latin typeface="Aptos"/>
                <a:ea typeface="Arial"/>
              </a:rPr>
              <a:t>[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advertise</a:t>
            </a:r>
            <a:r>
              <a:rPr lang="en-US" sz="2000" b="0" u="none" strike="noStrike">
                <a:solidFill>
                  <a:srgbClr val="4EA72E"/>
                </a:solidFill>
                <a:effectLst/>
                <a:uFillTx/>
                <a:latin typeface="Aptos"/>
                <a:ea typeface="Arial"/>
              </a:rPr>
              <a:t> |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not-advertise</a:t>
            </a:r>
            <a:r>
              <a:rPr lang="en-US" sz="2000" b="0" u="none" strike="noStrike">
                <a:solidFill>
                  <a:srgbClr val="4EA72E"/>
                </a:solidFill>
                <a:effectLst/>
                <a:uFillTx/>
                <a:latin typeface="Aptos"/>
                <a:ea typeface="Arial"/>
              </a:rPr>
              <a:t>] [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cost</a:t>
            </a:r>
            <a:r>
              <a:rPr lang="en-US" sz="2000" b="0" u="none" strike="noStrike">
                <a:solidFill>
                  <a:srgbClr val="4EA72E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rial"/>
              </a:rPr>
              <a:t>metric</a:t>
            </a:r>
            <a:r>
              <a:rPr lang="en-US" sz="2000" b="0" u="none" strike="noStrike">
                <a:solidFill>
                  <a:srgbClr val="4EA72E"/>
                </a:solidFill>
                <a:effectLst/>
                <a:uFillTx/>
                <a:latin typeface="Aptos"/>
                <a:ea typeface="Arial"/>
              </a:rPr>
              <a:t>]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Example: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Summarize 10.10.1.0/25 and 10.10.1.128/25 at R2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R2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(config)#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router ospf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rial"/>
              </a:rPr>
              <a:t>1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rial"/>
              </a:rPr>
              <a:t>R2(config-router)#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rial"/>
              </a:rPr>
              <a:t> area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1 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range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10.10.1.0 255.255.255.0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cost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886920" cy="18190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6. Route Filtering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242960" y="182520"/>
            <a:ext cx="7730280" cy="457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Manipulate traffic flows, reduce memory utilization, or improve security.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Filtering with Summarization: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Example: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indent="-22860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area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 </a:t>
            </a:r>
            <a:r>
              <a:rPr lang="en-US" sz="2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1 </a:t>
            </a:r>
            <a:r>
              <a:rPr lang="en-US" sz="2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range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2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10.10.1.0 255.255.255.0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2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not-advertise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Limited in capability as it can be applied at ABR only.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Prevents routes being advertised to backbone area as well.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Area Filtering: Filtering Type 3 LSA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 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More flexible filtering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Filter prefixes at ABR from entering(in) and leaving (out) the area.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Filtered during generation of Type 3 LSA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0028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Area Filtering order is shown below.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98" name="Picture 3" descr="A diagram of a software process&#10;&#10;AI-generated content may be incorrect."/>
          <p:cNvPicPr/>
          <p:nvPr/>
        </p:nvPicPr>
        <p:blipFill>
          <a:blip r:embed="rId1"/>
          <a:stretch/>
        </p:blipFill>
        <p:spPr>
          <a:xfrm>
            <a:off x="4953600" y="4951440"/>
            <a:ext cx="6284880" cy="176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7"/>
          <p:cNvSpPr/>
          <p:nvPr/>
        </p:nvSpPr>
        <p:spPr>
          <a:xfrm>
            <a:off x="26640" y="1879920"/>
            <a:ext cx="4293360" cy="36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90000"/>
              </a:lnSpc>
              <a:spcBef>
                <a:spcPts val="499"/>
              </a:spcBef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Area Filtering Command:</a:t>
            </a: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area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area-id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filter-list prefix 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prefix-list-name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{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in</a:t>
            </a:r>
            <a:r>
              <a:rPr lang="en-US" sz="1600" b="0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 |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out</a:t>
            </a:r>
            <a:r>
              <a:rPr lang="en-US" sz="1600" b="0" u="none" strike="noStrike">
                <a:solidFill>
                  <a:schemeClr val="accent6"/>
                </a:solidFill>
                <a:effectLst/>
                <a:uFillTx/>
                <a:latin typeface="Aptos"/>
              </a:rPr>
              <a:t>}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Example: 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Filter prefixes of area 1, 10.10.1.0/24 from entering area 2 but not in area 0.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R3(config)#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ip prefix-list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AREA1-IN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seq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 10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deny 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10.10.1.0/24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R3(config)#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ip prefix-list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 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AREA1-IN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seq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 20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permit 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0.0.0.0 le 32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R3(config)# 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router ospf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1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R3(config-router)# 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area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1 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filter-list prefix </a:t>
            </a:r>
            <a:r>
              <a:rPr lang="en-US" sz="1600" b="0" u="none" strike="noStrike">
                <a:solidFill>
                  <a:srgbClr val="156082"/>
                </a:solidFill>
                <a:effectLst/>
                <a:uFillTx/>
                <a:latin typeface="Aptos"/>
              </a:rPr>
              <a:t>AREA1-IN 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in</a:t>
            </a:r>
            <a:endParaRPr lang="en-A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4384080" cy="18190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6. Route Filtering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739400" y="182520"/>
            <a:ext cx="7222680" cy="456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457200" indent="-45720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Local OSPF Filtering- Filtering with distribute list: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Filter prefixes from installing into specific router RIB of an area.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Route exists in LSDB but not in routing table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Configuring distribute list on ABR prevents regeneration of Type 3 LSA coming from backbone area.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Because this regeneration happens after processing distribute list.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Thus, using distribute list to filter inter area prefixes is not recommended.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1" indent="-4572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rial"/>
              </a:rPr>
              <a:t>Below figure shows the order of Local OSPF filtering. With exception that Type 3 LSA regeneration from reference Type 3 LSA happens after distribute list.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02" name="Picture 5" descr="A diagram of a process flow&#10;&#10;AI-generated content may be incorrect."/>
          <p:cNvPicPr/>
          <p:nvPr/>
        </p:nvPicPr>
        <p:blipFill>
          <a:blip r:embed="rId1"/>
          <a:stretch/>
        </p:blipFill>
        <p:spPr>
          <a:xfrm>
            <a:off x="5755320" y="4855320"/>
            <a:ext cx="5879160" cy="166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8"/>
          <p:cNvSpPr/>
          <p:nvPr/>
        </p:nvSpPr>
        <p:spPr>
          <a:xfrm>
            <a:off x="-54000" y="1786320"/>
            <a:ext cx="5274000" cy="52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90000"/>
              </a:lnSpc>
              <a:spcBef>
                <a:spcPts val="499"/>
              </a:spcBef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Command:</a:t>
            </a:r>
            <a:endParaRPr lang="en-A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distribute-list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{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acl-number</a:t>
            </a: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acl-name</a:t>
            </a: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prefix</a:t>
            </a: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prefix-list-name</a:t>
            </a: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 |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route-map</a:t>
            </a: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route-map-name</a:t>
            </a:r>
            <a:r>
              <a:rPr lang="en-US" sz="2000" b="0" u="none" strike="noStrike">
                <a:solidFill>
                  <a:schemeClr val="accent6"/>
                </a:solidFill>
                <a:effectLst/>
                <a:uFillTx/>
                <a:latin typeface="Aptos"/>
                <a:ea typeface="Aptos"/>
              </a:rPr>
              <a:t>}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in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Example: 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Filter prefixes of area 2, 10.10.2.0/24 from installing into R4 RIB.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R4(config)#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ip prefix-list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BLOCK-102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seq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 10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deny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10.10.2.0/24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R4(config)#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ip prefix-list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 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BLOCK-102 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seq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 20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permit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0.0.0.0 le 32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R4(config)# 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router ospf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R4(config-router)# 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distribute-list prefix </a:t>
            </a:r>
            <a:r>
              <a:rPr lang="en-US" sz="2000" b="0" u="none" strike="noStrike">
                <a:solidFill>
                  <a:srgbClr val="156082"/>
                </a:solidFill>
                <a:effectLst/>
                <a:uFillTx/>
                <a:latin typeface="Aptos"/>
                <a:ea typeface="Aptos"/>
              </a:rPr>
              <a:t>BLOCK-102 </a:t>
            </a:r>
            <a:r>
              <a:rPr lang="en-US" sz="2000" b="0" u="none" strike="noStrike">
                <a:solidFill>
                  <a:srgbClr val="C00000"/>
                </a:solidFill>
                <a:effectLst/>
                <a:uFillTx/>
                <a:latin typeface="Aptos"/>
                <a:ea typeface="Aptos"/>
              </a:rPr>
              <a:t>in</a:t>
            </a:r>
            <a:endParaRPr lang="en-A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A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1539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  <dc:creator/>
  <dc:description/>
  <dc:language>en-AU</dc:language>
  <cp:lastModifiedBy/>
  <dcterms:modified xsi:type="dcterms:W3CDTF">2026-09-17T13:02:17Z</dcterms:modified>
  <cp:revision>1434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