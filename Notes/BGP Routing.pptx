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3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90000"/>
              </a:lnSpc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move the slide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24549DB-6987-4F9F-A0CA-09EA47B27FE4}" type="slidenum">
              <a: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hyperlink" Target="https://en.wikipedia.org/wiki/Border_Gateway_Protocol" TargetMode="External"/><Relationship Id="rId2" Type="http://schemas.openxmlformats.org/officeDocument/2006/relationships/slide" Target="../slides/slide2.xml"/><Relationship Id="rId3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RFC 1654 for BGP-4 and RFC 1655 defines ‘Application of the BGP in the Internet’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sng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Wiki BGP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F15481F-7A11-4398-BFB0-C741A4014AA8}" type="slidenum">
              <a: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RFC 1654 for BGP-4 and RFC 1655 defines ‘Application of the BGP in the Internet’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A446B16-A545-4412-929A-B177F5FE473D}" type="slidenum">
              <a: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RFC 1654 for BGP-4 and RFC 1655 defines ‘Application of the BGP in the Internet’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54E6B8E-76DB-4B2F-89EF-7D9F4A85085E}" type="slidenum">
              <a: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RFC 1654 for BGP-4 and RFC 1655 defines ‘Application of the BGP in the Internet’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BB1F10A-D934-47D7-B7E3-42A28CC8FD39}" type="slidenum">
              <a: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RFC 1654 for BGP-4 and RFC 1655 defines ‘Application of the BGP in the Internet’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76FB827-4F17-43E6-B50B-B267F9F5C875}" type="slidenum">
              <a: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RFC 1654 for BGP-4 and RFC 1655 defines ‘Application of the BGP in the Internet’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2DC1306-9E0E-4E3C-A77B-C41115F06D97}" type="slidenum">
              <a: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RFC 1654 for BGP-4 and RFC 1655 defines ‘Application of the BGP in the Internet’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AF3DE61-80D2-447E-8200-E20FB0EF1EC0}" type="slidenum">
              <a: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RFC 1654 for BGP-4 and RFC 1655 defines ‘Application of the BGP in the Internet’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9F12587-46B4-48D2-9A25-085C4BB4E171}" type="slidenum">
              <a: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RFC 1654 for BGP-4 and RFC 1655 defines ‘Application of the BGP in the Internet’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88109B4-C109-4687-AA9D-1E55B27D6A22}" type="slidenum">
              <a: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RFC 1654 for BGP-4 and RFC 1655 defines ‘Application of the BGP in the Internet’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0566C15-AA8A-4430-B897-B6EB7E012E75}" type="slidenum">
              <a: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RFC 1654 for BGP-4 and RFC 1655 defines ‘Application of the BGP in the Internet’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90A06E7-41BD-4DED-9B07-03FDF3F27355}" type="slidenum">
              <a: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RFC 1654 for BGP-4 and RFC 1655 defines ‘Application of the BGP in the Internet’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300804B-AFE1-46AE-B74F-F10DD14E39A6}" type="slidenum">
              <a:rPr lang="en-A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A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A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A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266C2B-64F8-4D2F-AEF3-522F722B63C3}" type="slidenum">
              <a:rPr lang="en-A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13</a:t>
            </a:fld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A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A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A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2F38EE-5D56-4D70-B1C3-2C6C5F634897}" type="slidenum">
              <a:rPr lang="en-A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13</a:t>
            </a:fld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datatracker.ietf.org/doc/html/rfc4271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https://www.apnic.net/get-ip/get-ip-addresses-asn/check-your-eligibility/check-asn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41320" y="548640"/>
            <a:ext cx="3118680" cy="543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5400" b="0" u="none" strike="noStrike">
                <a:solidFill>
                  <a:srgbClr val="C00000"/>
                </a:solidFill>
                <a:effectLst/>
                <a:uFillTx/>
                <a:latin typeface="Aptos Display"/>
              </a:rPr>
              <a:t>BGP Routing</a:t>
            </a:r>
            <a:endParaRPr lang="en-US" sz="5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0" name="sketch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2544120" y="3258360"/>
            <a:ext cx="4480200" cy="18000"/>
          </a:xfrm>
          <a:custGeom>
            <a:avLst/>
            <a:gdLst>
              <a:gd name="textAreaLeft" fmla="*/ 0 w 4480200"/>
              <a:gd name="textAreaRight" fmla="*/ 4480560 w 4480200"/>
              <a:gd name="textAreaTop" fmla="*/ 0 h 18000"/>
              <a:gd name="textAreaBottom" fmla="*/ 18360 h 18000"/>
              <a:gd name="GluePoint1X" fmla="*/ 0 w 4480560"/>
              <a:gd name="GluePoint1Y" fmla="*/ 0 h 18288"/>
              <a:gd name="GluePoint2X" fmla="*/ 595274 w 4480560"/>
              <a:gd name="GluePoint2Y" fmla="*/ 0 h 18288"/>
              <a:gd name="GluePoint3X" fmla="*/ 1100938 w 4480560"/>
              <a:gd name="GluePoint3Y" fmla="*/ 0 h 18288"/>
              <a:gd name="GluePoint4X" fmla="*/ 1651406 w 4480560"/>
              <a:gd name="GluePoint4Y" fmla="*/ 0 h 18288"/>
              <a:gd name="GluePoint5X" fmla="*/ 2336292 w 4480560"/>
              <a:gd name="GluePoint5Y" fmla="*/ 0 h 18288"/>
              <a:gd name="GluePoint6X" fmla="*/ 2931566 w 4480560"/>
              <a:gd name="GluePoint6Y" fmla="*/ 0 h 18288"/>
              <a:gd name="GluePoint7X" fmla="*/ 3482035 w 4480560"/>
              <a:gd name="GluePoint7Y" fmla="*/ 0 h 18288"/>
              <a:gd name="GluePoint8X" fmla="*/ 4480560 w 4480560"/>
              <a:gd name="GluePoint8Y" fmla="*/ 0 h 18288"/>
              <a:gd name="GluePoint9X" fmla="*/ 4480560 w 4480560"/>
              <a:gd name="GluePoint9Y" fmla="*/ 18288 h 18288"/>
              <a:gd name="GluePoint10X" fmla="*/ 3840480 w 4480560"/>
              <a:gd name="GluePoint10Y" fmla="*/ 18288 h 18288"/>
              <a:gd name="GluePoint11X" fmla="*/ 3290011 w 4480560"/>
              <a:gd name="GluePoint11Y" fmla="*/ 18288 h 18288"/>
              <a:gd name="GluePoint12X" fmla="*/ 2560320 w 4480560"/>
              <a:gd name="GluePoint12Y" fmla="*/ 18288 h 18288"/>
              <a:gd name="GluePoint13X" fmla="*/ 1965046 w 4480560"/>
              <a:gd name="GluePoint13Y" fmla="*/ 18288 h 18288"/>
              <a:gd name="GluePoint14X" fmla="*/ 1459382 w 4480560"/>
              <a:gd name="GluePoint14Y" fmla="*/ 18288 h 18288"/>
              <a:gd name="GluePoint15X" fmla="*/ 774497 w 4480560"/>
              <a:gd name="GluePoint15Y" fmla="*/ 18288 h 18288"/>
              <a:gd name="GluePoint16X" fmla="*/ 0 w 4480560"/>
              <a:gd name="GluePoint16Y" fmla="*/ 18288 h 18288"/>
              <a:gd name="GluePoint17X" fmla="*/ 0 w 4480560"/>
              <a:gd name="GluePoint17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</a:cxnLst>
            <a:rect l="textAreaLeft" t="textAreaTop" r="textAreaRight" b="textAreaBottom"/>
            <a:pathLst>
              <a:path fill="none" w="4480560" h="18288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stroke="0" w="4480560" h="18288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cap="rnd" w="41275">
            <a:solidFill>
              <a:srgbClr val="E97132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793400" y="337320"/>
            <a:ext cx="7125480" cy="6280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Learning Outcomes:</a:t>
            </a:r>
            <a:endParaRPr lang="en-A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00240" lvl="1" indent="-457200" algn="l" defTabSz="914400">
              <a:lnSpc>
                <a:spcPct val="90000"/>
              </a:lnSpc>
              <a:spcBef>
                <a:spcPts val="499"/>
              </a:spcBef>
              <a:buClr>
                <a:srgbClr val="4EA72E"/>
              </a:buClr>
              <a:buFont typeface="Aptos Display"/>
              <a:buAutoNum type="arabicPeriod"/>
              <a:tabLst>
                <a:tab pos="0" algn="l"/>
              </a:tabLst>
            </a:pPr>
            <a:r>
              <a:rPr lang="en-US" sz="2800" b="1" u="none" strike="noStrike">
                <a:solidFill>
                  <a:schemeClr val="accent6"/>
                </a:solidFill>
                <a:effectLst/>
                <a:uFillTx/>
                <a:latin typeface="Aptos"/>
              </a:rPr>
              <a:t>BGP Fundamentals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: Overview of the fundamentals of the BGP routing protocol. </a:t>
            </a:r>
            <a:endParaRPr lang="en-A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00240" lvl="1" indent="-457200" algn="l" defTabSz="914400">
              <a:lnSpc>
                <a:spcPct val="90000"/>
              </a:lnSpc>
              <a:spcBef>
                <a:spcPts val="499"/>
              </a:spcBef>
              <a:buClr>
                <a:srgbClr val="4EA72E"/>
              </a:buClr>
              <a:buFont typeface="Aptos Display"/>
              <a:buAutoNum type="arabicPeriod"/>
              <a:tabLst>
                <a:tab pos="0" algn="l"/>
              </a:tabLst>
            </a:pPr>
            <a:r>
              <a:rPr lang="en-US" sz="2800" b="1" u="none" strike="noStrike">
                <a:solidFill>
                  <a:schemeClr val="accent6"/>
                </a:solidFill>
                <a:effectLst/>
                <a:uFillTx/>
                <a:latin typeface="Aptos"/>
              </a:rPr>
              <a:t>Basic BGP Configuration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: Process of configuring BGP to establish a neighbor session and how routes are exchanged between peers. </a:t>
            </a:r>
            <a:endParaRPr lang="en-A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00240" lvl="1" indent="-457200" algn="l" defTabSz="914400">
              <a:lnSpc>
                <a:spcPct val="90000"/>
              </a:lnSpc>
              <a:spcBef>
                <a:spcPts val="499"/>
              </a:spcBef>
              <a:buClr>
                <a:srgbClr val="4EA72E"/>
              </a:buClr>
              <a:buFont typeface="Aptos Display"/>
              <a:buAutoNum type="arabicPeriod"/>
              <a:tabLst>
                <a:tab pos="0" algn="l"/>
              </a:tabLst>
            </a:pPr>
            <a:r>
              <a:rPr lang="en-US" sz="2800" b="1" u="none" strike="noStrike">
                <a:solidFill>
                  <a:schemeClr val="accent6"/>
                </a:solidFill>
                <a:effectLst/>
                <a:uFillTx/>
                <a:latin typeface="Aptos"/>
              </a:rPr>
              <a:t>Route Summarization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: Overview of how route summarization works with BGP and some of the design considerations with summarization. </a:t>
            </a:r>
            <a:endParaRPr lang="en-A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00240" lvl="1" indent="-457200" algn="l" defTabSz="914400">
              <a:lnSpc>
                <a:spcPct val="90000"/>
              </a:lnSpc>
              <a:spcBef>
                <a:spcPts val="499"/>
              </a:spcBef>
              <a:buClr>
                <a:srgbClr val="4EA72E"/>
              </a:buClr>
              <a:buFont typeface="Aptos Display"/>
              <a:buAutoNum type="arabicPeriod"/>
              <a:tabLst>
                <a:tab pos="0" algn="l"/>
              </a:tabLst>
            </a:pPr>
            <a:r>
              <a:rPr lang="en-US" sz="2800" b="1" u="none" strike="noStrike">
                <a:solidFill>
                  <a:schemeClr val="accent6"/>
                </a:solidFill>
                <a:effectLst/>
                <a:uFillTx/>
                <a:latin typeface="Aptos"/>
              </a:rPr>
              <a:t>Multiprotocol BGP for IPv6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: Support for IPv6 routing and configuration.</a:t>
            </a:r>
            <a:endParaRPr lang="en-A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4103640" cy="68576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1. BGP Fundamentals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964040" y="544320"/>
            <a:ext cx="6389640" cy="57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1"/>
              </a:rPr>
              <a:t>RFC 4271 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defines BGP as a standardized EGP path vector protocol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BGP Fundamentals 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14400" lvl="1" indent="-4572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ptos Display"/>
              <a:buAutoNum type="arabicPeriod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Autonomous Systems (ASs) &amp; Autonomous System Numbers (ASN)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14400" lvl="1" indent="-4572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ptos Display"/>
              <a:buAutoNum type="arabicPeriod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Path Attributes (PAs)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14400" lvl="1" indent="-4572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ptos Display"/>
              <a:buAutoNum type="arabicPeriod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Loop Prevention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14400" lvl="1" indent="-4572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ptos Display"/>
              <a:buAutoNum type="arabicPeriod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Address Families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14400" lvl="1" indent="-4572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ptos Display"/>
              <a:buAutoNum type="arabicPeriod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Inter-Router Communication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4103640" cy="68576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1. BGP Fundamentals:</a:t>
            </a:r>
            <a:br>
              <a:rPr sz="4400"/>
            </a:b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ASs &amp; ASN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964040" y="544320"/>
            <a:ext cx="6389640" cy="57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Autonomous Systems 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: Set of routers under single technical administration using single IGP and common metrics for internal/local traffic routing (within ASs) and using EGP for routing between ASs.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Autonomous System Numbers (ASNs):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Original 2 bytes (16 bit-range) extended to 4 bytes (32-bit range ) numbers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Private ASNs to be used inside an organization and should not be advertised on public internet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Private ASN range </a:t>
            </a:r>
            <a:r>
              <a:rPr lang="en-A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64,512–65,535 in 16-bit range &amp; 4,200,000,000–4,294,967,294 in 32-bit range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A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Internet Assigned Numbers Authority (IANA) issues public ASNs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A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Requires below info to be eligible: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A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Proof of publicly allocated network ranges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A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Proof that internet connectivity is provided through multiple connections (Multihomed)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A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Need for an unique routing policy from providers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AU" sz="24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1"/>
              </a:rPr>
              <a:t>Check eligibility to get ASN in Australia through APNIC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4103640" cy="68576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1. BGP Fundamentals:</a:t>
            </a:r>
            <a:br>
              <a:rPr sz="4400"/>
            </a:b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Path Attributes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750200" y="720720"/>
            <a:ext cx="6482520" cy="564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Path Attributes (PAs) 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Variable length sequence of PAs present in each UPDATE message. 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Each PA consists of &lt;attribute type, attribute length, attribute value&gt;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Example: AS_Path, 3, (300,200,100)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BGP Prefix PAs are of following types: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371600" lvl="2" indent="-4572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ptos Display"/>
              <a:buAutoNum type="arabicPeriod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Well-known Mandatory: Included with every prefix advertisement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371600" lvl="2" indent="-4572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ptos Display"/>
              <a:buAutoNum type="arabicPeriod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Well-known discretionary: May or may not be included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371600" lvl="2" indent="-4572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ptos Display"/>
              <a:buAutoNum type="arabicPeriod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Optional Transitive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371600" lvl="2" indent="-4572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ptos Display"/>
              <a:buAutoNum type="arabicPeriod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Optional Non-transitive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4103640" cy="68576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1. BGP Fundamentals:</a:t>
            </a:r>
            <a:br>
              <a:rPr sz="4400"/>
            </a:b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Loop Prevention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4527000" y="358560"/>
            <a:ext cx="7160760" cy="3614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BGP behaves like distance vector protocol but is a path vector.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BGP well-known mandatory attribute AS_PATH is used for loop prevention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AS_PATH contains all the ASs that the prefix has traversed from it's source.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If a BGP router receives prefix advertisement with it's own ASN in AS_PATH attribute, it discards the advertisement as possible loop.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30" name="Picture 3" descr="A diagram of a diagram&#10;&#10;AI-generated content may be incorrect."/>
          <p:cNvPicPr/>
          <p:nvPr/>
        </p:nvPicPr>
        <p:blipFill>
          <a:blip r:embed="rId1"/>
          <a:stretch/>
        </p:blipFill>
        <p:spPr>
          <a:xfrm>
            <a:off x="4526640" y="3967200"/>
            <a:ext cx="6648480" cy="2812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4103640" cy="68576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1. BGP Fundamentals:</a:t>
            </a:r>
            <a:br>
              <a:rPr sz="4400"/>
            </a:b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Address Family  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964040" y="544320"/>
            <a:ext cx="6389640" cy="57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Address Family 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Multi-Protocol BGP (MBGP) supports multiple protocol by use of Address Family Identifier (AFI) and Subsequent AFI (SAFI)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Example - AFI: IPv4 or IPv6, SAFI: unicast or multicast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Every address family (AFI +SAFI) maintains separate database and configuration to associate them with correct routing policy.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But BGP can use same session for multiple address families.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BGP differentiates between multiple address families by including  (AFI+SAFI) PA in advertisements.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4103640" cy="68576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1. BGP Fundamentals:</a:t>
            </a:r>
            <a:br>
              <a:rPr sz="4400"/>
            </a:b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Inter-Router Communicaiton  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4430520" y="201240"/>
            <a:ext cx="7418160" cy="425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BGP is for Inter-Autonomous System communication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IGPs discover directly connected neighbors only (single hop) with Hello.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BGP can form adjacency with multiple hop away routers as well by use of TCP port 179.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For multi-hop BGP session to form over TCP, underlying network reachability between peers is required.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Static routes or IGPs can be used to provide layer 3 connectivity. (R2 and R4)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BGP peer on same subnet/network reach each other via ARP.(R1 and R2)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35" name="Picture 3" descr="A diagram of a diagram&#10;&#10;AI-generated content may be incorrect."/>
          <p:cNvPicPr/>
          <p:nvPr/>
        </p:nvPicPr>
        <p:blipFill>
          <a:blip r:embed="rId1"/>
          <a:stretch/>
        </p:blipFill>
        <p:spPr>
          <a:xfrm>
            <a:off x="4967640" y="4721760"/>
            <a:ext cx="6598440" cy="1838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4103640" cy="68576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1. BGP Fundamentals:</a:t>
            </a:r>
            <a:br>
              <a:rPr sz="4400"/>
            </a:b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Inter-Router Communication  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4344840" y="201240"/>
            <a:ext cx="7580160" cy="638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Internal BGP (iBGP):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BGP session within an AS is iBGP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Administrative Distance(AD) of iBGP is 200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iBGP is required to provide transit connectivity between AS or for multiple routing policies.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Using IGP instead of iBGP is not possible: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Scalability: BGP table is use and cannot be accommodated by IGP protocols.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Custom Routing: IGPs use metric as best path calculation but BGP uses several logic for best path calculation.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Path Attribute Compatibility: BGP needs to advertise/forward  at least well-known mandatory PAs which cannot be carried forward with IGPs.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4103640" cy="68576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1. BGP Fundamentals:</a:t>
            </a:r>
            <a:br>
              <a:rPr sz="4400"/>
            </a:b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Inter-Router Communicaiton  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4268520" y="439560"/>
            <a:ext cx="7599240" cy="562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External BGP (eBGP):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Exchange of network prefixes between ASes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Administrative Distance of eBGP is 20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Operational differences of iBGP and eBGP: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TTL on eBGP is 1(single hop), and on iBGP is 255 (multi-hop).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Advertising router modifies the BGP next hop to ip address sourcing the BGP connection.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Advertising router prepends it's own ASN to AS_PATH attribute.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Receiving router checks the AS_PATH attribute for it's own ASN for loop prevention.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4103640" cy="68576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1. BGP Fundamentals:</a:t>
            </a:r>
            <a:br>
              <a:rPr sz="4400"/>
            </a:b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Inter-Router Communicaiton  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4439880" y="287280"/>
            <a:ext cx="7623000" cy="601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Message Types: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Type 1 – OPEN : 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Advertises configuration (ASN, Version, BGP Identifier, HoldTime etc.) and capabilities after BGP start.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UPDATE or KEEPALIVE resets HoldTime 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 non-zero RID can be set manually or dynamically as BGP Identifier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Type 2 – UPDATE: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28584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Used to advertise or withdraw routes or both simultaneously.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28584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Contains Withdrawn Routes field, PA field and Network Layer Reachibility Information (NLRI) field.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28584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NLRI and PA field are used for advertising routes and Withdrawn Routes field to withdraw routes.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28584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UPDATE message can act as KEEPALIVE message.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Type 3 – NOTIFICATION: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28584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,Sans-Serif"/>
              <a:buChar char="•"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Sent when error condition is detected.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28584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,Sans-Serif"/>
              <a:buChar char="•"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BGP connection is closed immediately after the message.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Type 4 – KEEPALIVE: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28584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Every one-third of the HoldTime, KEEPALIVE messages are sent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 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to maintain BGP adjacency.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28584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For default HoldTime of 180 seconds, KEEPALIVE message interval is 60 seconds. 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28584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If HoldTime is set to 0, then no KEEPALIVE messages are sent.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4103640" cy="22928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txBody>
          <a:bodyPr lIns="91440" tIns="45720" rIns="91440" bIns="45720" anchor="ctr">
            <a:normAutofit fontScale="85000" lnSpcReduction="19999"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1. BGP Fundamentals:</a:t>
            </a:r>
            <a:br>
              <a:rPr sz="4400"/>
            </a:b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Inter-Router Communication  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/>
          </p:nvPr>
        </p:nvSpPr>
        <p:spPr>
          <a:xfrm>
            <a:off x="4439880" y="287280"/>
            <a:ext cx="7539120" cy="623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62500" lnSpcReduction="19999"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BGP Neighbor States: FSM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For each BGP peering/TCP connection one FSM is maintained.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514440" indent="-51444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IDLE: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0028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Detects start event, initialises BGP resources and initiates TCP connection. Also listens for incoming TCP connection.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0028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An error causing the router to stay in IDLE state will reset the ConnectRetryTimer to 60 seconds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0028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Subsequent errors preventing to get out of IDLE state will double the ConnectRetryTimer.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0028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ConnectRetryTimer is the time router waits before trying to setup TCP connection.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514440" indent="-51444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CONNECT: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0028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BGP is performing/waiting for TCP 3-way handshake to complete.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0028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On completion, ConnectRetryTimer is reset and OPEN message is sent. State changes to OPENSENT.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0028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If ConnectRetryTimer depletes before completion, new connection is initiated and ConnectRetryTimer is reset.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0028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If TCP connection fails, BGP goes to ACTIVE state. If any other input is received, it goes to IDLE state.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514440" indent="-51444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ACTIVE 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0028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ACTIVE state is the Retry mechanism to establish TCP connection.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0028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Starts new TCP 3-way handshake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0028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If successful, BGP sends OPEN message, sets its HoldTimer to 4 minutes and changes to OPENSENT state.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0028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IF unsuccessful, it resets ConnectRetryTimer and changes to CONNECT state.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44" name="Picture 3" descr="A diagram of a process&#10;&#10;AI-generated content may be incorrect."/>
          <p:cNvPicPr/>
          <p:nvPr/>
        </p:nvPicPr>
        <p:blipFill>
          <a:blip r:embed="rId1"/>
          <a:srcRect l="0" t="0" r="-110" b="-185"/>
          <a:stretch/>
        </p:blipFill>
        <p:spPr>
          <a:xfrm>
            <a:off x="85680" y="2521440"/>
            <a:ext cx="4023000" cy="3883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4103640" cy="22640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txBody>
          <a:bodyPr lIns="91440" tIns="45720" rIns="91440" bIns="45720" anchor="ctr">
            <a:normAutofit fontScale="85000" lnSpcReduction="19999"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1. BGP Fundamentals:</a:t>
            </a:r>
            <a:br>
              <a:rPr sz="4400"/>
            </a:b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Inter-Router Communicaiton  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325760" y="201240"/>
            <a:ext cx="7594200" cy="647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514440" indent="-51444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eriod" startAt="4"/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ptos"/>
                <a:ea typeface="Arial"/>
              </a:rPr>
              <a:t>OPENSENT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​: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BGP has sent OPEN message and is waiting for OPEN message from peer.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Once OPEN message from peer is received, message contents are validated (same BGP version, correct peer ASN, non-overlapping RID and same capabilities).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rial"/>
              </a:rPr>
              <a:t>On successful validation, HoldTimer(lower value) is negotiated with peer, KEEPALIVE message is sent and state transitions to OPENCONFIRM.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rial"/>
              </a:rPr>
              <a:t>Unsuccessful validation will send NOTIFICATION message and state transitions to IDLE.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rial"/>
              </a:rPr>
              <a:t>Any TCP error, BGP closes the connection, resets ConnectRetryTimer and transitions to ACTIVE state.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514440" indent="-51444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eriod" startAt="4"/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ptos"/>
                <a:ea typeface="Arial"/>
              </a:rPr>
              <a:t>OPENCONFIRM​: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BGP waits for a KEEPALIVE or NOTIFICATION message. 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Upon receipt of a neighbor’s KEEPALIVE message, the state is moved to ESTABLISHED.  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If the hold timer expires, a stop event occurs, or if a NOTIFICATION message is received, the state is moved to IDLE.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514440" indent="-51444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eriod" startAt="4"/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ptos"/>
                <a:ea typeface="Arial"/>
              </a:rPr>
              <a:t>ESTABLISHED​: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Routes are exchanged with UPDATE message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On receiving UPDATE or KEEPALIVE, HoldTimer is reset.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7164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rial"/>
              </a:rPr>
              <a:t>If HoldTimer expires, BGP moves to IDLE state.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47" name="Picture 4" descr="A diagram of a process&#10;&#10;AI-generated content may be incorrect."/>
          <p:cNvPicPr/>
          <p:nvPr/>
        </p:nvPicPr>
        <p:blipFill>
          <a:blip r:embed="rId1"/>
          <a:srcRect l="0" t="0" r="-110" b="-185"/>
          <a:stretch/>
        </p:blipFill>
        <p:spPr>
          <a:xfrm>
            <a:off x="85680" y="2419920"/>
            <a:ext cx="4023000" cy="4042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4103640" cy="68576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1. BGP Configuration 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325760" y="201240"/>
            <a:ext cx="7594200" cy="647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Basic configuration: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BGP Session Parameters: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C00000"/>
                </a:solidFill>
                <a:effectLst/>
                <a:uFillTx/>
                <a:latin typeface="Aptos"/>
                <a:ea typeface="Arial"/>
              </a:rPr>
              <a:t>router bgp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rial"/>
              </a:rPr>
              <a:t> </a:t>
            </a:r>
            <a:r>
              <a:rPr lang="en-US" sz="2000" b="0" u="none" strike="noStrike">
                <a:solidFill>
                  <a:schemeClr val="accent1"/>
                </a:solidFill>
                <a:effectLst/>
                <a:uFillTx/>
                <a:latin typeface="Aptos"/>
                <a:ea typeface="Arial"/>
              </a:rPr>
              <a:t>asn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accent1"/>
                </a:solidFill>
                <a:effectLst/>
                <a:uFillTx/>
                <a:latin typeface="Aptos"/>
                <a:ea typeface="Arial"/>
              </a:rPr>
              <a:t>    </a:t>
            </a:r>
            <a:r>
              <a:rPr lang="en-US" sz="2000" b="0" u="none" strike="noStrike">
                <a:solidFill>
                  <a:srgbClr val="C00000"/>
                </a:solidFill>
                <a:effectLst/>
                <a:uFillTx/>
                <a:latin typeface="Aptos"/>
                <a:ea typeface="Arial"/>
              </a:rPr>
              <a:t>bgp log-neighbor-changes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C00000"/>
                </a:solidFill>
                <a:effectLst/>
                <a:uFillTx/>
                <a:latin typeface="Aptos"/>
                <a:ea typeface="Arial"/>
              </a:rPr>
              <a:t>    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accent1"/>
                </a:solidFill>
                <a:effectLst/>
                <a:uFillTx/>
                <a:latin typeface="Aptos"/>
                <a:ea typeface="Arial"/>
              </a:rPr>
              <a:t> 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accent1"/>
                </a:solidFill>
                <a:effectLst/>
                <a:uFillTx/>
                <a:latin typeface="Aptos"/>
                <a:ea typeface="Arial"/>
              </a:rPr>
              <a:t> 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rial"/>
              </a:rPr>
              <a:t>Address Family Initialization: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rial"/>
              </a:rPr>
              <a:t>Activate Address Family on Peers: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rial"/>
              </a:rPr>
              <a:t>Refer to BGP lab manual for other sections of this slide deck.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603</TotalTime>
  <Application>LibreOffice/26.2.5.2$Windows_X86_64 LibreOffice_project/cd7284b4cbbfeb507e630c1aac019f4157393acb</Application>
  <AppVersion>15.0000</AppVersion>
  <Words>466</Words>
  <Paragraphs>64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2024-09-11T23:06:18Z</dcterms:created>
  <dc:creator>Toran Shahi</dc:creator>
  <dc:description/>
  <dc:language>en-AU</dc:language>
  <cp:lastModifiedBy/>
  <dcterms:modified xsi:type="dcterms:W3CDTF">2026-09-08T14:21:11Z</dcterms:modified>
  <cp:revision>904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Widescreen</vt:lpwstr>
  </property>
  <property fmtid="{D5CDD505-2E9C-101B-9397-08002B2CF9AE}" pid="4" name="Slides">
    <vt:i4>15</vt:i4>
  </property>
</Properties>
</file>