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7" r:id="rId2"/>
    <p:sldId id="258" r:id="rId3"/>
    <p:sldId id="261" r:id="rId4"/>
    <p:sldId id="259" r:id="rId5"/>
    <p:sldId id="260" r:id="rId6"/>
    <p:sldId id="263" r:id="rId7"/>
    <p:sldId id="262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5" r:id="rId19"/>
    <p:sldId id="276" r:id="rId20"/>
    <p:sldId id="277" r:id="rId21"/>
    <p:sldId id="278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AC91F7C-D4F3-31B0-E20C-D43FB183A040}" v="128" dt="2026-06-08T00:47:37.519"/>
    <p1510:client id="{1F5123B0-C028-AD53-7082-136DB7617314}" v="2542" dt="2026-06-06T05:12:56.634"/>
    <p1510:client id="{4D94EADF-7AC1-E313-FFA6-37FD76525572}" v="4754" dt="2026-06-07T08:18:41.227"/>
    <p1510:client id="{570F01E9-CF2C-4C77-315B-ED7ACA60F7CC}" v="44" dt="2026-06-06T08:38:15.988"/>
    <p1510:client id="{59F7A8BA-5EA5-5E06-2943-E9E5B8722A56}" v="461" dt="2026-06-06T07:48:07.219"/>
    <p1510:client id="{66672FF7-C1D0-07B2-02F6-B6EFF2E783F2}" v="31" dt="2026-06-06T05:25:49.125"/>
    <p1510:client id="{A7E37F53-D86B-7E00-6BD8-E33068127BA4}" v="856" dt="2026-06-07T09:42:43.2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86" d="100"/>
          <a:sy n="86" d="100"/>
        </p:scale>
        <p:origin x="96" y="8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16B45-A5D7-4412-B579-E1C4913FA055}" type="datetimeFigureOut">
              <a:t>8/24/2026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F81B12-A222-457D-84A3-BC6FD95BD85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649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588557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02F0A4-C37C-4568-CD3F-ECC48C34A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D97F7F-1179-C33C-F62B-A3DF56D38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52E9BA-F053-6CC9-55A8-30C84ACA92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98E789-8E58-313A-C60B-D141811966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62756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0297B-C66D-6E4D-329C-C0613663E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FBF50C-3858-8378-5D0F-80B4D47739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C941E-B729-8941-112F-CF57F41CD0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53A8A3-2858-0F4F-8C25-2F38B39DDF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9114722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FD751-A9D1-9E72-294A-9850A9EC48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D99A15-F6AB-5EF0-3D87-F2D98E9A67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BF4178-B42A-DA53-3488-5CD25CB1DB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66B32-4629-3CF4-4461-C516736DCC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866576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AFEBA-60F1-C537-5732-5B3FFB598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4ADC66-BB53-56AD-572F-49C8D710E9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8FECEA-8D16-EC37-CB5A-BBDD13930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EEEE78-876D-8C7E-5B63-E80642967C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8953255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A0894-ABFE-9C5C-366D-C9D604BF9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E56A10-5460-FF35-BD80-51D7C7CDC0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DDC540-C5B9-6F52-4029-22C0F290A4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32A1C0-E7CF-56F5-5A8D-F384BCC6D1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788170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FBFED9-571B-8C2B-C72F-D92BED30BC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A907437-3761-84A8-5F78-D1F355C21A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9360EE-7EA2-16DD-EE53-46EC8702F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6E3086-DD4E-C603-41B8-789D0C03C2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9387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73E87-9EB1-B32C-D603-5639A1242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9D0944-1484-7E95-B4C1-864097C444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79BAF4-9F47-F911-8674-292CDA238C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E72712-C53A-275A-173F-A9DA6EDBBA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549450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6B9A0F-7CF7-D197-D61E-B6EDC2EDF4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6CD55D-67D8-7079-DCD7-31AEFEBE83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E00CC6-69BC-E356-2059-57192EAA16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7A34DD-A4D4-A105-7515-6E62687CA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8218336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C6B85-B83E-BDBF-D29E-3BE4759A5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9BCE0C-DE86-29D9-6A26-F914EF8C88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8FC5C1-2D3E-F877-CFFE-01D328D737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93D483-68D5-05AD-72FB-2A705902B5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73084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3D842-CC27-C510-5F76-D910EA14B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BA81AC-FAE7-8AE4-BB23-993AF97AC7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969FF6C-D026-C94F-91F7-1B651B5B6F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0C64F-8D42-96CE-2898-21EDDE0F54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398743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3C0B0-2714-A29C-F651-17144C806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47747E-DD15-58E8-080F-CB41CB1D38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16D271-72AC-7F4A-84E9-6AC0FBB7F3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166EB7-8C16-ED6E-AF73-E7907DD439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13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396227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EF4BC-6689-E2A5-91BE-6DF0FBC30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3AE2CD-D1C6-F1CE-1FAA-9811D711E6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77CCE5-D090-44FC-B85C-7E3DB76CE1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CA8C92-6A94-39BA-4EFF-5C2864951C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31509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8269B9-3B52-111A-4ED5-5647BBD73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166590-9E84-1E4A-EF0D-680A8C75DE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BABA9-6D6C-5C73-50A7-52FB7B53A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A44B07-D4B1-24E0-000B-6F8F7B3DE0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15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831202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D04DD-B2F6-FC76-066F-7FF749313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43B312-EEDB-711B-5018-2508F2E8DC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7C3D0D-3234-4517-5F85-6B52BEA035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67D3FD-851D-B74E-C56A-E0449A8846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16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3300385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55446-6232-3F44-D4AC-8E3F0598B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A30FB1-C259-0D91-D803-1EB6BE2299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D885CC-66C9-41D2-1AEE-AE2FBBCA16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B2FB2B-2C97-4C5D-F6F0-B780505DDD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B64EF9-F507-43D1-85DB-FEE40D9637BC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02406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Calculate routes for prefix connected to router A </a:t>
            </a:r>
            <a:r>
              <a:rPr lang="en-US" dirty="0">
                <a:ea typeface="Calibri"/>
                <a:cs typeface="Calibri"/>
              </a:rPr>
              <a:t>for both router B and router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F81B12-A222-457D-84A3-BC6FD95BD85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9236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Calculate routes for prefix connected to router A for both router B and router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F81B12-A222-457D-84A3-BC6FD95BD85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64297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F9664-561A-C629-04BD-12F78CBA4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AE925-A489-A8A8-62FA-3AA0409937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ADB8AC-42EA-324D-D831-C55F5C3E2C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Calculate routes for prefix connected to router A for both router B and router 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4245B-74BF-7430-7C36-CCFC12B037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1F81B12-A222-457D-84A3-BC6FD95BD85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0141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8/24/2026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9D056-447F-6ED8-B0BE-0A69C4FA16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1248" y="548640"/>
            <a:ext cx="3273552" cy="54315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5400" dirty="0">
                <a:solidFill>
                  <a:srgbClr val="C00000"/>
                </a:solidFill>
              </a:rPr>
              <a:t>Enhanced </a:t>
            </a:r>
            <a:r>
              <a:rPr lang="en-US" sz="5400" err="1">
                <a:solidFill>
                  <a:srgbClr val="C00000"/>
                </a:solidFill>
              </a:rPr>
              <a:t>Interio</a:t>
            </a:r>
            <a:r>
              <a:rPr lang="en-US" sz="5400">
                <a:solidFill>
                  <a:srgbClr val="C00000"/>
                </a:solidFill>
              </a:rPr>
              <a:t>r Gateway Routing Protocol (EIGRP)</a:t>
            </a:r>
            <a:endParaRPr lang="en-US" sz="5400" kern="1200">
              <a:solidFill>
                <a:srgbClr val="C00000"/>
              </a:solidFill>
              <a:latin typeface="+mj-lt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DCEFB9A-B525-9C48-9429-9E97E3B8A1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93408" y="337458"/>
            <a:ext cx="7126014" cy="6281056"/>
          </a:xfrm>
        </p:spPr>
        <p:txBody>
          <a:bodyPr vert="horz" lIns="91440" tIns="45720" rIns="91440" bIns="45720" rtlCol="0" anchor="ctr">
            <a:no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sz="2800" b="1" dirty="0"/>
              <a:t>Learning Outcomes:</a:t>
            </a:r>
          </a:p>
          <a:p>
            <a:pPr marL="1200150" lvl="1" indent="-457200" algn="l">
              <a:buFont typeface="+mj-lt"/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Foundation</a:t>
            </a:r>
          </a:p>
          <a:p>
            <a:pPr marL="1200150" lvl="1" indent="-457200" algn="l"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Basic Components</a:t>
            </a:r>
            <a:endParaRPr lang="en-US" sz="2800" b="1" dirty="0">
              <a:solidFill>
                <a:schemeClr val="accent6"/>
              </a:solidFill>
            </a:endParaRPr>
          </a:p>
          <a:p>
            <a:pPr marL="1200150" lvl="1" indent="-457200" algn="l"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Key Terms</a:t>
            </a:r>
          </a:p>
          <a:p>
            <a:pPr marL="1200150" lvl="1" indent="-457200" algn="l"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Tables</a:t>
            </a:r>
            <a:endParaRPr lang="en-US" sz="2800" b="1" dirty="0">
              <a:solidFill>
                <a:schemeClr val="accent6"/>
              </a:solidFill>
            </a:endParaRPr>
          </a:p>
          <a:p>
            <a:pPr marL="1200150" lvl="1" indent="-457200" algn="l"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Packet Types</a:t>
            </a:r>
            <a:endParaRPr lang="en-US" sz="2800" b="1" dirty="0">
              <a:solidFill>
                <a:schemeClr val="accent6"/>
              </a:solidFill>
            </a:endParaRPr>
          </a:p>
          <a:p>
            <a:pPr marL="1200150" lvl="1" indent="-457200" algn="l">
              <a:buAutoNum type="arabicPeriod"/>
            </a:pPr>
            <a:r>
              <a:rPr lang="en-US" sz="2800" b="1" dirty="0">
                <a:solidFill>
                  <a:schemeClr val="accent6"/>
                </a:solidFill>
              </a:rPr>
              <a:t>Path Metric </a:t>
            </a:r>
            <a:r>
              <a:rPr lang="en-US" sz="2800" b="1">
                <a:solidFill>
                  <a:schemeClr val="accent6"/>
                </a:solidFill>
              </a:rPr>
              <a:t>Calculation</a:t>
            </a:r>
          </a:p>
          <a:p>
            <a:pPr marL="1200150" lvl="1" indent="-457200" algn="l"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Load Balancing</a:t>
            </a:r>
          </a:p>
          <a:p>
            <a:pPr marL="1200150" lvl="1" indent="-457200" algn="l"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 Timers</a:t>
            </a:r>
            <a:endParaRPr lang="en-US" sz="2800" b="1" dirty="0">
              <a:solidFill>
                <a:schemeClr val="accent6"/>
              </a:solidFill>
            </a:endParaRPr>
          </a:p>
          <a:p>
            <a:pPr marL="1200150" lvl="1" indent="-457200" algn="l">
              <a:buAutoNum type="arabicPeriod"/>
            </a:pPr>
            <a:r>
              <a:rPr lang="en-US" sz="2800" b="1" dirty="0">
                <a:solidFill>
                  <a:schemeClr val="accent6"/>
                </a:solidFill>
              </a:rPr>
              <a:t>Path </a:t>
            </a:r>
            <a:r>
              <a:rPr lang="en-US" sz="2800" b="1">
                <a:solidFill>
                  <a:schemeClr val="accent6"/>
                </a:solidFill>
              </a:rPr>
              <a:t>Selection</a:t>
            </a:r>
            <a:endParaRPr lang="en-US">
              <a:solidFill>
                <a:schemeClr val="accent6"/>
              </a:solidFill>
            </a:endParaRPr>
          </a:p>
          <a:p>
            <a:pPr marL="1257300" lvl="1" indent="-514350" algn="l">
              <a:buAutoNum type="arabicPeriod"/>
            </a:pPr>
            <a:r>
              <a:rPr lang="en-US" sz="2800" b="1">
                <a:solidFill>
                  <a:schemeClr val="accent6"/>
                </a:solidFill>
              </a:rPr>
              <a:t>Failure Detection/Path Operation</a:t>
            </a:r>
            <a:endParaRPr lang="en-US">
              <a:solidFill>
                <a:schemeClr val="accent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255759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54306B-2FA9-DBD0-4879-2F0F9F640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1. Foundation 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642708-C46C-0C1F-6CBC-B422CA064D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89960" y="609338"/>
            <a:ext cx="7133327" cy="5640922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r>
              <a:rPr lang="en-US"/>
              <a:t>Advanced Distance(metric) Vector(direction/egress) (DV) routing protocol</a:t>
            </a:r>
            <a:endParaRPr lang="en-US" dirty="0"/>
          </a:p>
          <a:p>
            <a:r>
              <a:rPr lang="en-US"/>
              <a:t>Fast Convergence because of backup routes</a:t>
            </a:r>
            <a:endParaRPr lang="en-US" dirty="0"/>
          </a:p>
          <a:p>
            <a:r>
              <a:rPr lang="en-US" dirty="0"/>
              <a:t>Scalable as each router only have to know about </a:t>
            </a:r>
            <a:r>
              <a:rPr lang="en-US" dirty="0" err="1"/>
              <a:t>it's</a:t>
            </a:r>
            <a:r>
              <a:rPr lang="en-US" dirty="0"/>
              <a:t> directly connected routers</a:t>
            </a:r>
          </a:p>
          <a:p>
            <a:r>
              <a:rPr lang="en-US" dirty="0"/>
              <a:t>Load balance over unequ</a:t>
            </a:r>
            <a:r>
              <a:rPr lang="en-US"/>
              <a:t>al or equal cost paths</a:t>
            </a:r>
            <a:endParaRPr lang="en-US" dirty="0"/>
          </a:p>
          <a:p>
            <a:r>
              <a:rPr lang="en-US" dirty="0"/>
              <a:t>EIGRP routers that are in same Autonomous System (AS) can only participate in same EIGRP process.</a:t>
            </a:r>
          </a:p>
          <a:p>
            <a:r>
              <a:rPr lang="en-US"/>
              <a:t>Initially Cisco Proprietary </a:t>
            </a:r>
            <a:endParaRPr lang="en-US" dirty="0"/>
          </a:p>
          <a:p>
            <a:r>
              <a:rPr lang="en-US"/>
              <a:t>Protocol number 88, Multicast address 224.0.0.10</a:t>
            </a:r>
            <a:endParaRPr lang="en-US" dirty="0"/>
          </a:p>
          <a:p>
            <a:r>
              <a:rPr lang="en-US"/>
              <a:t>Administrative Distance (AD) Internal 90, External 170, Summary 5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516740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B8700-C309-F0F5-260E-E640A9394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D833-5555-7DEF-E185-3634B7AB5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2. Basic Components 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741D0-41BE-2A45-8236-4813A8D10C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43496" y="246921"/>
            <a:ext cx="7384230" cy="6440094"/>
          </a:xfrm>
        </p:spPr>
        <p:txBody>
          <a:bodyPr vert="horz" lIns="91440" tIns="45720" rIns="91440" bIns="45720" rtlCol="0" anchor="t"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EIGRP has four basic </a:t>
            </a:r>
            <a:r>
              <a:rPr lang="en-US" b="1"/>
              <a:t>components:</a:t>
            </a:r>
            <a:endParaRPr lang="en-US" b="1" dirty="0"/>
          </a:p>
          <a:p>
            <a:pPr marL="914400" lvl="1" indent="-457200">
              <a:buAutoNum type="arabicPeriod"/>
            </a:pPr>
            <a:r>
              <a:rPr lang="en-US" b="1" dirty="0"/>
              <a:t>Neighbor Discovery/Recovery:</a:t>
            </a:r>
            <a:r>
              <a:rPr lang="en-US" dirty="0"/>
              <a:t> Dynamically learns about routers in a directly attached networks by periodically sending small Hello messages. This messages helps to </a:t>
            </a:r>
            <a:r>
              <a:rPr lang="en-US"/>
              <a:t>discover if the neighbors become unreachable or inoperative.</a:t>
            </a:r>
            <a:r>
              <a:rPr lang="en-US" dirty="0"/>
              <a:t>  </a:t>
            </a:r>
          </a:p>
          <a:p>
            <a:pPr marL="914400" lvl="1" indent="-457200">
              <a:buAutoNum type="arabicPeriod"/>
            </a:pPr>
            <a:r>
              <a:rPr lang="en-US" b="1" dirty="0"/>
              <a:t>Reliable Transport Protocol(RTP): </a:t>
            </a:r>
            <a:r>
              <a:rPr lang="en-US" dirty="0"/>
              <a:t>Guarantees ordered delivery of EIGRP packets to </a:t>
            </a:r>
            <a:r>
              <a:rPr lang="en-US" dirty="0" err="1"/>
              <a:t>it's</a:t>
            </a:r>
            <a:r>
              <a:rPr lang="en-US" dirty="0"/>
              <a:t> neighbor. For efficiency, RTP is only used when necessary. Such as Update packets require Ack while, multicast Hello messages do not.</a:t>
            </a:r>
          </a:p>
          <a:p>
            <a:pPr marL="914400" lvl="1" indent="-457200">
              <a:buAutoNum type="arabicPeriod"/>
            </a:pPr>
            <a:r>
              <a:rPr lang="en-US" b="1"/>
              <a:t>Diffusion Update Algorithm (DUAL) Finite </a:t>
            </a:r>
            <a:r>
              <a:rPr lang="en-US" b="1" dirty="0"/>
              <a:t>State Machine(FSM): </a:t>
            </a:r>
            <a:r>
              <a:rPr lang="en-US" dirty="0"/>
              <a:t>This acts upon the </a:t>
            </a:r>
            <a:r>
              <a:rPr lang="en-US"/>
              <a:t>topology table to compute routes. When topology changes occur and there is no Feasible Successor, DUAL FSM is triggered to compute new successor route.</a:t>
            </a:r>
            <a:endParaRPr lang="en-US" dirty="0"/>
          </a:p>
          <a:p>
            <a:pPr marL="914400" lvl="1" indent="-457200">
              <a:buAutoNum type="arabicPeriod"/>
            </a:pPr>
            <a:r>
              <a:rPr lang="en-US" b="1" dirty="0"/>
              <a:t>Protocol dependent modules: </a:t>
            </a:r>
            <a:r>
              <a:rPr lang="en-US" dirty="0"/>
              <a:t>Responsible for protocol specific network layer functions. Such as, IP-EIGRP, module which is responsible for sending and receiving  EIGRP packets that are encapsulated into IP 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4779441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FCA3B-8CB8-63DD-3267-CC182FCE1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5C94D0-F4E2-6861-B2CF-1DBB2BD04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3. Key  Terms 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62724-5E21-A5E3-D2A3-3B2DF9EF26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45716" y="246922"/>
            <a:ext cx="6817376" cy="6077679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b="1"/>
              <a:t>Successor route: </a:t>
            </a:r>
            <a:r>
              <a:rPr lang="en-US"/>
              <a:t>Least cost loop free path to the destination prefix</a:t>
            </a:r>
          </a:p>
          <a:p>
            <a:r>
              <a:rPr lang="en-US" b="1"/>
              <a:t>Successor:</a:t>
            </a:r>
            <a:r>
              <a:rPr lang="en-US"/>
              <a:t> A next hop router to a destination prefix in successor route</a:t>
            </a:r>
          </a:p>
          <a:p>
            <a:r>
              <a:rPr lang="en-US" b="1" dirty="0"/>
              <a:t>Feasible Successor</a:t>
            </a:r>
            <a:r>
              <a:rPr lang="en-US" dirty="0"/>
              <a:t>: A next hop router for a backup route to a destination prefix that meets the feasib</a:t>
            </a:r>
            <a:r>
              <a:rPr lang="en-US"/>
              <a:t>ility condition(FC)</a:t>
            </a:r>
            <a:endParaRPr lang="en-US" dirty="0"/>
          </a:p>
          <a:p>
            <a:r>
              <a:rPr lang="en-US" b="1" dirty="0"/>
              <a:t>Feasible Distance (FD): </a:t>
            </a:r>
            <a:r>
              <a:rPr lang="en-US"/>
              <a:t>Total  successor route metric from the EIGRP router to the destination prefix</a:t>
            </a:r>
          </a:p>
          <a:p>
            <a:r>
              <a:rPr lang="en-US" b="1" dirty="0"/>
              <a:t>Reported </a:t>
            </a:r>
            <a:r>
              <a:rPr lang="en-US" b="1"/>
              <a:t>Distance (RD): </a:t>
            </a:r>
            <a:r>
              <a:rPr lang="en-US"/>
              <a:t>Total path metric reported/advertised by next hop routers towards a destination prefix</a:t>
            </a:r>
          </a:p>
          <a:p>
            <a:r>
              <a:rPr lang="en-US" b="1"/>
              <a:t>Feasibility Condition(FC): </a:t>
            </a:r>
            <a:r>
              <a:rPr lang="en-US"/>
              <a:t>Feasible Distance (FD) &lt; Reported Distance (RD) 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48178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D7B82-3F98-7E67-73DB-2C4CBFFBE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3D04-79DE-A133-29B0-5CB3391E34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4. Tables 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AEAB1C-1293-2909-236F-E3B28DD88B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2082" y="172580"/>
            <a:ext cx="7300595" cy="6254240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b="1"/>
              <a:t>Topology table: </a:t>
            </a:r>
            <a:endParaRPr lang="en-US"/>
          </a:p>
          <a:p>
            <a:pPr marL="971550" lvl="1" indent="-514350">
              <a:buFont typeface="Arial"/>
              <a:buChar char="•"/>
            </a:pPr>
            <a:r>
              <a:rPr lang="en-US"/>
              <a:t>Each table entry holds</a:t>
            </a:r>
            <a:r>
              <a:rPr lang="en-US" dirty="0"/>
              <a:t> network prefixes within EIGRP AS, EIGRP neighbors advertising those prefix, metrics from each neighbors, and </a:t>
            </a:r>
            <a:r>
              <a:rPr lang="en-US"/>
              <a:t>values used for calculating the metrics.</a:t>
            </a:r>
          </a:p>
          <a:p>
            <a:pPr marL="971550" lvl="1" indent="-514350">
              <a:buFont typeface="Arial"/>
              <a:buChar char="•"/>
            </a:pPr>
            <a:r>
              <a:rPr lang="en-US" dirty="0"/>
              <a:t>Entry also contains its metric to reach the prefix. Which is sum</a:t>
            </a:r>
            <a:r>
              <a:rPr lang="en-US" dirty="0">
                <a:ea typeface="+mn-lt"/>
                <a:cs typeface="+mn-lt"/>
              </a:rPr>
              <a:t> of the best advertised metric from all neighbors plus the link cost to the best neighbor</a:t>
            </a:r>
            <a:r>
              <a:rPr lang="en-US" dirty="0"/>
              <a:t>. </a:t>
            </a:r>
          </a:p>
          <a:p>
            <a:pPr marL="971550" lvl="1" indent="-514350">
              <a:buFont typeface="Arial"/>
              <a:buChar char="•"/>
            </a:pPr>
            <a:r>
              <a:rPr lang="en-US" dirty="0"/>
              <a:t>Prefixes/routes in topology table has one of two states. </a:t>
            </a:r>
            <a:r>
              <a:rPr lang="en-US" b="1" dirty="0"/>
              <a:t>Passive (P)</a:t>
            </a:r>
            <a:r>
              <a:rPr lang="en-US" dirty="0"/>
              <a:t> and </a:t>
            </a:r>
            <a:r>
              <a:rPr lang="en-US" b="1" dirty="0"/>
              <a:t>Active (A)</a:t>
            </a:r>
            <a:r>
              <a:rPr lang="en-US" dirty="0"/>
              <a:t>. Routes go into P state when there is FS or </a:t>
            </a:r>
            <a:r>
              <a:rPr lang="en-US" dirty="0" err="1"/>
              <a:t>Successor</a:t>
            </a:r>
            <a:r>
              <a:rPr lang="en-US" dirty="0"/>
              <a:t> and no route re-computation is required. If a route re-computation is required for a prefix, it goes into Active(A) state.</a:t>
            </a:r>
          </a:p>
          <a:p>
            <a:pPr marL="971550" lvl="1" indent="-514350">
              <a:buFont typeface="Arial"/>
              <a:buChar char="•"/>
            </a:pPr>
            <a:r>
              <a:rPr lang="en-US" dirty="0"/>
              <a:t>DUAL Finite State Machine (FSM) acts on topology table to </a:t>
            </a:r>
            <a:r>
              <a:rPr lang="en-US"/>
              <a:t>recompute routes.</a:t>
            </a:r>
            <a:endParaRPr lang="en-US" dirty="0"/>
          </a:p>
          <a:p>
            <a:pPr marL="971550" lvl="1" indent="-514350">
              <a:buFont typeface="Arial"/>
              <a:buChar char="•"/>
            </a:pPr>
            <a:r>
              <a:rPr lang="en-US" sz="2200"/>
              <a:t>If a neighbor advertises route to a prefix, it is assumed that the neighbor uses that route to reach the prefix.</a:t>
            </a:r>
            <a:endParaRPr lang="en-US" dirty="0"/>
          </a:p>
          <a:p>
            <a:pPr marL="971550" lvl="1" indent="-514350">
              <a:buFont typeface="Arial"/>
              <a:buChar char="•"/>
            </a:pPr>
            <a:endParaRPr lang="en-US" dirty="0"/>
          </a:p>
          <a:p>
            <a:pPr marL="971550" lvl="1" indent="-514350">
              <a:buFont typeface="Arial"/>
              <a:buChar char="•"/>
            </a:pPr>
            <a:endParaRPr lang="en-US" dirty="0"/>
          </a:p>
          <a:p>
            <a:pPr>
              <a:buAutoNum type="arabicPeriod"/>
            </a:pPr>
            <a:endParaRPr lang="en-US" dirty="0"/>
          </a:p>
          <a:p>
            <a:pPr>
              <a:buAutoNum type="arabicPeriod"/>
            </a:pPr>
            <a:endParaRPr lang="en-US" dirty="0"/>
          </a:p>
          <a:p>
            <a:pPr>
              <a:buAutoNum type="arabicPeriod"/>
            </a:pPr>
            <a:endParaRPr lang="en-US" dirty="0"/>
          </a:p>
          <a:p>
            <a:pPr>
              <a:buAutoNum type="arabicPeriod"/>
            </a:pPr>
            <a:endParaRPr lang="en-US" dirty="0"/>
          </a:p>
          <a:p>
            <a:pPr>
              <a:buAutoNum type="arabicPeriod"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3248397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E5B5B-F207-6131-A89A-0A2B985C8E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56583-E910-37F2-5EE1-D2669E41E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4. Tables 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E12235-2AD6-DCF8-286A-CB4E9B8D16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62082" y="172580"/>
            <a:ext cx="7300595" cy="62287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b="1"/>
              <a:t>Topology table: Example</a:t>
            </a:r>
            <a:endParaRPr lang="en-US"/>
          </a:p>
          <a:p>
            <a:pPr marL="0" indent="0">
              <a:buNone/>
            </a:pPr>
            <a:endParaRPr lang="en-US" b="1" dirty="0"/>
          </a:p>
          <a:p>
            <a:pPr marL="971550" lvl="1" indent="-514350">
              <a:buFont typeface="Courier New"/>
              <a:buChar char="o"/>
            </a:pPr>
            <a:endParaRPr lang="en-US" dirty="0"/>
          </a:p>
          <a:p>
            <a:pPr marL="971550" lvl="1" indent="-514350">
              <a:buFont typeface="Courier New"/>
              <a:buChar char="o"/>
            </a:pPr>
            <a:endParaRPr lang="en-US" dirty="0"/>
          </a:p>
          <a:p>
            <a:pPr>
              <a:buAutoNum type="arabicPeriod"/>
            </a:pPr>
            <a:endParaRPr lang="en-US" dirty="0"/>
          </a:p>
          <a:p>
            <a:pPr>
              <a:buAutoNum type="arabicPeriod"/>
            </a:pPr>
            <a:endParaRPr lang="en-US" dirty="0"/>
          </a:p>
          <a:p>
            <a:pPr>
              <a:buAutoNum type="arabicPeriod"/>
            </a:pPr>
            <a:endParaRPr lang="en-US" dirty="0"/>
          </a:p>
          <a:p>
            <a:pPr>
              <a:buAutoNum type="arabicPeriod"/>
            </a:pPr>
            <a:endParaRPr lang="en-US" dirty="0"/>
          </a:p>
          <a:p>
            <a:pPr>
              <a:buAutoNum type="arabicPeriod"/>
            </a:pPr>
            <a:endParaRPr lang="en-AU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847C7AC-8E6E-5240-2B0C-493B2EC848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9246" y="787440"/>
            <a:ext cx="6461899" cy="5905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6271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7625E-1F50-3721-F082-28A9A5474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570F6-1CB7-AE73-E91D-6E25C2183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4. Tables 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1FCE30-158D-E1D4-FAD6-6CB78D555A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3886" y="544287"/>
            <a:ext cx="6947474" cy="609626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b="1"/>
              <a:t>Neighbor table: </a:t>
            </a:r>
            <a:endParaRPr lang="en-US"/>
          </a:p>
          <a:p>
            <a:pPr marL="457200" indent="-457200"/>
            <a:r>
              <a:rPr lang="en-US"/>
              <a:t>Records address and interface of each neighbor discovered.</a:t>
            </a:r>
          </a:p>
          <a:p>
            <a:pPr marL="457200" indent="-457200"/>
            <a:r>
              <a:rPr lang="en-US" dirty="0"/>
              <a:t>Records </a:t>
            </a:r>
            <a:r>
              <a:rPr lang="en-US" dirty="0" err="1"/>
              <a:t>HoldTime</a:t>
            </a:r>
            <a:r>
              <a:rPr lang="en-US" dirty="0"/>
              <a:t>, which is the time the router waits to receive Hello packet from that neighbor before informing DUAL about </a:t>
            </a:r>
            <a:r>
              <a:rPr lang="en-US" dirty="0" err="1"/>
              <a:t>it's</a:t>
            </a:r>
            <a:r>
              <a:rPr lang="en-US" dirty="0"/>
              <a:t> unreachability.</a:t>
            </a:r>
          </a:p>
          <a:p>
            <a:pPr marL="457200" indent="-457200"/>
            <a:r>
              <a:rPr lang="en-US" dirty="0"/>
              <a:t>It holds information required by reliable transport </a:t>
            </a:r>
            <a:r>
              <a:rPr lang="en-US" dirty="0" err="1"/>
              <a:t>protocol.Such</a:t>
            </a:r>
            <a:r>
              <a:rPr lang="en-US" dirty="0"/>
              <a:t> as sequence numbers to detect out of order ACKs, transmission list to queue packets and RTT for optimal retransmission interval.</a:t>
            </a:r>
          </a:p>
          <a:p>
            <a:pPr marL="457200" indent="-457200"/>
            <a:endParaRPr lang="en-US" dirty="0"/>
          </a:p>
          <a:p>
            <a:pPr marL="457200" indent="-457200"/>
            <a:endParaRPr lang="en-US" dirty="0"/>
          </a:p>
          <a:p>
            <a:pPr marL="457200" indent="-457200"/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32965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C6E46-C393-5626-57E9-0240380122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268F9-B23D-3ACF-2392-2D0BC9C10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4. Tables </a:t>
            </a:r>
            <a:r>
              <a:rPr lang="en-US" b="1" dirty="0">
                <a:solidFill>
                  <a:schemeClr val="bg1"/>
                </a:solidFill>
              </a:rPr>
              <a:t> </a:t>
            </a:r>
            <a:endParaRPr lang="en-AU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2E02A-948D-9CAD-7470-D979FEB9AF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3886" y="544287"/>
            <a:ext cx="6947474" cy="492779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b="1"/>
              <a:t>Neighbor Table: Example</a:t>
            </a:r>
            <a:endParaRPr lang="en-US"/>
          </a:p>
          <a:p>
            <a:pPr marL="457200" indent="-457200"/>
            <a:endParaRPr lang="en-US" dirty="0"/>
          </a:p>
          <a:p>
            <a:pPr marL="457200" indent="-457200"/>
            <a:endParaRPr lang="en-US" dirty="0"/>
          </a:p>
          <a:p>
            <a:pPr marL="457200" indent="-457200"/>
            <a:endParaRPr lang="en-US" dirty="0"/>
          </a:p>
          <a:p>
            <a:endParaRPr lang="en-US" dirty="0"/>
          </a:p>
          <a:p>
            <a:endParaRPr lang="en-US" dirty="0">
              <a:ea typeface="+mn-lt"/>
              <a:cs typeface="+mn-lt"/>
            </a:endParaRPr>
          </a:p>
          <a:p>
            <a:endParaRPr lang="en-US" dirty="0"/>
          </a:p>
          <a:p>
            <a:endParaRPr lang="en-US" dirty="0"/>
          </a:p>
          <a:p>
            <a:endParaRPr lang="en-AU" dirty="0"/>
          </a:p>
        </p:txBody>
      </p:sp>
      <p:pic>
        <p:nvPicPr>
          <p:cNvPr id="6" name="Picture 5" descr="graphics/08fig47.gif">
            <a:extLst>
              <a:ext uri="{FF2B5EF4-FFF2-40B4-BE49-F238E27FC236}">
                <a16:creationId xmlns:a16="http://schemas.microsoft.com/office/drawing/2014/main" id="{ACA1698A-AFDF-0A6F-947B-7842E3160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6545" y="1040056"/>
            <a:ext cx="7313001" cy="5188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51955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74026-16C6-1787-2128-0D2248ECD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E7C23-49E4-36DD-D18B-974757C07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5. Packet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E94F11-59BB-B5A8-2D88-99204E95BD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94963" y="321549"/>
            <a:ext cx="7416397" cy="51622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b="1"/>
              <a:t>EIGRP Packet Types:</a:t>
            </a: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457200" indent="-457200"/>
            <a:endParaRPr lang="en-US" dirty="0"/>
          </a:p>
          <a:p>
            <a:pPr marL="457200" indent="-457200"/>
            <a:endParaRPr lang="en-US" dirty="0"/>
          </a:p>
          <a:p>
            <a:pPr marL="457200" indent="-457200"/>
            <a:endParaRPr lang="en-US" dirty="0"/>
          </a:p>
          <a:p>
            <a:endParaRPr lang="en-US" dirty="0">
              <a:ea typeface="+mn-lt"/>
              <a:cs typeface="+mn-lt"/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AU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E9A6750-C9D2-1A7E-40F2-A4ED8396D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7344948"/>
              </p:ext>
            </p:extLst>
          </p:nvPr>
        </p:nvGraphicFramePr>
        <p:xfrm>
          <a:off x="4489938" y="1031630"/>
          <a:ext cx="7516828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2338">
                  <a:extLst>
                    <a:ext uri="{9D8B030D-6E8A-4147-A177-3AD203B41FA5}">
                      <a16:colId xmlns:a16="http://schemas.microsoft.com/office/drawing/2014/main" val="3467937292"/>
                    </a:ext>
                  </a:extLst>
                </a:gridCol>
                <a:gridCol w="1262338">
                  <a:extLst>
                    <a:ext uri="{9D8B030D-6E8A-4147-A177-3AD203B41FA5}">
                      <a16:colId xmlns:a16="http://schemas.microsoft.com/office/drawing/2014/main" val="2572190188"/>
                    </a:ext>
                  </a:extLst>
                </a:gridCol>
                <a:gridCol w="4992152">
                  <a:extLst>
                    <a:ext uri="{9D8B030D-6E8A-4147-A177-3AD203B41FA5}">
                      <a16:colId xmlns:a16="http://schemas.microsoft.com/office/drawing/2014/main" val="24208685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Packet Type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Packet  </a:t>
                      </a:r>
                      <a:r>
                        <a:rPr lang="en-US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Function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37846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b="1"/>
                        <a:t>5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HELLO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Used for discovery and reachability of the neighbors </a:t>
                      </a:r>
                      <a:r>
                        <a:rPr lang="en-US"/>
                        <a:t>(Multicast)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7241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b="1"/>
                        <a:t>2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REQUEST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Request </a:t>
                      </a:r>
                      <a:r>
                        <a:rPr lang="en-US"/>
                        <a:t>specific information from one or more neighbors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73305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b="1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UPDATE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Reliably transmit routing and reachability information with other neighbors. Neighbor discovery updates are unicast. Link cost change updates are multicast.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858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b="1"/>
                        <a:t>3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QUERY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Used in DUAL during topology changes to recompute </a:t>
                      </a:r>
                      <a:r>
                        <a:rPr lang="en-US"/>
                        <a:t>routes. Queries are reliable transmission and are always multicast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006517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b="1"/>
                        <a:t>4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/>
                        <a:t>REPLY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Sent in response to Query packet. Replies are reliable transmission and are </a:t>
                      </a:r>
                      <a:r>
                        <a:rPr lang="en-US"/>
                        <a:t>always unicast to Query packet originator.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64653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362167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F4AB5-24DD-E2BB-756E-A6867A4C3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92EC61-F1F8-24E5-F410-6B1AE5056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6. Path Metric Calculation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DBF66E-E763-4EAD-10D6-2377097AA0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380" y="236883"/>
            <a:ext cx="7839730" cy="5989099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pPr marL="0" indent="0">
              <a:buNone/>
            </a:pPr>
            <a:r>
              <a:rPr lang="en-US" b="1"/>
              <a:t>Path Metric Calculation:</a:t>
            </a:r>
            <a:endParaRPr lang="en-US" b="1" dirty="0"/>
          </a:p>
          <a:p>
            <a:pPr marL="0" indent="0">
              <a:buNone/>
            </a:pPr>
            <a:r>
              <a:rPr lang="en-US" b="1" dirty="0"/>
              <a:t>Classic metric(IGRP)</a:t>
            </a:r>
            <a:r>
              <a:rPr lang="en-US"/>
              <a:t> = </a:t>
            </a:r>
          </a:p>
          <a:p>
            <a:pPr marL="0" indent="0">
              <a:buNone/>
            </a:pPr>
            <a:r>
              <a:rPr lang="en-US" dirty="0"/>
              <a:t>[{K1</a:t>
            </a:r>
            <a:r>
              <a:rPr lang="en-US" baseline="-25000" dirty="0"/>
              <a:t> </a:t>
            </a:r>
            <a:r>
              <a:rPr lang="en-US"/>
              <a:t>* BW+{(K2*BW)/(256-Load)}+k3*Delay}*K5/(k4+Reliability)]</a:t>
            </a:r>
          </a:p>
          <a:p>
            <a:pPr marL="571500" lvl="1" indent="-342900"/>
            <a:r>
              <a:rPr lang="en-US"/>
              <a:t>BW is slowest link BW/Kbps  in the path scaled to EIGRP_BANDWIDTH of10 Gbps(10</a:t>
            </a:r>
            <a:r>
              <a:rPr lang="en-US" baseline="30000"/>
              <a:t>7 </a:t>
            </a:r>
            <a:r>
              <a:rPr lang="en-US"/>
              <a:t>Kbps). Ex. BW = (10</a:t>
            </a:r>
            <a:r>
              <a:rPr lang="en-US" baseline="30000"/>
              <a:t>7 </a:t>
            </a:r>
            <a:r>
              <a:rPr lang="en-US"/>
              <a:t>Kbps/100 Kbps) = 10</a:t>
            </a:r>
            <a:r>
              <a:rPr lang="en-US" baseline="30000" dirty="0"/>
              <a:t>5 </a:t>
            </a:r>
          </a:p>
          <a:p>
            <a:pPr marL="571500" lvl="1" indent="-342900"/>
            <a:r>
              <a:rPr lang="en-US"/>
              <a:t>Delay is the total path delay in </a:t>
            </a:r>
            <a:r>
              <a:rPr lang="en-US" dirty="0"/>
              <a:t>tens of </a:t>
            </a:r>
            <a:r>
              <a:rPr lang="en-US"/>
              <a:t>µs. Ex . 100 µs = 100/10 = 10</a:t>
            </a:r>
          </a:p>
          <a:p>
            <a:pPr marL="571500" lvl="1" indent="-342900"/>
            <a:r>
              <a:rPr lang="en-US" dirty="0"/>
              <a:t>Minimum BW and Total delay of the path is obtained from EIGRP path attribute propagation.</a:t>
            </a:r>
          </a:p>
          <a:p>
            <a:pPr marL="0" indent="0">
              <a:buNone/>
            </a:pPr>
            <a:r>
              <a:rPr lang="en-US" b="1" dirty="0"/>
              <a:t>Composite metric(EIGRP)</a:t>
            </a:r>
            <a:r>
              <a:rPr lang="en-US" dirty="0"/>
              <a:t> is based on classic IGRP  metric </a:t>
            </a:r>
            <a:r>
              <a:rPr lang="en-US" dirty="0" err="1"/>
              <a:t>above</a:t>
            </a:r>
            <a:r>
              <a:rPr lang="en-US" dirty="0"/>
              <a:t> but it is multiplied by 256 to convert it from 24 bits update packet metric field to 32 bits update packet metric field.</a:t>
            </a:r>
          </a:p>
          <a:p>
            <a:pPr marL="0" indent="0">
              <a:buNone/>
            </a:pPr>
            <a:r>
              <a:rPr lang="en-US" dirty="0"/>
              <a:t>Composite EIGRP metric = 256 </a:t>
            </a:r>
            <a:r>
              <a:rPr lang="en-US"/>
              <a:t>*[{K1</a:t>
            </a:r>
            <a:r>
              <a:rPr lang="en-US" sz="1900" baseline="-25000" dirty="0"/>
              <a:t> </a:t>
            </a:r>
            <a:r>
              <a:rPr lang="en-US"/>
              <a:t>*</a:t>
            </a:r>
            <a:r>
              <a:rPr lang="en-US" dirty="0"/>
              <a:t> Min.BW+{(K2*Min.BW)/(256-</a:t>
            </a:r>
            <a:r>
              <a:rPr lang="en-US"/>
              <a:t>Load)}+k3*Total Delay}*K5/(k4+Reliability)]</a:t>
            </a:r>
          </a:p>
          <a:p>
            <a:pPr marL="571500" lvl="1" indent="-342900"/>
            <a:r>
              <a:rPr lang="en-US"/>
              <a:t>Values of K can vary from 0 to 128</a:t>
            </a:r>
            <a:endParaRPr lang="en-US" dirty="0"/>
          </a:p>
          <a:p>
            <a:pPr marL="571500" lvl="1" indent="-342900"/>
            <a:r>
              <a:rPr lang="en-US"/>
              <a:t>Default value of K2,K4 and k5 is set to 0</a:t>
            </a:r>
            <a:endParaRPr lang="en-US" dirty="0"/>
          </a:p>
          <a:p>
            <a:pPr marL="571500" lvl="1" indent="-342900"/>
            <a:r>
              <a:rPr lang="en-US"/>
              <a:t>Default value of K1 and K3 is set to 1</a:t>
            </a:r>
            <a:endParaRPr lang="en-US" dirty="0"/>
          </a:p>
          <a:p>
            <a:pPr marL="571500" lvl="1" indent="-342900"/>
            <a:r>
              <a:rPr lang="en-US"/>
              <a:t>Composite EIGRP metric becomes = </a:t>
            </a:r>
            <a:r>
              <a:rPr lang="en-US" sz="2800"/>
              <a:t>256 *[{K1* Min.BW+{(0}+k3*Total Delay}*1] </a:t>
            </a:r>
            <a:r>
              <a:rPr lang="en-US" sz="2800" i="1">
                <a:solidFill>
                  <a:srgbClr val="00B050"/>
                </a:solidFill>
              </a:rPr>
              <a:t>Note: RFC states if K5=0, Reliability part becomes 1.</a:t>
            </a:r>
            <a:endParaRPr lang="en-US" i="1">
              <a:solidFill>
                <a:srgbClr val="00B050"/>
              </a:solidFill>
            </a:endParaRPr>
          </a:p>
          <a:p>
            <a:pPr marL="571500" lvl="1" indent="-342900"/>
            <a:r>
              <a:rPr lang="en-US"/>
              <a:t>Applying the BW scaling discussed above and total delay in tens of </a:t>
            </a:r>
            <a:r>
              <a:rPr lang="en-US" sz="2500"/>
              <a:t>µs</a:t>
            </a:r>
            <a:r>
              <a:rPr lang="en-US"/>
              <a:t> , Composite EIGRP metric becomes:</a:t>
            </a:r>
            <a:endParaRPr lang="en-US" dirty="0"/>
          </a:p>
          <a:p>
            <a:pPr marL="685800" lvl="2" indent="0">
              <a:buNone/>
            </a:pPr>
            <a:r>
              <a:rPr lang="en-US" sz="2400" b="1" dirty="0"/>
              <a:t>256 *{(Scaled Min. BW +Scaled Total Delay} = </a:t>
            </a:r>
            <a:r>
              <a:rPr lang="en-US" sz="2400"/>
              <a:t>256 *{(10</a:t>
            </a:r>
            <a:r>
              <a:rPr lang="en-US" sz="2400" baseline="30000"/>
              <a:t>7</a:t>
            </a:r>
            <a:r>
              <a:rPr lang="en-US" sz="2400"/>
              <a:t>/ Min. BW</a:t>
            </a:r>
            <a:r>
              <a:rPr lang="en-US" sz="2400" baseline="30000" dirty="0"/>
              <a:t>)</a:t>
            </a:r>
            <a:r>
              <a:rPr lang="en-US" sz="2400" dirty="0"/>
              <a:t> +(Total Delay/10)}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385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81C98-08E1-4A5D-EA51-7E353D8D6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4BF9E-7A57-55A3-A97F-CBF1567736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6. Path Metric Calculation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CC7F0-7C30-E636-FDA0-5FAB7DA36B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61613" y="331074"/>
            <a:ext cx="7416397" cy="673136"/>
          </a:xfrm>
        </p:spPr>
        <p:txBody>
          <a:bodyPr vert="horz" lIns="91440" tIns="45720" rIns="91440" bIns="45720" rtlCol="0" anchor="t">
            <a:normAutofit fontScale="70000" lnSpcReduction="20000"/>
          </a:bodyPr>
          <a:lstStyle/>
          <a:p>
            <a:pPr marL="0" indent="0">
              <a:buNone/>
            </a:pPr>
            <a:r>
              <a:rPr lang="en-US" b="1"/>
              <a:t>EIGRP Composite Metric  calculation example:</a:t>
            </a:r>
            <a:endParaRPr lang="en-US" b="1" dirty="0"/>
          </a:p>
          <a:p>
            <a:pPr marL="0" indent="0">
              <a:buNone/>
            </a:pPr>
            <a:r>
              <a:rPr lang="en-US" dirty="0"/>
              <a:t>EIGRP Path </a:t>
            </a:r>
            <a:r>
              <a:rPr lang="en-US"/>
              <a:t>Attribute</a:t>
            </a:r>
            <a:r>
              <a:rPr lang="en-US" dirty="0"/>
              <a:t> Propagation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pic>
        <p:nvPicPr>
          <p:cNvPr id="5" name="Picture 4" descr="A blue circular object with arrows and white text&#10;&#10;AI-generated content may be incorrect.">
            <a:extLst>
              <a:ext uri="{FF2B5EF4-FFF2-40B4-BE49-F238E27FC236}">
                <a16:creationId xmlns:a16="http://schemas.microsoft.com/office/drawing/2014/main" id="{4F95F65D-5035-3A2B-1B01-4629D40BB8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943" y="1506932"/>
            <a:ext cx="7419444" cy="250380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B3A105-4201-ABCA-4674-E22366BC2A12}"/>
              </a:ext>
            </a:extLst>
          </p:cNvPr>
          <p:cNvSpPr txBox="1"/>
          <p:nvPr/>
        </p:nvSpPr>
        <p:spPr>
          <a:xfrm>
            <a:off x="4333875" y="4495800"/>
            <a:ext cx="7467600" cy="180049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From above figure, </a:t>
            </a:r>
            <a:r>
              <a:rPr lang="en-US"/>
              <a:t>calculating EIGRP composite metric at R3 for 10.1.1.0/24 prefix:</a:t>
            </a:r>
          </a:p>
          <a:p>
            <a:pPr marL="742950" lvl="1" indent="-285750">
              <a:buFont typeface="Courier New"/>
              <a:buChar char="o"/>
            </a:pPr>
            <a:r>
              <a:rPr lang="en-US" dirty="0"/>
              <a:t>Minimum Bandwidth = 10 Mbps = 10 * 1000 Kbps = 10,000 Kbps= 10</a:t>
            </a:r>
            <a:r>
              <a:rPr lang="en-US" baseline="30000" dirty="0"/>
              <a:t>4</a:t>
            </a:r>
            <a:r>
              <a:rPr lang="en-US" dirty="0"/>
              <a:t> Kbps, Total Delay = 1200 </a:t>
            </a:r>
            <a:r>
              <a:rPr lang="en-US" sz="1900" dirty="0"/>
              <a:t>µs</a:t>
            </a:r>
            <a:endParaRPr lang="en-US" dirty="0"/>
          </a:p>
          <a:p>
            <a:pPr marL="742950" lvl="1" indent="-285750">
              <a:buFont typeface="Courier New"/>
              <a:buChar char="o"/>
            </a:pPr>
            <a:r>
              <a:rPr lang="en-US" sz="1900"/>
              <a:t>Metric = 256 * { (10</a:t>
            </a:r>
            <a:r>
              <a:rPr lang="en-US" sz="1900" baseline="30000" dirty="0"/>
              <a:t>7 </a:t>
            </a:r>
            <a:r>
              <a:rPr lang="en-US" sz="1900" dirty="0"/>
              <a:t>/10</a:t>
            </a:r>
            <a:r>
              <a:rPr lang="en-US" sz="1900" baseline="30000" dirty="0"/>
              <a:t>4</a:t>
            </a:r>
            <a:r>
              <a:rPr lang="en-US" sz="1900" dirty="0"/>
              <a:t>) + 1200/10} = 256*{10</a:t>
            </a:r>
            <a:r>
              <a:rPr lang="en-US" sz="1900" baseline="30000" dirty="0"/>
              <a:t>3</a:t>
            </a:r>
            <a:r>
              <a:rPr lang="en-US" sz="1900" dirty="0"/>
              <a:t> + 120} = 256 * </a:t>
            </a:r>
            <a:r>
              <a:rPr lang="en-US" sz="1900"/>
              <a:t>1120 = </a:t>
            </a:r>
            <a:r>
              <a:rPr lang="en-US" sz="1900" b="1"/>
              <a:t>286,720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4408133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EFD78-5D65-5AC6-C7B6-0445E6A49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A3A2D0-7466-EE0F-940D-2EF7C160A4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6. Path Metric Calculation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BE3C98-D937-6080-C188-44B9186250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088" y="140574"/>
            <a:ext cx="7597372" cy="6435761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Calculate EIGRP Composite metric for common LAN interfaces:</a:t>
            </a:r>
            <a:endParaRPr lang="en-US" b="1" dirty="0"/>
          </a:p>
          <a:p>
            <a:r>
              <a:rPr lang="en-US" dirty="0"/>
              <a:t>10 </a:t>
            </a:r>
            <a:r>
              <a:rPr lang="en-US" dirty="0" err="1"/>
              <a:t>GigabitEthernet</a:t>
            </a:r>
            <a:endParaRPr lang="en-US"/>
          </a:p>
          <a:p>
            <a:pPr marL="914400" lvl="2" indent="0">
              <a:buNone/>
            </a:pPr>
            <a:r>
              <a:rPr lang="en-US" dirty="0"/>
              <a:t>Scaled </a:t>
            </a:r>
            <a:r>
              <a:rPr lang="en-US"/>
              <a:t>Bandwidth = 10,000,000/10,000,000</a:t>
            </a:r>
            <a:endParaRPr lang="en-US" dirty="0"/>
          </a:p>
          <a:p>
            <a:pPr marL="914400" lvl="2" indent="0">
              <a:buNone/>
            </a:pPr>
            <a:r>
              <a:rPr lang="en-US"/>
              <a:t>Scaled Delay = 10/10</a:t>
            </a:r>
            <a:endParaRPr lang="en-US" dirty="0"/>
          </a:p>
          <a:p>
            <a:pPr marL="914400" lvl="2" indent="0">
              <a:buNone/>
            </a:pPr>
            <a:r>
              <a:rPr lang="en-US"/>
              <a:t>Composite Metric = 256 *(1+1) = </a:t>
            </a:r>
            <a:r>
              <a:rPr lang="en-US" b="1" dirty="0"/>
              <a:t>512</a:t>
            </a:r>
          </a:p>
          <a:p>
            <a:pPr marL="457200" indent="-457200"/>
            <a:r>
              <a:rPr lang="en-US" dirty="0"/>
              <a:t>11 </a:t>
            </a:r>
            <a:r>
              <a:rPr lang="en-US" dirty="0" err="1"/>
              <a:t>GigabitEthernet</a:t>
            </a:r>
            <a:endParaRPr lang="en-US" err="1"/>
          </a:p>
          <a:p>
            <a:pPr marL="914400" lvl="2" indent="0">
              <a:buNone/>
            </a:pPr>
            <a:r>
              <a:rPr lang="en-US" sz="2100"/>
              <a:t>Scaled Bandwidth = 10,000,000/11,000,000</a:t>
            </a:r>
          </a:p>
          <a:p>
            <a:pPr marL="914400" lvl="2" indent="0">
              <a:buNone/>
            </a:pPr>
            <a:r>
              <a:rPr lang="en-US" sz="2100"/>
              <a:t>Scaled Delay = 10/10</a:t>
            </a:r>
          </a:p>
          <a:p>
            <a:pPr marL="914400" lvl="2" indent="0">
              <a:buNone/>
            </a:pPr>
            <a:r>
              <a:rPr lang="en-US" sz="2100"/>
              <a:t>Composite Metric = 256 *(0+1) = </a:t>
            </a:r>
            <a:r>
              <a:rPr lang="en-US" sz="2100" b="1" dirty="0"/>
              <a:t>256</a:t>
            </a:r>
          </a:p>
          <a:p>
            <a:pPr marL="457200" indent="-457200"/>
            <a:r>
              <a:rPr lang="en-US" dirty="0"/>
              <a:t>20 </a:t>
            </a:r>
            <a:r>
              <a:rPr lang="en-US" dirty="0" err="1"/>
              <a:t>GigabitEthernet</a:t>
            </a:r>
            <a:endParaRPr lang="en-US" err="1"/>
          </a:p>
          <a:p>
            <a:pPr marL="914400" lvl="2" indent="0">
              <a:buNone/>
            </a:pPr>
            <a:r>
              <a:rPr lang="en-US" sz="2100"/>
              <a:t>Scaled Bandwidth = 10,000,000/20,000,000</a:t>
            </a:r>
          </a:p>
          <a:p>
            <a:pPr marL="914400" lvl="2" indent="0">
              <a:buNone/>
            </a:pPr>
            <a:r>
              <a:rPr lang="en-US" sz="2100"/>
              <a:t>Scaled Delay = 10/10</a:t>
            </a:r>
          </a:p>
          <a:p>
            <a:pPr marL="914400" lvl="2" indent="0">
              <a:buNone/>
            </a:pPr>
            <a:r>
              <a:rPr lang="en-US" sz="2100"/>
              <a:t>Composite Metric = 256 *(0+1) =</a:t>
            </a:r>
            <a:r>
              <a:rPr lang="en-US" sz="1700" dirty="0"/>
              <a:t> </a:t>
            </a:r>
            <a:r>
              <a:rPr lang="en-US" sz="2100" b="1" dirty="0"/>
              <a:t>256</a:t>
            </a:r>
          </a:p>
          <a:p>
            <a:pPr marL="0" indent="0">
              <a:buNone/>
            </a:pPr>
            <a:r>
              <a:rPr lang="en-US" dirty="0"/>
              <a:t>The composite metrics calculated above for </a:t>
            </a:r>
            <a:r>
              <a:rPr lang="en-US" dirty="0" err="1"/>
              <a:t>11G</a:t>
            </a:r>
            <a:r>
              <a:rPr lang="en-US" dirty="0"/>
              <a:t> and 20G interfaces are </a:t>
            </a:r>
            <a:r>
              <a:rPr lang="en-US" dirty="0" err="1"/>
              <a:t>same.Because</a:t>
            </a:r>
            <a:r>
              <a:rPr lang="en-US" dirty="0"/>
              <a:t> of this, there will be undesirable equal cost load balancing for higher speed interfaces and </a:t>
            </a:r>
            <a:r>
              <a:rPr lang="en-US" dirty="0" err="1"/>
              <a:t>etherchannels.</a:t>
            </a:r>
            <a:r>
              <a:rPr lang="en-US" sz="2600" dirty="0" err="1"/>
              <a:t>Thus</a:t>
            </a:r>
            <a:r>
              <a:rPr lang="en-US" sz="2600" dirty="0"/>
              <a:t>, this metric calculation does not scale for higher speed </a:t>
            </a:r>
            <a:r>
              <a:rPr lang="en-US" sz="2600" dirty="0" err="1"/>
              <a:t>interfaces.</a:t>
            </a:r>
            <a:r>
              <a:rPr lang="en-US" dirty="0" err="1"/>
              <a:t>Therefore</a:t>
            </a:r>
            <a:r>
              <a:rPr lang="en-US" dirty="0"/>
              <a:t>, EIGRP supports second set of metrics known as Wide Metrics.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794320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6FC274-2DCB-3811-83C8-ABDFEE0B2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BC5DD-6805-1F05-5528-8E9F612584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6. Path Metric Calculation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FD7A5C-9D88-3AE9-7A08-C068833769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89258" y="345013"/>
            <a:ext cx="7504446" cy="6167964"/>
          </a:xfrm>
        </p:spPr>
        <p:txBody>
          <a:bodyPr vert="horz" lIns="91440" tIns="45720" rIns="91440" bIns="45720" rtlCol="0" anchor="t">
            <a:normAutofit fontScale="25000" lnSpcReduction="20000"/>
          </a:bodyPr>
          <a:lstStyle/>
          <a:p>
            <a:pPr marL="0" indent="0">
              <a:buNone/>
            </a:pPr>
            <a:r>
              <a:rPr lang="en-US" sz="8000" b="1"/>
              <a:t>Wide Metrics</a:t>
            </a:r>
            <a:r>
              <a:rPr lang="en-US" sz="8000" b="1" dirty="0"/>
              <a:t>:</a:t>
            </a:r>
          </a:p>
          <a:p>
            <a:pPr marL="0" indent="0">
              <a:buNone/>
            </a:pPr>
            <a:r>
              <a:rPr lang="en-US" sz="8000" dirty="0"/>
              <a:t>[{</a:t>
            </a:r>
            <a:r>
              <a:rPr lang="en-US" sz="8000" b="1" dirty="0"/>
              <a:t>K1 </a:t>
            </a:r>
            <a:r>
              <a:rPr lang="en-US" sz="8000" dirty="0"/>
              <a:t>*</a:t>
            </a:r>
            <a:r>
              <a:rPr lang="en-US" sz="8000" b="1" dirty="0"/>
              <a:t> BW</a:t>
            </a:r>
            <a:r>
              <a:rPr lang="en-US" sz="8000" dirty="0"/>
              <a:t>+{(</a:t>
            </a:r>
            <a:r>
              <a:rPr lang="en-US" sz="8000" b="1" dirty="0"/>
              <a:t>K2</a:t>
            </a:r>
            <a:r>
              <a:rPr lang="en-US" sz="8000" dirty="0"/>
              <a:t>*</a:t>
            </a:r>
            <a:r>
              <a:rPr lang="en-US" sz="8000" b="1" dirty="0"/>
              <a:t>BW</a:t>
            </a:r>
            <a:r>
              <a:rPr lang="en-US" sz="8000" dirty="0"/>
              <a:t>)/(256-</a:t>
            </a:r>
            <a:r>
              <a:rPr lang="en-US" sz="8000" b="1" dirty="0"/>
              <a:t>Load</a:t>
            </a:r>
            <a:r>
              <a:rPr lang="en-US" sz="8000" dirty="0"/>
              <a:t>)}+</a:t>
            </a:r>
            <a:r>
              <a:rPr lang="en-US" sz="8000" b="1" dirty="0"/>
              <a:t>k3</a:t>
            </a:r>
            <a:r>
              <a:rPr lang="en-US" sz="8000" dirty="0"/>
              <a:t>*</a:t>
            </a:r>
            <a:r>
              <a:rPr lang="en-US" sz="8000" b="1" dirty="0"/>
              <a:t>Latency </a:t>
            </a:r>
            <a:r>
              <a:rPr lang="en-US" sz="8000"/>
              <a:t>+</a:t>
            </a:r>
            <a:r>
              <a:rPr lang="en-US" sz="8000" b="1"/>
              <a:t>k6</a:t>
            </a:r>
            <a:r>
              <a:rPr lang="en-US" sz="8000"/>
              <a:t>*</a:t>
            </a:r>
            <a:r>
              <a:rPr lang="en-US" sz="8000" b="1"/>
              <a:t>Extended</a:t>
            </a:r>
            <a:r>
              <a:rPr lang="en-US" sz="8000"/>
              <a:t>}*</a:t>
            </a:r>
            <a:r>
              <a:rPr lang="en-US" sz="8000" b="1"/>
              <a:t>K5</a:t>
            </a:r>
            <a:r>
              <a:rPr lang="en-US" sz="8000"/>
              <a:t>/(</a:t>
            </a:r>
            <a:r>
              <a:rPr lang="en-US" sz="8000" b="1"/>
              <a:t>k4</a:t>
            </a:r>
            <a:r>
              <a:rPr lang="en-US" sz="8000"/>
              <a:t>+</a:t>
            </a:r>
            <a:r>
              <a:rPr lang="en-US" sz="8000" b="1"/>
              <a:t>Reliability</a:t>
            </a:r>
            <a:r>
              <a:rPr lang="en-US" sz="8000"/>
              <a:t>)]</a:t>
            </a:r>
            <a:endParaRPr lang="en-US" sz="8000" dirty="0"/>
          </a:p>
          <a:p>
            <a:pPr marL="342900" indent="-342900"/>
            <a:r>
              <a:rPr lang="en-US" sz="8000"/>
              <a:t>Where, Extended adds </a:t>
            </a:r>
            <a:r>
              <a:rPr lang="en-US" sz="8000" dirty="0"/>
              <a:t>other future attributes such as jitter and </a:t>
            </a:r>
            <a:r>
              <a:rPr lang="en-US" sz="8000"/>
              <a:t>energy.</a:t>
            </a:r>
            <a:endParaRPr lang="en-US" sz="8000" dirty="0"/>
          </a:p>
          <a:p>
            <a:pPr marL="342900" indent="-342900"/>
            <a:r>
              <a:rPr lang="en-US" sz="8000" dirty="0"/>
              <a:t>Latency is measured in picoseconds (10</a:t>
            </a:r>
            <a:r>
              <a:rPr lang="en-US" sz="8000" baseline="30000" dirty="0"/>
              <a:t>-12</a:t>
            </a:r>
            <a:r>
              <a:rPr lang="en-US" sz="8000" dirty="0"/>
              <a:t> ) instead of microseconds (10</a:t>
            </a:r>
            <a:r>
              <a:rPr lang="en-US" sz="8000" baseline="30000" dirty="0"/>
              <a:t>-6</a:t>
            </a:r>
            <a:r>
              <a:rPr lang="en-US" sz="8000" dirty="0"/>
              <a:t> ). 1µs = 10</a:t>
            </a:r>
            <a:r>
              <a:rPr lang="en-US" sz="8000" baseline="30000" dirty="0"/>
              <a:t>6</a:t>
            </a:r>
            <a:r>
              <a:rPr lang="en-US" sz="8000" dirty="0"/>
              <a:t> </a:t>
            </a:r>
            <a:r>
              <a:rPr lang="en-US" sz="8000"/>
              <a:t>picoseconds.</a:t>
            </a:r>
            <a:endParaRPr lang="en-US" sz="8000" dirty="0"/>
          </a:p>
          <a:p>
            <a:pPr marL="342900" indent="-342900"/>
            <a:r>
              <a:rPr lang="en-US" sz="8000" dirty="0"/>
              <a:t>To accommodate higher speed interfaces (up to 655 </a:t>
            </a:r>
            <a:r>
              <a:rPr lang="en-US" sz="8000" dirty="0" err="1"/>
              <a:t>Tbps</a:t>
            </a:r>
            <a:r>
              <a:rPr lang="en-US" sz="8000" dirty="0"/>
              <a:t>) wide metrics is multiplied by 65,536 (64 bits).</a:t>
            </a:r>
          </a:p>
          <a:p>
            <a:pPr marL="342900" indent="-342900"/>
            <a:r>
              <a:rPr lang="en-US" sz="8000"/>
              <a:t>The default values of </a:t>
            </a:r>
            <a:r>
              <a:rPr lang="en-US" sz="8000" dirty="0"/>
              <a:t>K1 and K3 is 1 and 0 for K2,K4,K5 and </a:t>
            </a:r>
            <a:r>
              <a:rPr lang="en-US" sz="8000"/>
              <a:t>K6.</a:t>
            </a:r>
          </a:p>
          <a:p>
            <a:pPr marL="0" indent="0">
              <a:buNone/>
            </a:pPr>
            <a:r>
              <a:rPr lang="en-US" sz="8000"/>
              <a:t>Applying these, the EIGRP Wide Metric becomes:</a:t>
            </a:r>
          </a:p>
          <a:p>
            <a:pPr marL="457200" lvl="1" indent="0">
              <a:buNone/>
            </a:pPr>
            <a:r>
              <a:rPr lang="en-US" sz="7600" b="1"/>
              <a:t>65,536 *{(10</a:t>
            </a:r>
            <a:r>
              <a:rPr lang="en-US" sz="7600" b="1" baseline="30000"/>
              <a:t>7</a:t>
            </a:r>
            <a:r>
              <a:rPr lang="en-US" sz="7600" b="1"/>
              <a:t>/Min. BW) + (Total Latency/10</a:t>
            </a:r>
            <a:r>
              <a:rPr lang="en-US" sz="7600" b="1" baseline="30000"/>
              <a:t>6</a:t>
            </a:r>
            <a:r>
              <a:rPr lang="en-US" sz="7600" b="1"/>
              <a:t>)</a:t>
            </a:r>
            <a:r>
              <a:rPr lang="en-US" sz="7600" b="1" dirty="0"/>
              <a:t>}</a:t>
            </a:r>
          </a:p>
          <a:p>
            <a:pPr marL="0" indent="0">
              <a:buNone/>
            </a:pPr>
            <a:r>
              <a:rPr lang="en-US" sz="8000" b="1" dirty="0"/>
              <a:t>Example:</a:t>
            </a:r>
            <a:r>
              <a:rPr lang="en-US" sz="8000" dirty="0"/>
              <a:t> Path with 10G link, delay = 10 µs = 10 *10</a:t>
            </a:r>
            <a:r>
              <a:rPr lang="en-US" sz="8000" baseline="30000" dirty="0"/>
              <a:t>6</a:t>
            </a:r>
            <a:r>
              <a:rPr lang="en-US" sz="8000" dirty="0"/>
              <a:t> picoseconds= 10,000,000 </a:t>
            </a:r>
            <a:r>
              <a:rPr lang="en-US" sz="8000"/>
              <a:t>picoseconds</a:t>
            </a:r>
            <a:endParaRPr lang="en-US" sz="8000" dirty="0"/>
          </a:p>
          <a:p>
            <a:pPr marL="800100" lvl="3" indent="-342900">
              <a:spcBef>
                <a:spcPts val="1000"/>
              </a:spcBef>
            </a:pPr>
            <a:r>
              <a:rPr lang="en-US" sz="7800"/>
              <a:t>Scaled BW =10,000,000/10,000,000 = 1</a:t>
            </a:r>
          </a:p>
          <a:p>
            <a:pPr marL="800100" lvl="3" indent="-342900">
              <a:spcBef>
                <a:spcPts val="1000"/>
              </a:spcBef>
            </a:pPr>
            <a:r>
              <a:rPr lang="en-US" sz="7800"/>
              <a:t>Latency = 10,000,000/1,000,000 = 10</a:t>
            </a:r>
          </a:p>
          <a:p>
            <a:pPr marL="800100" lvl="3" indent="-342900">
              <a:spcBef>
                <a:spcPts val="1000"/>
              </a:spcBef>
            </a:pPr>
            <a:r>
              <a:rPr lang="en-US" sz="7800" dirty="0"/>
              <a:t>Wide </a:t>
            </a:r>
            <a:r>
              <a:rPr lang="en-US" sz="7800"/>
              <a:t>Metric = 65,536 * (1+10) = 65,536 + 6,55,360 = 720,896</a:t>
            </a:r>
            <a:endParaRPr lang="en-US" sz="7800" dirty="0"/>
          </a:p>
          <a:p>
            <a:pPr marL="0" indent="0">
              <a:buNone/>
            </a:pPr>
            <a:r>
              <a:rPr lang="en-US" sz="8000" dirty="0"/>
              <a:t>Cisco RIB can only fit 4 Byte unsigned </a:t>
            </a:r>
            <a:r>
              <a:rPr lang="en-US" sz="8000"/>
              <a:t>values. To</a:t>
            </a:r>
            <a:r>
              <a:rPr lang="en-US" sz="8000" dirty="0"/>
              <a:t> fit the 64 bits wide metrics into RIB, use </a:t>
            </a:r>
            <a:r>
              <a:rPr lang="en-US" sz="8000" i="1" dirty="0">
                <a:solidFill>
                  <a:srgbClr val="FF0000"/>
                </a:solidFill>
              </a:rPr>
              <a:t>metric rib-scale</a:t>
            </a:r>
            <a:r>
              <a:rPr lang="en-US" sz="8000" dirty="0"/>
              <a:t> command. This clears </a:t>
            </a:r>
            <a:r>
              <a:rPr lang="en-US" sz="8000"/>
              <a:t>the metrics for EIGRP routes in the RIB and sets new metric values.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33544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1F480-8295-DF6F-ECBB-6760C7BC97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CFC7B-C22A-4A32-5841-3CFB5B08A6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6. Path Metric Calculation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BA33C-127D-FA4C-CB7D-A36B460721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088" y="140574"/>
            <a:ext cx="7597372" cy="6435761"/>
          </a:xfrm>
        </p:spPr>
        <p:txBody>
          <a:bodyPr vert="horz" lIns="91440" tIns="45720" rIns="91440" bIns="45720" rtlCol="0" anchor="t">
            <a:normAutofit fontScale="92500"/>
          </a:bodyPr>
          <a:lstStyle/>
          <a:p>
            <a:pPr marL="0" indent="0">
              <a:buNone/>
            </a:pPr>
            <a:r>
              <a:rPr lang="en-US" b="1"/>
              <a:t>EIGRP Wide Metric Backward Compatibility:</a:t>
            </a:r>
            <a:endParaRPr lang="en-US" b="1" dirty="0"/>
          </a:p>
          <a:p>
            <a:pPr marL="0" indent="0">
              <a:buNone/>
            </a:pPr>
            <a:r>
              <a:rPr lang="en-US" dirty="0"/>
              <a:t>With the values of K1,K2,K3,K4 and K5 set to </a:t>
            </a:r>
            <a:r>
              <a:rPr lang="en-US"/>
              <a:t>same in both Wide Metric and Composite Metric </a:t>
            </a:r>
            <a:r>
              <a:rPr lang="en-US" dirty="0"/>
              <a:t>and K6 not set in Wide Metric. Wide Metric is backward compatible with Composite metric.</a:t>
            </a:r>
          </a:p>
          <a:p>
            <a:pPr marL="0" indent="0">
              <a:buNone/>
            </a:pPr>
            <a:r>
              <a:rPr lang="en-US" dirty="0"/>
              <a:t>Mismatched K-values between the peering routers fails to establish EIGRP neighbor relationship .</a:t>
            </a:r>
          </a:p>
          <a:p>
            <a:pPr marL="0" indent="0">
              <a:buNone/>
            </a:pPr>
            <a:r>
              <a:rPr lang="en-US" dirty="0"/>
              <a:t>EIGRP </a:t>
            </a:r>
            <a:r>
              <a:rPr lang="en-US"/>
              <a:t>is able to detect</a:t>
            </a:r>
            <a:r>
              <a:rPr lang="en-US" dirty="0"/>
              <a:t> when peering with router using Composite metric. It uses below formula to unscale:</a:t>
            </a:r>
          </a:p>
          <a:p>
            <a:pPr marL="0" indent="0">
              <a:buNone/>
            </a:pPr>
            <a:r>
              <a:rPr lang="en-US" b="1" dirty="0"/>
              <a:t>Unscaled Bandwidth</a:t>
            </a:r>
            <a:r>
              <a:rPr lang="en-US"/>
              <a:t> = (EIGRP_BANDWIDTH </a:t>
            </a:r>
            <a:r>
              <a:rPr lang="en-US" dirty="0"/>
              <a:t>*EIGRP classic scale)/Scaled Bandwidth</a:t>
            </a:r>
          </a:p>
          <a:p>
            <a:pPr marL="0" indent="0">
              <a:buNone/>
            </a:pPr>
            <a:r>
              <a:rPr lang="en-US" dirty="0"/>
              <a:t>Example: </a:t>
            </a:r>
            <a:r>
              <a:rPr lang="en-US"/>
              <a:t>Scaled BW for classic metric = 1</a:t>
            </a:r>
            <a:endParaRPr lang="en-US" dirty="0"/>
          </a:p>
          <a:p>
            <a:pPr marL="0" indent="0">
              <a:buNone/>
            </a:pPr>
            <a:r>
              <a:rPr lang="en-US"/>
              <a:t>Unscaled BW = (10,000,000*256)/1 = 2560000000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55244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44EB4-C2C7-C8BF-93F9-43A09DBE6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59DCA9-29AF-D886-12BD-A51109C5CB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7. Load Balancing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7913F-CE6A-DB99-56F8-CE05699D5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05625" y="131281"/>
            <a:ext cx="7597372" cy="6593737"/>
          </a:xfrm>
        </p:spPr>
        <p:txBody>
          <a:bodyPr vert="horz" lIns="91440" tIns="45720" rIns="91440" bIns="45720" rtlCol="0" anchor="t">
            <a:normAutofit fontScale="92500" lnSpcReduction="20000"/>
          </a:bodyPr>
          <a:lstStyle/>
          <a:p>
            <a:pPr marL="0" indent="0">
              <a:buNone/>
            </a:pPr>
            <a:r>
              <a:rPr lang="en-US" b="1"/>
              <a:t>Equal Cost Multi Pathing (ECMP)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EIGRP allows</a:t>
            </a:r>
            <a:r>
              <a:rPr lang="en-US" b="1" dirty="0"/>
              <a:t> </a:t>
            </a:r>
            <a:r>
              <a:rPr lang="en-US" dirty="0"/>
              <a:t>installation of multiple successor routes (using same metrics) into RIB. Installing multiple paths into RIB for same prefi</a:t>
            </a:r>
            <a:r>
              <a:rPr lang="en-US"/>
              <a:t>x is called ECMP.</a:t>
            </a:r>
            <a:endParaRPr lang="en-US" dirty="0"/>
          </a:p>
          <a:p>
            <a:pPr marL="0" indent="0">
              <a:buNone/>
            </a:pPr>
            <a:r>
              <a:rPr lang="en-US" b="1"/>
              <a:t>Unequal</a:t>
            </a:r>
            <a:r>
              <a:rPr lang="en-US" b="1" dirty="0"/>
              <a:t> cost load balancing</a:t>
            </a:r>
          </a:p>
          <a:p>
            <a:pPr marL="0" indent="0">
              <a:buNone/>
            </a:pPr>
            <a:r>
              <a:rPr lang="en-US" dirty="0"/>
              <a:t>EIGRP unequal cost load balancing, which </a:t>
            </a:r>
            <a:r>
              <a:rPr lang="en-US"/>
              <a:t>installs both successor and feasible successor into RIB.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Any Feasible Successor's FD below the EIGRP </a:t>
            </a:r>
            <a:r>
              <a:rPr lang="en-US" b="1" dirty="0"/>
              <a:t>variance value</a:t>
            </a:r>
            <a:r>
              <a:rPr lang="en-US"/>
              <a:t> is installed into the RIB.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EIGRP Variance value</a:t>
            </a:r>
            <a:r>
              <a:rPr lang="en-US"/>
              <a:t>: It is calculated</a:t>
            </a:r>
            <a:r>
              <a:rPr lang="en-US" dirty="0"/>
              <a:t> by multiplying the Successor's FD with EIGRP </a:t>
            </a:r>
            <a:r>
              <a:rPr lang="en-US" b="1" dirty="0"/>
              <a:t>variance multiplier.</a:t>
            </a:r>
          </a:p>
          <a:p>
            <a:pPr marL="0" indent="0">
              <a:buNone/>
            </a:pPr>
            <a:r>
              <a:rPr lang="en-US" b="1" dirty="0"/>
              <a:t>Variance Multiplier : </a:t>
            </a:r>
            <a:r>
              <a:rPr lang="en-US" dirty="0"/>
              <a:t>It is calculated by dividing the feasible successor's FD with Successor's FD and </a:t>
            </a:r>
            <a:r>
              <a:rPr lang="en-US"/>
              <a:t>rounding up to nearest whole number.</a:t>
            </a:r>
            <a:endParaRPr lang="en-US" dirty="0"/>
          </a:p>
          <a:p>
            <a:pPr marL="457200" lvl="1" indent="0">
              <a:buNone/>
            </a:pPr>
            <a:r>
              <a:rPr lang="en-US" dirty="0"/>
              <a:t>Feasible </a:t>
            </a:r>
            <a:r>
              <a:rPr lang="en-US"/>
              <a:t>Successor FD/Successor FD ≤ ||Variance Multiplier||</a:t>
            </a:r>
            <a:endParaRPr lang="en-US" dirty="0"/>
          </a:p>
          <a:p>
            <a:pPr marL="457200" lvl="1" indent="0">
              <a:buNone/>
            </a:pPr>
            <a:r>
              <a:rPr lang="en-US" dirty="0"/>
              <a:t>Where, Feasible Successor FD is the Calculated Distance (CD). </a:t>
            </a:r>
            <a:r>
              <a:rPr lang="en-US" dirty="0" err="1"/>
              <a:t>I.e</a:t>
            </a:r>
            <a:r>
              <a:rPr lang="en-US" dirty="0"/>
              <a:t> Feasible Successor RD + cost to Feasible Successor.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47123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CB5E5-3D91-7C15-7CD4-FECB75914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48E768-F8B7-595C-A8C8-503CE3957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7. Load Balancing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0FB7BD-C0E0-E79F-64F7-5FB0A09038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088" y="140574"/>
            <a:ext cx="7597372" cy="650081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b="1" dirty="0"/>
              <a:t>Example:</a:t>
            </a:r>
            <a:r>
              <a:rPr lang="en-US" dirty="0"/>
              <a:t> On slide 6, the prefix 10.4.4.0/24 has FD = 3328, Feasible </a:t>
            </a:r>
            <a:r>
              <a:rPr lang="en-US"/>
              <a:t>Successor's FD (CD)</a:t>
            </a:r>
            <a:r>
              <a:rPr lang="en-US" dirty="0"/>
              <a:t> = 5376</a:t>
            </a:r>
          </a:p>
          <a:p>
            <a:pPr marL="457200" lvl="1" indent="0">
              <a:buNone/>
            </a:pPr>
            <a:r>
              <a:rPr lang="en-US" sz="2800"/>
              <a:t>5376/3328 ≤ ||Variance Multiplier||</a:t>
            </a:r>
            <a:endParaRPr lang="en-US" sz="2800" dirty="0"/>
          </a:p>
          <a:p>
            <a:pPr marL="457200" lvl="1" indent="0">
              <a:buNone/>
            </a:pPr>
            <a:r>
              <a:rPr lang="en-US" sz="2800"/>
              <a:t>1.6 ≤ || Variance Multiplier||</a:t>
            </a:r>
            <a:endParaRPr lang="en-US" sz="2800" dirty="0"/>
          </a:p>
          <a:p>
            <a:pPr marL="457200" lvl="1" indent="0">
              <a:buNone/>
            </a:pPr>
            <a:r>
              <a:rPr lang="en-US" sz="2800"/>
              <a:t>Therefore, Variance Multiplier = 2</a:t>
            </a:r>
            <a:endParaRPr lang="en-US" sz="2800" dirty="0"/>
          </a:p>
          <a:p>
            <a:pPr lvl="1"/>
            <a:endParaRPr lang="en-US" sz="2800" dirty="0"/>
          </a:p>
          <a:p>
            <a:pPr marL="457200" lvl="1" indent="0">
              <a:buNone/>
            </a:pPr>
            <a:r>
              <a:rPr lang="en-US" sz="2800" dirty="0"/>
              <a:t>If Feasible Successor FD (CD) &lt; Successor FD * Variance Multiplier, then the feasible successor route is installed into RIB.</a:t>
            </a:r>
          </a:p>
          <a:p>
            <a:pPr marL="914400" lvl="2">
              <a:buNone/>
            </a:pPr>
            <a:r>
              <a:rPr lang="en-US" sz="2800"/>
              <a:t>5376 &lt; 3328 * 2 or, 5376 &lt; 6656.</a:t>
            </a:r>
            <a:endParaRPr lang="en-US" sz="2800" dirty="0"/>
          </a:p>
          <a:p>
            <a:pPr marL="457200" lvl="1" indent="0">
              <a:buNone/>
            </a:pPr>
            <a:r>
              <a:rPr lang="en-US" sz="2800"/>
              <a:t>Thus, the route via 10.14.1.4 will also be installed into RIB</a:t>
            </a:r>
            <a:endParaRPr lang="en-US" sz="2800" dirty="0"/>
          </a:p>
          <a:p>
            <a:r>
              <a:rPr lang="en-US"/>
              <a:t>Manually changing/setting the Variance Multiplier value will install multiple unequal cost path into RIB.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11460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B9FA5-8592-EBEF-D93A-96435092A3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F265E-1CDE-7D88-7CEF-EE71280985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0"/>
            <a:ext cx="4103914" cy="6858000"/>
          </a:xfrm>
          <a:solidFill>
            <a:schemeClr val="accent2"/>
          </a:solidFill>
        </p:spPr>
        <p:txBody>
          <a:bodyPr>
            <a:normAutofit/>
          </a:bodyPr>
          <a:lstStyle/>
          <a:p>
            <a:pPr algn="ctr"/>
            <a:r>
              <a:rPr lang="en-US" b="1">
                <a:solidFill>
                  <a:schemeClr val="bg1"/>
                </a:solidFill>
              </a:rPr>
              <a:t>8. Timers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CF77A5-30A5-64FB-C08A-6D44B01EAC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9799" y="308650"/>
            <a:ext cx="7597372" cy="6283173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Hello time</a:t>
            </a:r>
            <a:r>
              <a:rPr lang="en-US" dirty="0"/>
              <a:t> : Hello packets between EIGRP neighbors are sent every 5 seconds or 60 </a:t>
            </a:r>
            <a:r>
              <a:rPr lang="en-US"/>
              <a:t>seconds for slower interfaces.</a:t>
            </a:r>
            <a:endParaRPr lang="en-US" dirty="0"/>
          </a:p>
          <a:p>
            <a:pPr marL="0" indent="0">
              <a:buNone/>
            </a:pPr>
            <a:r>
              <a:rPr lang="en-US" b="1" dirty="0" err="1"/>
              <a:t>HoldTime</a:t>
            </a:r>
            <a:r>
              <a:rPr lang="en-US" dirty="0"/>
              <a:t> : </a:t>
            </a:r>
          </a:p>
          <a:p>
            <a:pPr marL="457200" indent="-457200"/>
            <a:r>
              <a:rPr lang="en-US" sz="2600" dirty="0" err="1"/>
              <a:t>HoldTime</a:t>
            </a:r>
            <a:r>
              <a:rPr lang="en-US" sz="2600" dirty="0"/>
              <a:t> is the time the router waits for Hello packets. </a:t>
            </a:r>
            <a:endParaRPr lang="en-US" dirty="0"/>
          </a:p>
          <a:p>
            <a:pPr marL="457200" indent="-457200"/>
            <a:r>
              <a:rPr lang="en-US" dirty="0" err="1"/>
              <a:t>HoldTime</a:t>
            </a:r>
            <a:r>
              <a:rPr lang="en-US" dirty="0"/>
              <a:t> defaults to 3 times Hello time. </a:t>
            </a:r>
            <a:endParaRPr lang="en-US"/>
          </a:p>
          <a:p>
            <a:pPr marL="457200" indent="-457200"/>
            <a:r>
              <a:rPr lang="en-US" dirty="0"/>
              <a:t>Thus, default value of 15 seconds and 180 </a:t>
            </a:r>
            <a:r>
              <a:rPr lang="en-US"/>
              <a:t>seconds.</a:t>
            </a:r>
          </a:p>
          <a:p>
            <a:pPr marL="457200" indent="-457200"/>
            <a:r>
              <a:rPr lang="en-US" dirty="0"/>
              <a:t>On receiving Hello packets, the </a:t>
            </a:r>
            <a:r>
              <a:rPr lang="en-US" dirty="0" err="1"/>
              <a:t>HoldTime</a:t>
            </a:r>
            <a:r>
              <a:rPr lang="en-US" dirty="0"/>
              <a:t> resets to default value and starts decrementing. </a:t>
            </a:r>
          </a:p>
          <a:p>
            <a:pPr marL="457200" indent="-457200"/>
            <a:r>
              <a:rPr lang="en-US" dirty="0"/>
              <a:t>If the router does not receive any Hello packets from the neighbor before </a:t>
            </a:r>
            <a:r>
              <a:rPr lang="en-US" dirty="0" err="1"/>
              <a:t>HoldTime</a:t>
            </a:r>
            <a:r>
              <a:rPr lang="en-US" dirty="0"/>
              <a:t> reaches 0, it considers the neighbor as down and informs DUAL of topology change.</a:t>
            </a:r>
            <a:endParaRPr lang="en-US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030333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430BF-7C34-7542-D12E-E3CDA9025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8157" y="457200"/>
            <a:ext cx="4293184" cy="1600200"/>
          </a:xfrm>
          <a:solidFill>
            <a:srgbClr val="ED7D31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9. Path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BC989B-2DEA-8AE3-3066-B980D59055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6031"/>
            <a:ext cx="6172200" cy="5824119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400" b="1" dirty="0"/>
              <a:t>For Router-A to reach a prefix connected to </a:t>
            </a:r>
            <a:r>
              <a:rPr lang="en-US" sz="2400" b="1"/>
              <a:t>Router-E.</a:t>
            </a:r>
          </a:p>
          <a:p>
            <a:r>
              <a:rPr lang="en-US" sz="2400" dirty="0"/>
              <a:t>RD of B,C and D are </a:t>
            </a:r>
            <a:r>
              <a:rPr lang="en-US" sz="2400" dirty="0">
                <a:solidFill>
                  <a:schemeClr val="accent6">
                    <a:lumMod val="76000"/>
                  </a:schemeClr>
                </a:solidFill>
              </a:rPr>
              <a:t>10</a:t>
            </a:r>
            <a:r>
              <a:rPr lang="en-US" sz="2400" dirty="0"/>
              <a:t>,</a:t>
            </a:r>
            <a:r>
              <a:rPr lang="en-US" sz="2400" dirty="0">
                <a:solidFill>
                  <a:schemeClr val="bg1">
                    <a:lumMod val="65000"/>
                  </a:schemeClr>
                </a:solidFill>
              </a:rPr>
              <a:t>10</a:t>
            </a:r>
            <a:r>
              <a:rPr lang="en-US" sz="2400" dirty="0"/>
              <a:t> and </a:t>
            </a:r>
            <a:r>
              <a:rPr lang="en-US" sz="2400" dirty="0">
                <a:solidFill>
                  <a:schemeClr val="bg1">
                    <a:lumMod val="65000"/>
                  </a:schemeClr>
                </a:solidFill>
              </a:rPr>
              <a:t>30</a:t>
            </a:r>
            <a:r>
              <a:rPr lang="en-US" sz="2400" dirty="0"/>
              <a:t> respectively.</a:t>
            </a:r>
          </a:p>
          <a:p>
            <a:r>
              <a:rPr lang="en-US" sz="2400"/>
              <a:t>Calculated Distance (CD) at A will be via B(</a:t>
            </a:r>
            <a:r>
              <a:rPr lang="en-US" sz="2400">
                <a:solidFill>
                  <a:schemeClr val="accent3"/>
                </a:solidFill>
              </a:rPr>
              <a:t>10</a:t>
            </a:r>
            <a:r>
              <a:rPr lang="en-US" sz="2400"/>
              <a:t>+</a:t>
            </a:r>
            <a:r>
              <a:rPr lang="en-US" sz="2400">
                <a:solidFill>
                  <a:srgbClr val="C00000"/>
                </a:solidFill>
              </a:rPr>
              <a:t>10</a:t>
            </a:r>
            <a:r>
              <a:rPr lang="en-US" sz="2400"/>
              <a:t>=20),C(</a:t>
            </a:r>
            <a:r>
              <a:rPr lang="en-US" sz="2400">
                <a:solidFill>
                  <a:schemeClr val="bg1">
                    <a:lumMod val="65000"/>
                  </a:schemeClr>
                </a:solidFill>
              </a:rPr>
              <a:t>10</a:t>
            </a:r>
            <a:r>
              <a:rPr lang="en-US" sz="2400"/>
              <a:t>+15=25) and D(</a:t>
            </a:r>
            <a:r>
              <a:rPr lang="en-US" sz="2400">
                <a:solidFill>
                  <a:schemeClr val="bg1">
                    <a:lumMod val="65000"/>
                  </a:schemeClr>
                </a:solidFill>
              </a:rPr>
              <a:t>30</a:t>
            </a:r>
            <a:r>
              <a:rPr lang="en-US" sz="2400"/>
              <a:t>+15=45).</a:t>
            </a:r>
          </a:p>
          <a:p>
            <a:r>
              <a:rPr lang="en-US" sz="2400"/>
              <a:t>Least(20,25,45) is 20, thus router B is Successor with FD of 20.</a:t>
            </a:r>
            <a:endParaRPr lang="en-US" sz="2400" dirty="0"/>
          </a:p>
          <a:p>
            <a:r>
              <a:rPr lang="en-US" sz="2400"/>
              <a:t>Evaluate Feasibility Condition (FC):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/>
              <a:t>RD of C(10) &lt; FD(20).So, path via C is loop free and is Feasible Successor.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/>
              <a:t>RD of D(30) &lt; FD(20). So, path via D is not loop free and cannot be Feasible Successor.</a:t>
            </a:r>
            <a:r>
              <a:rPr lang="en-US" sz="2400"/>
              <a:t>   </a:t>
            </a:r>
            <a:endParaRPr lang="en-US"/>
          </a:p>
        </p:txBody>
      </p:sp>
      <p:pic>
        <p:nvPicPr>
          <p:cNvPr id="4" name="Picture 3" descr="A diagram of a diagram&#10;&#10;AI-generated content may be incorrect.">
            <a:extLst>
              <a:ext uri="{FF2B5EF4-FFF2-40B4-BE49-F238E27FC236}">
                <a16:creationId xmlns:a16="http://schemas.microsoft.com/office/drawing/2014/main" id="{F877A2C0-57DE-4BD1-256D-3DC77E11C8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22" y="2052638"/>
            <a:ext cx="4505325" cy="3514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7889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3036B-615F-E3C2-2018-7403BA2ABC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5CF32-4FD5-C406-1D95-A85E992BD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882" y="266700"/>
            <a:ext cx="4293184" cy="1600200"/>
          </a:xfrm>
          <a:solidFill>
            <a:srgbClr val="ED7D31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10. Failure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0B7A1-A589-6F82-B397-6922087302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8863" y="265531"/>
            <a:ext cx="6877050" cy="6595644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>
                <a:solidFill>
                  <a:srgbClr val="000000"/>
                </a:solidFill>
                <a:ea typeface="+mn-lt"/>
                <a:cs typeface="+mn-lt"/>
              </a:rPr>
              <a:t>When a link fails between two routers, neighbor goes down and topology changes.</a:t>
            </a:r>
            <a:r>
              <a:rPr lang="en-US" sz="2400">
                <a:solidFill>
                  <a:srgbClr val="000000"/>
                </a:solidFill>
                <a:ea typeface="+mn-lt"/>
                <a:cs typeface="+mn-lt"/>
              </a:rPr>
              <a:t> </a:t>
            </a:r>
            <a:endParaRPr lang="en-US" dirty="0">
              <a:solidFill>
                <a:srgbClr val="000000"/>
              </a:solidFill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sz="2000" b="1">
                <a:solidFill>
                  <a:srgbClr val="000000"/>
                </a:solidFill>
                <a:ea typeface="+mn-lt"/>
                <a:cs typeface="+mn-lt"/>
              </a:rPr>
              <a:t>Convergence with Feasible Successor:</a:t>
            </a:r>
            <a:endParaRPr lang="en-US">
              <a:solidFill>
                <a:srgbClr val="000000"/>
              </a:solidFill>
              <a:ea typeface="+mn-lt"/>
              <a:cs typeface="+mn-lt"/>
            </a:endParaRPr>
          </a:p>
          <a:p>
            <a:pPr marL="0" indent="0">
              <a:lnSpc>
                <a:spcPct val="100000"/>
              </a:lnSpc>
              <a:spcBef>
                <a:spcPts val="500"/>
              </a:spcBef>
              <a:buNone/>
            </a:pPr>
            <a:r>
              <a:rPr lang="en-US" sz="2000">
                <a:solidFill>
                  <a:srgbClr val="000000"/>
                </a:solidFill>
                <a:ea typeface="+mn-lt"/>
                <a:cs typeface="+mn-lt"/>
              </a:rPr>
              <a:t>When</a:t>
            </a:r>
            <a:r>
              <a:rPr lang="en-US" sz="2000"/>
              <a:t> link between A and B fails.</a:t>
            </a:r>
            <a:endParaRPr lang="en-US"/>
          </a:p>
          <a:p>
            <a:pPr marL="571500" lvl="1" indent="-342900"/>
            <a:r>
              <a:rPr lang="en-US" sz="1800" dirty="0"/>
              <a:t>A </a:t>
            </a:r>
            <a:r>
              <a:rPr lang="en-US" sz="1800" dirty="0" err="1"/>
              <a:t>looses</a:t>
            </a:r>
            <a:r>
              <a:rPr lang="en-US" sz="1800" dirty="0"/>
              <a:t> </a:t>
            </a:r>
            <a:r>
              <a:rPr lang="en-US" sz="1800" dirty="0" err="1"/>
              <a:t>it's</a:t>
            </a:r>
            <a:r>
              <a:rPr lang="en-US" sz="1800" dirty="0"/>
              <a:t> successor route and checks topology table for FS for the prefix. EIGRP routers can store up to 6 FS in Topo table.</a:t>
            </a:r>
          </a:p>
          <a:p>
            <a:pPr marL="571500" lvl="1" indent="-342900"/>
            <a:r>
              <a:rPr lang="en-US" sz="1800"/>
              <a:t>Since path via C is FS, it instantly installs the FS route into RIB as a Successor route.</a:t>
            </a:r>
            <a:endParaRPr lang="en-US" sz="1800" dirty="0"/>
          </a:p>
          <a:p>
            <a:pPr marL="571500" lvl="1" indent="-342900"/>
            <a:r>
              <a:rPr lang="en-US" sz="1800" dirty="0"/>
              <a:t>A then sends UPDATE packets to </a:t>
            </a:r>
            <a:r>
              <a:rPr lang="en-US" sz="1800" dirty="0" err="1"/>
              <a:t>it's</a:t>
            </a:r>
            <a:r>
              <a:rPr lang="en-US" sz="1800" dirty="0"/>
              <a:t> neighbors about the new Successor route and FD (metric).</a:t>
            </a:r>
          </a:p>
          <a:p>
            <a:pPr marL="571500" lvl="1" indent="-342900"/>
            <a:r>
              <a:rPr lang="en-US" sz="1800" dirty="0" err="1"/>
              <a:t>A</a:t>
            </a:r>
            <a:r>
              <a:rPr lang="en-US" sz="1800" dirty="0"/>
              <a:t> analyses it's topology table and any UPDATE packets received from other neighbors about this prefix to find new FS.</a:t>
            </a:r>
          </a:p>
          <a:p>
            <a:pPr marL="571500" lvl="1" indent="-342900"/>
            <a:r>
              <a:rPr lang="en-US" sz="1800"/>
              <a:t>New FD via C(10+15 = 25), which is not smaller than RD of D(30), thus no FS for this prefix.</a:t>
            </a:r>
            <a:endParaRPr lang="en-US" sz="1800" dirty="0"/>
          </a:p>
          <a:p>
            <a:pPr marL="571500" lvl="1" indent="-342900"/>
            <a:r>
              <a:rPr lang="en-US" sz="1800" dirty="0"/>
              <a:t>D's </a:t>
            </a:r>
            <a:r>
              <a:rPr lang="en-US" sz="1800" dirty="0" err="1"/>
              <a:t>Succesor</a:t>
            </a:r>
            <a:r>
              <a:rPr lang="en-US" sz="1800" dirty="0"/>
              <a:t> is E for the </a:t>
            </a:r>
            <a:r>
              <a:rPr lang="en-US" sz="1800" dirty="0" err="1"/>
              <a:t>prefi</a:t>
            </a:r>
            <a:r>
              <a:rPr lang="en-US" sz="1800" dirty="0"/>
              <a:t>x with FD of 30, and FS is A with RD of 20.</a:t>
            </a:r>
          </a:p>
          <a:p>
            <a:pPr marL="571500" lvl="1" indent="-342900"/>
            <a:r>
              <a:rPr lang="en-US" sz="1800" dirty="0"/>
              <a:t>D analyses it's Topology table and UPDATE received from A to see if any changes for the prefix.</a:t>
            </a:r>
          </a:p>
          <a:p>
            <a:pPr marL="571500" lvl="1" indent="-342900"/>
            <a:r>
              <a:rPr lang="en-US" sz="1800" dirty="0" err="1"/>
              <a:t>E</a:t>
            </a:r>
            <a:r>
              <a:rPr lang="en-US" sz="1800" dirty="0"/>
              <a:t> remains D's Successor.</a:t>
            </a:r>
          </a:p>
          <a:p>
            <a:pPr marL="571500" lvl="1" indent="-342900"/>
            <a:r>
              <a:rPr lang="en-US" sz="1800" dirty="0"/>
              <a:t>New updated RD from A is 25, check Feasibility condition, RD </a:t>
            </a:r>
            <a:r>
              <a:rPr lang="en-US" sz="1800"/>
              <a:t>of A(25) &lt; 30. A remains FS but RD (metric) changes.</a:t>
            </a:r>
            <a:endParaRPr lang="en-US" sz="1800" dirty="0"/>
          </a:p>
          <a:p>
            <a:pPr marL="571500" lvl="1" indent="-342900"/>
            <a:endParaRPr lang="en-US" sz="1800" dirty="0"/>
          </a:p>
          <a:p>
            <a:pPr marL="571500" lvl="1" indent="-342900"/>
            <a:endParaRPr lang="en-US" sz="2000" dirty="0"/>
          </a:p>
        </p:txBody>
      </p:sp>
      <p:pic>
        <p:nvPicPr>
          <p:cNvPr id="5" name="Picture 4" descr="A diagram of a diagram of a diagram&#10;&#10;AI-generated content may be incorrect.">
            <a:extLst>
              <a:ext uri="{FF2B5EF4-FFF2-40B4-BE49-F238E27FC236}">
                <a16:creationId xmlns:a16="http://schemas.microsoft.com/office/drawing/2014/main" id="{1000385E-7ECB-6061-7901-EF590FE533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264" y="2005666"/>
            <a:ext cx="4210050" cy="352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4069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A0C9E-019F-FC55-478A-62D3C2381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008AFA-1300-8FEC-885E-A3807E6E5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882" y="266700"/>
            <a:ext cx="4293184" cy="1600200"/>
          </a:xfrm>
          <a:solidFill>
            <a:srgbClr val="ED7D31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10. Failure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4ADF4-E78F-7335-8FE3-C24ADD8A2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8863" y="265531"/>
            <a:ext cx="6943725" cy="6600987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2000" b="1">
                <a:solidFill>
                  <a:srgbClr val="000000"/>
                </a:solidFill>
                <a:ea typeface="+mn-lt"/>
                <a:cs typeface="+mn-lt"/>
              </a:rPr>
              <a:t>Convergence without Feasible Successor:</a:t>
            </a:r>
            <a:endParaRPr lang="en-US" dirty="0">
              <a:solidFill>
                <a:srgbClr val="000000"/>
              </a:solidFill>
              <a:ea typeface="+mn-lt"/>
              <a:cs typeface="+mn-lt"/>
            </a:endParaRPr>
          </a:p>
          <a:p>
            <a:pPr marL="0" indent="0">
              <a:lnSpc>
                <a:spcPct val="100000"/>
              </a:lnSpc>
              <a:spcBef>
                <a:spcPts val="500"/>
              </a:spcBef>
              <a:buNone/>
            </a:pPr>
            <a:r>
              <a:rPr lang="en-US" sz="2000">
                <a:solidFill>
                  <a:srgbClr val="000000"/>
                </a:solidFill>
                <a:ea typeface="+mn-lt"/>
                <a:cs typeface="+mn-lt"/>
              </a:rPr>
              <a:t>Now when both links between A and B, and A and C fails.</a:t>
            </a:r>
            <a:endParaRPr lang="en-US" sz="2000"/>
          </a:p>
          <a:p>
            <a:pPr marL="571500" lvl="1" indent="-342900">
              <a:buAutoNum type="arabicPeriod"/>
            </a:pPr>
            <a:r>
              <a:rPr lang="en-US" sz="1800" dirty="0"/>
              <a:t>A loses </a:t>
            </a:r>
            <a:r>
              <a:rPr lang="en-US" sz="1800" dirty="0" err="1"/>
              <a:t>it's</a:t>
            </a:r>
            <a:r>
              <a:rPr lang="en-US" sz="1800" dirty="0"/>
              <a:t> successor route via C and checks topology table for FS for the prefix. </a:t>
            </a:r>
          </a:p>
          <a:p>
            <a:pPr marL="571500" lvl="1" indent="-342900">
              <a:buAutoNum type="arabicPeriod"/>
            </a:pPr>
            <a:r>
              <a:rPr lang="en-US" sz="1800"/>
              <a:t>No FS for the prefix, A puts the prefix in Active state (A)</a:t>
            </a:r>
            <a:endParaRPr lang="en-US" sz="1800" dirty="0"/>
          </a:p>
          <a:p>
            <a:pPr marL="571500" lvl="1" indent="-342900">
              <a:buAutoNum type="arabicPeriod"/>
            </a:pPr>
            <a:r>
              <a:rPr lang="en-US" sz="1800"/>
              <a:t>A  sends QUERY with delay set to infinity to notify D that the prefix is gone Active.</a:t>
            </a:r>
            <a:endParaRPr lang="en-US" sz="1800" dirty="0"/>
          </a:p>
          <a:p>
            <a:pPr marL="571500" lvl="1" indent="-342900">
              <a:buAutoNum type="arabicPeriod"/>
            </a:pPr>
            <a:r>
              <a:rPr lang="en-US" sz="1800" dirty="0"/>
              <a:t>D received QUERY packet for a prefix from </a:t>
            </a:r>
            <a:r>
              <a:rPr lang="en-US" sz="1800" dirty="0" err="1"/>
              <a:t>it's</a:t>
            </a:r>
            <a:r>
              <a:rPr lang="en-US" sz="1800" dirty="0"/>
              <a:t> Non-Successor, D sends REPLY with </a:t>
            </a:r>
            <a:r>
              <a:rPr lang="en-US" sz="1800" dirty="0" err="1"/>
              <a:t>it's</a:t>
            </a:r>
            <a:r>
              <a:rPr lang="en-US" sz="1800" dirty="0"/>
              <a:t> route information via E. (QUERY boundary, QUERY does not travel further.)</a:t>
            </a:r>
          </a:p>
          <a:p>
            <a:pPr marL="571500" lvl="1" indent="-342900">
              <a:buAutoNum type="arabicPeriod"/>
            </a:pPr>
            <a:r>
              <a:rPr lang="en-US" sz="1800" dirty="0"/>
              <a:t>If the query comes from Successor and it does not have FS for the prefix, it sets the prefix as Active and sends the query to other </a:t>
            </a:r>
            <a:r>
              <a:rPr lang="en-US" sz="1800"/>
              <a:t>neighbor routers</a:t>
            </a:r>
            <a:endParaRPr lang="en-US" sz="1800" dirty="0"/>
          </a:p>
          <a:p>
            <a:pPr marL="571500" lvl="1" indent="-342900">
              <a:buAutoNum type="arabicPeriod"/>
            </a:pPr>
            <a:r>
              <a:rPr lang="en-US" sz="1800" dirty="0"/>
              <a:t>A receives REPLY from D, acknowledges it and has no other outstanding replies, calculates new metric for the prefix and sets it as Passive.</a:t>
            </a:r>
          </a:p>
          <a:p>
            <a:pPr marL="0">
              <a:buNone/>
            </a:pPr>
            <a:r>
              <a:rPr lang="en-US" sz="2000" dirty="0"/>
              <a:t>A </a:t>
            </a:r>
            <a:r>
              <a:rPr lang="en-US" sz="2000" b="1" dirty="0"/>
              <a:t>query boundary</a:t>
            </a:r>
            <a:r>
              <a:rPr lang="en-US" sz="2000" dirty="0"/>
              <a:t> is established when a router does not mark </a:t>
            </a:r>
            <a:r>
              <a:rPr lang="en-US" sz="2000"/>
              <a:t>the prefix as Active. Which happens if the router:</a:t>
            </a:r>
            <a:endParaRPr lang="en-US" sz="1800"/>
          </a:p>
          <a:p>
            <a:pPr marL="114300" indent="-342900">
              <a:buAutoNum type="arabicPeriod"/>
            </a:pPr>
            <a:r>
              <a:rPr lang="en-US" sz="1800"/>
              <a:t>Replies with alternate path attributes (Successor or FS.)</a:t>
            </a:r>
            <a:endParaRPr lang="en-US"/>
          </a:p>
          <a:p>
            <a:pPr marL="114300" indent="-342900">
              <a:buAutoNum type="arabicPeriod"/>
            </a:pPr>
            <a:r>
              <a:rPr lang="en-US" sz="1800"/>
              <a:t>Replies saying it does not have route information which can be because of no downstream routers to query, Route Filtering or Summarization</a:t>
            </a:r>
            <a:r>
              <a:rPr lang="en-US" sz="1800" dirty="0"/>
              <a:t>.</a:t>
            </a:r>
            <a:endParaRPr lang="en-US"/>
          </a:p>
          <a:p>
            <a:pPr marL="742950" lvl="1" indent="-285750">
              <a:buAutoNum type="arabicPeriod"/>
            </a:pPr>
            <a:endParaRPr lang="en-US" sz="1600" dirty="0"/>
          </a:p>
        </p:txBody>
      </p:sp>
      <p:pic>
        <p:nvPicPr>
          <p:cNvPr id="4" name="Picture 3" descr="A diagram of a game&#10;&#10;AI-generated content may be incorrect.">
            <a:extLst>
              <a:ext uri="{FF2B5EF4-FFF2-40B4-BE49-F238E27FC236}">
                <a16:creationId xmlns:a16="http://schemas.microsoft.com/office/drawing/2014/main" id="{4014A16B-C819-EDD7-18E2-3099AE3346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618" y="2181726"/>
            <a:ext cx="4381500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628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07740-3BC3-AFDD-8997-B3EA2D45C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0911B5-AB7F-74A7-A360-F79738D7CF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882" y="266700"/>
            <a:ext cx="4293184" cy="1600200"/>
          </a:xfrm>
          <a:solidFill>
            <a:srgbClr val="ED7D31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>
                <a:solidFill>
                  <a:schemeClr val="bg1"/>
                </a:solidFill>
              </a:rPr>
              <a:t>10. Summarization 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F323B9-CC08-270A-95BC-4B312801BA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68863" y="265531"/>
            <a:ext cx="6943725" cy="6600987"/>
          </a:xfr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z="1800" dirty="0"/>
              <a:t>EIGRP </a:t>
            </a:r>
            <a:r>
              <a:rPr lang="en-US" sz="1800"/>
              <a:t>summarizes network prefixes on interface basis.</a:t>
            </a:r>
            <a:endParaRPr lang="en-US" sz="1800" dirty="0"/>
          </a:p>
          <a:p>
            <a:r>
              <a:rPr lang="en-US" sz="1800" dirty="0"/>
              <a:t>A summary aggregate is </a:t>
            </a:r>
            <a:r>
              <a:rPr lang="en-US" sz="1800"/>
              <a:t>configured on EIGRP interface.</a:t>
            </a:r>
            <a:endParaRPr lang="en-US" sz="1800" dirty="0"/>
          </a:p>
          <a:p>
            <a:r>
              <a:rPr lang="en-US" sz="1800" dirty="0"/>
              <a:t>The metric for summary aggregate prefix is calculated from metric attributes of component prefix with least metric. </a:t>
            </a:r>
          </a:p>
          <a:p>
            <a:r>
              <a:rPr lang="en-US" sz="1800" dirty="0"/>
              <a:t>Change in component prefix's metric will force summary aggregate to recompute the summary aggregate metric.</a:t>
            </a:r>
          </a:p>
          <a:p>
            <a:r>
              <a:rPr lang="en-US" sz="1800" dirty="0"/>
              <a:t>Latest EIGRP implementation of Cisco allows to </a:t>
            </a:r>
            <a:r>
              <a:rPr lang="en-US" sz="1800"/>
              <a:t>define 'summary-metric' attributes.</a:t>
            </a:r>
            <a:endParaRPr lang="en-US" sz="1800" dirty="0"/>
          </a:p>
          <a:p>
            <a:r>
              <a:rPr lang="en-US" sz="1800"/>
              <a:t>Without summarization, R2 will advertise 172.16.1.0/24,172.12.0/24,172.16.23.0/24 and 172.16.3.0/24  to R4.</a:t>
            </a:r>
            <a:endParaRPr lang="en-US" sz="1800" dirty="0"/>
          </a:p>
          <a:p>
            <a:r>
              <a:rPr lang="en-US" sz="1800" dirty="0"/>
              <a:t>With summarization, R2 will </a:t>
            </a:r>
            <a:r>
              <a:rPr lang="en-US" sz="1800"/>
              <a:t>advertise 172.16.0.0/16 to R4.</a:t>
            </a:r>
            <a:endParaRPr lang="en-US" sz="1800" dirty="0"/>
          </a:p>
          <a:p>
            <a:r>
              <a:rPr lang="en-US" sz="1800" dirty="0"/>
              <a:t>Summarization </a:t>
            </a:r>
            <a:r>
              <a:rPr lang="en-US" sz="1800"/>
              <a:t>reduces</a:t>
            </a:r>
            <a:r>
              <a:rPr lang="en-US" sz="1800" dirty="0"/>
              <a:t> the </a:t>
            </a:r>
            <a:r>
              <a:rPr lang="en-US" sz="1800" err="1"/>
              <a:t>si</a:t>
            </a:r>
            <a:r>
              <a:rPr lang="en-US" sz="1800" dirty="0"/>
              <a:t>ze of Topology table and RIB.</a:t>
            </a:r>
          </a:p>
          <a:p>
            <a:r>
              <a:rPr lang="en-US" sz="1800" dirty="0"/>
              <a:t>If R2 sends QUERY for 172.16.12.0/24 to R3 and R4, R3 checks </a:t>
            </a:r>
            <a:r>
              <a:rPr lang="en-US" sz="1800" dirty="0" err="1"/>
              <a:t>it's</a:t>
            </a:r>
            <a:r>
              <a:rPr lang="en-US" sz="1800" dirty="0"/>
              <a:t> topology table for alternate route and sends query to downstream routers.</a:t>
            </a:r>
          </a:p>
          <a:p>
            <a:r>
              <a:rPr lang="en-US" sz="1800" dirty="0"/>
              <a:t>R4 checks </a:t>
            </a:r>
            <a:r>
              <a:rPr lang="en-US" sz="1800" dirty="0" err="1"/>
              <a:t>it's</a:t>
            </a:r>
            <a:r>
              <a:rPr lang="en-US" sz="1800" dirty="0"/>
              <a:t> topology table and has entry only for summarized route 172.16.0.0/16 but has no knowledge of 172.16.12.0/24.</a:t>
            </a:r>
          </a:p>
          <a:p>
            <a:r>
              <a:rPr lang="en-US" sz="1800" dirty="0"/>
              <a:t>R4 replies immediately to R2 because of no route information for the prefix.</a:t>
            </a:r>
          </a:p>
          <a:p>
            <a:r>
              <a:rPr lang="en-US" sz="2000"/>
              <a:t>Thus, summarization creates Query boundary.</a:t>
            </a:r>
          </a:p>
          <a:p>
            <a:endParaRPr lang="en-US" sz="2000" dirty="0"/>
          </a:p>
          <a:p>
            <a:pPr marL="457200" lvl="1" indent="0">
              <a:buNone/>
            </a:pPr>
            <a:endParaRPr lang="en-US" sz="1600" dirty="0"/>
          </a:p>
        </p:txBody>
      </p:sp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ACE7F329-D7B4-721A-1EB0-1BD7B1FE67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80" y="2049153"/>
            <a:ext cx="4491154" cy="37540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152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21</Slides>
  <Notes>19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office theme</vt:lpstr>
      <vt:lpstr>Enhanced Interior Gateway Routing Protocol (EIGRP)</vt:lpstr>
      <vt:lpstr>1. Foundation  </vt:lpstr>
      <vt:lpstr>2. Basic Components  </vt:lpstr>
      <vt:lpstr>3. Key  Terms  </vt:lpstr>
      <vt:lpstr>4. Tables  </vt:lpstr>
      <vt:lpstr>4. Tables  </vt:lpstr>
      <vt:lpstr>4. Tables  </vt:lpstr>
      <vt:lpstr>4. Tables  </vt:lpstr>
      <vt:lpstr>5. Packet Types</vt:lpstr>
      <vt:lpstr>6. Path Metric Calculation</vt:lpstr>
      <vt:lpstr>6. Path Metric Calculation</vt:lpstr>
      <vt:lpstr>6. Path Metric Calculation</vt:lpstr>
      <vt:lpstr>6. Path Metric Calculation</vt:lpstr>
      <vt:lpstr>6. Path Metric Calculation</vt:lpstr>
      <vt:lpstr>7. Load Balancing</vt:lpstr>
      <vt:lpstr>7. Load Balancing</vt:lpstr>
      <vt:lpstr>8. Timers</vt:lpstr>
      <vt:lpstr>9. Path Selection</vt:lpstr>
      <vt:lpstr>10. Failure Detection</vt:lpstr>
      <vt:lpstr>10. Failure Detection</vt:lpstr>
      <vt:lpstr>10. Summarization 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 </cp:lastModifiedBy>
  <cp:revision>2784</cp:revision>
  <dcterms:created xsi:type="dcterms:W3CDTF">2013-07-15T20:26:40Z</dcterms:created>
  <dcterms:modified xsi:type="dcterms:W3CDTF">2026-08-24T11:21:48Z</dcterms:modified>
</cp:coreProperties>
</file>