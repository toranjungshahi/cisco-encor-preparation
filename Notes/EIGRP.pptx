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media/image2.gif" ContentType="image/gif"/>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pPr algn="ctr" defTabSz="914400">
              <a:lnSpc>
                <a:spcPct val="90000"/>
              </a:lnSpc>
            </a:pPr>
            <a:r>
              <a:rPr lang="en-US" sz="6000" b="0" u="none" strike="noStrike">
                <a:solidFill>
                  <a:schemeClr val="dk1"/>
                </a:solidFill>
                <a:effectLst/>
                <a:uFillTx/>
                <a:latin typeface="Aptos Display"/>
              </a:rPr>
              <a:t>Click to move the slide</a:t>
            </a:r>
            <a:endParaRPr lang="en-US" sz="6000" b="0" u="none" strike="noStrike">
              <a:solidFill>
                <a:schemeClr val="dk1"/>
              </a:solidFill>
              <a:effectLst/>
              <a:uFillTx/>
              <a:latin typeface="Aptos Display"/>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AU" sz="2000" b="0" u="none" strike="noStrike">
                <a:solidFill>
                  <a:srgbClr val="000000"/>
                </a:solidFill>
                <a:effectLst/>
                <a:uFillTx/>
                <a:latin typeface="Arial"/>
              </a:rPr>
              <a:t>Click to edit the notes format</a:t>
            </a:r>
            <a:endParaRPr lang="en-AU"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AU" sz="1400" b="0" u="none" strike="noStrike">
                <a:solidFill>
                  <a:srgbClr val="000000"/>
                </a:solidFill>
                <a:effectLst/>
                <a:uFillTx/>
                <a:latin typeface="Times New Roman"/>
              </a:rPr>
              <a:t>&lt;header&gt;</a:t>
            </a:r>
            <a:endParaRPr lang="en-AU"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AU" sz="1400" b="0" u="none" strike="noStrike">
                <a:solidFill>
                  <a:srgbClr val="000000"/>
                </a:solidFill>
                <a:effectLst/>
                <a:uFillTx/>
                <a:latin typeface="Times New Roman"/>
              </a:defRPr>
            </a:lvl1pPr>
          </a:lstStyle>
          <a:p>
            <a:pPr indent="0" algn="r">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AU" sz="1400" b="0" u="none" strike="noStrike">
                <a:solidFill>
                  <a:srgbClr val="000000"/>
                </a:solidFill>
                <a:effectLst/>
                <a:uFillTx/>
                <a:latin typeface="Times New Roman"/>
              </a:defRPr>
            </a:lvl1pPr>
          </a:lstStyle>
          <a:p>
            <a:pPr indent="0" algn="r">
              <a:buNone/>
            </a:pPr>
            <a:fld id="{6C61A4B7-C98B-4561-8021-01A139F0DEE5}"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685800" y="1143000"/>
            <a:ext cx="5486040" cy="3085920"/>
          </a:xfrm>
          <a:prstGeom prst="rect">
            <a:avLst/>
          </a:prstGeom>
          <a:ln w="0">
            <a:noFill/>
          </a:ln>
        </p:spPr>
      </p:sp>
      <p:sp>
        <p:nvSpPr>
          <p:cNvPr id="1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20"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55755977-0D1E-4706-BF6E-0DCC286C7C45}"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685800" y="1143000"/>
            <a:ext cx="5486040" cy="3085920"/>
          </a:xfrm>
          <a:prstGeom prst="rect">
            <a:avLst/>
          </a:prstGeom>
          <a:ln w="0">
            <a:noFill/>
          </a:ln>
        </p:spPr>
      </p:sp>
      <p:sp>
        <p:nvSpPr>
          <p:cNvPr id="1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23"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48FD325F-08CD-4638-8AD4-6692D3EFBA5F}"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sldImg"/>
          </p:nvPr>
        </p:nvSpPr>
        <p:spPr>
          <a:xfrm>
            <a:off x="685800" y="1143000"/>
            <a:ext cx="5486040" cy="3085920"/>
          </a:xfrm>
          <a:prstGeom prst="rect">
            <a:avLst/>
          </a:prstGeom>
          <a:ln w="0">
            <a:noFill/>
          </a:ln>
        </p:spPr>
      </p:sp>
      <p:sp>
        <p:nvSpPr>
          <p:cNvPr id="1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26"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A2356547-7B8F-4454-86B3-F148978327AE}"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685800" y="1143000"/>
            <a:ext cx="5486040" cy="3085920"/>
          </a:xfrm>
          <a:prstGeom prst="rect">
            <a:avLst/>
          </a:prstGeom>
          <a:ln w="0">
            <a:noFill/>
          </a:ln>
        </p:spPr>
      </p:sp>
      <p:sp>
        <p:nvSpPr>
          <p:cNvPr id="1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29"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04C23BA6-467E-4486-B15C-4CAC9069C376}"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sldImg"/>
          </p:nvPr>
        </p:nvSpPr>
        <p:spPr>
          <a:xfrm>
            <a:off x="685800" y="1143000"/>
            <a:ext cx="5486040" cy="3085920"/>
          </a:xfrm>
          <a:prstGeom prst="rect">
            <a:avLst/>
          </a:prstGeom>
          <a:ln w="0">
            <a:noFill/>
          </a:ln>
        </p:spPr>
      </p:sp>
      <p:sp>
        <p:nvSpPr>
          <p:cNvPr id="1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32"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BCB70A72-2E03-48DF-A436-53B1FBFB9C46}"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685800" y="1143000"/>
            <a:ext cx="5486040" cy="3085920"/>
          </a:xfrm>
          <a:prstGeom prst="rect">
            <a:avLst/>
          </a:prstGeom>
          <a:ln w="0">
            <a:noFill/>
          </a:ln>
        </p:spPr>
      </p:sp>
      <p:sp>
        <p:nvSpPr>
          <p:cNvPr id="1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35"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58CA3E9C-98C7-4AF0-8830-5778C9A6029C}"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685800" y="1143000"/>
            <a:ext cx="5486040" cy="3085920"/>
          </a:xfrm>
          <a:prstGeom prst="rect">
            <a:avLst/>
          </a:prstGeom>
          <a:ln w="0">
            <a:noFill/>
          </a:ln>
        </p:spPr>
      </p:sp>
      <p:sp>
        <p:nvSpPr>
          <p:cNvPr id="1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38"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9EE33A15-19AA-4C27-BEF2-086D5A2072B9}"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685800" y="1143000"/>
            <a:ext cx="5486040" cy="3085920"/>
          </a:xfrm>
          <a:prstGeom prst="rect">
            <a:avLst/>
          </a:prstGeom>
          <a:ln w="0">
            <a:noFill/>
          </a:ln>
        </p:spPr>
      </p:sp>
      <p:sp>
        <p:nvSpPr>
          <p:cNvPr id="1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41"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68ACFFF6-7BC0-414B-B92B-72444887D90D}"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685800" y="1143000"/>
            <a:ext cx="5486040" cy="3085920"/>
          </a:xfrm>
          <a:prstGeom prst="rect">
            <a:avLst/>
          </a:prstGeom>
          <a:ln w="0">
            <a:noFill/>
          </a:ln>
        </p:spPr>
      </p:sp>
      <p:sp>
        <p:nvSpPr>
          <p:cNvPr id="1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44"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33A3E4AB-DB8B-4AA2-842F-7FF11648DC57}"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685800" y="1143000"/>
            <a:ext cx="5486040" cy="3085920"/>
          </a:xfrm>
          <a:prstGeom prst="rect">
            <a:avLst/>
          </a:prstGeom>
          <a:ln w="0">
            <a:noFill/>
          </a:ln>
        </p:spPr>
      </p:sp>
      <p:sp>
        <p:nvSpPr>
          <p:cNvPr id="1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47"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5EEDF2A1-49F2-41E6-8493-DBE5FE904C3D}"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685800" y="1143000"/>
            <a:ext cx="5486040" cy="3085920"/>
          </a:xfrm>
          <a:prstGeom prst="rect">
            <a:avLst/>
          </a:prstGeom>
          <a:ln w="0">
            <a:noFill/>
          </a:ln>
        </p:spPr>
      </p:sp>
      <p:sp>
        <p:nvSpPr>
          <p:cNvPr id="1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50"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96E68D47-0C41-4C75-95A5-AFD3C20236E7}"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685800" y="1143000"/>
            <a:ext cx="5486040" cy="3085920"/>
          </a:xfrm>
          <a:prstGeom prst="rect">
            <a:avLst/>
          </a:prstGeom>
          <a:ln w="0">
            <a:noFill/>
          </a:ln>
        </p:spPr>
      </p:sp>
      <p:sp>
        <p:nvSpPr>
          <p:cNvPr id="1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53"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07489C29-231E-413C-8F5D-4E11E1DD2C83}"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685800" y="1143000"/>
            <a:ext cx="5486040" cy="3085920"/>
          </a:xfrm>
          <a:prstGeom prst="rect">
            <a:avLst/>
          </a:prstGeom>
          <a:ln w="0">
            <a:noFill/>
          </a:ln>
        </p:spPr>
      </p:sp>
      <p:sp>
        <p:nvSpPr>
          <p:cNvPr id="1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56"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9D5BB39D-0951-4D4B-9872-EFDBB320EB8D}"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685800" y="1143000"/>
            <a:ext cx="5486040" cy="3085920"/>
          </a:xfrm>
          <a:prstGeom prst="rect">
            <a:avLst/>
          </a:prstGeom>
          <a:ln w="0">
            <a:noFill/>
          </a:ln>
        </p:spPr>
      </p:sp>
      <p:sp>
        <p:nvSpPr>
          <p:cNvPr id="1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59"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3388696D-EE48-4013-9760-7914C274F884}"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sldImg"/>
          </p:nvPr>
        </p:nvSpPr>
        <p:spPr>
          <a:xfrm>
            <a:off x="685800" y="1143000"/>
            <a:ext cx="5486040" cy="3085920"/>
          </a:xfrm>
          <a:prstGeom prst="rect">
            <a:avLst/>
          </a:prstGeom>
          <a:ln w="0">
            <a:noFill/>
          </a:ln>
        </p:spPr>
      </p:sp>
      <p:sp>
        <p:nvSpPr>
          <p:cNvPr id="1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62"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C210772B-4DC3-4C10-B545-7C9FAC37DE4B}"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6040" cy="3085920"/>
          </a:xfrm>
          <a:prstGeom prst="rect">
            <a:avLst/>
          </a:prstGeom>
          <a:ln w="0">
            <a:noFill/>
          </a:ln>
        </p:spPr>
      </p:sp>
      <p:sp>
        <p:nvSpPr>
          <p:cNvPr id="1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65"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AU" sz="1200" b="0" u="none" strike="noStrike">
                <a:solidFill>
                  <a:srgbClr val="000000"/>
                </a:solidFill>
                <a:effectLst/>
                <a:uFillTx/>
                <a:latin typeface="Times New Roman"/>
              </a:defRPr>
            </a:lvl1pPr>
          </a:lstStyle>
          <a:p>
            <a:pPr indent="0" algn="r">
              <a:lnSpc>
                <a:spcPct val="100000"/>
              </a:lnSpc>
              <a:buNone/>
            </a:pPr>
            <a:fld id="{10D41788-A46C-4C45-A7A5-FCA0A67D30D1}"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Img"/>
          </p:nvPr>
        </p:nvSpPr>
        <p:spPr>
          <a:xfrm>
            <a:off x="685800" y="1143000"/>
            <a:ext cx="5486040" cy="3085920"/>
          </a:xfrm>
          <a:prstGeom prst="rect">
            <a:avLst/>
          </a:prstGeom>
          <a:ln w="0">
            <a:noFill/>
          </a:ln>
        </p:spPr>
      </p:sp>
      <p:sp>
        <p:nvSpPr>
          <p:cNvPr id="1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ea typeface="Calibri"/>
              </a:rPr>
              <a:t>Calculate routes for prefix connected to router A for both router B and router E.</a:t>
            </a:r>
            <a:endParaRPr lang="en-AU" sz="2000" b="0" u="none" strike="noStrike">
              <a:solidFill>
                <a:srgbClr val="000000"/>
              </a:solidFill>
              <a:effectLst/>
              <a:uFillTx/>
              <a:latin typeface="Arial"/>
            </a:endParaRPr>
          </a:p>
        </p:txBody>
      </p:sp>
      <p:sp>
        <p:nvSpPr>
          <p:cNvPr id="168"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2A66672-52A0-49CE-9CEC-F50995E20EC3}" type="slidenum">
              <a:rPr lang="en-US"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6040" cy="3085920"/>
          </a:xfrm>
          <a:prstGeom prst="rect">
            <a:avLst/>
          </a:prstGeom>
          <a:ln w="0">
            <a:noFill/>
          </a:ln>
        </p:spPr>
      </p:sp>
      <p:sp>
        <p:nvSpPr>
          <p:cNvPr id="1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Calculate routes for prefix connected to router A for both router B and router E.</a:t>
            </a:r>
            <a:endParaRPr lang="en-AU" sz="2000" b="0" u="none" strike="noStrike">
              <a:solidFill>
                <a:srgbClr val="000000"/>
              </a:solidFill>
              <a:effectLst/>
              <a:uFillTx/>
              <a:latin typeface="Arial"/>
            </a:endParaRPr>
          </a:p>
        </p:txBody>
      </p:sp>
      <p:sp>
        <p:nvSpPr>
          <p:cNvPr id="171"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CC7178D-000D-4BAB-BDA0-CB3246DAB28E}" type="slidenum">
              <a:rPr lang="en-US"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6040" cy="3085920"/>
          </a:xfrm>
          <a:prstGeom prst="rect">
            <a:avLst/>
          </a:prstGeom>
          <a:ln w="0">
            <a:noFill/>
          </a:ln>
        </p:spPr>
      </p:sp>
      <p:sp>
        <p:nvSpPr>
          <p:cNvPr id="1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Calculate routes for prefix connected to router A for both router B and router E.</a:t>
            </a:r>
            <a:endParaRPr lang="en-AU" sz="2000" b="0" u="none" strike="noStrike">
              <a:solidFill>
                <a:srgbClr val="000000"/>
              </a:solidFill>
              <a:effectLst/>
              <a:uFillTx/>
              <a:latin typeface="Arial"/>
            </a:endParaRPr>
          </a:p>
        </p:txBody>
      </p:sp>
      <p:sp>
        <p:nvSpPr>
          <p:cNvPr id="174"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2DE3CBA-17BB-4AB6-8B6D-1EF48BC714A1}" type="slidenum">
              <a:rPr lang="en-US"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Aptos Display"/>
              </a:defRPr>
            </a:lvl1pPr>
          </a:lstStyle>
          <a:p>
            <a:pPr indent="0" algn="ctr"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951DA501-45A5-45B2-BEA6-2FBEC466A126}" type="slidenum">
              <a:rPr lang="en-US" sz="1200" b="0" u="none" strike="noStrike">
                <a:solidFill>
                  <a:schemeClr val="dk1">
                    <a:tint val="82000"/>
                  </a:schemeClr>
                </a:solidFill>
                <a:effectLst/>
                <a:uFillTx/>
                <a:latin typeface="Aptos"/>
              </a:rPr>
              <a:t>20</a:t>
            </a:fld>
            <a:endParaRPr lang="en-AU"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5B7D979D-E489-47B6-8B56-C67482522428}"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57E5AC28-2D59-4BCE-9E1B-52105CA4F8E3}"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BBCA89EE-F03F-43E5-99CD-F6A358D8563A}"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Aptos Display"/>
              </a:defRPr>
            </a:lvl1pPr>
          </a:lstStyle>
          <a:p>
            <a:pPr indent="0" algn="l"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36801012-3064-407E-8E89-37F2642E6CFB}"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4506F291-C997-45DD-B304-4B59D90165CA}"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3E5AD22D-6A34-4FE1-8DEC-69AFF7D05208}"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30B170BF-B0F0-4D59-9274-116111CCA638}"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BAF835C7-8830-4C81-953D-60D242CACABB}"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6BE0680B-CEAE-408B-877A-B1B984AE19D6}"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200" b="0" u="none" strike="noStrike">
                <a:solidFill>
                  <a:schemeClr val="dk1"/>
                </a:solidFill>
                <a:effectLst/>
                <a:uFillTx/>
                <a:latin typeface="Aptos"/>
              </a:defRPr>
            </a:lvl1pPr>
          </a:lstStyle>
          <a:p>
            <a:pPr indent="0" algn="l" defTabSz="914400">
              <a:lnSpc>
                <a:spcPct val="100000"/>
              </a:lnSpc>
              <a:buNone/>
              <a:tabLst>
                <a:tab pos="0" algn="l"/>
              </a:tabLst>
            </a:pPr>
            <a:r>
              <a:rPr lang="en-US" sz="3200" b="0" u="none" strike="noStrike">
                <a:solidFill>
                  <a:schemeClr val="dk1"/>
                </a:solidFill>
                <a:effectLst/>
                <a:uFillTx/>
                <a:latin typeface="Aptos"/>
              </a:rPr>
              <a:t>Click icon to add picture</a:t>
            </a:r>
            <a:endParaRPr lang="en-US" sz="3200" b="0" u="none" strike="noStrike">
              <a:solidFill>
                <a:schemeClr val="dk1"/>
              </a:solidFill>
              <a:effectLst/>
              <a:uFillTx/>
              <a:latin typeface="Aptos"/>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3F2B5E19-7B3E-41B0-A2BA-070486D6705F}"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gif"/><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0.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0.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0.xml"/><Relationship Id="rId3"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841320" y="548640"/>
            <a:ext cx="3273120" cy="5431320"/>
          </a:xfrm>
          <a:prstGeom prst="rect">
            <a:avLst/>
          </a:prstGeom>
          <a:noFill/>
          <a:ln w="0">
            <a:noFill/>
          </a:ln>
        </p:spPr>
        <p:txBody>
          <a:bodyPr lIns="91440" tIns="45720" rIns="91440" bIns="45720" anchor="ctr">
            <a:normAutofit/>
          </a:bodyPr>
          <a:p>
            <a:pPr indent="0" algn="l" defTabSz="914400">
              <a:lnSpc>
                <a:spcPct val="90000"/>
              </a:lnSpc>
              <a:buNone/>
            </a:pPr>
            <a:r>
              <a:rPr lang="en-US" sz="5400" b="0" u="none" strike="noStrike">
                <a:solidFill>
                  <a:srgbClr val="C00000"/>
                </a:solidFill>
                <a:effectLst/>
                <a:uFillTx/>
                <a:latin typeface="Aptos Display"/>
              </a:rPr>
              <a:t>Enhanced Interior Gateway Routing Protocol (EIGRP)</a:t>
            </a:r>
            <a:endParaRPr lang="en-US" sz="5400" b="0" u="none" strike="noStrike">
              <a:solidFill>
                <a:schemeClr val="dk1"/>
              </a:solidFill>
              <a:effectLst/>
              <a:uFillTx/>
              <a:latin typeface="Aptos Display"/>
            </a:endParaRPr>
          </a:p>
        </p:txBody>
      </p:sp>
      <p:sp>
        <p:nvSpPr>
          <p:cNvPr id="67" name="PlaceHolder 2"/>
          <p:cNvSpPr>
            <a:spLocks noGrp="1"/>
          </p:cNvSpPr>
          <p:nvPr>
            <p:ph type="subTitle"/>
          </p:nvPr>
        </p:nvSpPr>
        <p:spPr>
          <a:xfrm>
            <a:off x="4793400" y="337320"/>
            <a:ext cx="7125480" cy="6280560"/>
          </a:xfrm>
          <a:prstGeom prst="rect">
            <a:avLst/>
          </a:prstGeom>
          <a:noFill/>
          <a:ln w="0">
            <a:noFill/>
          </a:ln>
        </p:spPr>
        <p:txBody>
          <a:bodyPr lIns="91440" tIns="45720" rIns="91440" bIns="45720" anchor="ctr">
            <a:noAutofit/>
          </a:bodyPr>
          <a:p>
            <a:pPr indent="-228600" algn="l" defTabSz="914400">
              <a:lnSpc>
                <a:spcPct val="90000"/>
              </a:lnSpc>
              <a:spcBef>
                <a:spcPts val="1001"/>
              </a:spcBef>
              <a:buClr>
                <a:srgbClr val="000000"/>
              </a:buClr>
              <a:buFont typeface="Arial"/>
              <a:buChar char="•"/>
              <a:tabLst>
                <a:tab pos="0" algn="l"/>
              </a:tabLst>
            </a:pPr>
            <a:r>
              <a:rPr lang="en-US" sz="2800" b="1" u="none" strike="noStrike">
                <a:solidFill>
                  <a:schemeClr val="dk1"/>
                </a:solidFill>
                <a:effectLst/>
                <a:uFillTx/>
                <a:latin typeface="Aptos"/>
              </a:rPr>
              <a:t>Learning Outcomes: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ptos Display"/>
              <a:buAutoNum type="arabicPeriod"/>
              <a:tabLst>
                <a:tab pos="0" algn="l"/>
              </a:tabLst>
            </a:pPr>
            <a:r>
              <a:rPr lang="en-US" sz="2800" b="1" u="none" strike="noStrike">
                <a:solidFill>
                  <a:schemeClr val="accent6"/>
                </a:solidFill>
                <a:effectLst/>
                <a:uFillTx/>
                <a:latin typeface="Aptos"/>
              </a:rPr>
              <a:t>Foundation</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Basic Components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Key Terms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Tables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Packet Types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Path Metric Calculation</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Load Balancing</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 Timers</a:t>
            </a:r>
            <a:endParaRPr lang="en-AU" sz="2800" b="0" u="none" strike="noStrike">
              <a:solidFill>
                <a:schemeClr val="dk1"/>
              </a:solidFill>
              <a:effectLst/>
              <a:uFillTx/>
              <a:latin typeface="Aptos"/>
            </a:endParaRPr>
          </a:p>
          <a:p>
            <a:pPr marL="1200240" lvl="1" indent="-45720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Path Selection</a:t>
            </a:r>
            <a:endParaRPr lang="en-AU" sz="2800" b="0" u="none" strike="noStrike">
              <a:solidFill>
                <a:schemeClr val="dk1"/>
              </a:solidFill>
              <a:effectLst/>
              <a:uFillTx/>
              <a:latin typeface="Aptos"/>
            </a:endParaRPr>
          </a:p>
          <a:p>
            <a:pPr marL="1257480" lvl="1" indent="-514440" algn="l" defTabSz="914400">
              <a:lnSpc>
                <a:spcPct val="90000"/>
              </a:lnSpc>
              <a:spcBef>
                <a:spcPts val="499"/>
              </a:spcBef>
              <a:buClr>
                <a:srgbClr val="4EA72E"/>
              </a:buClr>
              <a:buFont typeface="Arial"/>
              <a:buAutoNum type="arabicPeriod"/>
              <a:tabLst>
                <a:tab pos="0" algn="l"/>
              </a:tabLst>
            </a:pPr>
            <a:r>
              <a:rPr lang="en-US" sz="2800" b="1" u="none" strike="noStrike">
                <a:solidFill>
                  <a:schemeClr val="accent6"/>
                </a:solidFill>
                <a:effectLst/>
                <a:uFillTx/>
                <a:latin typeface="Aptos"/>
              </a:rPr>
              <a:t>Failure Detection/Path Operation</a:t>
            </a:r>
            <a:endParaRPr lang="en-AU"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1. Foundation  </a:t>
            </a:r>
            <a:endParaRPr lang="en-US" sz="4400" b="0" u="none" strike="noStrike">
              <a:solidFill>
                <a:schemeClr val="dk1"/>
              </a:solidFill>
              <a:effectLst/>
              <a:uFillTx/>
              <a:latin typeface="Aptos Display"/>
            </a:endParaRPr>
          </a:p>
        </p:txBody>
      </p:sp>
      <p:sp>
        <p:nvSpPr>
          <p:cNvPr id="69" name="PlaceHolder 2"/>
          <p:cNvSpPr>
            <a:spLocks noGrp="1"/>
          </p:cNvSpPr>
          <p:nvPr>
            <p:ph/>
          </p:nvPr>
        </p:nvSpPr>
        <p:spPr>
          <a:xfrm>
            <a:off x="4489920" y="609480"/>
            <a:ext cx="7133040" cy="5640480"/>
          </a:xfrm>
          <a:prstGeom prst="rect">
            <a:avLst/>
          </a:prstGeom>
          <a:noFill/>
          <a:ln w="0">
            <a:noFill/>
          </a:ln>
        </p:spPr>
        <p:txBody>
          <a:bodyPr lIns="91440" tIns="45720" rIns="91440" bIns="45720" anchor="t">
            <a:normAutofit fontScale="85000" lnSpcReduction="19999"/>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Advanced Distance(metric) Vector(direction/egress) (DV) routing protocol</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Fast Convergence because of backup routes</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Scalable as each router only have to know about it's directly connected routers</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Load balance over unequal or equal cost paths</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EIGRP routers that are in same Autonomous System (AS) can only participate in same EIGRP process.</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Initially Cisco Proprietary </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Protocol number 88, Multicast address 224.0.0.10</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Administrative Distance (AD) Internal 90, External 170, Summary 5</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2. Basic Components  </a:t>
            </a:r>
            <a:endParaRPr lang="en-US" sz="4400" b="0" u="none" strike="noStrike">
              <a:solidFill>
                <a:schemeClr val="dk1"/>
              </a:solidFill>
              <a:effectLst/>
              <a:uFillTx/>
              <a:latin typeface="Aptos Display"/>
            </a:endParaRPr>
          </a:p>
        </p:txBody>
      </p:sp>
      <p:sp>
        <p:nvSpPr>
          <p:cNvPr id="71" name="PlaceHolder 2"/>
          <p:cNvSpPr>
            <a:spLocks noGrp="1"/>
          </p:cNvSpPr>
          <p:nvPr>
            <p:ph/>
          </p:nvPr>
        </p:nvSpPr>
        <p:spPr>
          <a:xfrm>
            <a:off x="4443480" y="246960"/>
            <a:ext cx="7383960" cy="6439680"/>
          </a:xfrm>
          <a:prstGeom prst="rect">
            <a:avLst/>
          </a:prstGeom>
          <a:noFill/>
          <a:ln w="0">
            <a:noFill/>
          </a:ln>
        </p:spPr>
        <p:txBody>
          <a:bodyPr lIns="91440" tIns="45720" rIns="91440" bIns="45720" anchor="t">
            <a:normAutofit fontScale="85000" lnSpcReduction="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EIGRP has four basic components:</a:t>
            </a:r>
            <a:endParaRPr lang="en-US" sz="28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Arial"/>
              <a:buAutoNum type="arabicPeriod"/>
              <a:tabLst>
                <a:tab pos="0" algn="l"/>
              </a:tabLst>
            </a:pPr>
            <a:r>
              <a:rPr lang="en-US" sz="2400" b="1" u="none" strike="noStrike">
                <a:solidFill>
                  <a:schemeClr val="dk1"/>
                </a:solidFill>
                <a:effectLst/>
                <a:uFillTx/>
                <a:latin typeface="Aptos"/>
              </a:rPr>
              <a:t>Neighbor Discovery/Recovery:</a:t>
            </a:r>
            <a:r>
              <a:rPr lang="en-US" sz="2400" b="0" u="none" strike="noStrike">
                <a:solidFill>
                  <a:schemeClr val="dk1"/>
                </a:solidFill>
                <a:effectLst/>
                <a:uFillTx/>
                <a:latin typeface="Aptos"/>
              </a:rPr>
              <a:t> Dynamically learns about routers in a directly attached networks by periodically sending small Hello messages. This messages helps to discover if the neighbors become unreachable or inoperative.  </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Arial"/>
              <a:buAutoNum type="arabicPeriod"/>
              <a:tabLst>
                <a:tab pos="0" algn="l"/>
              </a:tabLst>
            </a:pPr>
            <a:r>
              <a:rPr lang="en-US" sz="2400" b="1" u="none" strike="noStrike">
                <a:solidFill>
                  <a:schemeClr val="dk1"/>
                </a:solidFill>
                <a:effectLst/>
                <a:uFillTx/>
                <a:latin typeface="Aptos"/>
              </a:rPr>
              <a:t>Reliable Transport Protocol(RTP): </a:t>
            </a:r>
            <a:r>
              <a:rPr lang="en-US" sz="2400" b="0" u="none" strike="noStrike">
                <a:solidFill>
                  <a:schemeClr val="dk1"/>
                </a:solidFill>
                <a:effectLst/>
                <a:uFillTx/>
                <a:latin typeface="Aptos"/>
              </a:rPr>
              <a:t>Guarantees ordered delivery of EIGRP packets to it's neighbor. For efficiency, RTP is only used when necessary. Such as Update packets require Ack while, multicast Hello messages do not.</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Arial"/>
              <a:buAutoNum type="arabicPeriod"/>
              <a:tabLst>
                <a:tab pos="0" algn="l"/>
              </a:tabLst>
            </a:pPr>
            <a:r>
              <a:rPr lang="en-US" sz="2400" b="1" u="none" strike="noStrike">
                <a:solidFill>
                  <a:schemeClr val="dk1"/>
                </a:solidFill>
                <a:effectLst/>
                <a:uFillTx/>
                <a:latin typeface="Aptos"/>
              </a:rPr>
              <a:t>Diffusion Update Algorithm (DUAL) Finite State Machine(FSM): </a:t>
            </a:r>
            <a:r>
              <a:rPr lang="en-US" sz="2400" b="0" u="none" strike="noStrike">
                <a:solidFill>
                  <a:schemeClr val="dk1"/>
                </a:solidFill>
                <a:effectLst/>
                <a:uFillTx/>
                <a:latin typeface="Aptos"/>
              </a:rPr>
              <a:t>This acts upon the topology table to compute routes. When topology changes occur and there is no Feasible Successor, DUAL FSM is triggered to compute new successor route.</a:t>
            </a:r>
            <a:endParaRPr lang="en-US" sz="2400" b="0" u="none" strike="noStrike">
              <a:solidFill>
                <a:schemeClr val="dk1"/>
              </a:solidFill>
              <a:effectLst/>
              <a:uFillTx/>
              <a:latin typeface="Aptos"/>
            </a:endParaRPr>
          </a:p>
          <a:p>
            <a:pPr marL="914400" lvl="1" indent="-457200" algn="l" defTabSz="914400">
              <a:lnSpc>
                <a:spcPct val="90000"/>
              </a:lnSpc>
              <a:spcBef>
                <a:spcPts val="499"/>
              </a:spcBef>
              <a:buClr>
                <a:srgbClr val="000000"/>
              </a:buClr>
              <a:buFont typeface="Arial"/>
              <a:buAutoNum type="arabicPeriod"/>
              <a:tabLst>
                <a:tab pos="0" algn="l"/>
              </a:tabLst>
            </a:pPr>
            <a:r>
              <a:rPr lang="en-US" sz="2400" b="1" u="none" strike="noStrike">
                <a:solidFill>
                  <a:schemeClr val="dk1"/>
                </a:solidFill>
                <a:effectLst/>
                <a:uFillTx/>
                <a:latin typeface="Aptos"/>
              </a:rPr>
              <a:t>Protocol dependent modules: </a:t>
            </a:r>
            <a:r>
              <a:rPr lang="en-US" sz="2400" b="0" u="none" strike="noStrike">
                <a:solidFill>
                  <a:schemeClr val="dk1"/>
                </a:solidFill>
                <a:effectLst/>
                <a:uFillTx/>
                <a:latin typeface="Aptos"/>
              </a:rPr>
              <a:t>Responsible for protocol specific network layer functions. Such as, IP-EIGRP, module which is responsible for sending and receiving  EIGRP packets that are encapsulated into IP .</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3. Key  Terms  </a:t>
            </a:r>
            <a:endParaRPr lang="en-US" sz="4400" b="0" u="none" strike="noStrike">
              <a:solidFill>
                <a:schemeClr val="dk1"/>
              </a:solidFill>
              <a:effectLst/>
              <a:uFillTx/>
              <a:latin typeface="Aptos Display"/>
            </a:endParaRPr>
          </a:p>
        </p:txBody>
      </p:sp>
      <p:sp>
        <p:nvSpPr>
          <p:cNvPr id="73" name="PlaceHolder 2"/>
          <p:cNvSpPr>
            <a:spLocks noGrp="1"/>
          </p:cNvSpPr>
          <p:nvPr>
            <p:ph/>
          </p:nvPr>
        </p:nvSpPr>
        <p:spPr>
          <a:xfrm>
            <a:off x="4545720" y="246960"/>
            <a:ext cx="6816960" cy="607716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Successor route: </a:t>
            </a:r>
            <a:r>
              <a:rPr lang="en-US" sz="2800" b="0" u="none" strike="noStrike">
                <a:solidFill>
                  <a:schemeClr val="dk1"/>
                </a:solidFill>
                <a:effectLst/>
                <a:uFillTx/>
                <a:latin typeface="Aptos"/>
              </a:rPr>
              <a:t>Least cost loop free path to the destination prefix</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Successor:</a:t>
            </a:r>
            <a:r>
              <a:rPr lang="en-US" sz="2800" b="0" u="none" strike="noStrike">
                <a:solidFill>
                  <a:schemeClr val="dk1"/>
                </a:solidFill>
                <a:effectLst/>
                <a:uFillTx/>
                <a:latin typeface="Aptos"/>
              </a:rPr>
              <a:t> A next hop router to a destination prefix in successor route</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Feasible Successor</a:t>
            </a:r>
            <a:r>
              <a:rPr lang="en-US" sz="2800" b="0" u="none" strike="noStrike">
                <a:solidFill>
                  <a:schemeClr val="dk1"/>
                </a:solidFill>
                <a:effectLst/>
                <a:uFillTx/>
                <a:latin typeface="Aptos"/>
              </a:rPr>
              <a:t>: A next hop router for a backup route to a destination prefix that meets the feasibility condition(FC)</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Feasible Distance (FD): </a:t>
            </a:r>
            <a:r>
              <a:rPr lang="en-US" sz="2800" b="0" u="none" strike="noStrike">
                <a:solidFill>
                  <a:schemeClr val="dk1"/>
                </a:solidFill>
                <a:effectLst/>
                <a:uFillTx/>
                <a:latin typeface="Aptos"/>
              </a:rPr>
              <a:t>Total  successor route metric from the EIGRP router to the destination prefix</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Reported Distance (RD): </a:t>
            </a:r>
            <a:r>
              <a:rPr lang="en-US" sz="2800" b="0" u="none" strike="noStrike">
                <a:solidFill>
                  <a:schemeClr val="dk1"/>
                </a:solidFill>
                <a:effectLst/>
                <a:uFillTx/>
                <a:latin typeface="Aptos"/>
              </a:rPr>
              <a:t>Total path metric reported/advertised by next hop routers towards a destination prefix</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ptos"/>
              </a:rPr>
              <a:t>Feasibility Condition(FC): </a:t>
            </a:r>
            <a:r>
              <a:rPr lang="en-US" sz="2800" b="0" u="none" strike="noStrike">
                <a:solidFill>
                  <a:schemeClr val="dk1"/>
                </a:solidFill>
                <a:effectLst/>
                <a:uFillTx/>
                <a:latin typeface="Aptos"/>
              </a:rPr>
              <a:t>Feasible Distance (FD) &lt; Reported Distance (RD) </a:t>
            </a: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a:p>
            <a:pPr indent="0" algn="l" defTabSz="914400">
              <a:lnSpc>
                <a:spcPct val="90000"/>
              </a:lnSpc>
              <a:spcBef>
                <a:spcPts val="1001"/>
              </a:spcBef>
              <a:buNone/>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Tables  </a:t>
            </a:r>
            <a:endParaRPr lang="en-US" sz="4400" b="0" u="none" strike="noStrike">
              <a:solidFill>
                <a:schemeClr val="dk1"/>
              </a:solidFill>
              <a:effectLst/>
              <a:uFillTx/>
              <a:latin typeface="Aptos Display"/>
            </a:endParaRPr>
          </a:p>
        </p:txBody>
      </p:sp>
      <p:sp>
        <p:nvSpPr>
          <p:cNvPr id="75" name="PlaceHolder 2"/>
          <p:cNvSpPr>
            <a:spLocks noGrp="1"/>
          </p:cNvSpPr>
          <p:nvPr>
            <p:ph/>
          </p:nvPr>
        </p:nvSpPr>
        <p:spPr>
          <a:xfrm>
            <a:off x="4462200" y="172440"/>
            <a:ext cx="7300080" cy="6253920"/>
          </a:xfrm>
          <a:prstGeom prst="rect">
            <a:avLst/>
          </a:prstGeom>
          <a:noFill/>
          <a:ln w="0">
            <a:noFill/>
          </a:ln>
        </p:spPr>
        <p:txBody>
          <a:bodyPr lIns="91440" tIns="45720" rIns="91440" bIns="45720" anchor="t">
            <a:normAutofit fontScale="85000" lnSpcReduction="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Topology table: </a:t>
            </a:r>
            <a:endParaRPr lang="en-US" sz="2800" b="0" u="none" strike="noStrike">
              <a:solidFill>
                <a:schemeClr val="dk1"/>
              </a:solidFill>
              <a:effectLst/>
              <a:uFillTx/>
              <a:latin typeface="Aptos"/>
            </a:endParaRPr>
          </a:p>
          <a:p>
            <a:pPr marL="971640" lvl="1" indent="-51444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Each table entry holds network prefixes within EIGRP AS, EIGRP neighbors advertising those prefix, metrics from each neighbors, and values used for calculating the metrics.</a:t>
            </a:r>
            <a:endParaRPr lang="en-US" sz="2400" b="0" u="none" strike="noStrike">
              <a:solidFill>
                <a:schemeClr val="dk1"/>
              </a:solidFill>
              <a:effectLst/>
              <a:uFillTx/>
              <a:latin typeface="Aptos"/>
            </a:endParaRPr>
          </a:p>
          <a:p>
            <a:pPr marL="971640" lvl="1" indent="-51444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Entry also contains its metric to reach the prefix. Which is sum</a:t>
            </a:r>
            <a:r>
              <a:rPr lang="en-US" sz="2400" b="0" u="none" strike="noStrike">
                <a:solidFill>
                  <a:schemeClr val="dk1"/>
                </a:solidFill>
                <a:effectLst/>
                <a:uFillTx/>
                <a:latin typeface="Aptos"/>
                <a:ea typeface="Aptos"/>
              </a:rPr>
              <a:t> of the best advertised metric from all neighbors plus the link cost to the best neighbor. </a:t>
            </a:r>
            <a:endParaRPr lang="en-US" sz="2400" b="0" u="none" strike="noStrike">
              <a:solidFill>
                <a:schemeClr val="dk1"/>
              </a:solidFill>
              <a:effectLst/>
              <a:uFillTx/>
              <a:latin typeface="Aptos"/>
            </a:endParaRPr>
          </a:p>
          <a:p>
            <a:pPr marL="971640" lvl="1" indent="-51444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ea typeface="Aptos"/>
              </a:rPr>
              <a:t>Prefixes/routes in topology table has one of two states. </a:t>
            </a:r>
            <a:r>
              <a:rPr lang="en-US" sz="2400" b="1" u="none" strike="noStrike">
                <a:solidFill>
                  <a:schemeClr val="dk1"/>
                </a:solidFill>
                <a:effectLst/>
                <a:uFillTx/>
                <a:latin typeface="Aptos"/>
                <a:ea typeface="Aptos"/>
              </a:rPr>
              <a:t>Passive (P)</a:t>
            </a:r>
            <a:r>
              <a:rPr lang="en-US" sz="2400" b="0" u="none" strike="noStrike">
                <a:solidFill>
                  <a:schemeClr val="dk1"/>
                </a:solidFill>
                <a:effectLst/>
                <a:uFillTx/>
                <a:latin typeface="Aptos"/>
                <a:ea typeface="Aptos"/>
              </a:rPr>
              <a:t> and </a:t>
            </a:r>
            <a:r>
              <a:rPr lang="en-US" sz="2400" b="1" u="none" strike="noStrike">
                <a:solidFill>
                  <a:schemeClr val="dk1"/>
                </a:solidFill>
                <a:effectLst/>
                <a:uFillTx/>
                <a:latin typeface="Aptos"/>
                <a:ea typeface="Aptos"/>
              </a:rPr>
              <a:t>Active (A)</a:t>
            </a:r>
            <a:r>
              <a:rPr lang="en-US" sz="2400" b="0" u="none" strike="noStrike">
                <a:solidFill>
                  <a:schemeClr val="dk1"/>
                </a:solidFill>
                <a:effectLst/>
                <a:uFillTx/>
                <a:latin typeface="Aptos"/>
                <a:ea typeface="Aptos"/>
              </a:rPr>
              <a:t>. Routes go into P state when there is FS or Successor and no route re-computation is required. If a route re-computation is required for a prefix, it goes into Active(A) state.</a:t>
            </a:r>
            <a:endParaRPr lang="en-US" sz="2400" b="0" u="none" strike="noStrike">
              <a:solidFill>
                <a:schemeClr val="dk1"/>
              </a:solidFill>
              <a:effectLst/>
              <a:uFillTx/>
              <a:latin typeface="Aptos"/>
            </a:endParaRPr>
          </a:p>
          <a:p>
            <a:pPr marL="971640" lvl="1" indent="-51444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ea typeface="Aptos"/>
              </a:rPr>
              <a:t>DUAL Finite State Machine (FSM) acts on topology table to recompute routes.</a:t>
            </a:r>
            <a:endParaRPr lang="en-US" sz="2400" b="0" u="none" strike="noStrike">
              <a:solidFill>
                <a:schemeClr val="dk1"/>
              </a:solidFill>
              <a:effectLst/>
              <a:uFillTx/>
              <a:latin typeface="Aptos"/>
            </a:endParaRPr>
          </a:p>
          <a:p>
            <a:pPr marL="971640" lvl="1" indent="-514440" algn="l" defTabSz="914400">
              <a:lnSpc>
                <a:spcPct val="90000"/>
              </a:lnSpc>
              <a:spcBef>
                <a:spcPts val="499"/>
              </a:spcBef>
              <a:buClr>
                <a:srgbClr val="000000"/>
              </a:buClr>
              <a:buFont typeface="Arial"/>
              <a:buChar char="•"/>
              <a:tabLst>
                <a:tab pos="0" algn="l"/>
              </a:tabLst>
            </a:pPr>
            <a:r>
              <a:rPr lang="en-US" sz="2200" b="0" u="none" strike="noStrike">
                <a:solidFill>
                  <a:schemeClr val="dk1"/>
                </a:solidFill>
                <a:effectLst/>
                <a:uFillTx/>
                <a:latin typeface="Aptos"/>
                <a:ea typeface="Aptos"/>
              </a:rPr>
              <a:t>If a neighbor advertises route to a prefix, it is assumed that the neighbor uses that route to reach the prefix.</a:t>
            </a:r>
            <a:endParaRPr lang="en-US" sz="22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Tables  </a:t>
            </a:r>
            <a:endParaRPr lang="en-US" sz="4400" b="0" u="none" strike="noStrike">
              <a:solidFill>
                <a:schemeClr val="dk1"/>
              </a:solidFill>
              <a:effectLst/>
              <a:uFillTx/>
              <a:latin typeface="Aptos Display"/>
            </a:endParaRPr>
          </a:p>
        </p:txBody>
      </p:sp>
      <p:sp>
        <p:nvSpPr>
          <p:cNvPr id="77" name="PlaceHolder 2"/>
          <p:cNvSpPr>
            <a:spLocks noGrp="1"/>
          </p:cNvSpPr>
          <p:nvPr>
            <p:ph/>
          </p:nvPr>
        </p:nvSpPr>
        <p:spPr>
          <a:xfrm>
            <a:off x="4462200" y="172440"/>
            <a:ext cx="7300080" cy="62244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Topology table: Example</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78" name="Picture 3" descr="A screenshot of a computer&#10;&#10;AI-generated content may be incorrect."/>
          <p:cNvPicPr/>
          <p:nvPr/>
        </p:nvPicPr>
        <p:blipFill>
          <a:blip r:embed="rId1"/>
          <a:stretch/>
        </p:blipFill>
        <p:spPr>
          <a:xfrm>
            <a:off x="4649400" y="787320"/>
            <a:ext cx="6461640" cy="59054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Tables  </a:t>
            </a:r>
            <a:endParaRPr lang="en-US" sz="4400" b="0" u="none" strike="noStrike">
              <a:solidFill>
                <a:schemeClr val="dk1"/>
              </a:solidFill>
              <a:effectLst/>
              <a:uFillTx/>
              <a:latin typeface="Aptos Display"/>
            </a:endParaRPr>
          </a:p>
        </p:txBody>
      </p:sp>
      <p:sp>
        <p:nvSpPr>
          <p:cNvPr id="80" name="PlaceHolder 2"/>
          <p:cNvSpPr>
            <a:spLocks noGrp="1"/>
          </p:cNvSpPr>
          <p:nvPr>
            <p:ph/>
          </p:nvPr>
        </p:nvSpPr>
        <p:spPr>
          <a:xfrm>
            <a:off x="4964040" y="544320"/>
            <a:ext cx="6947280" cy="60958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Neighbor table: </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Records address and interface of each neighbor discovered.</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Records HoldTime, which is the time the router waits to receive Hello packet from that neighbor before informing DUAL about it's unreachability.</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It holds information required by reliable transport protocol.Such as sequence numbers to detect out of order ACKs, transmission list to queue packets and RTT for optimal retransmission interval.</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4. Tables  </a:t>
            </a:r>
            <a:endParaRPr lang="en-US" sz="4400" b="0" u="none" strike="noStrike">
              <a:solidFill>
                <a:schemeClr val="dk1"/>
              </a:solidFill>
              <a:effectLst/>
              <a:uFillTx/>
              <a:latin typeface="Aptos Display"/>
            </a:endParaRPr>
          </a:p>
        </p:txBody>
      </p:sp>
      <p:sp>
        <p:nvSpPr>
          <p:cNvPr id="82" name="PlaceHolder 2"/>
          <p:cNvSpPr>
            <a:spLocks noGrp="1"/>
          </p:cNvSpPr>
          <p:nvPr>
            <p:ph/>
          </p:nvPr>
        </p:nvSpPr>
        <p:spPr>
          <a:xfrm>
            <a:off x="4964040" y="544320"/>
            <a:ext cx="6947280" cy="4924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Neighbor Table: Example</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83" name="Picture 5" descr="graphics/08fig47.gif"/>
          <p:cNvPicPr/>
          <p:nvPr/>
        </p:nvPicPr>
        <p:blipFill>
          <a:blip r:embed="rId1"/>
          <a:stretch/>
        </p:blipFill>
        <p:spPr>
          <a:xfrm>
            <a:off x="4596480" y="1040040"/>
            <a:ext cx="7312680" cy="518796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5. Packet Types</a:t>
            </a:r>
            <a:endParaRPr lang="en-US" sz="4400" b="0" u="none" strike="noStrike">
              <a:solidFill>
                <a:schemeClr val="dk1"/>
              </a:solidFill>
              <a:effectLst/>
              <a:uFillTx/>
              <a:latin typeface="Aptos Display"/>
            </a:endParaRPr>
          </a:p>
        </p:txBody>
      </p:sp>
      <p:sp>
        <p:nvSpPr>
          <p:cNvPr id="85" name="PlaceHolder 2"/>
          <p:cNvSpPr>
            <a:spLocks noGrp="1"/>
          </p:cNvSpPr>
          <p:nvPr>
            <p:ph/>
          </p:nvPr>
        </p:nvSpPr>
        <p:spPr>
          <a:xfrm>
            <a:off x="4494960" y="321480"/>
            <a:ext cx="7416000" cy="5158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EIGRP Packet Types:</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graphicFrame>
        <p:nvGraphicFramePr>
          <p:cNvPr id="86" name="Table 3"/>
          <p:cNvGraphicFramePr/>
          <p:nvPr/>
        </p:nvGraphicFramePr>
        <p:xfrm>
          <a:off x="4489920" y="1031760"/>
          <a:ext cx="7516440" cy="4939920"/>
        </p:xfrm>
        <a:graphic>
          <a:graphicData uri="http://schemas.openxmlformats.org/drawingml/2006/table">
            <a:tbl>
              <a:tblPr/>
              <a:tblGrid>
                <a:gridCol w="1262160"/>
                <a:gridCol w="1262160"/>
                <a:gridCol w="4992120"/>
              </a:tblGrid>
              <a:tr h="370800">
                <a:tc>
                  <a:txBody>
                    <a:bodyPr anchor="t">
                      <a:noAutofit/>
                    </a:bodyPr>
                    <a:p>
                      <a:pPr defTabSz="914400">
                        <a:lnSpc>
                          <a:spcPct val="100000"/>
                        </a:lnSpc>
                      </a:pPr>
                      <a:r>
                        <a:rPr lang="en-US" sz="1800" b="1" u="none" strike="noStrike">
                          <a:solidFill>
                            <a:schemeClr val="lt1"/>
                          </a:solidFill>
                          <a:effectLst/>
                          <a:uFillTx/>
                          <a:latin typeface="Aptos"/>
                        </a:rPr>
                        <a:t>Packet Type</a:t>
                      </a:r>
                      <a:endParaRPr lang="en-AU"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Aptos"/>
                        </a:rPr>
                        <a:t>Packet  Name</a:t>
                      </a:r>
                      <a:endParaRPr lang="en-AU"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lang="en-US" sz="1800" b="1" u="none" strike="noStrike">
                          <a:solidFill>
                            <a:schemeClr val="lt1"/>
                          </a:solidFill>
                          <a:effectLst/>
                          <a:uFillTx/>
                          <a:latin typeface="Aptos"/>
                        </a:rPr>
                        <a:t>Function</a:t>
                      </a:r>
                      <a:endParaRPr lang="en-AU" sz="1800" b="0" u="none" strike="noStrike">
                        <a:solidFill>
                          <a:srgbClr val="FFFFFF"/>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defTabSz="914400">
                        <a:lnSpc>
                          <a:spcPct val="100000"/>
                        </a:lnSpc>
                      </a:pPr>
                      <a:r>
                        <a:rPr lang="en-US" sz="1800" b="1" u="none" strike="noStrike">
                          <a:solidFill>
                            <a:schemeClr val="dk1"/>
                          </a:solidFill>
                          <a:effectLst/>
                          <a:uFillTx/>
                          <a:latin typeface="Aptos"/>
                        </a:rPr>
                        <a:t>5</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1" u="none" strike="noStrike">
                          <a:solidFill>
                            <a:schemeClr val="dk1"/>
                          </a:solidFill>
                          <a:effectLst/>
                          <a:uFillTx/>
                          <a:latin typeface="Aptos"/>
                        </a:rPr>
                        <a:t>HELLO</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Aptos"/>
                        </a:rPr>
                        <a:t>Used for discovery and reachability of the neighbors (Multicast)</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lang="en-US" sz="1800" b="1" u="none" strike="noStrike">
                          <a:solidFill>
                            <a:schemeClr val="dk1"/>
                          </a:solidFill>
                          <a:effectLst/>
                          <a:uFillTx/>
                          <a:latin typeface="Aptos"/>
                        </a:rPr>
                        <a:t>2</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1" u="none" strike="noStrike">
                          <a:solidFill>
                            <a:schemeClr val="dk1"/>
                          </a:solidFill>
                          <a:effectLst/>
                          <a:uFillTx/>
                          <a:latin typeface="Aptos"/>
                        </a:rPr>
                        <a:t>REQUEST</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Aptos"/>
                        </a:rPr>
                        <a:t>Request specific information from one or more neighbors</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lang="en-US" sz="1800" b="1" u="none" strike="noStrike">
                          <a:solidFill>
                            <a:schemeClr val="dk1"/>
                          </a:solidFill>
                          <a:effectLst/>
                          <a:uFillTx/>
                          <a:latin typeface="Aptos"/>
                        </a:rPr>
                        <a:t>1</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1" u="none" strike="noStrike">
                          <a:solidFill>
                            <a:schemeClr val="dk1"/>
                          </a:solidFill>
                          <a:effectLst/>
                          <a:uFillTx/>
                          <a:latin typeface="Aptos"/>
                        </a:rPr>
                        <a:t>UPDATE</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Aptos"/>
                        </a:rPr>
                        <a:t>Reliably transmit routing and reachability information with other neighbors. Neighbor discovery updates are unicast. Link cost change updates are multicast. </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defTabSz="914400">
                        <a:lnSpc>
                          <a:spcPct val="100000"/>
                        </a:lnSpc>
                      </a:pPr>
                      <a:r>
                        <a:rPr lang="en-US" sz="1800" b="1" u="none" strike="noStrike">
                          <a:solidFill>
                            <a:schemeClr val="dk1"/>
                          </a:solidFill>
                          <a:effectLst/>
                          <a:uFillTx/>
                          <a:latin typeface="Aptos"/>
                        </a:rPr>
                        <a:t>3</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1" u="none" strike="noStrike">
                          <a:solidFill>
                            <a:schemeClr val="dk1"/>
                          </a:solidFill>
                          <a:effectLst/>
                          <a:uFillTx/>
                          <a:latin typeface="Aptos"/>
                        </a:rPr>
                        <a:t>QUERY</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lang="en-US" sz="1800" b="0" u="none" strike="noStrike">
                          <a:solidFill>
                            <a:schemeClr val="dk1"/>
                          </a:solidFill>
                          <a:effectLst/>
                          <a:uFillTx/>
                          <a:latin typeface="Aptos"/>
                        </a:rPr>
                        <a:t>Used in DUAL during topology changes to recompute routes. Queries are reliable transmission and are always multicast</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defTabSz="914400">
                        <a:lnSpc>
                          <a:spcPct val="100000"/>
                        </a:lnSpc>
                      </a:pPr>
                      <a:r>
                        <a:rPr lang="en-US" sz="1800" b="1" u="none" strike="noStrike">
                          <a:solidFill>
                            <a:schemeClr val="dk1"/>
                          </a:solidFill>
                          <a:effectLst/>
                          <a:uFillTx/>
                          <a:latin typeface="Aptos"/>
                        </a:rPr>
                        <a:t>4</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1" u="none" strike="noStrike">
                          <a:solidFill>
                            <a:schemeClr val="dk1"/>
                          </a:solidFill>
                          <a:effectLst/>
                          <a:uFillTx/>
                          <a:latin typeface="Aptos"/>
                        </a:rPr>
                        <a:t>REPLY</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lang="en-US" sz="1800" b="0" u="none" strike="noStrike">
                          <a:solidFill>
                            <a:schemeClr val="dk1"/>
                          </a:solidFill>
                          <a:effectLst/>
                          <a:uFillTx/>
                          <a:latin typeface="Aptos"/>
                        </a:rPr>
                        <a:t>Sent in response to Query packet. Replies are reliable transmission and are always unicast to Query packet originator.</a:t>
                      </a:r>
                      <a:endParaRPr lang="en-AU"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6. Path Metric Calculation</a:t>
            </a:r>
            <a:endParaRPr lang="en-US" sz="4400" b="0" u="none" strike="noStrike">
              <a:solidFill>
                <a:schemeClr val="dk1"/>
              </a:solidFill>
              <a:effectLst/>
              <a:uFillTx/>
              <a:latin typeface="Aptos Display"/>
            </a:endParaRPr>
          </a:p>
        </p:txBody>
      </p:sp>
      <p:sp>
        <p:nvSpPr>
          <p:cNvPr id="88" name="PlaceHolder 2"/>
          <p:cNvSpPr>
            <a:spLocks noGrp="1"/>
          </p:cNvSpPr>
          <p:nvPr>
            <p:ph/>
          </p:nvPr>
        </p:nvSpPr>
        <p:spPr>
          <a:xfrm>
            <a:off x="4357440" y="236880"/>
            <a:ext cx="7839360" cy="5988600"/>
          </a:xfrm>
          <a:prstGeom prst="rect">
            <a:avLst/>
          </a:prstGeom>
          <a:noFill/>
          <a:ln w="0">
            <a:noFill/>
          </a:ln>
        </p:spPr>
        <p:txBody>
          <a:bodyPr lIns="91440" tIns="45720" rIns="91440" bIns="45720" anchor="t">
            <a:normAutofit fontScale="62500" lnSpcReduction="1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Path Metric Calculation:</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Classic metric(IGRP)</a:t>
            </a:r>
            <a:r>
              <a:rPr lang="en-US" sz="2800" b="0" u="none" strike="noStrike">
                <a:solidFill>
                  <a:schemeClr val="dk1"/>
                </a:solidFill>
                <a:effectLst/>
                <a:uFillTx/>
                <a:latin typeface="Aptos"/>
              </a:rPr>
              <a:t> = </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[{K1</a:t>
            </a:r>
            <a:r>
              <a:rPr lang="en-US" sz="2800" b="0" u="none" strike="noStrike" baseline="-25000">
                <a:solidFill>
                  <a:schemeClr val="dk1"/>
                </a:solidFill>
                <a:effectLst/>
                <a:uFillTx/>
                <a:latin typeface="Aptos"/>
              </a:rPr>
              <a:t> </a:t>
            </a:r>
            <a:r>
              <a:rPr lang="en-US" sz="2800" b="0" u="none" strike="noStrike">
                <a:solidFill>
                  <a:schemeClr val="dk1"/>
                </a:solidFill>
                <a:effectLst/>
                <a:uFillTx/>
                <a:latin typeface="Aptos"/>
              </a:rPr>
              <a:t>* BW+{(K2*BW)/(256-Load)}+k3*Delay}*K5/(k4+Reliability)]</a:t>
            </a:r>
            <a:endParaRPr lang="en-US" sz="2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BW is slowest link BW/Kbps  in the path scaled to EIGRP_BANDWIDTH of10 Gbps(10</a:t>
            </a:r>
            <a:r>
              <a:rPr lang="en-US" sz="2400" b="0" u="none" strike="noStrike" baseline="30000">
                <a:solidFill>
                  <a:schemeClr val="dk1"/>
                </a:solidFill>
                <a:effectLst/>
                <a:uFillTx/>
                <a:latin typeface="Aptos"/>
              </a:rPr>
              <a:t>7 </a:t>
            </a:r>
            <a:r>
              <a:rPr lang="en-US" sz="2400" b="0" u="none" strike="noStrike">
                <a:solidFill>
                  <a:schemeClr val="dk1"/>
                </a:solidFill>
                <a:effectLst/>
                <a:uFillTx/>
                <a:latin typeface="Aptos"/>
              </a:rPr>
              <a:t>Kbps). Ex. BW = (10</a:t>
            </a:r>
            <a:r>
              <a:rPr lang="en-US" sz="2400" b="0" u="none" strike="noStrike" baseline="30000">
                <a:solidFill>
                  <a:schemeClr val="dk1"/>
                </a:solidFill>
                <a:effectLst/>
                <a:uFillTx/>
                <a:latin typeface="Aptos"/>
              </a:rPr>
              <a:t>7 </a:t>
            </a:r>
            <a:r>
              <a:rPr lang="en-US" sz="2400" b="0" u="none" strike="noStrike">
                <a:solidFill>
                  <a:schemeClr val="dk1"/>
                </a:solidFill>
                <a:effectLst/>
                <a:uFillTx/>
                <a:latin typeface="Aptos"/>
              </a:rPr>
              <a:t>Kbps/100 Kbps) = 10</a:t>
            </a:r>
            <a:r>
              <a:rPr lang="en-US" sz="2400" b="0" u="none" strike="noStrike" baseline="30000">
                <a:solidFill>
                  <a:schemeClr val="dk1"/>
                </a:solidFill>
                <a:effectLst/>
                <a:uFillTx/>
                <a:latin typeface="Aptos"/>
              </a:rPr>
              <a:t>5 </a:t>
            </a:r>
            <a:endParaRPr lang="en-US" sz="24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Delay is the total path delay in tens of µs. Ex . 100 µs = 100/10 = 10</a:t>
            </a:r>
            <a:endParaRPr lang="en-US" sz="24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Minimum BW and Total delay of the path is obtained from EIGRP path attribute propagation.</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Composite metric(EIGRP)</a:t>
            </a:r>
            <a:r>
              <a:rPr lang="en-US" sz="2800" b="0" u="none" strike="noStrike">
                <a:solidFill>
                  <a:schemeClr val="dk1"/>
                </a:solidFill>
                <a:effectLst/>
                <a:uFillTx/>
                <a:latin typeface="Aptos"/>
              </a:rPr>
              <a:t> is based on classic IGRP  metric above but it is multiplied by 256 to convert it from 24 bits update packet metric field to 32 bits update packet metric field.</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Composite EIGRP metric = 256 *[{K1</a:t>
            </a:r>
            <a:r>
              <a:rPr lang="en-US" sz="1900" b="0" u="none" strike="noStrike" baseline="-25000">
                <a:solidFill>
                  <a:schemeClr val="dk1"/>
                </a:solidFill>
                <a:effectLst/>
                <a:uFillTx/>
                <a:latin typeface="Aptos"/>
              </a:rPr>
              <a:t> </a:t>
            </a:r>
            <a:r>
              <a:rPr lang="en-US" sz="2800" b="0" u="none" strike="noStrike">
                <a:solidFill>
                  <a:schemeClr val="dk1"/>
                </a:solidFill>
                <a:effectLst/>
                <a:uFillTx/>
                <a:latin typeface="Aptos"/>
              </a:rPr>
              <a:t>* Min.BW+{(K2*Min.BW)/(256-Load)}+k3*Total Delay}*K5/(k4+Reliability)]</a:t>
            </a:r>
            <a:endParaRPr lang="en-US" sz="2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Values of K can vary from 0 to 128</a:t>
            </a:r>
            <a:endParaRPr lang="en-US" sz="24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Default value of K2,K4 and k5 is set to 0</a:t>
            </a:r>
            <a:endParaRPr lang="en-US" sz="24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Default value of K1 and K3 is set to 1</a:t>
            </a:r>
            <a:endParaRPr lang="en-US" sz="24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Composite EIGRP metric becomes = </a:t>
            </a:r>
            <a:r>
              <a:rPr lang="en-US" sz="2800" b="0" u="none" strike="noStrike">
                <a:solidFill>
                  <a:schemeClr val="dk1"/>
                </a:solidFill>
                <a:effectLst/>
                <a:uFillTx/>
                <a:latin typeface="Aptos"/>
              </a:rPr>
              <a:t>256 *[{K1* Min.BW+{(0}+k3*Total Delay}*1] </a:t>
            </a:r>
            <a:r>
              <a:rPr lang="en-US" sz="2800" b="0" i="1" u="none" strike="noStrike">
                <a:solidFill>
                  <a:srgbClr val="00B050"/>
                </a:solidFill>
                <a:effectLst/>
                <a:uFillTx/>
                <a:latin typeface="Aptos"/>
              </a:rPr>
              <a:t>Note: RFC states if K5=0, Reliability part becomes 1.</a:t>
            </a:r>
            <a:endParaRPr lang="en-US" sz="2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Applying the BW scaling discussed above and total delay in tens of </a:t>
            </a:r>
            <a:r>
              <a:rPr lang="en-US" sz="2500" b="0" u="none" strike="noStrike">
                <a:solidFill>
                  <a:schemeClr val="dk1"/>
                </a:solidFill>
                <a:effectLst/>
                <a:uFillTx/>
                <a:latin typeface="Aptos"/>
              </a:rPr>
              <a:t>µs</a:t>
            </a:r>
            <a:r>
              <a:rPr lang="en-US" sz="2400" b="0" u="none" strike="noStrike">
                <a:solidFill>
                  <a:schemeClr val="dk1"/>
                </a:solidFill>
                <a:effectLst/>
                <a:uFillTx/>
                <a:latin typeface="Aptos"/>
              </a:rPr>
              <a:t> , Composite EIGRP metric becomes:</a:t>
            </a:r>
            <a:endParaRPr lang="en-US" sz="2400" b="0" u="none" strike="noStrike">
              <a:solidFill>
                <a:schemeClr val="dk1"/>
              </a:solidFill>
              <a:effectLst/>
              <a:uFillTx/>
              <a:latin typeface="Aptos"/>
            </a:endParaRPr>
          </a:p>
          <a:p>
            <a:pPr marL="685800" indent="0" algn="l" defTabSz="914400">
              <a:lnSpc>
                <a:spcPct val="90000"/>
              </a:lnSpc>
              <a:spcBef>
                <a:spcPts val="499"/>
              </a:spcBef>
              <a:buNone/>
              <a:tabLst>
                <a:tab pos="0" algn="l"/>
              </a:tabLst>
            </a:pPr>
            <a:r>
              <a:rPr lang="en-US" sz="2400" b="1" u="none" strike="noStrike">
                <a:solidFill>
                  <a:schemeClr val="dk1"/>
                </a:solidFill>
                <a:effectLst/>
                <a:uFillTx/>
                <a:latin typeface="Aptos"/>
              </a:rPr>
              <a:t>256 *{(Scaled Min. BW +Scaled Total Delay} = </a:t>
            </a:r>
            <a:r>
              <a:rPr lang="en-US" sz="2400" b="0" u="none" strike="noStrike">
                <a:solidFill>
                  <a:schemeClr val="dk1"/>
                </a:solidFill>
                <a:effectLst/>
                <a:uFillTx/>
                <a:latin typeface="Aptos"/>
              </a:rPr>
              <a:t>256 *{(10</a:t>
            </a:r>
            <a:r>
              <a:rPr lang="en-US" sz="2400" b="0" u="none" strike="noStrike" baseline="30000">
                <a:solidFill>
                  <a:schemeClr val="dk1"/>
                </a:solidFill>
                <a:effectLst/>
                <a:uFillTx/>
                <a:latin typeface="Aptos"/>
              </a:rPr>
              <a:t>7</a:t>
            </a:r>
            <a:r>
              <a:rPr lang="en-US" sz="2400" b="0" u="none" strike="noStrike">
                <a:solidFill>
                  <a:schemeClr val="dk1"/>
                </a:solidFill>
                <a:effectLst/>
                <a:uFillTx/>
                <a:latin typeface="Aptos"/>
              </a:rPr>
              <a:t>/ Min. BW</a:t>
            </a:r>
            <a:r>
              <a:rPr lang="en-US" sz="2400" b="0" u="none" strike="noStrike" baseline="30000">
                <a:solidFill>
                  <a:schemeClr val="dk1"/>
                </a:solidFill>
                <a:effectLst/>
                <a:uFillTx/>
                <a:latin typeface="Aptos"/>
              </a:rPr>
              <a:t>)</a:t>
            </a:r>
            <a:r>
              <a:rPr lang="en-US" sz="2400" b="0" u="none" strike="noStrike">
                <a:solidFill>
                  <a:schemeClr val="dk1"/>
                </a:solidFill>
                <a:effectLst/>
                <a:uFillTx/>
                <a:latin typeface="Aptos"/>
              </a:rPr>
              <a:t> +(Total Delay/10)}</a:t>
            </a:r>
            <a:endParaRPr lang="en-US"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6. Path Metric Calculation</a:t>
            </a:r>
            <a:endParaRPr lang="en-US" sz="4400" b="0" u="none" strike="noStrike">
              <a:solidFill>
                <a:schemeClr val="dk1"/>
              </a:solidFill>
              <a:effectLst/>
              <a:uFillTx/>
              <a:latin typeface="Aptos Display"/>
            </a:endParaRPr>
          </a:p>
        </p:txBody>
      </p:sp>
      <p:sp>
        <p:nvSpPr>
          <p:cNvPr id="90" name="PlaceHolder 2"/>
          <p:cNvSpPr>
            <a:spLocks noGrp="1"/>
          </p:cNvSpPr>
          <p:nvPr>
            <p:ph/>
          </p:nvPr>
        </p:nvSpPr>
        <p:spPr>
          <a:xfrm>
            <a:off x="4361760" y="331200"/>
            <a:ext cx="7416000" cy="672840"/>
          </a:xfrm>
          <a:prstGeom prst="rect">
            <a:avLst/>
          </a:prstGeom>
          <a:noFill/>
          <a:ln w="0">
            <a:noFill/>
          </a:ln>
        </p:spPr>
        <p:txBody>
          <a:bodyPr lIns="91440" tIns="45720" rIns="91440" bIns="45720" anchor="t">
            <a:normAutofit fontScale="70000" lnSpcReduction="1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EIGRP Composite Metric  calculation example:</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EIGRP Path Attribute Propagation</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91" name="Picture 4" descr="A blue circular object with arrows and white text&#10;&#10;AI-generated content may be incorrect."/>
          <p:cNvPicPr/>
          <p:nvPr/>
        </p:nvPicPr>
        <p:blipFill>
          <a:blip r:embed="rId1"/>
          <a:stretch/>
        </p:blipFill>
        <p:spPr>
          <a:xfrm>
            <a:off x="4359960" y="1506960"/>
            <a:ext cx="7419240" cy="2503440"/>
          </a:xfrm>
          <a:prstGeom prst="rect">
            <a:avLst/>
          </a:prstGeom>
          <a:noFill/>
          <a:ln w="0">
            <a:noFill/>
          </a:ln>
          <a:effectLst>
            <a:outerShdw algn="tl" blurRad="190440" rotWithShape="0">
              <a:srgbClr val="000000">
                <a:alpha val="70000"/>
              </a:srgbClr>
            </a:outerShdw>
          </a:effectLst>
        </p:spPr>
      </p:pic>
      <p:sp>
        <p:nvSpPr>
          <p:cNvPr id="92" name="TextBox 6"/>
          <p:cNvSpPr/>
          <p:nvPr/>
        </p:nvSpPr>
        <p:spPr>
          <a:xfrm>
            <a:off x="4334040" y="4495680"/>
            <a:ext cx="7467120" cy="1800000"/>
          </a:xfrm>
          <a:prstGeom prst="rect">
            <a:avLst/>
          </a:prstGeom>
          <a:noFill/>
          <a:ln w="0">
            <a:noFill/>
          </a:ln>
        </p:spPr>
        <p:style>
          <a:lnRef idx="0"/>
          <a:fillRef idx="0"/>
          <a:effectRef idx="0"/>
          <a:fontRef idx="minor"/>
        </p:style>
        <p:txBody>
          <a:bodyPr numCol="1" spcCol="0" horzOverflow="overflow" anchor="t">
            <a:spAutoFit/>
          </a:bodyPr>
          <a:p>
            <a:pPr defTabSz="914400">
              <a:lnSpc>
                <a:spcPct val="100000"/>
              </a:lnSpc>
            </a:pPr>
            <a:r>
              <a:rPr lang="en-US" sz="1800" b="0" u="none" strike="noStrike">
                <a:solidFill>
                  <a:schemeClr val="dk1"/>
                </a:solidFill>
                <a:effectLst/>
                <a:uFillTx/>
                <a:latin typeface="Aptos"/>
              </a:rPr>
              <a:t>From above figure, calculating EIGRP composite metric at R3 for 10.1.1.0/24 prefix:</a:t>
            </a:r>
            <a:endParaRPr lang="en-AU" sz="1800" b="0" u="none" strike="noStrike">
              <a:solidFill>
                <a:srgbClr val="000000"/>
              </a:solidFill>
              <a:effectLst/>
              <a:uFillTx/>
              <a:latin typeface="Arial"/>
            </a:endParaRPr>
          </a:p>
          <a:p>
            <a:pPr marL="743040" lvl="1" indent="-285840" defTabSz="914400">
              <a:lnSpc>
                <a:spcPct val="100000"/>
              </a:lnSpc>
              <a:buClr>
                <a:srgbClr val="000000"/>
              </a:buClr>
              <a:buFont typeface="Courier New"/>
              <a:buChar char="o"/>
            </a:pPr>
            <a:r>
              <a:rPr lang="en-US" sz="1800" b="0" u="none" strike="noStrike">
                <a:solidFill>
                  <a:schemeClr val="dk1"/>
                </a:solidFill>
                <a:effectLst/>
                <a:uFillTx/>
                <a:latin typeface="Aptos"/>
              </a:rPr>
              <a:t>Minimum Bandwidth = 10 Mbps = 10 * 1000 Kbps = 10,000 Kbps= 10</a:t>
            </a:r>
            <a:r>
              <a:rPr lang="en-US" sz="1800" b="0" u="none" strike="noStrike" baseline="30000">
                <a:solidFill>
                  <a:schemeClr val="dk1"/>
                </a:solidFill>
                <a:effectLst/>
                <a:uFillTx/>
                <a:latin typeface="Aptos"/>
              </a:rPr>
              <a:t>4</a:t>
            </a:r>
            <a:r>
              <a:rPr lang="en-US" sz="1800" b="0" u="none" strike="noStrike">
                <a:solidFill>
                  <a:schemeClr val="dk1"/>
                </a:solidFill>
                <a:effectLst/>
                <a:uFillTx/>
                <a:latin typeface="Aptos"/>
              </a:rPr>
              <a:t> Kbps, Total Delay = 1200 </a:t>
            </a:r>
            <a:r>
              <a:rPr lang="en-US" sz="1900" b="0" u="none" strike="noStrike">
                <a:solidFill>
                  <a:schemeClr val="dk1"/>
                </a:solidFill>
                <a:effectLst/>
                <a:uFillTx/>
                <a:latin typeface="Aptos"/>
              </a:rPr>
              <a:t>µs</a:t>
            </a:r>
            <a:endParaRPr lang="en-AU" sz="1900" b="0" u="none" strike="noStrike">
              <a:solidFill>
                <a:srgbClr val="000000"/>
              </a:solidFill>
              <a:effectLst/>
              <a:uFillTx/>
              <a:latin typeface="Arial"/>
            </a:endParaRPr>
          </a:p>
          <a:p>
            <a:pPr marL="743040" lvl="1" indent="-285840" defTabSz="914400">
              <a:lnSpc>
                <a:spcPct val="100000"/>
              </a:lnSpc>
              <a:buClr>
                <a:srgbClr val="000000"/>
              </a:buClr>
              <a:buFont typeface="Courier New"/>
              <a:buChar char="o"/>
            </a:pPr>
            <a:r>
              <a:rPr lang="en-US" sz="1900" b="0" u="none" strike="noStrike">
                <a:solidFill>
                  <a:schemeClr val="dk1"/>
                </a:solidFill>
                <a:effectLst/>
                <a:uFillTx/>
                <a:latin typeface="Aptos"/>
              </a:rPr>
              <a:t>Metric = 256 * { (10</a:t>
            </a:r>
            <a:r>
              <a:rPr lang="en-US" sz="1900" b="0" u="none" strike="noStrike" baseline="30000">
                <a:solidFill>
                  <a:schemeClr val="dk1"/>
                </a:solidFill>
                <a:effectLst/>
                <a:uFillTx/>
                <a:latin typeface="Aptos"/>
              </a:rPr>
              <a:t>7 </a:t>
            </a:r>
            <a:r>
              <a:rPr lang="en-US" sz="1900" b="0" u="none" strike="noStrike">
                <a:solidFill>
                  <a:schemeClr val="dk1"/>
                </a:solidFill>
                <a:effectLst/>
                <a:uFillTx/>
                <a:latin typeface="Aptos"/>
              </a:rPr>
              <a:t>/10</a:t>
            </a:r>
            <a:r>
              <a:rPr lang="en-US" sz="1900" b="0" u="none" strike="noStrike" baseline="30000">
                <a:solidFill>
                  <a:schemeClr val="dk1"/>
                </a:solidFill>
                <a:effectLst/>
                <a:uFillTx/>
                <a:latin typeface="Aptos"/>
              </a:rPr>
              <a:t>4</a:t>
            </a:r>
            <a:r>
              <a:rPr lang="en-US" sz="1900" b="0" u="none" strike="noStrike">
                <a:solidFill>
                  <a:schemeClr val="dk1"/>
                </a:solidFill>
                <a:effectLst/>
                <a:uFillTx/>
                <a:latin typeface="Aptos"/>
              </a:rPr>
              <a:t>) + 1200/10} = 256*{10</a:t>
            </a:r>
            <a:r>
              <a:rPr lang="en-US" sz="1900" b="0" u="none" strike="noStrike" baseline="30000">
                <a:solidFill>
                  <a:schemeClr val="dk1"/>
                </a:solidFill>
                <a:effectLst/>
                <a:uFillTx/>
                <a:latin typeface="Aptos"/>
              </a:rPr>
              <a:t>3</a:t>
            </a:r>
            <a:r>
              <a:rPr lang="en-US" sz="1900" b="0" u="none" strike="noStrike">
                <a:solidFill>
                  <a:schemeClr val="dk1"/>
                </a:solidFill>
                <a:effectLst/>
                <a:uFillTx/>
                <a:latin typeface="Aptos"/>
              </a:rPr>
              <a:t> + 120} = 256 * 1120 = </a:t>
            </a:r>
            <a:r>
              <a:rPr lang="en-US" sz="1900" b="1" u="none" strike="noStrike">
                <a:solidFill>
                  <a:schemeClr val="dk1"/>
                </a:solidFill>
                <a:effectLst/>
                <a:uFillTx/>
                <a:latin typeface="Aptos"/>
              </a:rPr>
              <a:t>286,720</a:t>
            </a:r>
            <a:endParaRPr lang="en-AU"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6. Path Metric Calculation</a:t>
            </a:r>
            <a:endParaRPr lang="en-US" sz="4400" b="0" u="none" strike="noStrike">
              <a:solidFill>
                <a:schemeClr val="dk1"/>
              </a:solidFill>
              <a:effectLst/>
              <a:uFillTx/>
              <a:latin typeface="Aptos Display"/>
            </a:endParaRPr>
          </a:p>
        </p:txBody>
      </p:sp>
      <p:sp>
        <p:nvSpPr>
          <p:cNvPr id="94" name="PlaceHolder 2"/>
          <p:cNvSpPr>
            <a:spLocks noGrp="1"/>
          </p:cNvSpPr>
          <p:nvPr>
            <p:ph/>
          </p:nvPr>
        </p:nvSpPr>
        <p:spPr>
          <a:xfrm>
            <a:off x="4352040" y="140400"/>
            <a:ext cx="7597080" cy="6435360"/>
          </a:xfrm>
          <a:prstGeom prst="rect">
            <a:avLst/>
          </a:prstGeom>
          <a:noFill/>
          <a:ln w="0">
            <a:noFill/>
          </a:ln>
        </p:spPr>
        <p:txBody>
          <a:bodyPr lIns="91440" tIns="45720" rIns="91440" bIns="45720" anchor="t">
            <a:normAutofit fontScale="85000" lnSpcReduction="1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Calculate EIGRP Composite metric for common LAN interfaces:</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10 GigabitEthernet</a:t>
            </a:r>
            <a:endParaRPr lang="en-US" sz="28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000" b="0" u="none" strike="noStrike">
                <a:solidFill>
                  <a:schemeClr val="dk1"/>
                </a:solidFill>
                <a:effectLst/>
                <a:uFillTx/>
                <a:latin typeface="Aptos"/>
              </a:rPr>
              <a:t>Scaled Bandwidth = 10,000,000/10,000,000</a:t>
            </a:r>
            <a:endParaRPr lang="en-US" sz="20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000" b="0" u="none" strike="noStrike">
                <a:solidFill>
                  <a:schemeClr val="dk1"/>
                </a:solidFill>
                <a:effectLst/>
                <a:uFillTx/>
                <a:latin typeface="Aptos"/>
              </a:rPr>
              <a:t>Scaled Delay = 10/10</a:t>
            </a:r>
            <a:endParaRPr lang="en-US" sz="20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000" b="0" u="none" strike="noStrike">
                <a:solidFill>
                  <a:schemeClr val="dk1"/>
                </a:solidFill>
                <a:effectLst/>
                <a:uFillTx/>
                <a:latin typeface="Aptos"/>
              </a:rPr>
              <a:t>Composite Metric = 256 *(1+1) = </a:t>
            </a:r>
            <a:r>
              <a:rPr lang="en-US" sz="2000" b="1" u="none" strike="noStrike">
                <a:solidFill>
                  <a:schemeClr val="dk1"/>
                </a:solidFill>
                <a:effectLst/>
                <a:uFillTx/>
                <a:latin typeface="Aptos"/>
              </a:rPr>
              <a:t>512</a:t>
            </a:r>
            <a:endParaRPr lang="en-US" sz="20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11 GigabitEthernet</a:t>
            </a:r>
            <a:endParaRPr lang="en-US" sz="28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100" b="0" u="none" strike="noStrike">
                <a:solidFill>
                  <a:schemeClr val="dk1"/>
                </a:solidFill>
                <a:effectLst/>
                <a:uFillTx/>
                <a:latin typeface="Aptos"/>
              </a:rPr>
              <a:t>Scaled Bandwidth = 10,000,000/11,000,000</a:t>
            </a:r>
            <a:endParaRPr lang="en-US" sz="21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100" b="0" u="none" strike="noStrike">
                <a:solidFill>
                  <a:schemeClr val="dk1"/>
                </a:solidFill>
                <a:effectLst/>
                <a:uFillTx/>
                <a:latin typeface="Aptos"/>
              </a:rPr>
              <a:t>Scaled Delay = 10/10</a:t>
            </a:r>
            <a:endParaRPr lang="en-US" sz="21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100" b="0" u="none" strike="noStrike">
                <a:solidFill>
                  <a:schemeClr val="dk1"/>
                </a:solidFill>
                <a:effectLst/>
                <a:uFillTx/>
                <a:latin typeface="Aptos"/>
              </a:rPr>
              <a:t>Composite Metric = 256 *(0+1) = </a:t>
            </a:r>
            <a:r>
              <a:rPr lang="en-US" sz="2100" b="1" u="none" strike="noStrike">
                <a:solidFill>
                  <a:schemeClr val="dk1"/>
                </a:solidFill>
                <a:effectLst/>
                <a:uFillTx/>
                <a:latin typeface="Aptos"/>
              </a:rPr>
              <a:t>256</a:t>
            </a:r>
            <a:endParaRPr lang="en-US" sz="21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20 GigabitEthernet</a:t>
            </a:r>
            <a:endParaRPr lang="en-US" sz="28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100" b="0" u="none" strike="noStrike">
                <a:solidFill>
                  <a:schemeClr val="dk1"/>
                </a:solidFill>
                <a:effectLst/>
                <a:uFillTx/>
                <a:latin typeface="Aptos"/>
              </a:rPr>
              <a:t>Scaled Bandwidth = 10,000,000/20,000,000</a:t>
            </a:r>
            <a:endParaRPr lang="en-US" sz="21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100" b="0" u="none" strike="noStrike">
                <a:solidFill>
                  <a:schemeClr val="dk1"/>
                </a:solidFill>
                <a:effectLst/>
                <a:uFillTx/>
                <a:latin typeface="Aptos"/>
              </a:rPr>
              <a:t>Scaled Delay = 10/10</a:t>
            </a:r>
            <a:endParaRPr lang="en-US" sz="21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100" b="0" u="none" strike="noStrike">
                <a:solidFill>
                  <a:schemeClr val="dk1"/>
                </a:solidFill>
                <a:effectLst/>
                <a:uFillTx/>
                <a:latin typeface="Aptos"/>
              </a:rPr>
              <a:t>Composite Metric = 256 *(0+1) =</a:t>
            </a:r>
            <a:r>
              <a:rPr lang="en-US" sz="1700" b="0" u="none" strike="noStrike">
                <a:solidFill>
                  <a:schemeClr val="dk1"/>
                </a:solidFill>
                <a:effectLst/>
                <a:uFillTx/>
                <a:latin typeface="Aptos"/>
              </a:rPr>
              <a:t> </a:t>
            </a:r>
            <a:r>
              <a:rPr lang="en-US" sz="2100" b="1" u="none" strike="noStrike">
                <a:solidFill>
                  <a:schemeClr val="dk1"/>
                </a:solidFill>
                <a:effectLst/>
                <a:uFillTx/>
                <a:latin typeface="Aptos"/>
              </a:rPr>
              <a:t>256</a:t>
            </a:r>
            <a:endParaRPr lang="en-US" sz="21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The composite metrics calculated above for 11G and 20G interfaces are same.Because of this, there will be undesirable equal cost load balancing for higher speed interfaces and etherchannels.</a:t>
            </a:r>
            <a:r>
              <a:rPr lang="en-US" sz="2600" b="0" u="none" strike="noStrike">
                <a:solidFill>
                  <a:schemeClr val="dk1"/>
                </a:solidFill>
                <a:effectLst/>
                <a:uFillTx/>
                <a:latin typeface="Aptos"/>
              </a:rPr>
              <a:t>Thus, this metric calculation does not scale for higher speed interfaces.</a:t>
            </a:r>
            <a:r>
              <a:rPr lang="en-US" sz="2800" b="0" u="none" strike="noStrike">
                <a:solidFill>
                  <a:schemeClr val="dk1"/>
                </a:solidFill>
                <a:effectLst/>
                <a:uFillTx/>
                <a:latin typeface="Aptos"/>
              </a:rPr>
              <a:t>Therefore, EIGRP supports second set of metrics known as Wide Metrics.</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6. Path Metric Calculation</a:t>
            </a:r>
            <a:endParaRPr lang="en-US" sz="4400" b="0" u="none" strike="noStrike">
              <a:solidFill>
                <a:schemeClr val="dk1"/>
              </a:solidFill>
              <a:effectLst/>
              <a:uFillTx/>
              <a:latin typeface="Aptos Display"/>
            </a:endParaRPr>
          </a:p>
        </p:txBody>
      </p:sp>
      <p:sp>
        <p:nvSpPr>
          <p:cNvPr id="96" name="PlaceHolder 2"/>
          <p:cNvSpPr>
            <a:spLocks noGrp="1"/>
          </p:cNvSpPr>
          <p:nvPr>
            <p:ph/>
          </p:nvPr>
        </p:nvSpPr>
        <p:spPr>
          <a:xfrm>
            <a:off x="4389120" y="344880"/>
            <a:ext cx="7504200" cy="6167520"/>
          </a:xfrm>
          <a:prstGeom prst="rect">
            <a:avLst/>
          </a:prstGeom>
          <a:noFill/>
          <a:ln w="0">
            <a:noFill/>
          </a:ln>
        </p:spPr>
        <p:txBody>
          <a:bodyPr lIns="91440" tIns="45720" rIns="91440" bIns="45720" anchor="t">
            <a:normAutofit fontScale="25000" lnSpcReduction="19999"/>
          </a:bodyPr>
          <a:p>
            <a:pPr indent="0" algn="l" defTabSz="914400">
              <a:lnSpc>
                <a:spcPct val="90000"/>
              </a:lnSpc>
              <a:spcBef>
                <a:spcPts val="1001"/>
              </a:spcBef>
              <a:buNone/>
              <a:tabLst>
                <a:tab pos="0" algn="l"/>
              </a:tabLst>
            </a:pPr>
            <a:r>
              <a:rPr lang="en-US" sz="8000" b="1" u="none" strike="noStrike">
                <a:solidFill>
                  <a:schemeClr val="dk1"/>
                </a:solidFill>
                <a:effectLst/>
                <a:uFillTx/>
                <a:latin typeface="Aptos"/>
              </a:rPr>
              <a:t>Wide Metrics:</a:t>
            </a:r>
            <a:endParaRPr lang="en-US" sz="80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K1 </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 BW</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K2</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BW</a:t>
            </a:r>
            <a:r>
              <a:rPr lang="en-US" sz="8000" b="0" u="none" strike="noStrike">
                <a:solidFill>
                  <a:schemeClr val="dk1"/>
                </a:solidFill>
                <a:effectLst/>
                <a:uFillTx/>
                <a:latin typeface="Aptos"/>
              </a:rPr>
              <a:t>)/(256-</a:t>
            </a:r>
            <a:r>
              <a:rPr lang="en-US" sz="8000" b="1" u="none" strike="noStrike">
                <a:solidFill>
                  <a:schemeClr val="dk1"/>
                </a:solidFill>
                <a:effectLst/>
                <a:uFillTx/>
                <a:latin typeface="Aptos"/>
              </a:rPr>
              <a:t>Load</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k3</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Latency </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k6</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Extended</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K5</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k4</a:t>
            </a:r>
            <a:r>
              <a:rPr lang="en-US" sz="8000" b="0" u="none" strike="noStrike">
                <a:solidFill>
                  <a:schemeClr val="dk1"/>
                </a:solidFill>
                <a:effectLst/>
                <a:uFillTx/>
                <a:latin typeface="Aptos"/>
              </a:rPr>
              <a:t>+</a:t>
            </a:r>
            <a:r>
              <a:rPr lang="en-US" sz="8000" b="1" u="none" strike="noStrike">
                <a:solidFill>
                  <a:schemeClr val="dk1"/>
                </a:solidFill>
                <a:effectLst/>
                <a:uFillTx/>
                <a:latin typeface="Aptos"/>
              </a:rPr>
              <a:t>Reliability</a:t>
            </a:r>
            <a:r>
              <a:rPr lang="en-US" sz="8000" b="0" u="none" strike="noStrike">
                <a:solidFill>
                  <a:schemeClr val="dk1"/>
                </a:solidFill>
                <a:effectLst/>
                <a:uFillTx/>
                <a:latin typeface="Aptos"/>
              </a:rPr>
              <a:t>)]</a:t>
            </a:r>
            <a:endParaRPr lang="en-US" sz="8000" b="0" u="none" strike="noStrike">
              <a:solidFill>
                <a:schemeClr val="dk1"/>
              </a:solidFill>
              <a:effectLst/>
              <a:uFillTx/>
              <a:latin typeface="Aptos"/>
            </a:endParaRPr>
          </a:p>
          <a:p>
            <a:pPr marL="343080" indent="-343080" algn="l" defTabSz="914400">
              <a:lnSpc>
                <a:spcPct val="90000"/>
              </a:lnSpc>
              <a:spcBef>
                <a:spcPts val="1001"/>
              </a:spcBef>
              <a:buClr>
                <a:srgbClr val="000000"/>
              </a:buClr>
              <a:buFont typeface="Arial"/>
              <a:buChar char="•"/>
              <a:tabLst>
                <a:tab pos="0" algn="l"/>
              </a:tabLst>
            </a:pPr>
            <a:r>
              <a:rPr lang="en-US" sz="8000" b="0" u="none" strike="noStrike">
                <a:solidFill>
                  <a:schemeClr val="dk1"/>
                </a:solidFill>
                <a:effectLst/>
                <a:uFillTx/>
                <a:latin typeface="Aptos"/>
              </a:rPr>
              <a:t>Where, Extended adds other future attributes such as jitter and energy.</a:t>
            </a:r>
            <a:endParaRPr lang="en-US" sz="8000" b="0" u="none" strike="noStrike">
              <a:solidFill>
                <a:schemeClr val="dk1"/>
              </a:solidFill>
              <a:effectLst/>
              <a:uFillTx/>
              <a:latin typeface="Aptos"/>
            </a:endParaRPr>
          </a:p>
          <a:p>
            <a:pPr marL="343080" indent="-343080" algn="l" defTabSz="914400">
              <a:lnSpc>
                <a:spcPct val="90000"/>
              </a:lnSpc>
              <a:spcBef>
                <a:spcPts val="1001"/>
              </a:spcBef>
              <a:buClr>
                <a:srgbClr val="000000"/>
              </a:buClr>
              <a:buFont typeface="Arial"/>
              <a:buChar char="•"/>
              <a:tabLst>
                <a:tab pos="0" algn="l"/>
              </a:tabLst>
            </a:pPr>
            <a:r>
              <a:rPr lang="en-US" sz="8000" b="0" u="none" strike="noStrike">
                <a:solidFill>
                  <a:schemeClr val="dk1"/>
                </a:solidFill>
                <a:effectLst/>
                <a:uFillTx/>
                <a:latin typeface="Aptos"/>
              </a:rPr>
              <a:t>Latency is measured in picoseconds (10</a:t>
            </a:r>
            <a:r>
              <a:rPr lang="en-US" sz="8000" b="0" u="none" strike="noStrike" baseline="30000">
                <a:solidFill>
                  <a:schemeClr val="dk1"/>
                </a:solidFill>
                <a:effectLst/>
                <a:uFillTx/>
                <a:latin typeface="Aptos"/>
              </a:rPr>
              <a:t>-12</a:t>
            </a:r>
            <a:r>
              <a:rPr lang="en-US" sz="8000" b="0" u="none" strike="noStrike">
                <a:solidFill>
                  <a:schemeClr val="dk1"/>
                </a:solidFill>
                <a:effectLst/>
                <a:uFillTx/>
                <a:latin typeface="Aptos"/>
              </a:rPr>
              <a:t> ) instead of microseconds (10</a:t>
            </a:r>
            <a:r>
              <a:rPr lang="en-US" sz="8000" b="0" u="none" strike="noStrike" baseline="30000">
                <a:solidFill>
                  <a:schemeClr val="dk1"/>
                </a:solidFill>
                <a:effectLst/>
                <a:uFillTx/>
                <a:latin typeface="Aptos"/>
              </a:rPr>
              <a:t>-6</a:t>
            </a:r>
            <a:r>
              <a:rPr lang="en-US" sz="8000" b="0" u="none" strike="noStrike">
                <a:solidFill>
                  <a:schemeClr val="dk1"/>
                </a:solidFill>
                <a:effectLst/>
                <a:uFillTx/>
                <a:latin typeface="Aptos"/>
              </a:rPr>
              <a:t> ). 1µs = 10</a:t>
            </a:r>
            <a:r>
              <a:rPr lang="en-US" sz="8000" b="0" u="none" strike="noStrike" baseline="30000">
                <a:solidFill>
                  <a:schemeClr val="dk1"/>
                </a:solidFill>
                <a:effectLst/>
                <a:uFillTx/>
                <a:latin typeface="Aptos"/>
              </a:rPr>
              <a:t>6</a:t>
            </a:r>
            <a:r>
              <a:rPr lang="en-US" sz="8000" b="0" u="none" strike="noStrike">
                <a:solidFill>
                  <a:schemeClr val="dk1"/>
                </a:solidFill>
                <a:effectLst/>
                <a:uFillTx/>
                <a:latin typeface="Aptos"/>
              </a:rPr>
              <a:t> picoseconds.</a:t>
            </a:r>
            <a:endParaRPr lang="en-US" sz="8000" b="0" u="none" strike="noStrike">
              <a:solidFill>
                <a:schemeClr val="dk1"/>
              </a:solidFill>
              <a:effectLst/>
              <a:uFillTx/>
              <a:latin typeface="Aptos"/>
            </a:endParaRPr>
          </a:p>
          <a:p>
            <a:pPr marL="343080" indent="-343080" algn="l" defTabSz="914400">
              <a:lnSpc>
                <a:spcPct val="90000"/>
              </a:lnSpc>
              <a:spcBef>
                <a:spcPts val="1001"/>
              </a:spcBef>
              <a:buClr>
                <a:srgbClr val="000000"/>
              </a:buClr>
              <a:buFont typeface="Arial"/>
              <a:buChar char="•"/>
              <a:tabLst>
                <a:tab pos="0" algn="l"/>
              </a:tabLst>
            </a:pPr>
            <a:r>
              <a:rPr lang="en-US" sz="8000" b="0" u="none" strike="noStrike">
                <a:solidFill>
                  <a:schemeClr val="dk1"/>
                </a:solidFill>
                <a:effectLst/>
                <a:uFillTx/>
                <a:latin typeface="Aptos"/>
              </a:rPr>
              <a:t>To accommodate higher speed interfaces (up to 655 Tbps) wide metrics is multiplied by 65,536 (64 bits).</a:t>
            </a:r>
            <a:endParaRPr lang="en-US" sz="8000" b="0" u="none" strike="noStrike">
              <a:solidFill>
                <a:schemeClr val="dk1"/>
              </a:solidFill>
              <a:effectLst/>
              <a:uFillTx/>
              <a:latin typeface="Aptos"/>
            </a:endParaRPr>
          </a:p>
          <a:p>
            <a:pPr marL="343080" indent="-343080" algn="l" defTabSz="914400">
              <a:lnSpc>
                <a:spcPct val="90000"/>
              </a:lnSpc>
              <a:spcBef>
                <a:spcPts val="1001"/>
              </a:spcBef>
              <a:buClr>
                <a:srgbClr val="000000"/>
              </a:buClr>
              <a:buFont typeface="Arial"/>
              <a:buChar char="•"/>
              <a:tabLst>
                <a:tab pos="0" algn="l"/>
              </a:tabLst>
            </a:pPr>
            <a:r>
              <a:rPr lang="en-US" sz="8000" b="0" u="none" strike="noStrike">
                <a:solidFill>
                  <a:schemeClr val="dk1"/>
                </a:solidFill>
                <a:effectLst/>
                <a:uFillTx/>
                <a:latin typeface="Aptos"/>
              </a:rPr>
              <a:t>The default values of K1 and K3 is 1 and 0 for K2,K4,K5 and K6.</a:t>
            </a:r>
            <a:endParaRPr lang="en-US" sz="80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8000" b="0" u="none" strike="noStrike">
                <a:solidFill>
                  <a:schemeClr val="dk1"/>
                </a:solidFill>
                <a:effectLst/>
                <a:uFillTx/>
                <a:latin typeface="Aptos"/>
              </a:rPr>
              <a:t>Applying these, the EIGRP Wide Metric becomes:</a:t>
            </a:r>
            <a:endParaRPr lang="en-US" sz="80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7600" b="1" u="none" strike="noStrike">
                <a:solidFill>
                  <a:schemeClr val="dk1"/>
                </a:solidFill>
                <a:effectLst/>
                <a:uFillTx/>
                <a:latin typeface="Aptos"/>
              </a:rPr>
              <a:t>65,536 *{(10</a:t>
            </a:r>
            <a:r>
              <a:rPr lang="en-US" sz="7600" b="1" u="none" strike="noStrike" baseline="30000">
                <a:solidFill>
                  <a:schemeClr val="dk1"/>
                </a:solidFill>
                <a:effectLst/>
                <a:uFillTx/>
                <a:latin typeface="Aptos"/>
              </a:rPr>
              <a:t>7</a:t>
            </a:r>
            <a:r>
              <a:rPr lang="en-US" sz="7600" b="1" u="none" strike="noStrike">
                <a:solidFill>
                  <a:schemeClr val="dk1"/>
                </a:solidFill>
                <a:effectLst/>
                <a:uFillTx/>
                <a:latin typeface="Aptos"/>
              </a:rPr>
              <a:t>/Min. BW) + (Total Latency/10</a:t>
            </a:r>
            <a:r>
              <a:rPr lang="en-US" sz="7600" b="1" u="none" strike="noStrike" baseline="30000">
                <a:solidFill>
                  <a:schemeClr val="dk1"/>
                </a:solidFill>
                <a:effectLst/>
                <a:uFillTx/>
                <a:latin typeface="Aptos"/>
              </a:rPr>
              <a:t>6</a:t>
            </a:r>
            <a:r>
              <a:rPr lang="en-US" sz="7600" b="1" u="none" strike="noStrike">
                <a:solidFill>
                  <a:schemeClr val="dk1"/>
                </a:solidFill>
                <a:effectLst/>
                <a:uFillTx/>
                <a:latin typeface="Aptos"/>
              </a:rPr>
              <a:t>)}</a:t>
            </a:r>
            <a:endParaRPr lang="en-US" sz="76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8000" b="1" u="none" strike="noStrike">
                <a:solidFill>
                  <a:schemeClr val="dk1"/>
                </a:solidFill>
                <a:effectLst/>
                <a:uFillTx/>
                <a:latin typeface="Aptos"/>
              </a:rPr>
              <a:t>Example:</a:t>
            </a:r>
            <a:r>
              <a:rPr lang="en-US" sz="8000" b="0" u="none" strike="noStrike">
                <a:solidFill>
                  <a:schemeClr val="dk1"/>
                </a:solidFill>
                <a:effectLst/>
                <a:uFillTx/>
                <a:latin typeface="Aptos"/>
              </a:rPr>
              <a:t> Path with 10G link, delay = 10 µs = 10 *10</a:t>
            </a:r>
            <a:r>
              <a:rPr lang="en-US" sz="8000" b="0" u="none" strike="noStrike" baseline="30000">
                <a:solidFill>
                  <a:schemeClr val="dk1"/>
                </a:solidFill>
                <a:effectLst/>
                <a:uFillTx/>
                <a:latin typeface="Aptos"/>
              </a:rPr>
              <a:t>6</a:t>
            </a:r>
            <a:r>
              <a:rPr lang="en-US" sz="8000" b="0" u="none" strike="noStrike">
                <a:solidFill>
                  <a:schemeClr val="dk1"/>
                </a:solidFill>
                <a:effectLst/>
                <a:uFillTx/>
                <a:latin typeface="Aptos"/>
              </a:rPr>
              <a:t> picoseconds= 10,000,000 picoseconds</a:t>
            </a:r>
            <a:endParaRPr lang="en-US" sz="8000" b="0" u="none" strike="noStrike">
              <a:solidFill>
                <a:schemeClr val="dk1"/>
              </a:solidFill>
              <a:effectLst/>
              <a:uFillTx/>
              <a:latin typeface="Aptos"/>
            </a:endParaRPr>
          </a:p>
          <a:p>
            <a:pPr marL="800280" lvl="3" indent="-343080" algn="l" defTabSz="914400">
              <a:lnSpc>
                <a:spcPct val="90000"/>
              </a:lnSpc>
              <a:spcBef>
                <a:spcPts val="1001"/>
              </a:spcBef>
              <a:buClr>
                <a:srgbClr val="000000"/>
              </a:buClr>
              <a:buFont typeface="Arial"/>
              <a:buChar char="•"/>
              <a:tabLst>
                <a:tab pos="0" algn="l"/>
              </a:tabLst>
            </a:pPr>
            <a:r>
              <a:rPr lang="en-US" sz="7800" b="0" u="none" strike="noStrike">
                <a:solidFill>
                  <a:schemeClr val="dk1"/>
                </a:solidFill>
                <a:effectLst/>
                <a:uFillTx/>
                <a:latin typeface="Aptos"/>
              </a:rPr>
              <a:t>Scaled BW =10,000,000/10,000,000 = 1</a:t>
            </a:r>
            <a:endParaRPr lang="en-US" sz="7800" b="0" u="none" strike="noStrike">
              <a:solidFill>
                <a:schemeClr val="dk1"/>
              </a:solidFill>
              <a:effectLst/>
              <a:uFillTx/>
              <a:latin typeface="Aptos"/>
            </a:endParaRPr>
          </a:p>
          <a:p>
            <a:pPr marL="800280" lvl="3" indent="-343080" algn="l" defTabSz="914400">
              <a:lnSpc>
                <a:spcPct val="90000"/>
              </a:lnSpc>
              <a:spcBef>
                <a:spcPts val="1001"/>
              </a:spcBef>
              <a:buClr>
                <a:srgbClr val="000000"/>
              </a:buClr>
              <a:buFont typeface="Arial"/>
              <a:buChar char="•"/>
              <a:tabLst>
                <a:tab pos="0" algn="l"/>
              </a:tabLst>
            </a:pPr>
            <a:r>
              <a:rPr lang="en-US" sz="7800" b="0" u="none" strike="noStrike">
                <a:solidFill>
                  <a:schemeClr val="dk1"/>
                </a:solidFill>
                <a:effectLst/>
                <a:uFillTx/>
                <a:latin typeface="Aptos"/>
              </a:rPr>
              <a:t>Latency = 10,000,000/1,000,000 = 10</a:t>
            </a:r>
            <a:endParaRPr lang="en-US" sz="7800" b="0" u="none" strike="noStrike">
              <a:solidFill>
                <a:schemeClr val="dk1"/>
              </a:solidFill>
              <a:effectLst/>
              <a:uFillTx/>
              <a:latin typeface="Aptos"/>
            </a:endParaRPr>
          </a:p>
          <a:p>
            <a:pPr marL="800280" lvl="3" indent="-343080" algn="l" defTabSz="914400">
              <a:lnSpc>
                <a:spcPct val="90000"/>
              </a:lnSpc>
              <a:spcBef>
                <a:spcPts val="1001"/>
              </a:spcBef>
              <a:buClr>
                <a:srgbClr val="000000"/>
              </a:buClr>
              <a:buFont typeface="Arial"/>
              <a:buChar char="•"/>
              <a:tabLst>
                <a:tab pos="0" algn="l"/>
              </a:tabLst>
            </a:pPr>
            <a:r>
              <a:rPr lang="en-US" sz="7800" b="0" u="none" strike="noStrike">
                <a:solidFill>
                  <a:schemeClr val="dk1"/>
                </a:solidFill>
                <a:effectLst/>
                <a:uFillTx/>
                <a:latin typeface="Aptos"/>
              </a:rPr>
              <a:t>Wide Metric = 65,536 * (1+10) = 65,536 + 6,55,360 = 720,896</a:t>
            </a:r>
            <a:endParaRPr lang="en-US" sz="7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8000" b="0" u="none" strike="noStrike">
                <a:solidFill>
                  <a:schemeClr val="dk1"/>
                </a:solidFill>
                <a:effectLst/>
                <a:uFillTx/>
                <a:latin typeface="Aptos"/>
              </a:rPr>
              <a:t>Cisco RIB can only fit 4 Byte unsigned values. To fit the 64 bits wide metrics into RIB, use </a:t>
            </a:r>
            <a:r>
              <a:rPr lang="en-US" sz="8000" b="0" i="1" u="none" strike="noStrike">
                <a:solidFill>
                  <a:srgbClr val="FF0000"/>
                </a:solidFill>
                <a:effectLst/>
                <a:uFillTx/>
                <a:latin typeface="Aptos"/>
              </a:rPr>
              <a:t>metric rib-scale</a:t>
            </a:r>
            <a:r>
              <a:rPr lang="en-US" sz="8000" b="0" u="none" strike="noStrike">
                <a:solidFill>
                  <a:schemeClr val="dk1"/>
                </a:solidFill>
                <a:effectLst/>
                <a:uFillTx/>
                <a:latin typeface="Aptos"/>
              </a:rPr>
              <a:t> command. This clears the metrics for EIGRP routes in the RIB and sets new metric values.</a:t>
            </a:r>
            <a:endParaRPr lang="en-US" sz="8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6. Path Metric Calculation</a:t>
            </a:r>
            <a:endParaRPr lang="en-US" sz="4400" b="0" u="none" strike="noStrike">
              <a:solidFill>
                <a:schemeClr val="dk1"/>
              </a:solidFill>
              <a:effectLst/>
              <a:uFillTx/>
              <a:latin typeface="Aptos Display"/>
            </a:endParaRPr>
          </a:p>
        </p:txBody>
      </p:sp>
      <p:sp>
        <p:nvSpPr>
          <p:cNvPr id="98" name="PlaceHolder 2"/>
          <p:cNvSpPr>
            <a:spLocks noGrp="1"/>
          </p:cNvSpPr>
          <p:nvPr>
            <p:ph/>
          </p:nvPr>
        </p:nvSpPr>
        <p:spPr>
          <a:xfrm>
            <a:off x="4352040" y="140400"/>
            <a:ext cx="7597080" cy="6435360"/>
          </a:xfrm>
          <a:prstGeom prst="rect">
            <a:avLst/>
          </a:prstGeom>
          <a:noFill/>
          <a:ln w="0">
            <a:noFill/>
          </a:ln>
        </p:spPr>
        <p:txBody>
          <a:bodyPr lIns="91440" tIns="45720" rIns="91440" bIns="45720" anchor="t">
            <a:normAutofit fontScale="85000" lnSpcReduction="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EIGRP Wide Metric Backward Compatibility:</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With the values of K1,K2,K3,K4 and K5 set to same in both Wide Metric and Composite Metric and K6 not set in Wide Metric. Wide Metric is backward compatible with Composite metric.</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Mismatched K-values between the peering routers fails to establish EIGRP neighbor relationship .</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EIGRP is able to detect when peering with router using Composite metric. It uses below formula to unscale:</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Unscaled Bandwidth</a:t>
            </a:r>
            <a:r>
              <a:rPr lang="en-US" sz="2800" b="0" u="none" strike="noStrike">
                <a:solidFill>
                  <a:schemeClr val="dk1"/>
                </a:solidFill>
                <a:effectLst/>
                <a:uFillTx/>
                <a:latin typeface="Aptos"/>
              </a:rPr>
              <a:t> = (EIGRP_BANDWIDTH *EIGRP classic scale)/Scaled Bandwidth</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Example: Scaled BW for classic metric = 1</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Unscaled BW = (10,000,000*256)/1 = 2560000000</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7. Load Balancing</a:t>
            </a:r>
            <a:endParaRPr lang="en-US" sz="4400" b="0" u="none" strike="noStrike">
              <a:solidFill>
                <a:schemeClr val="dk1"/>
              </a:solidFill>
              <a:effectLst/>
              <a:uFillTx/>
              <a:latin typeface="Aptos Display"/>
            </a:endParaRPr>
          </a:p>
        </p:txBody>
      </p:sp>
      <p:sp>
        <p:nvSpPr>
          <p:cNvPr id="100" name="PlaceHolder 2"/>
          <p:cNvSpPr>
            <a:spLocks noGrp="1"/>
          </p:cNvSpPr>
          <p:nvPr>
            <p:ph/>
          </p:nvPr>
        </p:nvSpPr>
        <p:spPr>
          <a:xfrm>
            <a:off x="4305600" y="131400"/>
            <a:ext cx="7597080" cy="6593400"/>
          </a:xfrm>
          <a:prstGeom prst="rect">
            <a:avLst/>
          </a:prstGeom>
          <a:noFill/>
          <a:ln w="0">
            <a:noFill/>
          </a:ln>
        </p:spPr>
        <p:txBody>
          <a:bodyPr lIns="91440" tIns="45720" rIns="91440" bIns="45720" anchor="t">
            <a:normAutofit fontScale="77500" lnSpcReduction="1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Equal Cost Multi Pathing (ECMP)</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EIGRP allows</a:t>
            </a:r>
            <a:r>
              <a:rPr lang="en-US" sz="2800" b="1" u="none" strike="noStrike">
                <a:solidFill>
                  <a:schemeClr val="dk1"/>
                </a:solidFill>
                <a:effectLst/>
                <a:uFillTx/>
                <a:latin typeface="Aptos"/>
              </a:rPr>
              <a:t> </a:t>
            </a:r>
            <a:r>
              <a:rPr lang="en-US" sz="2800" b="0" u="none" strike="noStrike">
                <a:solidFill>
                  <a:schemeClr val="dk1"/>
                </a:solidFill>
                <a:effectLst/>
                <a:uFillTx/>
                <a:latin typeface="Aptos"/>
              </a:rPr>
              <a:t>installation of multiple successor routes (using same metrics) into RIB. Installing multiple paths into RIB for same prefix is called ECMP.</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Unequal cost load balancing</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EIGRP unequal cost load balancing, which installs both successor and feasible successor into RIB.</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0" u="none" strike="noStrike">
                <a:solidFill>
                  <a:schemeClr val="dk1"/>
                </a:solidFill>
                <a:effectLst/>
                <a:uFillTx/>
                <a:latin typeface="Aptos"/>
              </a:rPr>
              <a:t>Any Feasible Successor's FD below the EIGRP </a:t>
            </a:r>
            <a:r>
              <a:rPr lang="en-US" sz="2800" b="1" u="none" strike="noStrike">
                <a:solidFill>
                  <a:schemeClr val="dk1"/>
                </a:solidFill>
                <a:effectLst/>
                <a:uFillTx/>
                <a:latin typeface="Aptos"/>
              </a:rPr>
              <a:t>variance value</a:t>
            </a:r>
            <a:r>
              <a:rPr lang="en-US" sz="2800" b="0" u="none" strike="noStrike">
                <a:solidFill>
                  <a:schemeClr val="dk1"/>
                </a:solidFill>
                <a:effectLst/>
                <a:uFillTx/>
                <a:latin typeface="Aptos"/>
              </a:rPr>
              <a:t> is installed into the RIB.</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EIGRP Variance value</a:t>
            </a:r>
            <a:r>
              <a:rPr lang="en-US" sz="2800" b="0" u="none" strike="noStrike">
                <a:solidFill>
                  <a:schemeClr val="dk1"/>
                </a:solidFill>
                <a:effectLst/>
                <a:uFillTx/>
                <a:latin typeface="Aptos"/>
              </a:rPr>
              <a:t>: It is calculated by multiplying the Successor's FD with EIGRP </a:t>
            </a:r>
            <a:r>
              <a:rPr lang="en-US" sz="2800" b="1" u="none" strike="noStrike">
                <a:solidFill>
                  <a:schemeClr val="dk1"/>
                </a:solidFill>
                <a:effectLst/>
                <a:uFillTx/>
                <a:latin typeface="Aptos"/>
              </a:rPr>
              <a:t>variance multiplier.</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Variance Multiplier : </a:t>
            </a:r>
            <a:r>
              <a:rPr lang="en-US" sz="2800" b="0" u="none" strike="noStrike">
                <a:solidFill>
                  <a:schemeClr val="dk1"/>
                </a:solidFill>
                <a:effectLst/>
                <a:uFillTx/>
                <a:latin typeface="Aptos"/>
              </a:rPr>
              <a:t>It is calculated by dividing the feasible successor's FD with Successor's FD and rounding up to nearest whole number.</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solidFill>
                <a:effectLst/>
                <a:uFillTx/>
                <a:latin typeface="Aptos"/>
              </a:rPr>
              <a:t>Feasible Successor FD/Successor FD ≤ ||Variance Multiplier||</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solidFill>
                <a:effectLst/>
                <a:uFillTx/>
                <a:latin typeface="Aptos"/>
              </a:rPr>
              <a:t>Where, Feasible Successor FD is the Calculated Distance (CD). I.e Feasible Successor RD + cost to Feasible Successor.</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7. Load Balancing</a:t>
            </a:r>
            <a:endParaRPr lang="en-US" sz="4400" b="0" u="none" strike="noStrike">
              <a:solidFill>
                <a:schemeClr val="dk1"/>
              </a:solidFill>
              <a:effectLst/>
              <a:uFillTx/>
              <a:latin typeface="Aptos Display"/>
            </a:endParaRPr>
          </a:p>
        </p:txBody>
      </p:sp>
      <p:sp>
        <p:nvSpPr>
          <p:cNvPr id="102" name="PlaceHolder 2"/>
          <p:cNvSpPr>
            <a:spLocks noGrp="1"/>
          </p:cNvSpPr>
          <p:nvPr>
            <p:ph/>
          </p:nvPr>
        </p:nvSpPr>
        <p:spPr>
          <a:xfrm>
            <a:off x="4352040" y="140400"/>
            <a:ext cx="7597080" cy="6500520"/>
          </a:xfrm>
          <a:prstGeom prst="rect">
            <a:avLst/>
          </a:prstGeom>
          <a:noFill/>
          <a:ln w="0">
            <a:noFill/>
          </a:ln>
        </p:spPr>
        <p:txBody>
          <a:bodyPr lIns="91440" tIns="45720" rIns="91440" bIns="45720" anchor="t">
            <a:normAutofit fontScale="92500" lnSpcReduction="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Example:</a:t>
            </a:r>
            <a:r>
              <a:rPr lang="en-US" sz="2800" b="0" u="none" strike="noStrike">
                <a:solidFill>
                  <a:schemeClr val="dk1"/>
                </a:solidFill>
                <a:effectLst/>
                <a:uFillTx/>
                <a:latin typeface="Aptos"/>
              </a:rPr>
              <a:t> On slide 6, the prefix 10.4.4.0/24 has FD = 3328, Feasible Successor's FD (CD) = 5376</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800" b="0" u="none" strike="noStrike">
                <a:solidFill>
                  <a:schemeClr val="dk1"/>
                </a:solidFill>
                <a:effectLst/>
                <a:uFillTx/>
                <a:latin typeface="Aptos"/>
              </a:rPr>
              <a:t>5376/3328 ≤ ||Variance Multiplier||</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800" b="0" u="none" strike="noStrike">
                <a:solidFill>
                  <a:schemeClr val="dk1"/>
                </a:solidFill>
                <a:effectLst/>
                <a:uFillTx/>
                <a:latin typeface="Aptos"/>
              </a:rPr>
              <a:t>1.6 ≤ || Variance Multiplier||</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800" b="0" u="none" strike="noStrike">
                <a:solidFill>
                  <a:schemeClr val="dk1"/>
                </a:solidFill>
                <a:effectLst/>
                <a:uFillTx/>
                <a:latin typeface="Aptos"/>
              </a:rPr>
              <a:t>Therefore, Variance Multiplier = 2</a:t>
            </a:r>
            <a:endParaRPr lang="en-US" sz="28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800" b="0" u="none" strike="noStrike">
                <a:solidFill>
                  <a:schemeClr val="dk1"/>
                </a:solidFill>
                <a:effectLst/>
                <a:uFillTx/>
                <a:latin typeface="Aptos"/>
              </a:rPr>
              <a:t>If Feasible Successor FD (CD) &lt; Successor FD * Variance Multiplier, then the feasible successor route is installed into RIB.</a:t>
            </a:r>
            <a:endParaRPr lang="en-US" sz="2800" b="0" u="none" strike="noStrike">
              <a:solidFill>
                <a:schemeClr val="dk1"/>
              </a:solidFill>
              <a:effectLst/>
              <a:uFillTx/>
              <a:latin typeface="Aptos"/>
            </a:endParaRPr>
          </a:p>
          <a:p>
            <a:pPr marL="914400" indent="-228600" algn="l" defTabSz="914400">
              <a:lnSpc>
                <a:spcPct val="90000"/>
              </a:lnSpc>
              <a:spcBef>
                <a:spcPts val="499"/>
              </a:spcBef>
              <a:buNone/>
              <a:tabLst>
                <a:tab pos="0" algn="l"/>
              </a:tabLst>
            </a:pPr>
            <a:r>
              <a:rPr lang="en-US" sz="2800" b="0" u="none" strike="noStrike">
                <a:solidFill>
                  <a:schemeClr val="dk1"/>
                </a:solidFill>
                <a:effectLst/>
                <a:uFillTx/>
                <a:latin typeface="Aptos"/>
              </a:rPr>
              <a:t>5376 &lt; 3328 * 2 or, 5376 &lt; 6656.</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800" b="0" u="none" strike="noStrike">
                <a:solidFill>
                  <a:schemeClr val="dk1"/>
                </a:solidFill>
                <a:effectLst/>
                <a:uFillTx/>
                <a:latin typeface="Aptos"/>
              </a:rPr>
              <a:t>Thus, the route via 10.14.1.4 will also be installed into RIB</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Manually changing/setting the Variance Multiplier value will install multiple unequal cost path into RIB.</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0" y="0"/>
            <a:ext cx="4103640" cy="68576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pPr>
            <a:r>
              <a:rPr lang="en-US" sz="4400" b="1" u="none" strike="noStrike">
                <a:solidFill>
                  <a:schemeClr val="lt1"/>
                </a:solidFill>
                <a:effectLst/>
                <a:uFillTx/>
                <a:latin typeface="Aptos Display"/>
              </a:rPr>
              <a:t>8. Timers</a:t>
            </a:r>
            <a:endParaRPr lang="en-US" sz="4400" b="0" u="none" strike="noStrike">
              <a:solidFill>
                <a:schemeClr val="dk1"/>
              </a:solidFill>
              <a:effectLst/>
              <a:uFillTx/>
              <a:latin typeface="Aptos Display"/>
            </a:endParaRPr>
          </a:p>
        </p:txBody>
      </p:sp>
      <p:sp>
        <p:nvSpPr>
          <p:cNvPr id="104" name="PlaceHolder 2"/>
          <p:cNvSpPr>
            <a:spLocks noGrp="1"/>
          </p:cNvSpPr>
          <p:nvPr>
            <p:ph/>
          </p:nvPr>
        </p:nvSpPr>
        <p:spPr>
          <a:xfrm>
            <a:off x="4349880" y="308520"/>
            <a:ext cx="7597080" cy="6282720"/>
          </a:xfrm>
          <a:prstGeom prst="rect">
            <a:avLst/>
          </a:prstGeom>
          <a:noFill/>
          <a:ln w="0">
            <a:noFill/>
          </a:ln>
        </p:spPr>
        <p:txBody>
          <a:bodyPr lIns="91440" tIns="45720" rIns="91440" bIns="45720" anchor="t">
            <a:normAutofit fontScale="92500" lnSpcReduction="9999"/>
          </a:bodyPr>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Hello time</a:t>
            </a:r>
            <a:r>
              <a:rPr lang="en-US" sz="2800" b="0" u="none" strike="noStrike">
                <a:solidFill>
                  <a:schemeClr val="dk1"/>
                </a:solidFill>
                <a:effectLst/>
                <a:uFillTx/>
                <a:latin typeface="Aptos"/>
              </a:rPr>
              <a:t> : Hello packets between EIGRP neighbors are sent every 5 seconds or 60 seconds for slower interfaces.</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800" b="1" u="none" strike="noStrike">
                <a:solidFill>
                  <a:schemeClr val="dk1"/>
                </a:solidFill>
                <a:effectLst/>
                <a:uFillTx/>
                <a:latin typeface="Aptos"/>
              </a:rPr>
              <a:t>HoldTime</a:t>
            </a:r>
            <a:r>
              <a:rPr lang="en-US" sz="2800" b="0" u="none" strike="noStrike">
                <a:solidFill>
                  <a:schemeClr val="dk1"/>
                </a:solidFill>
                <a:effectLst/>
                <a:uFillTx/>
                <a:latin typeface="Aptos"/>
              </a:rPr>
              <a:t> : </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600" b="0" u="none" strike="noStrike">
                <a:solidFill>
                  <a:schemeClr val="dk1"/>
                </a:solidFill>
                <a:effectLst/>
                <a:uFillTx/>
                <a:latin typeface="Aptos"/>
              </a:rPr>
              <a:t>HoldTime is the time the router waits for Hello packets. </a:t>
            </a:r>
            <a:endParaRPr lang="en-US" sz="26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HoldTime defaults to 3 times Hello time. </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Thus, default value of 15 seconds and 180 seconds.</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On receiving Hello packets, the HoldTime resets to default value and starts decrementing. </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If the router does not receive any Hello packets from the neighbor before HoldTime reaches 0, it considers the neighbor as down and informs DUAL of topology change.</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218160" y="457200"/>
            <a:ext cx="4293000" cy="1599840"/>
          </a:xfrm>
          <a:prstGeom prst="rect">
            <a:avLst/>
          </a:prstGeom>
          <a:solidFill>
            <a:srgbClr val="ED7D31"/>
          </a:solidFill>
          <a:ln w="0">
            <a:noFill/>
          </a:ln>
        </p:spPr>
        <p:txBody>
          <a:bodyPr lIns="91440" tIns="45720" rIns="91440" bIns="45720" anchor="ctr">
            <a:normAutofit/>
          </a:bodyPr>
          <a:p>
            <a:pPr indent="0" algn="l" defTabSz="914400">
              <a:lnSpc>
                <a:spcPct val="90000"/>
              </a:lnSpc>
              <a:buNone/>
            </a:pPr>
            <a:r>
              <a:rPr lang="en-US" sz="3200" b="1" u="none" strike="noStrike">
                <a:solidFill>
                  <a:schemeClr val="lt1"/>
                </a:solidFill>
                <a:effectLst/>
                <a:uFillTx/>
                <a:latin typeface="Aptos Display"/>
              </a:rPr>
              <a:t>9. Path Selection</a:t>
            </a:r>
            <a:endParaRPr lang="en-US" sz="3200" b="0" u="none" strike="noStrike">
              <a:solidFill>
                <a:schemeClr val="dk1"/>
              </a:solidFill>
              <a:effectLst/>
              <a:uFillTx/>
              <a:latin typeface="Aptos Display"/>
            </a:endParaRPr>
          </a:p>
        </p:txBody>
      </p:sp>
      <p:sp>
        <p:nvSpPr>
          <p:cNvPr id="106" name="PlaceHolder 2"/>
          <p:cNvSpPr>
            <a:spLocks noGrp="1"/>
          </p:cNvSpPr>
          <p:nvPr>
            <p:ph/>
          </p:nvPr>
        </p:nvSpPr>
        <p:spPr>
          <a:xfrm>
            <a:off x="5183280" y="456120"/>
            <a:ext cx="6171840" cy="582372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For Router-A to reach a prefix connected to Router-E.</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400" b="0" u="none" strike="noStrike">
                <a:solidFill>
                  <a:schemeClr val="dk1"/>
                </a:solidFill>
                <a:effectLst/>
                <a:uFillTx/>
                <a:latin typeface="Aptos"/>
              </a:rPr>
              <a:t>RD of B,C and D are </a:t>
            </a:r>
            <a:r>
              <a:rPr lang="en-US" sz="2400" b="0" u="none" strike="noStrike">
                <a:solidFill>
                  <a:schemeClr val="accent6">
                    <a:lumMod val="76000"/>
                  </a:schemeClr>
                </a:solidFill>
                <a:effectLst/>
                <a:uFillTx/>
                <a:latin typeface="Aptos"/>
              </a:rPr>
              <a:t>10</a:t>
            </a:r>
            <a:r>
              <a:rPr lang="en-US" sz="2400" b="0" u="none" strike="noStrike">
                <a:solidFill>
                  <a:schemeClr val="dk1"/>
                </a:solidFill>
                <a:effectLst/>
                <a:uFillTx/>
                <a:latin typeface="Aptos"/>
              </a:rPr>
              <a:t>,</a:t>
            </a:r>
            <a:r>
              <a:rPr lang="en-US" sz="2400" b="0" u="none" strike="noStrike">
                <a:solidFill>
                  <a:schemeClr val="lt1">
                    <a:lumMod val="65000"/>
                  </a:schemeClr>
                </a:solidFill>
                <a:effectLst/>
                <a:uFillTx/>
                <a:latin typeface="Aptos"/>
              </a:rPr>
              <a:t>10</a:t>
            </a:r>
            <a:r>
              <a:rPr lang="en-US" sz="2400" b="0" u="none" strike="noStrike">
                <a:solidFill>
                  <a:schemeClr val="dk1"/>
                </a:solidFill>
                <a:effectLst/>
                <a:uFillTx/>
                <a:latin typeface="Aptos"/>
              </a:rPr>
              <a:t> and </a:t>
            </a:r>
            <a:r>
              <a:rPr lang="en-US" sz="2400" b="0" u="none" strike="noStrike">
                <a:solidFill>
                  <a:schemeClr val="lt1">
                    <a:lumMod val="65000"/>
                  </a:schemeClr>
                </a:solidFill>
                <a:effectLst/>
                <a:uFillTx/>
                <a:latin typeface="Aptos"/>
              </a:rPr>
              <a:t>30</a:t>
            </a:r>
            <a:r>
              <a:rPr lang="en-US" sz="2400" b="0" u="none" strike="noStrike">
                <a:solidFill>
                  <a:schemeClr val="dk1"/>
                </a:solidFill>
                <a:effectLst/>
                <a:uFillTx/>
                <a:latin typeface="Aptos"/>
              </a:rPr>
              <a:t> respectively.</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400" b="0" u="none" strike="noStrike">
                <a:solidFill>
                  <a:schemeClr val="dk1"/>
                </a:solidFill>
                <a:effectLst/>
                <a:uFillTx/>
                <a:latin typeface="Aptos"/>
              </a:rPr>
              <a:t>Calculated Distance (CD) at A will be via B(</a:t>
            </a:r>
            <a:r>
              <a:rPr lang="en-US" sz="2400" b="0" u="none" strike="noStrike">
                <a:solidFill>
                  <a:schemeClr val="accent3"/>
                </a:solidFill>
                <a:effectLst/>
                <a:uFillTx/>
                <a:latin typeface="Aptos"/>
              </a:rPr>
              <a:t>10</a:t>
            </a:r>
            <a:r>
              <a:rPr lang="en-US" sz="2400" b="0" u="none" strike="noStrike">
                <a:solidFill>
                  <a:schemeClr val="dk1"/>
                </a:solidFill>
                <a:effectLst/>
                <a:uFillTx/>
                <a:latin typeface="Aptos"/>
              </a:rPr>
              <a:t>+</a:t>
            </a:r>
            <a:r>
              <a:rPr lang="en-US" sz="2400" b="0" u="none" strike="noStrike">
                <a:solidFill>
                  <a:srgbClr val="C00000"/>
                </a:solidFill>
                <a:effectLst/>
                <a:uFillTx/>
                <a:latin typeface="Aptos"/>
              </a:rPr>
              <a:t>10</a:t>
            </a:r>
            <a:r>
              <a:rPr lang="en-US" sz="2400" b="0" u="none" strike="noStrike">
                <a:solidFill>
                  <a:schemeClr val="dk1"/>
                </a:solidFill>
                <a:effectLst/>
                <a:uFillTx/>
                <a:latin typeface="Aptos"/>
              </a:rPr>
              <a:t>=20),C(</a:t>
            </a:r>
            <a:r>
              <a:rPr lang="en-US" sz="2400" b="0" u="none" strike="noStrike">
                <a:solidFill>
                  <a:schemeClr val="lt1">
                    <a:lumMod val="65000"/>
                  </a:schemeClr>
                </a:solidFill>
                <a:effectLst/>
                <a:uFillTx/>
                <a:latin typeface="Aptos"/>
              </a:rPr>
              <a:t>10</a:t>
            </a:r>
            <a:r>
              <a:rPr lang="en-US" sz="2400" b="0" u="none" strike="noStrike">
                <a:solidFill>
                  <a:schemeClr val="dk1"/>
                </a:solidFill>
                <a:effectLst/>
                <a:uFillTx/>
                <a:latin typeface="Aptos"/>
              </a:rPr>
              <a:t>+15=25) and D(</a:t>
            </a:r>
            <a:r>
              <a:rPr lang="en-US" sz="2400" b="0" u="none" strike="noStrike">
                <a:solidFill>
                  <a:schemeClr val="lt1">
                    <a:lumMod val="65000"/>
                  </a:schemeClr>
                </a:solidFill>
                <a:effectLst/>
                <a:uFillTx/>
                <a:latin typeface="Aptos"/>
              </a:rPr>
              <a:t>30</a:t>
            </a:r>
            <a:r>
              <a:rPr lang="en-US" sz="2400" b="0" u="none" strike="noStrike">
                <a:solidFill>
                  <a:schemeClr val="dk1"/>
                </a:solidFill>
                <a:effectLst/>
                <a:uFillTx/>
                <a:latin typeface="Aptos"/>
              </a:rPr>
              <a:t>+15=45).</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400" b="0" u="none" strike="noStrike">
                <a:solidFill>
                  <a:schemeClr val="dk1"/>
                </a:solidFill>
                <a:effectLst/>
                <a:uFillTx/>
                <a:latin typeface="Aptos"/>
              </a:rPr>
              <a:t>Least(20,25,45) is 20, thus router B is Successor with FD of 20.</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400" b="0" u="none" strike="noStrike">
                <a:solidFill>
                  <a:schemeClr val="dk1"/>
                </a:solidFill>
                <a:effectLst/>
                <a:uFillTx/>
                <a:latin typeface="Aptos"/>
              </a:rPr>
              <a:t>Evaluate Feasibility Condition (FC):</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tabLst>
                <a:tab pos="0" algn="l"/>
              </a:tabLst>
            </a:pPr>
            <a:r>
              <a:rPr lang="en-US" sz="2000" b="0" u="none" strike="noStrike">
                <a:solidFill>
                  <a:schemeClr val="dk1"/>
                </a:solidFill>
                <a:effectLst/>
                <a:uFillTx/>
                <a:latin typeface="Aptos"/>
              </a:rPr>
              <a:t>RD of C(10) &lt; FD(20).So, path via C is loop free and is Feasible Successor.</a:t>
            </a:r>
            <a:endParaRPr lang="en-US" sz="20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Courier New"/>
              <a:buChar char="o"/>
              <a:tabLst>
                <a:tab pos="0" algn="l"/>
              </a:tabLst>
            </a:pPr>
            <a:r>
              <a:rPr lang="en-US" sz="2000" b="0" u="none" strike="noStrike">
                <a:solidFill>
                  <a:schemeClr val="dk1"/>
                </a:solidFill>
                <a:effectLst/>
                <a:uFillTx/>
                <a:latin typeface="Aptos"/>
              </a:rPr>
              <a:t>RD of D(30) &lt; FD(20). So, path via D is not loop free and cannot be Feasible Successor.</a:t>
            </a:r>
            <a:r>
              <a:rPr lang="en-US" sz="2400" b="0" u="none" strike="noStrike">
                <a:solidFill>
                  <a:schemeClr val="dk1"/>
                </a:solidFill>
                <a:effectLst/>
                <a:uFillTx/>
                <a:latin typeface="Aptos"/>
              </a:rPr>
              <a:t>   </a:t>
            </a:r>
            <a:endParaRPr lang="en-US" sz="2400" b="0" u="none" strike="noStrike">
              <a:solidFill>
                <a:schemeClr val="dk1"/>
              </a:solidFill>
              <a:effectLst/>
              <a:uFillTx/>
              <a:latin typeface="Aptos"/>
            </a:endParaRPr>
          </a:p>
        </p:txBody>
      </p:sp>
      <p:pic>
        <p:nvPicPr>
          <p:cNvPr id="107" name="Picture 3" descr="A diagram of a diagram&#10;&#10;AI-generated content may be incorrect."/>
          <p:cNvPicPr/>
          <p:nvPr/>
        </p:nvPicPr>
        <p:blipFill>
          <a:blip r:embed="rId1"/>
          <a:stretch/>
        </p:blipFill>
        <p:spPr>
          <a:xfrm>
            <a:off x="103680" y="2052720"/>
            <a:ext cx="4505040" cy="35143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303840" y="266760"/>
            <a:ext cx="4293000" cy="1599840"/>
          </a:xfrm>
          <a:prstGeom prst="rect">
            <a:avLst/>
          </a:prstGeom>
          <a:solidFill>
            <a:srgbClr val="ED7D31"/>
          </a:solidFill>
          <a:ln w="0">
            <a:noFill/>
          </a:ln>
        </p:spPr>
        <p:txBody>
          <a:bodyPr lIns="91440" tIns="45720" rIns="91440" bIns="45720" anchor="ctr">
            <a:normAutofit/>
          </a:bodyPr>
          <a:p>
            <a:pPr indent="0" algn="l" defTabSz="914400">
              <a:lnSpc>
                <a:spcPct val="90000"/>
              </a:lnSpc>
              <a:buNone/>
            </a:pPr>
            <a:r>
              <a:rPr lang="en-US" sz="3200" b="1" u="none" strike="noStrike">
                <a:solidFill>
                  <a:schemeClr val="lt1"/>
                </a:solidFill>
                <a:effectLst/>
                <a:uFillTx/>
                <a:latin typeface="Aptos Display"/>
              </a:rPr>
              <a:t>10. Failure Detection</a:t>
            </a:r>
            <a:endParaRPr lang="en-US" sz="3200" b="0" u="none" strike="noStrike">
              <a:solidFill>
                <a:schemeClr val="dk1"/>
              </a:solidFill>
              <a:effectLst/>
              <a:uFillTx/>
              <a:latin typeface="Aptos Display"/>
            </a:endParaRPr>
          </a:p>
        </p:txBody>
      </p:sp>
      <p:sp>
        <p:nvSpPr>
          <p:cNvPr id="109" name="PlaceHolder 2"/>
          <p:cNvSpPr>
            <a:spLocks noGrp="1"/>
          </p:cNvSpPr>
          <p:nvPr>
            <p:ph/>
          </p:nvPr>
        </p:nvSpPr>
        <p:spPr>
          <a:xfrm>
            <a:off x="4869000" y="265680"/>
            <a:ext cx="6876720" cy="659520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000" b="0" u="none" strike="noStrike">
                <a:solidFill>
                  <a:srgbClr val="000000"/>
                </a:solidFill>
                <a:effectLst/>
                <a:uFillTx/>
                <a:latin typeface="Aptos"/>
                <a:ea typeface="Aptos"/>
              </a:rPr>
              <a:t>When a link fails between two routers, neighbor goes down and topology changes.</a:t>
            </a:r>
            <a:r>
              <a:rPr lang="en-US" sz="2400" b="0" u="none" strike="noStrike">
                <a:solidFill>
                  <a:srgbClr val="000000"/>
                </a:solidFill>
                <a:effectLst/>
                <a:uFillTx/>
                <a:latin typeface="Aptos"/>
                <a:ea typeface="Aptos"/>
              </a:rPr>
              <a:t> </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000" b="1" u="none" strike="noStrike">
                <a:solidFill>
                  <a:srgbClr val="000000"/>
                </a:solidFill>
                <a:effectLst/>
                <a:uFillTx/>
                <a:latin typeface="Aptos"/>
                <a:ea typeface="Aptos"/>
              </a:rPr>
              <a:t>Convergence with Feasible Successor:</a:t>
            </a:r>
            <a:endParaRPr lang="en-US" sz="2000" b="0" u="none" strike="noStrike">
              <a:solidFill>
                <a:schemeClr val="dk1"/>
              </a:solidFill>
              <a:effectLst/>
              <a:uFillTx/>
              <a:latin typeface="Aptos"/>
            </a:endParaRPr>
          </a:p>
          <a:p>
            <a:pPr indent="0" algn="l" defTabSz="914400">
              <a:lnSpc>
                <a:spcPct val="100000"/>
              </a:lnSpc>
              <a:spcBef>
                <a:spcPts val="499"/>
              </a:spcBef>
              <a:buNone/>
              <a:tabLst>
                <a:tab pos="0" algn="l"/>
              </a:tabLst>
            </a:pPr>
            <a:r>
              <a:rPr lang="en-US" sz="2000" b="0" u="none" strike="noStrike">
                <a:solidFill>
                  <a:srgbClr val="000000"/>
                </a:solidFill>
                <a:effectLst/>
                <a:uFillTx/>
                <a:latin typeface="Aptos"/>
                <a:ea typeface="Aptos"/>
              </a:rPr>
              <a:t>When</a:t>
            </a:r>
            <a:r>
              <a:rPr lang="en-US" sz="2000" b="0" u="none" strike="noStrike">
                <a:solidFill>
                  <a:schemeClr val="dk1"/>
                </a:solidFill>
                <a:effectLst/>
                <a:uFillTx/>
                <a:latin typeface="Aptos"/>
                <a:ea typeface="Aptos"/>
              </a:rPr>
              <a:t> link between A and B fails.</a:t>
            </a:r>
            <a:endParaRPr lang="en-US" sz="20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A looses it's successor route and checks topology table for FS for the prefix. EIGRP routers can store up to 6 FS in Topo table.</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Since path via C is FS, it instantly installs the FS route into RIB as a Successor route.</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A then sends UPDATE packets to it's neighbors about the new Successor route and FD (metric).</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A analyses it's topology table and any UPDATE packets received from other neighbors about this prefix to find new FS.</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New FD via C(10+15 = 25), which is not smaller than RD of D(30), thus no FS for this prefix.</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D's Succesor is E for the prefix with FD of 30, and FS is A with RD of 20.</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D analyses it's Topology table and UPDATE received from A to see if any changes for the prefix.</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E remains D's Successor.</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ea typeface="Aptos"/>
              </a:rPr>
              <a:t>New updated RD from A is 25, check Feasibility condition, RD of A(25) &lt; 30. A remains FS but RD (metric) changes.</a:t>
            </a:r>
            <a:endParaRPr lang="en-US" sz="18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2000" b="0" u="none" strike="noStrike">
              <a:solidFill>
                <a:schemeClr val="dk1"/>
              </a:solidFill>
              <a:effectLst/>
              <a:uFillTx/>
              <a:latin typeface="Aptos"/>
            </a:endParaRPr>
          </a:p>
        </p:txBody>
      </p:sp>
      <p:pic>
        <p:nvPicPr>
          <p:cNvPr id="110" name="Picture 4" descr="A diagram of a diagram of a diagram&#10;&#10;AI-generated content may be incorrect."/>
          <p:cNvPicPr/>
          <p:nvPr/>
        </p:nvPicPr>
        <p:blipFill>
          <a:blip r:embed="rId1"/>
          <a:stretch/>
        </p:blipFill>
        <p:spPr>
          <a:xfrm>
            <a:off x="393120" y="2005560"/>
            <a:ext cx="4209840" cy="352404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303840" y="266760"/>
            <a:ext cx="4293000" cy="1599840"/>
          </a:xfrm>
          <a:prstGeom prst="rect">
            <a:avLst/>
          </a:prstGeom>
          <a:solidFill>
            <a:srgbClr val="ED7D31"/>
          </a:solidFill>
          <a:ln w="0">
            <a:noFill/>
          </a:ln>
        </p:spPr>
        <p:txBody>
          <a:bodyPr lIns="91440" tIns="45720" rIns="91440" bIns="45720" anchor="ctr">
            <a:normAutofit/>
          </a:bodyPr>
          <a:p>
            <a:pPr indent="0" algn="l" defTabSz="914400">
              <a:lnSpc>
                <a:spcPct val="90000"/>
              </a:lnSpc>
              <a:buNone/>
            </a:pPr>
            <a:r>
              <a:rPr lang="en-US" sz="3200" b="1" u="none" strike="noStrike">
                <a:solidFill>
                  <a:schemeClr val="lt1"/>
                </a:solidFill>
                <a:effectLst/>
                <a:uFillTx/>
                <a:latin typeface="Aptos Display"/>
              </a:rPr>
              <a:t>10. Failure Detection</a:t>
            </a:r>
            <a:endParaRPr lang="en-US" sz="3200" b="0" u="none" strike="noStrike">
              <a:solidFill>
                <a:schemeClr val="dk1"/>
              </a:solidFill>
              <a:effectLst/>
              <a:uFillTx/>
              <a:latin typeface="Aptos Display"/>
            </a:endParaRPr>
          </a:p>
        </p:txBody>
      </p:sp>
      <p:sp>
        <p:nvSpPr>
          <p:cNvPr id="112" name="PlaceHolder 2"/>
          <p:cNvSpPr>
            <a:spLocks noGrp="1"/>
          </p:cNvSpPr>
          <p:nvPr>
            <p:ph/>
          </p:nvPr>
        </p:nvSpPr>
        <p:spPr>
          <a:xfrm>
            <a:off x="4869000" y="265680"/>
            <a:ext cx="6943320" cy="660060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US" sz="2000" b="1" u="none" strike="noStrike">
                <a:solidFill>
                  <a:srgbClr val="000000"/>
                </a:solidFill>
                <a:effectLst/>
                <a:uFillTx/>
                <a:latin typeface="Aptos"/>
                <a:ea typeface="Aptos"/>
              </a:rPr>
              <a:t>Convergence without Feasible Successor:</a:t>
            </a:r>
            <a:endParaRPr lang="en-US" sz="2000" b="0" u="none" strike="noStrike">
              <a:solidFill>
                <a:schemeClr val="dk1"/>
              </a:solidFill>
              <a:effectLst/>
              <a:uFillTx/>
              <a:latin typeface="Aptos"/>
            </a:endParaRPr>
          </a:p>
          <a:p>
            <a:pPr indent="0" algn="l" defTabSz="914400">
              <a:lnSpc>
                <a:spcPct val="100000"/>
              </a:lnSpc>
              <a:spcBef>
                <a:spcPts val="499"/>
              </a:spcBef>
              <a:buNone/>
              <a:tabLst>
                <a:tab pos="0" algn="l"/>
              </a:tabLst>
            </a:pPr>
            <a:r>
              <a:rPr lang="en-US" sz="2000" b="0" u="none" strike="noStrike">
                <a:solidFill>
                  <a:srgbClr val="000000"/>
                </a:solidFill>
                <a:effectLst/>
                <a:uFillTx/>
                <a:latin typeface="Aptos"/>
                <a:ea typeface="Aptos"/>
              </a:rPr>
              <a:t>Now when both links between A and B, and A and C fails.</a:t>
            </a:r>
            <a:endParaRPr lang="en-US" sz="20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ea typeface="Aptos"/>
              </a:rPr>
              <a:t>A loses it's successor route via C and checks topology table for FS for the prefix. </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ea typeface="Aptos"/>
              </a:rPr>
              <a:t>No FS for the prefix, A puts the prefix in Active state (A)</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ea typeface="Aptos"/>
              </a:rPr>
              <a:t>A  sends QUERY with delay set to infinity to notify D that the prefix is gone Active.</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ea typeface="Aptos"/>
              </a:rPr>
              <a:t>D received QUERY packet for a prefix from it's Non-Successor, D sends REPLY with it's route information via E. (QUERY boundary, QUERY does not travel further.)</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ea typeface="Aptos"/>
              </a:rPr>
              <a:t>If the query comes from Successor and it does not have FS for the prefix, it sets the prefix as Active and sends the query to other neighbor routers</a:t>
            </a:r>
            <a:endParaRPr lang="en-US" sz="1800" b="0" u="none" strike="noStrike">
              <a:solidFill>
                <a:schemeClr val="dk1"/>
              </a:solidFill>
              <a:effectLst/>
              <a:uFillTx/>
              <a:latin typeface="Aptos"/>
            </a:endParaRPr>
          </a:p>
          <a:p>
            <a:pPr marL="571680" lvl="1" indent="-343080" algn="l" defTabSz="914400">
              <a:lnSpc>
                <a:spcPct val="90000"/>
              </a:lnSpc>
              <a:spcBef>
                <a:spcPts val="499"/>
              </a:spcBef>
              <a:buClr>
                <a:srgbClr val="000000"/>
              </a:buClr>
              <a:buFont typeface="Arial"/>
              <a:buAutoNum type="arabicPeriod"/>
              <a:tabLst>
                <a:tab pos="0" algn="l"/>
              </a:tabLst>
            </a:pPr>
            <a:r>
              <a:rPr lang="en-US" sz="1800" b="0" u="none" strike="noStrike">
                <a:solidFill>
                  <a:schemeClr val="dk1"/>
                </a:solidFill>
                <a:effectLst/>
                <a:uFillTx/>
                <a:latin typeface="Aptos"/>
                <a:ea typeface="Aptos"/>
              </a:rPr>
              <a:t>A receives REPLY from D, acknowledges it and has no other outstanding replies, calculates new metric for the prefix and sets it as Passive.</a:t>
            </a: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1800" b="0" u="none" strike="noStrike">
                <a:solidFill>
                  <a:schemeClr val="dk1"/>
                </a:solidFill>
                <a:effectLst/>
                <a:uFillTx/>
                <a:latin typeface="Aptos"/>
                <a:ea typeface="Aptos"/>
              </a:rPr>
              <a:t>A </a:t>
            </a:r>
            <a:r>
              <a:rPr lang="en-US" sz="1800" b="1" u="none" strike="noStrike">
                <a:solidFill>
                  <a:schemeClr val="dk1"/>
                </a:solidFill>
                <a:effectLst/>
                <a:uFillTx/>
                <a:latin typeface="Aptos"/>
                <a:ea typeface="Aptos"/>
              </a:rPr>
              <a:t>query boundary</a:t>
            </a:r>
            <a:r>
              <a:rPr lang="en-US" sz="1800" b="0" u="none" strike="noStrike">
                <a:solidFill>
                  <a:schemeClr val="dk1"/>
                </a:solidFill>
                <a:effectLst/>
                <a:uFillTx/>
                <a:latin typeface="Aptos"/>
                <a:ea typeface="Aptos"/>
              </a:rPr>
              <a:t> is established when a router does not mark the prefix as Active. Which happens if the router:</a:t>
            </a: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000" b="0" u="none" strike="noStrike">
              <a:solidFill>
                <a:schemeClr val="dk1"/>
              </a:solidFill>
              <a:effectLst/>
              <a:uFillTx/>
              <a:latin typeface="Aptos"/>
            </a:endParaRPr>
          </a:p>
          <a:p>
            <a:pPr indent="0" algn="l" defTabSz="914400">
              <a:lnSpc>
                <a:spcPct val="90000"/>
              </a:lnSpc>
              <a:spcBef>
                <a:spcPts val="499"/>
              </a:spcBef>
              <a:buNone/>
              <a:tabLst>
                <a:tab pos="0" algn="l"/>
              </a:tabLst>
            </a:pPr>
            <a:endParaRPr lang="en-US" sz="1600" b="0" u="none" strike="noStrike">
              <a:solidFill>
                <a:schemeClr val="dk1"/>
              </a:solidFill>
              <a:effectLst/>
              <a:uFillTx/>
              <a:latin typeface="Aptos"/>
            </a:endParaRPr>
          </a:p>
        </p:txBody>
      </p:sp>
      <p:pic>
        <p:nvPicPr>
          <p:cNvPr id="113" name="Picture 3" descr="A diagram of a game&#10;&#10;AI-generated content may be incorrect."/>
          <p:cNvPicPr/>
          <p:nvPr/>
        </p:nvPicPr>
        <p:blipFill>
          <a:blip r:embed="rId1"/>
          <a:stretch/>
        </p:blipFill>
        <p:spPr>
          <a:xfrm>
            <a:off x="118800" y="3961440"/>
            <a:ext cx="3481200" cy="2755800"/>
          </a:xfrm>
          <a:prstGeom prst="rect">
            <a:avLst/>
          </a:prstGeom>
          <a:noFill/>
          <a:ln w="0">
            <a:noFill/>
          </a:ln>
        </p:spPr>
      </p:pic>
      <p:sp>
        <p:nvSpPr>
          <p:cNvPr id="114" name=""/>
          <p:cNvSpPr txBox="1"/>
          <p:nvPr/>
        </p:nvSpPr>
        <p:spPr>
          <a:xfrm>
            <a:off x="180000" y="1980000"/>
            <a:ext cx="4500000" cy="1980000"/>
          </a:xfrm>
          <a:prstGeom prst="rect">
            <a:avLst/>
          </a:prstGeom>
          <a:noFill/>
          <a:ln w="0">
            <a:noFill/>
          </a:ln>
        </p:spPr>
        <p:txBody>
          <a:bodyPr lIns="90000" tIns="45000" rIns="90000" bIns="45000" anchor="t">
            <a:spAutoFit/>
          </a:bodyPr>
          <a:p>
            <a:pPr marL="216000" indent="-216000" defTabSz="914400">
              <a:lnSpc>
                <a:spcPct val="90000"/>
              </a:lnSpc>
              <a:spcBef>
                <a:spcPts val="1001"/>
              </a:spcBef>
              <a:buClr>
                <a:srgbClr val="000000"/>
              </a:buClr>
              <a:buFont typeface="OpenSymbol"/>
              <a:buAutoNum type="arabicPeriod"/>
              <a:tabLst>
                <a:tab pos="0" algn="l"/>
              </a:tabLst>
            </a:pPr>
            <a:r>
              <a:rPr lang="en-US" sz="1800" b="0" u="none" strike="noStrike">
                <a:solidFill>
                  <a:schemeClr val="dk1"/>
                </a:solidFill>
                <a:effectLst/>
                <a:uFillTx/>
                <a:latin typeface="Aptos"/>
                <a:ea typeface="Aptos"/>
              </a:rPr>
              <a:t>Replies with alternate path attributes (Successor or FS.)</a:t>
            </a:r>
            <a:endParaRPr lang="en-AU" sz="1800" b="0" u="none" strike="noStrike">
              <a:solidFill>
                <a:srgbClr val="000000"/>
              </a:solidFill>
              <a:effectLst/>
              <a:uFillTx/>
              <a:latin typeface="Arial"/>
            </a:endParaRPr>
          </a:p>
          <a:p>
            <a:pPr marL="114480" indent="-343080" defTabSz="914400">
              <a:lnSpc>
                <a:spcPct val="90000"/>
              </a:lnSpc>
              <a:spcBef>
                <a:spcPts val="1001"/>
              </a:spcBef>
              <a:buClr>
                <a:srgbClr val="000000"/>
              </a:buClr>
              <a:buAutoNum type="arabicPeriod"/>
              <a:tabLst>
                <a:tab pos="0" algn="l"/>
              </a:tabLst>
            </a:pPr>
            <a:r>
              <a:rPr lang="en-US" sz="1800" b="0" u="none" strike="noStrike">
                <a:solidFill>
                  <a:schemeClr val="dk1"/>
                </a:solidFill>
                <a:effectLst/>
                <a:uFillTx/>
                <a:latin typeface="Aptos"/>
                <a:ea typeface="Aptos"/>
              </a:rPr>
              <a:t>Replies saying it does not have route information which can be because of no downstream routers to query, Route Filtering or Summarization.</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303840" y="266760"/>
            <a:ext cx="4293000" cy="1599840"/>
          </a:xfrm>
          <a:prstGeom prst="rect">
            <a:avLst/>
          </a:prstGeom>
          <a:solidFill>
            <a:srgbClr val="ED7D31"/>
          </a:solidFill>
          <a:ln w="0">
            <a:noFill/>
          </a:ln>
        </p:spPr>
        <p:txBody>
          <a:bodyPr lIns="91440" tIns="45720" rIns="91440" bIns="45720" anchor="ctr">
            <a:normAutofit/>
          </a:bodyPr>
          <a:p>
            <a:pPr indent="0" algn="l" defTabSz="914400">
              <a:lnSpc>
                <a:spcPct val="90000"/>
              </a:lnSpc>
              <a:buNone/>
            </a:pPr>
            <a:r>
              <a:rPr lang="en-US" sz="3200" b="1" u="none" strike="noStrike">
                <a:solidFill>
                  <a:schemeClr val="lt1"/>
                </a:solidFill>
                <a:effectLst/>
                <a:uFillTx/>
                <a:latin typeface="Aptos Display"/>
              </a:rPr>
              <a:t>10. Summarization </a:t>
            </a:r>
            <a:endParaRPr lang="en-US" sz="3200" b="0" u="none" strike="noStrike">
              <a:solidFill>
                <a:schemeClr val="dk1"/>
              </a:solidFill>
              <a:effectLst/>
              <a:uFillTx/>
              <a:latin typeface="Aptos Display"/>
            </a:endParaRPr>
          </a:p>
        </p:txBody>
      </p:sp>
      <p:sp>
        <p:nvSpPr>
          <p:cNvPr id="116" name="PlaceHolder 2"/>
          <p:cNvSpPr>
            <a:spLocks noGrp="1"/>
          </p:cNvSpPr>
          <p:nvPr>
            <p:ph/>
          </p:nvPr>
        </p:nvSpPr>
        <p:spPr>
          <a:xfrm>
            <a:off x="4869000" y="265680"/>
            <a:ext cx="6943320" cy="660060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EIGRP summarizes network prefixes on interface basis.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A summary aggregate is configured on EIGRP interface.</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The metric for summary aggregate prefix is calculated from metric attributes of component prefix with least metric. </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Change in component prefix's metric will force summary aggregate to recompute the summary aggregate metric.</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Latest EIGRP implementation of Cisco allows to define 'summary-metric' attributes.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Without summarization, R2 will advertise 172.16.1.0/24,172.12.0/24,172.16.23.0/24 and 172.16.3.0/24  to R4.</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With summarization, R2 will advertise 172.16.0.0/16 to R4.</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Summarization reduces the size of Topology table and RIB.</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If R2 sends QUERY for 172.16.12.0/24 to R3 and R4, R3 checks it's topology table for alternate route and sends query to downstream routers.</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R4 checks it's topology table and has entry only for summarized route 172.16.0.0/16 but has no knowledge of 172.16.12.0/24.</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1800" b="0" u="none" strike="noStrike">
                <a:solidFill>
                  <a:schemeClr val="dk1"/>
                </a:solidFill>
                <a:effectLst/>
                <a:uFillTx/>
                <a:latin typeface="Aptos"/>
              </a:rPr>
              <a:t>R4 replies immediately to R2 because of no route information for the prefix.</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ptos"/>
              </a:rPr>
              <a:t>Thus, summarization creates Query boundary.</a:t>
            </a: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000" b="0" u="none" strike="noStrike">
              <a:solidFill>
                <a:schemeClr val="dk1"/>
              </a:solidFill>
              <a:effectLst/>
              <a:uFillTx/>
              <a:latin typeface="Aptos"/>
            </a:endParaRPr>
          </a:p>
          <a:p>
            <a:pPr marL="457200" indent="0" algn="l" defTabSz="914400">
              <a:lnSpc>
                <a:spcPct val="90000"/>
              </a:lnSpc>
              <a:spcBef>
                <a:spcPts val="499"/>
              </a:spcBef>
              <a:buNone/>
              <a:tabLst>
                <a:tab pos="0" algn="l"/>
              </a:tabLst>
            </a:pPr>
            <a:endParaRPr lang="en-US" sz="1600" b="0" u="none" strike="noStrike">
              <a:solidFill>
                <a:schemeClr val="dk1"/>
              </a:solidFill>
              <a:effectLst/>
              <a:uFillTx/>
              <a:latin typeface="Aptos"/>
            </a:endParaRPr>
          </a:p>
        </p:txBody>
      </p:sp>
      <p:pic>
        <p:nvPicPr>
          <p:cNvPr id="117" name="Picture 4" descr="A diagram of a network&#10;&#10;AI-generated content may be incorrect."/>
          <p:cNvPicPr/>
          <p:nvPr/>
        </p:nvPicPr>
        <p:blipFill>
          <a:blip r:embed="rId1"/>
          <a:stretch/>
        </p:blipFill>
        <p:spPr>
          <a:xfrm>
            <a:off x="96120" y="2049120"/>
            <a:ext cx="4490640" cy="375372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pitchFamily="0" charset="1"/>
        <a:ea typeface=""/>
        <a:cs typeface=""/>
      </a:majorFont>
      <a:minorFont>
        <a:latin typeface="Aptos" panose="020B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7</TotalTime>
  <Application>LibreOffice/26.2.5.2$Windows_X86_64 LibreOffice_project/cd7284b4cbbfeb507e630c1aac019f4157393acb</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2013-07-15T20:26:40Z</dcterms:created>
  <dc:creator/>
  <dc:description/>
  <dc:language>en-AU</dc:language>
  <cp:lastModifiedBy/>
  <dcterms:modified xsi:type="dcterms:W3CDTF">2026-09-20T19:50:07Z</dcterms:modified>
  <cp:revision>2785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19</vt:i4>
  </property>
  <property fmtid="{D5CDD505-2E9C-101B-9397-08002B2CF9AE}" pid="3" name="PresentationFormat">
    <vt:lpwstr>Widescreen</vt:lpwstr>
  </property>
  <property fmtid="{D5CDD505-2E9C-101B-9397-08002B2CF9AE}" pid="4" name="Slides">
    <vt:i4>21</vt:i4>
  </property>
</Properties>
</file>