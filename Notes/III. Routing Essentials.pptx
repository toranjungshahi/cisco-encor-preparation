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9C1723-19F1-4C8C-A0D7-72C4BE2632B0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CB7EB-F071-4C56-912D-1E8FCDF9E46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7112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64EF9-F507-43D1-85DB-FEE40D9637BC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8855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64EF9-F507-43D1-85DB-FEE40D9637BC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9079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64EF9-F507-43D1-85DB-FEE40D9637BC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6205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RPs: Routing Protocols, OSPF : Open Shortest Path First, IS-IS : Intermediate Systems to Intermediate Systems.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64EF9-F507-43D1-85DB-FEE40D9637BC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8110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RPs: Routing Protocols, OSPF : Open Shortest Path First, IS-IS : Intermediate Systems to Intermediate Systems.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64EF9-F507-43D1-85DB-FEE40D9637BC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3238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RPs: Routing Protocols, OSPF : Open Shortest Path First, IS-IS : Intermediate Systems to Intermediate Systems.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64EF9-F507-43D1-85DB-FEE40D9637BC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4777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08972-768D-32C4-9404-5DB7ED66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30D6F-2FCA-7AAE-60C2-2AEB06FE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AE062-6E54-CC5C-FB41-6258AA904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B62F-213C-4925-BDFB-E5FF054FF617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48C71-8014-C213-EFA7-5C4C6D27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6E750-0BF3-F82E-E2DD-33EA11AF6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FB88B-FB56-4EE1-8B8C-39981ABE51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74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41B48-6CB6-8498-2801-F7259FC08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B2835-AB20-0FDE-CFB1-CB0EF64EE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91558-CE8D-0575-33D0-816B5B66A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B62F-213C-4925-BDFB-E5FF054FF617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FACA4-98D1-4C69-1E5A-10F814650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CB126-CDC3-D833-6AF3-2BFDF454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FB88B-FB56-4EE1-8B8C-39981ABE51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241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103C0-0CA7-2C9B-0C8C-92511149A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51CCE-0C1A-3505-5D62-539B4400D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A1B61-F6A3-A2F1-1079-AAD04B60D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1B62F-213C-4925-BDFB-E5FF054FF617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A79F3-CAF8-B783-614B-B7C76B66A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2E471-CD76-5079-D511-8CA1CA782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DFB88B-FB56-4EE1-8B8C-39981ABE51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6958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9D056-447F-6ED8-B0BE-0A69C4FA1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548640"/>
            <a:ext cx="3273552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 kern="1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Routing</a:t>
            </a:r>
            <a:br>
              <a:rPr lang="en-US" sz="5400" kern="1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Essentials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EFB9A-B525-9C48-9429-9E97E3B8A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3408" y="337458"/>
            <a:ext cx="7126014" cy="6281056"/>
          </a:xfrm>
        </p:spPr>
        <p:txBody>
          <a:bodyPr vert="horz" lIns="91440" tIns="45720" rIns="91440" bIns="45720" rtlCol="0" anchor="ctr">
            <a:no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800" b="1" dirty="0"/>
              <a:t>Learning Outcomes:</a:t>
            </a:r>
          </a:p>
          <a:p>
            <a:pPr marL="1200150" lvl="1" indent="-457200" algn="l">
              <a:buFont typeface="+mj-lt"/>
              <a:buAutoNum type="arabicPeriod"/>
            </a:pPr>
            <a:r>
              <a:rPr lang="en-US" sz="2800" b="1" dirty="0">
                <a:solidFill>
                  <a:schemeClr val="accent6"/>
                </a:solidFill>
              </a:rPr>
              <a:t>Routing Protocol Overview</a:t>
            </a:r>
            <a:r>
              <a:rPr lang="en-US" sz="2800" dirty="0"/>
              <a:t>: How different routing protocols (Distance Vector, Enhanced Distance Vector, Link State and Path Vector) identify and advertise routes.</a:t>
            </a:r>
          </a:p>
          <a:p>
            <a:pPr marL="1200150" lvl="1" indent="-457200" algn="l">
              <a:buFont typeface="+mj-lt"/>
              <a:buAutoNum type="arabicPeriod"/>
            </a:pPr>
            <a:r>
              <a:rPr lang="en-US" sz="2800" b="1" dirty="0">
                <a:solidFill>
                  <a:schemeClr val="accent6"/>
                </a:solidFill>
              </a:rPr>
              <a:t>Path Selection</a:t>
            </a:r>
            <a:r>
              <a:rPr lang="en-US" sz="2800" dirty="0"/>
              <a:t>: Logic a router uses to identify the best route and install in it’s routing table.</a:t>
            </a:r>
          </a:p>
          <a:p>
            <a:pPr marL="1200150" lvl="1" indent="-457200" algn="l">
              <a:buFont typeface="+mj-lt"/>
              <a:buAutoNum type="arabicPeriod"/>
            </a:pPr>
            <a:r>
              <a:rPr lang="en-US" sz="2800" b="1" dirty="0">
                <a:solidFill>
                  <a:schemeClr val="accent6"/>
                </a:solidFill>
              </a:rPr>
              <a:t>Static Routing</a:t>
            </a:r>
            <a:r>
              <a:rPr lang="en-US" sz="2800" dirty="0"/>
              <a:t>: Fundamentals of static routing</a:t>
            </a:r>
          </a:p>
          <a:p>
            <a:pPr marL="1200150" lvl="1" indent="-457200" algn="l">
              <a:buFont typeface="+mj-lt"/>
              <a:buAutoNum type="arabicPeriod"/>
            </a:pPr>
            <a:r>
              <a:rPr lang="en-US" sz="2800" b="1" dirty="0">
                <a:solidFill>
                  <a:schemeClr val="accent6"/>
                </a:solidFill>
              </a:rPr>
              <a:t>Virtual Routing and Forwarding</a:t>
            </a:r>
            <a:r>
              <a:rPr lang="en-US" sz="2800" dirty="0"/>
              <a:t>: Creation of logical routers on a physical router.</a:t>
            </a:r>
          </a:p>
        </p:txBody>
      </p:sp>
    </p:spTree>
    <p:extLst>
      <p:ext uri="{BB962C8B-B14F-4D97-AF65-F5344CB8AC3E}">
        <p14:creationId xmlns:p14="http://schemas.microsoft.com/office/powerpoint/2010/main" val="1925575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306B-2FA9-DBD0-4879-2F0F9F640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103914" cy="68580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1. Routing Protocol Overview 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42708-C46C-0C1F-6CBC-B422CA06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86" y="544287"/>
            <a:ext cx="6389914" cy="5780314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Routing protocols </a:t>
            </a:r>
            <a:r>
              <a:rPr lang="en-US" dirty="0"/>
              <a:t>are used to learn routes to a non-attached network on a router.</a:t>
            </a:r>
          </a:p>
          <a:p>
            <a:r>
              <a:rPr lang="en-US" b="1" dirty="0"/>
              <a:t>Static Routing Protocols </a:t>
            </a:r>
            <a:r>
              <a:rPr lang="en-US" dirty="0"/>
              <a:t>vs. </a:t>
            </a:r>
            <a:r>
              <a:rPr lang="en-US" b="1" dirty="0"/>
              <a:t>Dynamic Routing Protocols.</a:t>
            </a:r>
          </a:p>
          <a:p>
            <a:pPr lvl="1" algn="just"/>
            <a:r>
              <a:rPr lang="en-US" b="1" dirty="0"/>
              <a:t>Static Routing Protocols</a:t>
            </a:r>
            <a:r>
              <a:rPr lang="en-US" dirty="0"/>
              <a:t>: Does not update routes during topology changes. Design requirements or hardware limitations may force use of static routing.</a:t>
            </a:r>
          </a:p>
          <a:p>
            <a:pPr lvl="1" algn="just"/>
            <a:r>
              <a:rPr lang="en-US" b="1" dirty="0"/>
              <a:t>Dynamic Routing Protocols</a:t>
            </a:r>
            <a:r>
              <a:rPr lang="en-US" dirty="0"/>
              <a:t>: Distributes routes between routers and updates routes without intervention during topology changes. Selects best loop free path.</a:t>
            </a:r>
          </a:p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6740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306B-2FA9-DBD0-4879-2F0F9F640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103914" cy="68580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1. Routing Protocol Overview 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42708-C46C-0C1F-6CBC-B422CA06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86" y="544287"/>
            <a:ext cx="6389914" cy="5780314"/>
          </a:xfrm>
        </p:spPr>
        <p:txBody>
          <a:bodyPr>
            <a:normAutofit/>
          </a:bodyPr>
          <a:lstStyle/>
          <a:p>
            <a:r>
              <a:rPr lang="en-US" b="1" dirty="0"/>
              <a:t>Dynamic Routing Protocols Types: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Distance Vector: </a:t>
            </a:r>
          </a:p>
          <a:p>
            <a:pPr lvl="1"/>
            <a:r>
              <a:rPr lang="en-US" b="1" dirty="0"/>
              <a:t>Distance</a:t>
            </a:r>
            <a:r>
              <a:rPr lang="en-US" dirty="0"/>
              <a:t>: Route metric(cost- hop count) to reach the destination network.</a:t>
            </a:r>
          </a:p>
          <a:p>
            <a:pPr lvl="1"/>
            <a:r>
              <a:rPr lang="en-US" b="1" dirty="0"/>
              <a:t>Vector</a:t>
            </a:r>
            <a:r>
              <a:rPr lang="en-US" dirty="0"/>
              <a:t>: Direction/interface to reach the network.</a:t>
            </a:r>
          </a:p>
          <a:p>
            <a:pPr lvl="1"/>
            <a:r>
              <a:rPr lang="en-US" dirty="0"/>
              <a:t>Uses distance vector algorithms (</a:t>
            </a:r>
            <a:r>
              <a:rPr lang="en-US" b="1" dirty="0"/>
              <a:t>Bellman Ford</a:t>
            </a:r>
            <a:r>
              <a:rPr lang="en-US" dirty="0"/>
              <a:t> and </a:t>
            </a:r>
            <a:r>
              <a:rPr lang="en-US" b="1" dirty="0"/>
              <a:t>Ford Fulkerson </a:t>
            </a:r>
            <a:r>
              <a:rPr lang="en-US" dirty="0"/>
              <a:t>algorithms) to calculate best loop free paths.</a:t>
            </a:r>
          </a:p>
          <a:p>
            <a:pPr lvl="1"/>
            <a:r>
              <a:rPr lang="en-US" dirty="0"/>
              <a:t>Modifies the received routes from neighbors.</a:t>
            </a:r>
          </a:p>
          <a:p>
            <a:pPr lvl="1"/>
            <a:r>
              <a:rPr lang="en-US" dirty="0"/>
              <a:t>Does not have complete map of the whole topology.</a:t>
            </a:r>
          </a:p>
          <a:p>
            <a:pPr lvl="1"/>
            <a:r>
              <a:rPr lang="en-US" dirty="0"/>
              <a:t>Require less memory and CPU.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47102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306B-2FA9-DBD0-4879-2F0F9F640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103914" cy="68580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1. Routing Protocol Overview 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42708-C46C-0C1F-6CBC-B422CA06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86" y="544287"/>
            <a:ext cx="6389914" cy="578031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Dynamic Routing Protocols Types: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b="1" dirty="0"/>
              <a:t>Enhanced Distance Vector: </a:t>
            </a:r>
          </a:p>
          <a:p>
            <a:pPr lvl="1"/>
            <a:r>
              <a:rPr lang="en-US" b="1" dirty="0"/>
              <a:t>Diffusing Update Algorithm (DUAL) </a:t>
            </a:r>
            <a:r>
              <a:rPr lang="en-US" dirty="0"/>
              <a:t>is an enhanced distance vector algorithm. In detail in EIGRP chapter.</a:t>
            </a:r>
          </a:p>
          <a:p>
            <a:pPr lvl="1"/>
            <a:r>
              <a:rPr lang="en-US" b="1" dirty="0"/>
              <a:t>EIGRP (Enhanced Interior Gateway Routing Protocol) </a:t>
            </a:r>
            <a:r>
              <a:rPr lang="en-US" dirty="0"/>
              <a:t>is a hybrid routing protocol that uses DUAL algorithm.</a:t>
            </a:r>
          </a:p>
          <a:p>
            <a:pPr lvl="1"/>
            <a:r>
              <a:rPr lang="en-US" dirty="0"/>
              <a:t>Following are the enhancements:</a:t>
            </a:r>
          </a:p>
          <a:p>
            <a:pPr lvl="2"/>
            <a:r>
              <a:rPr lang="en-US" dirty="0"/>
              <a:t>Rapid convergence times.</a:t>
            </a:r>
          </a:p>
          <a:p>
            <a:pPr lvl="2"/>
            <a:r>
              <a:rPr lang="en-US" dirty="0"/>
              <a:t>Unlike distance vector algorithms, it only sends update when there is change in the network.</a:t>
            </a:r>
          </a:p>
          <a:p>
            <a:pPr lvl="2"/>
            <a:r>
              <a:rPr lang="en-US" dirty="0"/>
              <a:t>Sends ‘hello’ and forms neighbor relationship like in link state protocols.</a:t>
            </a:r>
          </a:p>
          <a:p>
            <a:pPr lvl="2"/>
            <a:r>
              <a:rPr lang="en-US" dirty="0"/>
              <a:t>Uses bandwidth, delay, load, reliability and MTU size as cost metrics. </a:t>
            </a:r>
          </a:p>
          <a:p>
            <a:pPr lvl="2"/>
            <a:r>
              <a:rPr lang="en-US" dirty="0"/>
              <a:t>Has option of equal or unequal multipath load balancing.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4115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306B-2FA9-DBD0-4879-2F0F9F640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103914" cy="68580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1. Routing Protocol Overview 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42708-C46C-0C1F-6CBC-B422CA06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86" y="544287"/>
            <a:ext cx="6389914" cy="578031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Dynamic Routing Protocols Types: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Link State Algorithms: </a:t>
            </a:r>
          </a:p>
          <a:p>
            <a:pPr lvl="1"/>
            <a:r>
              <a:rPr lang="en-US" dirty="0"/>
              <a:t>Advertises the link state and metrics for all it’s connected links to directly connected routers and all other routers in the network. </a:t>
            </a:r>
          </a:p>
          <a:p>
            <a:pPr lvl="1"/>
            <a:r>
              <a:rPr lang="en-US" dirty="0"/>
              <a:t>To populate link state routing table, each router then runs its own link state algorithms (Dijkstra SPF algo) to find best loop free path to every router on the network.</a:t>
            </a:r>
          </a:p>
          <a:p>
            <a:pPr lvl="1"/>
            <a:r>
              <a:rPr lang="en-US" dirty="0"/>
              <a:t>OSPF is used primarily in enterprises and IS-IS  used primarily in ISPs are 2 link state RPs.</a:t>
            </a:r>
          </a:p>
          <a:p>
            <a:pPr lvl="1"/>
            <a:r>
              <a:rPr lang="en-US" dirty="0"/>
              <a:t>OSPF uses Link State Advertisements (LSAs) and IS-IS uses Link State Packets (LSPs) for advertisements.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3349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306B-2FA9-DBD0-4879-2F0F9F640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103914" cy="68580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1. Routing Protocol Overview 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42708-C46C-0C1F-6CBC-B422CA06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86" y="544287"/>
            <a:ext cx="6389914" cy="578031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Dynamic Routing Protocols Types: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b="1" dirty="0"/>
              <a:t>Path Vector Algorithms: </a:t>
            </a:r>
            <a:endParaRPr lang="en-US" dirty="0"/>
          </a:p>
          <a:p>
            <a:r>
              <a:rPr lang="en-US" dirty="0"/>
              <a:t>Similar to distance vector algorithm.</a:t>
            </a:r>
          </a:p>
          <a:p>
            <a:r>
              <a:rPr lang="en-US" dirty="0"/>
              <a:t>Uses Path Attributes (PAs) instead of distance (hop-count) to find best loop free paths.</a:t>
            </a:r>
          </a:p>
          <a:p>
            <a:r>
              <a:rPr lang="en-US" dirty="0"/>
              <a:t>BGP Path attributes (PAs) : </a:t>
            </a:r>
            <a:r>
              <a:rPr lang="en-US" dirty="0" err="1"/>
              <a:t>AS_Path</a:t>
            </a:r>
            <a:r>
              <a:rPr lang="en-US" dirty="0"/>
              <a:t>, multi-exit Discriminator (MED), origin, next hop, local preference, atomic aggregate and aggregator.</a:t>
            </a:r>
          </a:p>
          <a:p>
            <a:r>
              <a:rPr lang="en-US" dirty="0"/>
              <a:t>Advertises entire path for each destination.</a:t>
            </a:r>
          </a:p>
          <a:p>
            <a:r>
              <a:rPr lang="en-US" dirty="0"/>
              <a:t>Flexible policy: Each node can enforce it’s own policy to select best loop free path to the destination.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7754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306B-2FA9-DBD0-4879-2F0F9F640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103914" cy="68580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2. Path Selection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42708-C46C-0C1F-6CBC-B422CA06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86" y="544287"/>
            <a:ext cx="6389914" cy="57803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router creates Forwarding Information Base (FIB) from Routing Information Base (RIB) or routing table. </a:t>
            </a:r>
          </a:p>
          <a:p>
            <a:r>
              <a:rPr lang="en-US" dirty="0"/>
              <a:t>A route in RIB with longest prefix length match for a packet is installed into FIB.</a:t>
            </a:r>
          </a:p>
          <a:p>
            <a:r>
              <a:rPr lang="en-US" dirty="0"/>
              <a:t>Router uses FIB to forward packets.</a:t>
            </a:r>
          </a:p>
          <a:p>
            <a:r>
              <a:rPr lang="en-US" dirty="0"/>
              <a:t>RIB is populated from various routing protocol processes in </a:t>
            </a:r>
            <a:r>
              <a:rPr lang="en-US"/>
              <a:t>a router.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Path Selection Deciders: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Prefix length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Administrative Distance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Metric</a:t>
            </a:r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31580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684</Words>
  <Application>Microsoft Office PowerPoint</Application>
  <PresentationFormat>Widescreen</PresentationFormat>
  <Paragraphs>74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Routing Essentials</vt:lpstr>
      <vt:lpstr>1. Routing Protocol Overview </vt:lpstr>
      <vt:lpstr>1. Routing Protocol Overview </vt:lpstr>
      <vt:lpstr>1. Routing Protocol Overview </vt:lpstr>
      <vt:lpstr>1. Routing Protocol Overview </vt:lpstr>
      <vt:lpstr>1. Routing Protocol Overview </vt:lpstr>
      <vt:lpstr>2. Path Selection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Toran Shahi</dc:creator>
  <cp:lastModifiedBy>Toran Shahi</cp:lastModifiedBy>
  <cp:revision>3</cp:revision>
  <dcterms:created xsi:type="dcterms:W3CDTF">2024-09-18T06:52:29Z</dcterms:created>
  <dcterms:modified xsi:type="dcterms:W3CDTF">2024-09-24T04:15:41Z</dcterms:modified>
</cp:coreProperties>
</file>