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presProps.xml" ContentType="application/vnd.openxmlformats-officedocument.presentationml.presProps+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3"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x="10080625" cy="567055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691920" y="243360"/>
            <a:ext cx="8687520" cy="120708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Aptos Display"/>
            </a:endParaRPr>
          </a:p>
        </p:txBody>
      </p:sp>
      <p:sp>
        <p:nvSpPr>
          <p:cNvPr id="8" name="PlaceHolder 2"/>
          <p:cNvSpPr>
            <a:spLocks noGrp="1"/>
          </p:cNvSpPr>
          <p:nvPr>
            <p:ph/>
          </p:nvPr>
        </p:nvSpPr>
        <p:spPr>
          <a:xfrm>
            <a:off x="691920" y="1508400"/>
            <a:ext cx="8687520" cy="3592080"/>
          </a:xfrm>
          <a:prstGeom prst="rect">
            <a:avLst/>
          </a:prstGeom>
          <a:noFill/>
          <a:ln w="0">
            <a:noFill/>
          </a:ln>
        </p:spPr>
        <p:txBody>
          <a:bodyPr lIns="0" tIns="0" rIns="0" bIns="0" anchor="t">
            <a:normAutofit/>
          </a:bodyPr>
          <a:p>
            <a:pPr indent="0" algn="l" defTabSz="914400">
              <a:lnSpc>
                <a:spcPct val="90000"/>
              </a:lnSpc>
              <a:spcBef>
                <a:spcPts val="995"/>
              </a:spcBef>
              <a:buNone/>
            </a:pPr>
            <a:endParaRPr lang="en-US" sz="2800" b="0" u="none" strike="noStrike">
              <a:solidFill>
                <a:schemeClr val="dk1"/>
              </a:solidFill>
              <a:effectLst/>
              <a:uFillTx/>
              <a:latin typeface="Aptos"/>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49B55B4C-0D49-4A13-9E77-B7F811983515}" type="slidenum">
              <a:t>&lt;#&gt;</a:t>
            </a:fld>
          </a:p>
        </p:txBody>
      </p:sp>
      <p:sp>
        <p:nvSpPr>
          <p:cNvPr id="6" name="PlaceHolder 5"/>
          <p:cNvSpPr>
            <a:spLocks noGrp="1"/>
          </p:cNvSpPr>
          <p:nvPr>
            <p:ph type="dt" idx="1"/>
          </p:nvPr>
        </p:nvSpPr>
        <p:spPr/>
        <p:txBody>
          <a:bodyPr/>
          <a:p>
            <a:r>
              <a:rPr lang="en-AU"/>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14" name="PlaceHolder 1"/>
          <p:cNvSpPr>
            <a:spLocks noGrp="1"/>
          </p:cNvSpPr>
          <p:nvPr>
            <p:ph type="title"/>
          </p:nvPr>
        </p:nvSpPr>
        <p:spPr>
          <a:xfrm>
            <a:off x="691920" y="243360"/>
            <a:ext cx="8687520" cy="120708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Aptos Display"/>
            </a:endParaRPr>
          </a:p>
        </p:txBody>
      </p:sp>
      <p:sp>
        <p:nvSpPr>
          <p:cNvPr id="15" name="PlaceHolder 2"/>
          <p:cNvSpPr>
            <a:spLocks noGrp="1"/>
          </p:cNvSpPr>
          <p:nvPr>
            <p:ph type="subTitle"/>
          </p:nvPr>
        </p:nvSpPr>
        <p:spPr>
          <a:xfrm>
            <a:off x="691920" y="1508400"/>
            <a:ext cx="8687520" cy="3592080"/>
          </a:xfrm>
          <a:prstGeom prst="rect">
            <a:avLst/>
          </a:prstGeom>
          <a:noFill/>
          <a:ln w="0">
            <a:noFill/>
          </a:ln>
        </p:spPr>
        <p:txBody>
          <a:bodyPr lIns="0" tIns="0" rIns="0" bIns="0" anchor="ctr">
            <a:spAutoFit/>
          </a:bodyPr>
          <a:p>
            <a:pPr indent="0" algn="ctr">
              <a:buNone/>
            </a:pPr>
            <a:endParaRPr lang="en-AU" sz="3200" b="0" u="none" strike="noStrike">
              <a:solidFill>
                <a:srgbClr val="000000"/>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EF5381DD-5CB6-4C8F-B6A5-B629C273572C}" type="slidenum">
              <a:t>&lt;#&gt;</a:t>
            </a:fld>
          </a:p>
        </p:txBody>
      </p:sp>
      <p:sp>
        <p:nvSpPr>
          <p:cNvPr id="6" name="PlaceHolder 5"/>
          <p:cNvSpPr>
            <a:spLocks noGrp="1"/>
          </p:cNvSpPr>
          <p:nvPr>
            <p:ph type="dt" idx="6"/>
          </p:nvPr>
        </p:nvSpPr>
        <p:spPr/>
        <p:txBody>
          <a:bodyPr/>
          <a:p>
            <a:r>
              <a:rPr lang="en-AU"/>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16" name="PlaceHolder 1"/>
          <p:cNvSpPr>
            <a:spLocks noGrp="1"/>
          </p:cNvSpPr>
          <p:nvPr>
            <p:ph type="title"/>
          </p:nvPr>
        </p:nvSpPr>
        <p:spPr>
          <a:xfrm>
            <a:off x="691920" y="243360"/>
            <a:ext cx="8687520" cy="120708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Aptos Display"/>
            </a:endParaRPr>
          </a:p>
        </p:txBody>
      </p:sp>
      <p:sp>
        <p:nvSpPr>
          <p:cNvPr id="17" name="PlaceHolder 2"/>
          <p:cNvSpPr>
            <a:spLocks noGrp="1"/>
          </p:cNvSpPr>
          <p:nvPr>
            <p:ph/>
          </p:nvPr>
        </p:nvSpPr>
        <p:spPr>
          <a:xfrm>
            <a:off x="691920" y="1508400"/>
            <a:ext cx="8687520" cy="3592080"/>
          </a:xfrm>
          <a:prstGeom prst="rect">
            <a:avLst/>
          </a:prstGeom>
          <a:noFill/>
          <a:ln w="0">
            <a:noFill/>
          </a:ln>
        </p:spPr>
        <p:txBody>
          <a:bodyPr lIns="0" tIns="0" rIns="0" bIns="0" anchor="t">
            <a:normAutofit/>
          </a:bodyPr>
          <a:p>
            <a:pPr indent="0" algn="l" defTabSz="914400">
              <a:lnSpc>
                <a:spcPct val="90000"/>
              </a:lnSpc>
              <a:spcBef>
                <a:spcPts val="995"/>
              </a:spcBef>
              <a:buNone/>
            </a:pPr>
            <a:endParaRPr lang="en-US" sz="2800" b="0" u="none" strike="noStrike">
              <a:solidFill>
                <a:schemeClr val="dk1"/>
              </a:solidFill>
              <a:effectLst/>
              <a:uFillTx/>
              <a:latin typeface="Aptos"/>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DF6E66FD-413F-4AE3-892B-02039F78800D}" type="slidenum">
              <a:t>&lt;#&gt;</a:t>
            </a:fld>
          </a:p>
        </p:txBody>
      </p:sp>
      <p:sp>
        <p:nvSpPr>
          <p:cNvPr id="6" name="PlaceHolder 5"/>
          <p:cNvSpPr>
            <a:spLocks noGrp="1"/>
          </p:cNvSpPr>
          <p:nvPr>
            <p:ph type="dt" idx="6"/>
          </p:nvPr>
        </p:nvSpPr>
        <p:spPr/>
        <p:txBody>
          <a:bodyPr/>
          <a:p>
            <a:r>
              <a:rPr lang="en-AU"/>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91920" y="243360"/>
            <a:ext cx="8687520" cy="1207080"/>
          </a:xfrm>
          <a:prstGeom prst="rect">
            <a:avLst/>
          </a:prstGeom>
          <a:noFill/>
          <a:ln w="0">
            <a:noFill/>
          </a:ln>
        </p:spPr>
        <p:txBody>
          <a:bodyPr lIns="0" tIns="0" rIns="0" bIns="0" anchor="ctr">
            <a:spAutoFit/>
          </a:bodyPr>
          <a:p>
            <a:pPr indent="0" algn="l" defTabSz="914400">
              <a:lnSpc>
                <a:spcPct val="90000"/>
              </a:lnSpc>
              <a:buNone/>
              <a:tabLst>
                <a:tab pos="0" algn="l"/>
              </a:tabLst>
            </a:pPr>
            <a:endParaRPr lang="en-US" sz="4400" b="0" u="none" strike="noStrike">
              <a:solidFill>
                <a:schemeClr val="dk1"/>
              </a:solidFill>
              <a:effectLst/>
              <a:uFillTx/>
              <a:latin typeface="Aptos Display"/>
            </a:endParaRPr>
          </a:p>
        </p:txBody>
      </p:sp>
      <p:sp>
        <p:nvSpPr>
          <p:cNvPr id="24" name="PlaceHolder 2"/>
          <p:cNvSpPr>
            <a:spLocks noGrp="1"/>
          </p:cNvSpPr>
          <p:nvPr>
            <p:ph/>
          </p:nvPr>
        </p:nvSpPr>
        <p:spPr>
          <a:xfrm>
            <a:off x="691920" y="1508400"/>
            <a:ext cx="8687520" cy="3592080"/>
          </a:xfrm>
          <a:prstGeom prst="rect">
            <a:avLst/>
          </a:prstGeom>
          <a:noFill/>
          <a:ln w="0">
            <a:noFill/>
          </a:ln>
        </p:spPr>
        <p:txBody>
          <a:bodyPr lIns="0" tIns="0" rIns="0" bIns="0" anchor="t">
            <a:normAutofit/>
          </a:bodyPr>
          <a:p>
            <a:pPr indent="0" algn="l" defTabSz="914400">
              <a:lnSpc>
                <a:spcPct val="90000"/>
              </a:lnSpc>
              <a:spcBef>
                <a:spcPts val="995"/>
              </a:spcBef>
              <a:buNone/>
            </a:pPr>
            <a:endParaRPr lang="en-US" sz="2800" b="0" u="none" strike="noStrike">
              <a:solidFill>
                <a:schemeClr val="dk1"/>
              </a:solidFill>
              <a:effectLst/>
              <a:uFillTx/>
              <a:latin typeface="Aptos"/>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15E9F6AB-504A-419F-836A-38959757C233}" type="slidenum">
              <a:t>&lt;#&gt;</a:t>
            </a:fld>
          </a:p>
        </p:txBody>
      </p:sp>
      <p:sp>
        <p:nvSpPr>
          <p:cNvPr id="6" name="PlaceHolder 5"/>
          <p:cNvSpPr>
            <a:spLocks noGrp="1"/>
          </p:cNvSpPr>
          <p:nvPr>
            <p:ph type="dt" idx="9"/>
          </p:nvPr>
        </p:nvSpPr>
        <p:spPr/>
        <p:txBody>
          <a:bodyPr/>
          <a:p>
            <a:r>
              <a:rPr lang="en-AU"/>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lvl1pPr indent="0" algn="ctr">
              <a:buNone/>
              <a:defRPr lang="en-AU" sz="4400" b="0" u="none" strike="noStrike">
                <a:solidFill>
                  <a:srgbClr val="000000"/>
                </a:solidFill>
                <a:effectLst/>
                <a:uFillTx/>
                <a:latin typeface="Arial"/>
              </a:defRPr>
            </a:lvl1pPr>
          </a:lstStyle>
          <a:p>
            <a:pPr indent="0" algn="ctr">
              <a:buNone/>
            </a:pPr>
            <a:r>
              <a:rPr lang="en-AU" sz="4400" b="0" u="none" strike="noStrike">
                <a:solidFill>
                  <a:srgbClr val="000000"/>
                </a:solidFill>
                <a:effectLst/>
                <a:uFillTx/>
                <a:latin typeface="Arial"/>
              </a:rPr>
              <a:t>Click to edit the title text format</a:t>
            </a:r>
            <a:endParaRPr lang="en-AU" sz="4400" b="0" u="none" strike="noStrike">
              <a:solidFill>
                <a:srgbClr val="000000"/>
              </a:solidFill>
              <a:effectLst/>
              <a:uFillTx/>
              <a:latin typeface="Arial"/>
            </a:endParaRPr>
          </a:p>
        </p:txBody>
      </p:sp>
      <p:sp>
        <p:nvSpPr>
          <p:cNvPr id="3" name="PlaceHolder 2"/>
          <p:cNvSpPr>
            <a:spLocks noGrp="1"/>
          </p:cNvSpPr>
          <p:nvPr>
            <p:ph type="body"/>
          </p:nvPr>
        </p:nvSpPr>
        <p:spPr>
          <a:xfrm>
            <a:off x="504000" y="1326600"/>
            <a:ext cx="9071640" cy="328824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AU"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AU"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AU"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AU"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AU"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AU"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AU"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AU" sz="3200" b="0" u="none" strike="noStrike">
                <a:solidFill>
                  <a:srgbClr val="000000"/>
                </a:solidFill>
                <a:effectLst/>
                <a:uFillTx/>
                <a:latin typeface="Arial"/>
              </a:rPr>
              <a:t>Click to edit the outline text format</a:t>
            </a:r>
            <a:endParaRPr lang="en-AU"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AU" sz="2800" b="0" u="none" strike="noStrike">
                <a:solidFill>
                  <a:srgbClr val="000000"/>
                </a:solidFill>
                <a:effectLst/>
                <a:uFillTx/>
                <a:latin typeface="Arial"/>
              </a:rPr>
              <a:t>Second Outline Level</a:t>
            </a:r>
            <a:endParaRPr lang="en-AU"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AU" sz="2400" b="0" u="none" strike="noStrike">
                <a:solidFill>
                  <a:srgbClr val="000000"/>
                </a:solidFill>
                <a:effectLst/>
                <a:uFillTx/>
                <a:latin typeface="Arial"/>
              </a:rPr>
              <a:t>Third Outline Level</a:t>
            </a:r>
            <a:endParaRPr lang="en-AU"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AU" sz="2000" b="0" u="none" strike="noStrike">
                <a:solidFill>
                  <a:srgbClr val="000000"/>
                </a:solidFill>
                <a:effectLst/>
                <a:uFillTx/>
                <a:latin typeface="Arial"/>
              </a:rPr>
              <a:t>Fourth Outline Level</a:t>
            </a:r>
            <a:endParaRPr lang="en-AU"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AU" sz="2000" b="0" u="none" strike="noStrike">
                <a:solidFill>
                  <a:srgbClr val="000000"/>
                </a:solidFill>
                <a:effectLst/>
                <a:uFillTx/>
                <a:latin typeface="Arial"/>
              </a:rPr>
              <a:t>Fifth Outline Level</a:t>
            </a:r>
            <a:endParaRPr lang="en-AU"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AU" sz="2000" b="0" u="none" strike="noStrike">
                <a:solidFill>
                  <a:srgbClr val="000000"/>
                </a:solidFill>
                <a:effectLst/>
                <a:uFillTx/>
                <a:latin typeface="Arial"/>
              </a:rPr>
              <a:t>Sixth Outline Level</a:t>
            </a:r>
            <a:endParaRPr lang="en-AU"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AU" sz="2000" b="0" u="none" strike="noStrike">
                <a:solidFill>
                  <a:srgbClr val="000000"/>
                </a:solidFill>
                <a:effectLst/>
                <a:uFillTx/>
                <a:latin typeface="Arial"/>
              </a:rPr>
              <a:t>Seventh Outline Level</a:t>
            </a:r>
            <a:endParaRPr lang="en-AU" sz="2000" b="0" u="none" strike="noStrike">
              <a:solidFill>
                <a:srgbClr val="000000"/>
              </a:solidFill>
              <a:effectLst/>
              <a:uFillTx/>
              <a:latin typeface="Arial"/>
            </a:endParaRPr>
          </a:p>
        </p:txBody>
      </p:sp>
      <p:sp>
        <p:nvSpPr>
          <p:cNvPr id="4" name="PlaceHolder 3"/>
          <p:cNvSpPr>
            <a:spLocks noGrp="1"/>
          </p:cNvSpPr>
          <p:nvPr>
            <p:ph type="dt" idx="1"/>
          </p:nvPr>
        </p:nvSpPr>
        <p:spPr>
          <a:xfrm>
            <a:off x="504000" y="5165280"/>
            <a:ext cx="2348280" cy="390600"/>
          </a:xfrm>
          <a:prstGeom prst="rect">
            <a:avLst/>
          </a:prstGeom>
          <a:noFill/>
          <a:ln w="0">
            <a:noFill/>
          </a:ln>
        </p:spPr>
        <p:txBody>
          <a:bodyPr lIns="0" tIns="0" rIns="0" bIns="0" anchor="t">
            <a:noAutofit/>
          </a:bodyPr>
          <a:lstStyle>
            <a:lvl1pPr indent="0" algn="l">
              <a:buNone/>
              <a:defRPr lang="en-AU" sz="1400" b="0" u="none" strike="noStrike">
                <a:solidFill>
                  <a:srgbClr val="000000"/>
                </a:solidFill>
                <a:effectLst/>
                <a:uFillTx/>
                <a:latin typeface="Times New Roman"/>
              </a:defRPr>
            </a:lvl1pPr>
          </a:lstStyle>
          <a:p>
            <a:pPr indent="0" algn="l">
              <a:buNone/>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
        <p:nvSpPr>
          <p:cNvPr id="5" name="PlaceHolder 4"/>
          <p:cNvSpPr>
            <a:spLocks noGrp="1"/>
          </p:cNvSpPr>
          <p:nvPr>
            <p:ph type="ftr" idx="2"/>
          </p:nvPr>
        </p:nvSpPr>
        <p:spPr>
          <a:xfrm>
            <a:off x="3447360" y="5165280"/>
            <a:ext cx="3195000" cy="390600"/>
          </a:xfrm>
          <a:prstGeom prst="rect">
            <a:avLst/>
          </a:prstGeom>
          <a:noFill/>
          <a:ln w="0">
            <a:noFill/>
          </a:ln>
        </p:spPr>
        <p:txBody>
          <a:bodyPr lIns="0" tIns="0" rIns="0" bIns="0" anchor="t">
            <a:noAutofit/>
          </a:bodyPr>
          <a:lstStyle>
            <a:lvl1pPr indent="0" algn="ctr">
              <a:buNone/>
              <a:defRPr lang="en-AU" sz="1400" b="0" u="none" strike="noStrike">
                <a:solidFill>
                  <a:srgbClr val="000000"/>
                </a:solidFill>
                <a:effectLst/>
                <a:uFillTx/>
                <a:latin typeface="Times New Roman"/>
              </a:defRPr>
            </a:lvl1pPr>
          </a:lstStyle>
          <a:p>
            <a:pPr indent="0" algn="ctr">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6" name="PlaceHolder 5"/>
          <p:cNvSpPr>
            <a:spLocks noGrp="1"/>
          </p:cNvSpPr>
          <p:nvPr>
            <p:ph type="sldNum" idx="3"/>
          </p:nvPr>
        </p:nvSpPr>
        <p:spPr>
          <a:xfrm>
            <a:off x="7227360" y="5165280"/>
            <a:ext cx="2348280" cy="390600"/>
          </a:xfrm>
          <a:prstGeom prst="rect">
            <a:avLst/>
          </a:prstGeom>
          <a:noFill/>
          <a:ln w="0">
            <a:noFill/>
          </a:ln>
        </p:spPr>
        <p:txBody>
          <a:bodyPr lIns="0" tIns="0" rIns="0" bIns="0" anchor="t">
            <a:noAutofit/>
          </a:bodyPr>
          <a:lstStyle>
            <a:lvl1pPr indent="0" algn="r">
              <a:buNone/>
              <a:defRPr lang="en-AU" sz="1400" b="0" u="none" strike="noStrike">
                <a:solidFill>
                  <a:srgbClr val="000000"/>
                </a:solidFill>
                <a:effectLst/>
                <a:uFillTx/>
                <a:latin typeface="Times New Roman"/>
              </a:defRPr>
            </a:lvl1pPr>
          </a:lstStyle>
          <a:p>
            <a:pPr indent="0" algn="r">
              <a:buNone/>
            </a:pPr>
            <a:fld id="{60885F12-DDB5-41A4-9149-1F37AA5FB7E6}" type="slidenum">
              <a:rPr lang="en-AU" sz="1400" b="0" u="none" strike="noStrike">
                <a:solidFill>
                  <a:srgbClr val="000000"/>
                </a:solidFill>
                <a:effectLst/>
                <a:uFillTx/>
                <a:latin typeface="Times New Roman"/>
              </a:rPr>
              <a:t>&lt;number&gt;</a:t>
            </a:fld>
            <a:endParaRPr lang="en-AU"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691920" y="24480"/>
            <a:ext cx="8687520" cy="164628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6000" b="0" u="none" strike="noStrike">
                <a:solidFill>
                  <a:schemeClr val="dk1"/>
                </a:solidFill>
                <a:effectLst/>
                <a:uFillTx/>
                <a:latin typeface="Aptos Display"/>
              </a:defRPr>
            </a:lvl1pPr>
          </a:lstStyle>
          <a:p>
            <a:pPr indent="0" algn="l" defTabSz="914400">
              <a:lnSpc>
                <a:spcPct val="90000"/>
              </a:lnSpc>
              <a:buNone/>
              <a:tabLst>
                <a:tab pos="0" algn="l"/>
              </a:tabLst>
            </a:pPr>
            <a:r>
              <a:rPr lang="en-US" sz="6000" b="0" u="none" strike="noStrike">
                <a:solidFill>
                  <a:schemeClr val="dk1"/>
                </a:solidFill>
                <a:effectLst/>
                <a:uFillTx/>
                <a:latin typeface="Aptos Display"/>
              </a:rPr>
              <a:t>Click to edit the title text format</a:t>
            </a:r>
            <a:endParaRPr lang="en-US" sz="6000" b="0" u="none" strike="noStrike">
              <a:solidFill>
                <a:schemeClr val="dk1"/>
              </a:solidFill>
              <a:effectLst/>
              <a:uFillTx/>
              <a:latin typeface="Aptos Display"/>
            </a:endParaRPr>
          </a:p>
        </p:txBody>
      </p:sp>
      <p:sp>
        <p:nvSpPr>
          <p:cNvPr id="10" name="PlaceHolder 2"/>
          <p:cNvSpPr>
            <a:spLocks noGrp="1"/>
          </p:cNvSpPr>
          <p:nvPr>
            <p:ph type="ftr" idx="4"/>
          </p:nvPr>
        </p:nvSpPr>
        <p:spPr>
          <a:xfrm>
            <a:off x="4037400" y="6353280"/>
            <a:ext cx="4108680" cy="3600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11" name="PlaceHolder 3"/>
          <p:cNvSpPr>
            <a:spLocks noGrp="1"/>
          </p:cNvSpPr>
          <p:nvPr>
            <p:ph type="sldNum" idx="5"/>
          </p:nvPr>
        </p:nvSpPr>
        <p:spPr>
          <a:xfrm>
            <a:off x="8608320" y="6353280"/>
            <a:ext cx="2737080" cy="3600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23571A5D-66B5-47D3-855E-EDD5282304F7}" type="slidenum">
              <a:rPr lang="en-AU"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12" name="PlaceHolder 4"/>
          <p:cNvSpPr>
            <a:spLocks noGrp="1"/>
          </p:cNvSpPr>
          <p:nvPr>
            <p:ph type="dt" idx="6"/>
          </p:nvPr>
        </p:nvSpPr>
        <p:spPr>
          <a:xfrm>
            <a:off x="837000" y="6353280"/>
            <a:ext cx="2737080" cy="3600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AU" sz="1400" b="0" u="none" strike="noStrike">
                <a:solidFill>
                  <a:srgbClr val="000000"/>
                </a:solidFill>
                <a:effectLst/>
                <a:uFillTx/>
                <a:latin typeface="Times New Roman"/>
              </a:defRPr>
            </a:lvl1pPr>
          </a:lstStyle>
          <a:p>
            <a:pPr indent="0" algn="l">
              <a:lnSpc>
                <a:spcPct val="100000"/>
              </a:lnSpc>
              <a:buNone/>
              <a:tabLst>
                <a:tab pos="0" algn="l"/>
              </a:tabLst>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
        <p:nvSpPr>
          <p:cNvPr id="13" name="PlaceHolder 5"/>
          <p:cNvSpPr>
            <a:spLocks noGrp="1"/>
          </p:cNvSpPr>
          <p:nvPr>
            <p:ph type="body"/>
          </p:nvPr>
        </p:nvSpPr>
        <p:spPr>
          <a:xfrm>
            <a:off x="503640" y="1326240"/>
            <a:ext cx="9070560" cy="32875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indent="-3240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clrMap bg1="lt1" tx1="dk1" bg2="lt2" tx2="dk2" accent1="accent1" accent2="accent2" accent3="accent3" accent4="accent4" accent5="accent5" accent6="accent6" hlink="hlink" folHlink="folHlink"/>
  <p:sldLayoutIdLst>
    <p:sldLayoutId id="2147483651" r:id="rId2"/>
    <p:sldLayoutId id="2147483652"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691920" y="243360"/>
            <a:ext cx="8687520" cy="120708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the title text format</a:t>
            </a:r>
            <a:endParaRPr lang="en-US" sz="4400" b="0" u="none" strike="noStrike">
              <a:solidFill>
                <a:schemeClr val="dk1"/>
              </a:solidFill>
              <a:effectLst/>
              <a:uFillTx/>
              <a:latin typeface="Aptos Display"/>
            </a:endParaRPr>
          </a:p>
        </p:txBody>
      </p:sp>
      <p:sp>
        <p:nvSpPr>
          <p:cNvPr id="19" name="PlaceHolder 2"/>
          <p:cNvSpPr>
            <a:spLocks noGrp="1"/>
          </p:cNvSpPr>
          <p:nvPr>
            <p:ph type="body"/>
          </p:nvPr>
        </p:nvSpPr>
        <p:spPr>
          <a:xfrm>
            <a:off x="691920" y="1508400"/>
            <a:ext cx="8687520" cy="3592080"/>
          </a:xfrm>
          <a:prstGeom prst="rect">
            <a:avLst/>
          </a:prstGeom>
          <a:noFill/>
          <a:ln w="0">
            <a:noFill/>
          </a:ln>
        </p:spPr>
        <p:txBody>
          <a:bodyPr lIns="0" tIns="0" rIns="0" bIns="0" anchor="t">
            <a:normAutofit/>
          </a:bodyPr>
          <a:lstStyle>
            <a:lvl1pPr algn="l" defTabSz="914400">
              <a:lnSpc>
                <a:spcPct val="90000"/>
              </a:lnSpc>
              <a:spcBef>
                <a:spcPts val="998"/>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6"/>
              </a:spcBef>
              <a:buClr>
                <a:srgbClr val="000000"/>
              </a:buClr>
              <a:buSzPct val="75000"/>
              <a:buFont typeface="Symbol" charset="2"/>
              <a:buChar char=""/>
              <a:defRPr lang="en-US" sz="2800" b="0" u="none" strike="noStrike">
                <a:solidFill>
                  <a:schemeClr val="dk1"/>
                </a:solidFill>
                <a:effectLst/>
                <a:uFillTx/>
                <a:latin typeface="Aptos"/>
              </a:defRPr>
            </a:lvl2pPr>
            <a:lvl3pPr lvl="2" algn="l" defTabSz="914400">
              <a:lnSpc>
                <a:spcPct val="90000"/>
              </a:lnSpc>
              <a:spcBef>
                <a:spcPts val="496"/>
              </a:spcBef>
              <a:buClr>
                <a:srgbClr val="000000"/>
              </a:buClr>
              <a:buSzPct val="45000"/>
              <a:buFont typeface="Wingdings" charset="2"/>
              <a:buChar char=""/>
              <a:defRPr lang="en-US" sz="2800" b="0" u="none" strike="noStrike">
                <a:solidFill>
                  <a:schemeClr val="dk1"/>
                </a:solidFill>
                <a:effectLst/>
                <a:uFillTx/>
                <a:latin typeface="Aptos"/>
              </a:defRPr>
            </a:lvl3pPr>
            <a:lvl4pPr lvl="3" algn="l" defTabSz="914400">
              <a:lnSpc>
                <a:spcPct val="90000"/>
              </a:lnSpc>
              <a:spcBef>
                <a:spcPts val="496"/>
              </a:spcBef>
              <a:buClr>
                <a:srgbClr val="000000"/>
              </a:buClr>
              <a:buSzPct val="75000"/>
              <a:buFont typeface="Symbol" charset="2"/>
              <a:buChar char=""/>
              <a:defRPr lang="en-US" sz="2800" b="0" u="none" strike="noStrike">
                <a:solidFill>
                  <a:schemeClr val="dk1"/>
                </a:solidFill>
                <a:effectLst/>
                <a:uFillTx/>
                <a:latin typeface="Aptos"/>
              </a:defRPr>
            </a:lvl4pPr>
            <a:lvl5pPr lvl="4" algn="l" defTabSz="914400">
              <a:lnSpc>
                <a:spcPct val="90000"/>
              </a:lnSpc>
              <a:spcBef>
                <a:spcPts val="496"/>
              </a:spcBef>
              <a:buClr>
                <a:srgbClr val="000000"/>
              </a:buClr>
              <a:buSzPct val="45000"/>
              <a:buFont typeface="Wingdings" charset="2"/>
              <a:buChar char=""/>
              <a:defRPr lang="en-US" sz="2800" b="0" u="none" strike="noStrike">
                <a:solidFill>
                  <a:schemeClr val="dk1"/>
                </a:solidFill>
                <a:effectLst/>
                <a:uFillTx/>
                <a:latin typeface="Aptos"/>
              </a:defRPr>
            </a:lvl5pPr>
            <a:lvl6pPr lvl="5" algn="l" defTabSz="914400">
              <a:lnSpc>
                <a:spcPct val="90000"/>
              </a:lnSpc>
              <a:spcBef>
                <a:spcPts val="281"/>
              </a:spcBef>
              <a:buClr>
                <a:srgbClr val="000000"/>
              </a:buClr>
              <a:buSzPct val="45000"/>
              <a:buFont typeface="Wingdings" charset="2"/>
              <a:buChar char=""/>
              <a:defRPr lang="en-US" sz="2800" b="0" u="none" strike="noStrike">
                <a:solidFill>
                  <a:schemeClr val="dk1"/>
                </a:solidFill>
                <a:effectLst/>
                <a:uFillTx/>
                <a:latin typeface="Aptos"/>
              </a:defRPr>
            </a:lvl6pPr>
            <a:lvl7pPr lvl="6" algn="l" defTabSz="914400">
              <a:lnSpc>
                <a:spcPct val="90000"/>
              </a:lnSpc>
              <a:spcBef>
                <a:spcPts val="281"/>
              </a:spcBef>
              <a:buClr>
                <a:srgbClr val="000000"/>
              </a:buClr>
              <a:buSzPct val="45000"/>
              <a:buFont typeface="Wingdings" charset="2"/>
              <a:buChar char=""/>
              <a:defRPr lang="en-US" sz="2800" b="0" u="none" strike="noStrike">
                <a:solidFill>
                  <a:schemeClr val="dk1"/>
                </a:solidFill>
                <a:effectLst/>
                <a:uFillTx/>
                <a:latin typeface="Aptos"/>
              </a:defRPr>
            </a:lvl7pPr>
          </a:lstStyle>
          <a:p>
            <a:pPr indent="-324000" algn="l" defTabSz="914400">
              <a:lnSpc>
                <a:spcPct val="90000"/>
              </a:lnSpc>
              <a:spcBef>
                <a:spcPts val="998"/>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6"/>
              </a:spcBef>
              <a:buClr>
                <a:srgbClr val="000000"/>
              </a:buClr>
              <a:buSzPct val="75000"/>
              <a:buFont typeface="Symbol" charset="2"/>
              <a:buChar char=""/>
            </a:pPr>
            <a:r>
              <a:rPr lang="en-US" sz="2800" b="0" u="none" strike="noStrike">
                <a:solidFill>
                  <a:schemeClr val="dk1"/>
                </a:solidFill>
                <a:effectLst/>
                <a:uFillTx/>
                <a:latin typeface="Aptos"/>
              </a:rPr>
              <a:t>Second Outline Level</a:t>
            </a:r>
            <a:endParaRPr lang="en-US" sz="2800" b="0" u="none" strike="noStrike">
              <a:solidFill>
                <a:schemeClr val="dk1"/>
              </a:solidFill>
              <a:effectLst/>
              <a:uFillTx/>
              <a:latin typeface="Aptos"/>
            </a:endParaRPr>
          </a:p>
          <a:p>
            <a:pPr marL="1296000" lvl="2" indent="-288000" algn="l" defTabSz="914400">
              <a:lnSpc>
                <a:spcPct val="90000"/>
              </a:lnSpc>
              <a:spcBef>
                <a:spcPts val="496"/>
              </a:spcBef>
              <a:buClr>
                <a:srgbClr val="000000"/>
              </a:buClr>
              <a:buSzPct val="45000"/>
              <a:buFont typeface="Wingdings" charset="2"/>
              <a:buChar char=""/>
            </a:pPr>
            <a:r>
              <a:rPr lang="en-US" sz="2800" b="0" u="none" strike="noStrike">
                <a:solidFill>
                  <a:schemeClr val="dk1"/>
                </a:solidFill>
                <a:effectLst/>
                <a:uFillTx/>
                <a:latin typeface="Aptos"/>
              </a:rPr>
              <a:t>Third Outline Level</a:t>
            </a:r>
            <a:endParaRPr lang="en-US" sz="2800" b="0" u="none" strike="noStrike">
              <a:solidFill>
                <a:schemeClr val="dk1"/>
              </a:solidFill>
              <a:effectLst/>
              <a:uFillTx/>
              <a:latin typeface="Aptos"/>
            </a:endParaRPr>
          </a:p>
          <a:p>
            <a:pPr marL="1728000" lvl="3" indent="-216000" algn="l" defTabSz="914400">
              <a:lnSpc>
                <a:spcPct val="90000"/>
              </a:lnSpc>
              <a:spcBef>
                <a:spcPts val="496"/>
              </a:spcBef>
              <a:buClr>
                <a:srgbClr val="000000"/>
              </a:buClr>
              <a:buSzPct val="75000"/>
              <a:buFont typeface="Symbol" charset="2"/>
              <a:buChar char=""/>
            </a:pPr>
            <a:r>
              <a:rPr lang="en-US" sz="2800" b="0" u="none" strike="noStrike">
                <a:solidFill>
                  <a:schemeClr val="dk1"/>
                </a:solidFill>
                <a:effectLst/>
                <a:uFillTx/>
                <a:latin typeface="Aptos"/>
              </a:rPr>
              <a:t>Fourth Outline Level</a:t>
            </a:r>
            <a:endParaRPr lang="en-US" sz="2800" b="0" u="none" strike="noStrike">
              <a:solidFill>
                <a:schemeClr val="dk1"/>
              </a:solidFill>
              <a:effectLst/>
              <a:uFillTx/>
              <a:latin typeface="Aptos"/>
            </a:endParaRPr>
          </a:p>
          <a:p>
            <a:pPr marL="2160000" lvl="4" indent="-216000" algn="l" defTabSz="914400">
              <a:lnSpc>
                <a:spcPct val="90000"/>
              </a:lnSpc>
              <a:spcBef>
                <a:spcPts val="496"/>
              </a:spcBef>
              <a:buClr>
                <a:srgbClr val="000000"/>
              </a:buClr>
              <a:buSzPct val="45000"/>
              <a:buFont typeface="Wingdings" charset="2"/>
              <a:buChar char=""/>
            </a:pPr>
            <a:r>
              <a:rPr lang="en-US" sz="2800" b="0" u="none" strike="noStrike">
                <a:solidFill>
                  <a:schemeClr val="dk1"/>
                </a:solidFill>
                <a:effectLst/>
                <a:uFillTx/>
                <a:latin typeface="Aptos"/>
              </a:rPr>
              <a:t>Fifth Outline Level</a:t>
            </a:r>
            <a:endParaRPr lang="en-US" sz="2800" b="0" u="none" strike="noStrike">
              <a:solidFill>
                <a:schemeClr val="dk1"/>
              </a:solidFill>
              <a:effectLst/>
              <a:uFillTx/>
              <a:latin typeface="Aptos"/>
            </a:endParaRPr>
          </a:p>
          <a:p>
            <a:pPr marL="2592000" lvl="5" indent="-216000" algn="l" defTabSz="914400">
              <a:lnSpc>
                <a:spcPct val="90000"/>
              </a:lnSpc>
              <a:spcBef>
                <a:spcPts val="281"/>
              </a:spcBef>
              <a:buClr>
                <a:srgbClr val="000000"/>
              </a:buClr>
              <a:buSzPct val="45000"/>
              <a:buFont typeface="Wingdings" charset="2"/>
              <a:buChar char=""/>
            </a:pPr>
            <a:r>
              <a:rPr lang="en-US" sz="2800" b="0" u="none" strike="noStrike">
                <a:solidFill>
                  <a:schemeClr val="dk1"/>
                </a:solidFill>
                <a:effectLst/>
                <a:uFillTx/>
                <a:latin typeface="Aptos"/>
              </a:rPr>
              <a:t>Sixth Outline Level</a:t>
            </a:r>
            <a:endParaRPr lang="en-US" sz="2800" b="0" u="none" strike="noStrike">
              <a:solidFill>
                <a:schemeClr val="dk1"/>
              </a:solidFill>
              <a:effectLst/>
              <a:uFillTx/>
              <a:latin typeface="Aptos"/>
            </a:endParaRPr>
          </a:p>
          <a:p>
            <a:pPr marL="3024000" lvl="6" indent="-216000" algn="l" defTabSz="914400">
              <a:lnSpc>
                <a:spcPct val="90000"/>
              </a:lnSpc>
              <a:spcBef>
                <a:spcPts val="281"/>
              </a:spcBef>
              <a:buClr>
                <a:srgbClr val="000000"/>
              </a:buClr>
              <a:buSzPct val="45000"/>
              <a:buFont typeface="Wingdings" charset="2"/>
              <a:buChar char=""/>
            </a:pPr>
            <a:r>
              <a:rPr lang="en-US" sz="2800" b="0" u="none" strike="noStrike">
                <a:solidFill>
                  <a:schemeClr val="dk1"/>
                </a:solidFill>
                <a:effectLst/>
                <a:uFillTx/>
                <a:latin typeface="Aptos"/>
              </a:rPr>
              <a:t>Seventh Outline Level</a:t>
            </a:r>
            <a:endParaRPr lang="en-US" sz="2800" b="0" u="none" strike="noStrike">
              <a:solidFill>
                <a:schemeClr val="dk1"/>
              </a:solidFill>
              <a:effectLst/>
              <a:uFillTx/>
              <a:latin typeface="Aptos"/>
            </a:endParaRPr>
          </a:p>
        </p:txBody>
      </p:sp>
      <p:sp>
        <p:nvSpPr>
          <p:cNvPr id="20" name="PlaceHolder 3"/>
          <p:cNvSpPr>
            <a:spLocks noGrp="1"/>
          </p:cNvSpPr>
          <p:nvPr>
            <p:ph type="ftr" idx="7"/>
          </p:nvPr>
        </p:nvSpPr>
        <p:spPr>
          <a:xfrm>
            <a:off x="3337920" y="5253840"/>
            <a:ext cx="3396240" cy="2970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21" name="PlaceHolder 4"/>
          <p:cNvSpPr>
            <a:spLocks noGrp="1"/>
          </p:cNvSpPr>
          <p:nvPr>
            <p:ph type="sldNum" idx="8"/>
          </p:nvPr>
        </p:nvSpPr>
        <p:spPr>
          <a:xfrm>
            <a:off x="7117200" y="5253840"/>
            <a:ext cx="2262960" cy="2970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93B22271-84B0-4873-BF80-BF7B2D9F9C6C}" type="slidenum">
              <a:rPr lang="en-AU"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
        <p:nvSpPr>
          <p:cNvPr id="22" name="PlaceHolder 5"/>
          <p:cNvSpPr>
            <a:spLocks noGrp="1"/>
          </p:cNvSpPr>
          <p:nvPr>
            <p:ph type="dt" idx="9"/>
          </p:nvPr>
        </p:nvSpPr>
        <p:spPr>
          <a:xfrm>
            <a:off x="691920" y="5253840"/>
            <a:ext cx="2262960" cy="29700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AU" sz="1400" b="0" u="none" strike="noStrike">
                <a:solidFill>
                  <a:srgbClr val="000000"/>
                </a:solidFill>
                <a:effectLst/>
                <a:uFillTx/>
                <a:latin typeface="Times New Roman"/>
              </a:defRPr>
            </a:lvl1pPr>
          </a:lstStyle>
          <a:p>
            <a:pPr indent="0" algn="l">
              <a:lnSpc>
                <a:spcPct val="100000"/>
              </a:lnSpc>
              <a:buNone/>
              <a:tabLst>
                <a:tab pos="0" algn="l"/>
              </a:tabLst>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4"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4.xml"/>
</Relationships>
</file>

<file path=ppt/slides/_rels/slide21.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useBgFill="1">
        <p:nvSpPr>
          <p:cNvPr id="25" name="Rectangle 20">
            <a:extLst>
              <a:ext uri="{C183D7F6-B498-43B3-948B-1728B52AA6E4}">
                <adec:decorative xmlns:adec="http://schemas.microsoft.com/office/drawing/2017/decorative" val="1"/>
              </a:ext>
            </a:extLst>
          </p:cNvPr>
          <p:cNvSpPr/>
          <p:nvPr/>
        </p:nvSpPr>
        <p:spPr>
          <a:xfrm>
            <a:off x="0" y="0"/>
            <a:ext cx="12181680" cy="6850800"/>
          </a:xfrm>
          <a:prstGeom prst="rect">
            <a:avLst/>
          </a:prstGeom>
          <a:ln w="190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26" name="PlaceHolder 1"/>
          <p:cNvSpPr>
            <a:spLocks noGrp="1"/>
          </p:cNvSpPr>
          <p:nvPr>
            <p:ph type="title"/>
          </p:nvPr>
        </p:nvSpPr>
        <p:spPr>
          <a:xfrm>
            <a:off x="34920" y="178920"/>
            <a:ext cx="4280400" cy="542448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n-US" sz="4400" b="0" u="none" strike="noStrike">
                <a:solidFill>
                  <a:schemeClr val="dk1"/>
                </a:solidFill>
                <a:effectLst/>
                <a:uFillTx/>
                <a:latin typeface="Arial"/>
              </a:rPr>
              <a:t>Multicast</a:t>
            </a:r>
            <a:endParaRPr lang="en-US" sz="4400" b="0" u="none" strike="noStrike">
              <a:solidFill>
                <a:schemeClr val="dk1"/>
              </a:solidFill>
              <a:effectLst/>
              <a:uFillTx/>
              <a:latin typeface="Aptos Display"/>
            </a:endParaRPr>
          </a:p>
        </p:txBody>
      </p:sp>
      <p:sp>
        <p:nvSpPr>
          <p:cNvPr id="27" name="sketch line 2">
            <a:extLst>
              <a:ext uri="{C183D7F6-B498-43B3-948B-1728B52AA6E4}">
                <adec:decorative xmlns:adec="http://schemas.microsoft.com/office/drawing/2017/decorative" val="1"/>
              </a:ext>
            </a:extLst>
          </p:cNvPr>
          <p:cNvSpPr/>
          <p:nvPr/>
        </p:nvSpPr>
        <p:spPr>
          <a:xfrm rot="5400000">
            <a:off x="2548800" y="3256200"/>
            <a:ext cx="4473360" cy="13320"/>
          </a:xfrm>
          <a:custGeom>
            <a:avLst/>
            <a:gdLst>
              <a:gd name="textAreaLeft" fmla="*/ 0 w 4473360"/>
              <a:gd name="textAreaRight" fmla="*/ 4477320 w 4473360"/>
              <a:gd name="textAreaTop" fmla="*/ 0 h 13320"/>
              <a:gd name="textAreaBottom" fmla="*/ 18360 h 13320"/>
              <a:gd name="GluePoint1X" fmla="*/ 0 w 4480560"/>
              <a:gd name="GluePoint1Y" fmla="*/ 0 h 18288"/>
              <a:gd name="GluePoint2X" fmla="*/ 595274 w 4480560"/>
              <a:gd name="GluePoint2Y" fmla="*/ 0 h 18288"/>
              <a:gd name="GluePoint3X" fmla="*/ 1100938 w 4480560"/>
              <a:gd name="GluePoint3Y" fmla="*/ 0 h 18288"/>
              <a:gd name="GluePoint4X" fmla="*/ 1651406 w 4480560"/>
              <a:gd name="GluePoint4Y" fmla="*/ 0 h 18288"/>
              <a:gd name="GluePoint5X" fmla="*/ 2336292 w 4480560"/>
              <a:gd name="GluePoint5Y" fmla="*/ 0 h 18288"/>
              <a:gd name="GluePoint6X" fmla="*/ 2931566 w 4480560"/>
              <a:gd name="GluePoint6Y" fmla="*/ 0 h 18288"/>
              <a:gd name="GluePoint7X" fmla="*/ 3482035 w 4480560"/>
              <a:gd name="GluePoint7Y" fmla="*/ 0 h 18288"/>
              <a:gd name="GluePoint8X" fmla="*/ 4480560 w 4480560"/>
              <a:gd name="GluePoint8Y" fmla="*/ 0 h 18288"/>
              <a:gd name="GluePoint9X" fmla="*/ 4480560 w 4480560"/>
              <a:gd name="GluePoint9Y" fmla="*/ 18288 h 18288"/>
              <a:gd name="GluePoint10X" fmla="*/ 3840480 w 4480560"/>
              <a:gd name="GluePoint10Y" fmla="*/ 18288 h 18288"/>
              <a:gd name="GluePoint11X" fmla="*/ 3290011 w 4480560"/>
              <a:gd name="GluePoint11Y" fmla="*/ 18288 h 18288"/>
              <a:gd name="GluePoint12X" fmla="*/ 2560320 w 4480560"/>
              <a:gd name="GluePoint12Y" fmla="*/ 18288 h 18288"/>
              <a:gd name="GluePoint13X" fmla="*/ 1965046 w 4480560"/>
              <a:gd name="GluePoint13Y" fmla="*/ 18288 h 18288"/>
              <a:gd name="GluePoint14X" fmla="*/ 1459382 w 4480560"/>
              <a:gd name="GluePoint14Y" fmla="*/ 18288 h 18288"/>
              <a:gd name="GluePoint15X" fmla="*/ 774497 w 4480560"/>
              <a:gd name="GluePoint15Y" fmla="*/ 18288 h 18288"/>
              <a:gd name="GluePoint16X" fmla="*/ 0 w 4480560"/>
              <a:gd name="GluePoint16Y" fmla="*/ 18288 h 18288"/>
              <a:gd name="GluePoint17X" fmla="*/ 0 w 4480560"/>
              <a:gd name="GluePoint17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Lst>
            <a:rect l="textAreaLeft" t="textAreaTop" r="textAreaRight" b="textAreaBottom"/>
            <a:pathLst>
              <a:path fill="none" w="4480560" h="18288">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stroke="0" w="4480560" h="18288">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cap="rnd" w="41400">
            <a:solidFill>
              <a:srgbClr val="E97132"/>
            </a:solidFill>
            <a:round/>
          </a:ln>
        </p:spPr>
        <p:style>
          <a:lnRef idx="0"/>
          <a:fillRef idx="0"/>
          <a:effectRef idx="0"/>
          <a:fontRef idx="minor"/>
        </p:style>
        <p:txBody>
          <a:bodyPr lIns="90000" tIns="-26640" rIns="90000" bIns="-26640" anchor="ctr">
            <a:noAutofit/>
          </a:bodyPr>
          <a:p>
            <a:endParaRPr lang="en-US" sz="1800" b="0" u="none" strike="noStrike">
              <a:solidFill>
                <a:schemeClr val="lt1"/>
              </a:solidFill>
              <a:effectLst/>
              <a:uFillTx/>
              <a:latin typeface="Aptos"/>
            </a:endParaRPr>
          </a:p>
        </p:txBody>
      </p:sp>
      <p:sp>
        <p:nvSpPr>
          <p:cNvPr id="28" name="PlaceHolder 2"/>
          <p:cNvSpPr>
            <a:spLocks noGrp="1"/>
          </p:cNvSpPr>
          <p:nvPr>
            <p:ph type="subTitle"/>
          </p:nvPr>
        </p:nvSpPr>
        <p:spPr>
          <a:xfrm>
            <a:off x="4756320" y="264240"/>
            <a:ext cx="7119720" cy="6273720"/>
          </a:xfrm>
          <a:prstGeom prst="rect">
            <a:avLst/>
          </a:prstGeom>
          <a:noFill/>
          <a:ln w="0">
            <a:noFill/>
          </a:ln>
        </p:spPr>
        <p:txBody>
          <a:bodyPr lIns="91440" tIns="45720" rIns="91440" bIns="45720" anchor="ctr">
            <a:noAutofit/>
          </a:bodyPr>
          <a:p>
            <a:pPr indent="0" algn="l" defTabSz="914400">
              <a:lnSpc>
                <a:spcPct val="90000"/>
              </a:lnSpc>
              <a:spcBef>
                <a:spcPts val="1001"/>
              </a:spcBef>
              <a:buNone/>
              <a:tabLst>
                <a:tab pos="0" algn="l"/>
              </a:tabLst>
            </a:pPr>
            <a:r>
              <a:rPr lang="en-US" sz="2400" b="1" u="none" strike="noStrike">
                <a:solidFill>
                  <a:schemeClr val="dk1"/>
                </a:solidFill>
                <a:effectLst/>
                <a:uFillTx/>
                <a:latin typeface="Arial"/>
              </a:rPr>
              <a:t>Learning Outcomes:</a:t>
            </a:r>
            <a:endParaRPr lang="en-AU" sz="2400" b="0" u="none" strike="noStrike">
              <a:solidFill>
                <a:srgbClr val="000000"/>
              </a:solidFill>
              <a:effectLst/>
              <a:uFillTx/>
              <a:latin typeface="Arial"/>
            </a:endParaRPr>
          </a:p>
          <a:p>
            <a:pPr marL="216000" indent="-228600" algn="l" defTabSz="914400">
              <a:lnSpc>
                <a:spcPct val="90000"/>
              </a:lnSpc>
              <a:spcBef>
                <a:spcPts val="1001"/>
              </a:spcBef>
              <a:buClr>
                <a:srgbClr val="000000"/>
              </a:buClr>
              <a:buFont typeface="OpenSymbol"/>
              <a:buAutoNum type="arabicPeriod"/>
              <a:tabLst>
                <a:tab pos="0" algn="l"/>
              </a:tabLst>
            </a:pPr>
            <a:r>
              <a:rPr lang="en-US" sz="2400" b="1" u="none" strike="noStrike">
                <a:solidFill>
                  <a:schemeClr val="accent6"/>
                </a:solidFill>
                <a:effectLst/>
                <a:uFillTx/>
                <a:latin typeface="Arial"/>
              </a:rPr>
              <a:t>Multicast Fundamentals</a:t>
            </a:r>
            <a:endParaRPr lang="en-AU" sz="2400" b="0" u="none" strike="noStrike">
              <a:solidFill>
                <a:srgbClr val="000000"/>
              </a:solidFill>
              <a:effectLst/>
              <a:uFillTx/>
              <a:latin typeface="Arial"/>
            </a:endParaRPr>
          </a:p>
          <a:p>
            <a:pPr marL="216000" indent="-228600" algn="l" defTabSz="914400">
              <a:lnSpc>
                <a:spcPct val="90000"/>
              </a:lnSpc>
              <a:spcBef>
                <a:spcPts val="499"/>
              </a:spcBef>
              <a:buClr>
                <a:srgbClr val="000000"/>
              </a:buClr>
              <a:buFont typeface="OpenSymbol"/>
              <a:buAutoNum type="arabicPeriod"/>
              <a:tabLst>
                <a:tab pos="0" algn="l"/>
              </a:tabLst>
            </a:pPr>
            <a:r>
              <a:rPr lang="en-US" sz="2400" b="1" u="none" strike="noStrike">
                <a:solidFill>
                  <a:schemeClr val="accent6"/>
                </a:solidFill>
                <a:effectLst/>
                <a:uFillTx/>
                <a:latin typeface="Arial"/>
              </a:rPr>
              <a:t>Multicast Addressing </a:t>
            </a:r>
            <a:endParaRPr lang="en-AU" sz="2400" b="0" u="none" strike="noStrike">
              <a:solidFill>
                <a:srgbClr val="000000"/>
              </a:solidFill>
              <a:effectLst/>
              <a:uFillTx/>
              <a:latin typeface="Arial"/>
            </a:endParaRPr>
          </a:p>
          <a:p>
            <a:pPr marL="216000" indent="-228600" algn="l" defTabSz="914400">
              <a:lnSpc>
                <a:spcPct val="90000"/>
              </a:lnSpc>
              <a:spcBef>
                <a:spcPts val="499"/>
              </a:spcBef>
              <a:buClr>
                <a:srgbClr val="000000"/>
              </a:buClr>
              <a:buFont typeface="OpenSymbol"/>
              <a:buAutoNum type="arabicPeriod"/>
              <a:tabLst>
                <a:tab pos="0" algn="l"/>
              </a:tabLst>
            </a:pPr>
            <a:r>
              <a:rPr lang="en-US" sz="2400" b="1" u="none" strike="noStrike">
                <a:solidFill>
                  <a:schemeClr val="accent6"/>
                </a:solidFill>
                <a:effectLst/>
                <a:uFillTx/>
                <a:latin typeface="Arial"/>
              </a:rPr>
              <a:t>Internet Group Management Protocol (IGMP)</a:t>
            </a:r>
            <a:endParaRPr lang="en-AU" sz="2400" b="0" u="none" strike="noStrike">
              <a:solidFill>
                <a:srgbClr val="000000"/>
              </a:solidFill>
              <a:effectLst/>
              <a:uFillTx/>
              <a:latin typeface="Arial"/>
            </a:endParaRPr>
          </a:p>
          <a:p>
            <a:pPr marL="216000" indent="-228600" algn="l" defTabSz="914400">
              <a:lnSpc>
                <a:spcPct val="90000"/>
              </a:lnSpc>
              <a:spcBef>
                <a:spcPts val="499"/>
              </a:spcBef>
              <a:buClr>
                <a:srgbClr val="000000"/>
              </a:buClr>
              <a:buFont typeface="OpenSymbol"/>
              <a:buAutoNum type="arabicPeriod"/>
              <a:tabLst>
                <a:tab pos="0" algn="l"/>
              </a:tabLst>
            </a:pPr>
            <a:r>
              <a:rPr lang="en-US" sz="2400" b="1" u="none" strike="noStrike">
                <a:solidFill>
                  <a:schemeClr val="accent6"/>
                </a:solidFill>
                <a:effectLst/>
                <a:uFillTx/>
                <a:latin typeface="Arial"/>
              </a:rPr>
              <a:t>Protocol Independent Messaging (PIM)</a:t>
            </a:r>
            <a:endParaRPr lang="en-AU" sz="2400" b="0" u="none" strike="noStrike">
              <a:solidFill>
                <a:srgbClr val="000000"/>
              </a:solidFill>
              <a:effectLst/>
              <a:uFillTx/>
              <a:latin typeface="Arial"/>
            </a:endParaRPr>
          </a:p>
          <a:p>
            <a:pPr marL="216000" indent="0" algn="l" defTabSz="914400">
              <a:lnSpc>
                <a:spcPct val="90000"/>
              </a:lnSpc>
              <a:spcBef>
                <a:spcPts val="499"/>
              </a:spcBef>
              <a:buNone/>
              <a:tabLst>
                <a:tab pos="0" algn="l"/>
              </a:tabLst>
            </a:pPr>
            <a:endParaRPr lang="en-AU"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Rectangle 4">
            <a:extLst>
              <a:ext uri="{C183D7F6-B498-43B3-948B-1728B52AA6E4}">
                <adec:decorative xmlns:adec="http://schemas.microsoft.com/office/drawing/2017/decorative" val="1"/>
              </a:ext>
            </a:extLst>
          </p:cNvPr>
          <p:cNvSpPr/>
          <p:nvPr/>
        </p:nvSpPr>
        <p:spPr>
          <a:xfrm>
            <a:off x="0" y="360"/>
            <a:ext cx="35982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1.Multicast Fundamentals</a:t>
            </a:r>
            <a:endParaRPr lang="en-AU" sz="3200" b="0" u="none" strike="noStrike">
              <a:solidFill>
                <a:srgbClr val="FFFFFF"/>
              </a:solidFill>
              <a:effectLst/>
              <a:uFillTx/>
              <a:latin typeface="Arial"/>
            </a:endParaRPr>
          </a:p>
        </p:txBody>
      </p:sp>
      <p:sp>
        <p:nvSpPr>
          <p:cNvPr id="30" name="PlaceHolder 1"/>
          <p:cNvSpPr>
            <a:spLocks noGrp="1"/>
          </p:cNvSpPr>
          <p:nvPr>
            <p:ph/>
          </p:nvPr>
        </p:nvSpPr>
        <p:spPr>
          <a:xfrm>
            <a:off x="3779640" y="75960"/>
            <a:ext cx="6116760" cy="54997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Multicast: </a:t>
            </a:r>
            <a:r>
              <a:rPr lang="en-US" sz="1600" b="0" u="none" strike="noStrike">
                <a:solidFill>
                  <a:schemeClr val="dk1"/>
                </a:solidFill>
                <a:effectLst/>
                <a:uFillTx/>
                <a:latin typeface="Arial"/>
                <a:ea typeface="Microsoft YaHei"/>
              </a:rPr>
              <a:t>It allows source host to send data packets to group of destination hosts (receivers) to conserve bandwidth and resources.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One to many communication, where a single data packet is sent on a link and is replicated between links as they split(fork) on a network device along the Multicast Distribution Tree (MDT).</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Data packets are known as stream that uses a special destination ip address known as </a:t>
            </a:r>
            <a:r>
              <a:rPr lang="en-US" sz="1600" b="1" u="none" strike="noStrike">
                <a:solidFill>
                  <a:schemeClr val="dk1"/>
                </a:solidFill>
                <a:effectLst/>
                <a:uFillTx/>
                <a:latin typeface="Arial"/>
                <a:ea typeface="Microsoft YaHei"/>
              </a:rPr>
              <a:t>group address</a:t>
            </a:r>
            <a:r>
              <a:rPr lang="en-US" sz="1600" b="0" u="none" strike="noStrike">
                <a:solidFill>
                  <a:schemeClr val="dk1"/>
                </a:solidFill>
                <a:effectLst/>
                <a:uFillTx/>
                <a:latin typeface="Arial"/>
                <a:ea typeface="Microsoft YaHei"/>
              </a:rPr>
              <a:t>.</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Multicast </a:t>
            </a:r>
            <a:r>
              <a:rPr lang="en-US" sz="1600" b="1" u="none" strike="noStrike">
                <a:solidFill>
                  <a:schemeClr val="dk1"/>
                </a:solidFill>
                <a:effectLst/>
                <a:uFillTx/>
                <a:latin typeface="Arial"/>
                <a:ea typeface="Microsoft YaHei"/>
              </a:rPr>
              <a:t>receivers </a:t>
            </a:r>
            <a:r>
              <a:rPr lang="en-US" sz="1600" b="0" u="none" strike="noStrike">
                <a:solidFill>
                  <a:schemeClr val="dk1"/>
                </a:solidFill>
                <a:effectLst/>
                <a:uFillTx/>
                <a:latin typeface="Arial"/>
                <a:ea typeface="Microsoft YaHei"/>
              </a:rPr>
              <a:t>selectively request to receive the stream.</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Application of multicast include Cisco Telepresence, IPTV, Audio/Video conferencing, real-time video, stock tickers, distance learning, music on hold and gaming.</a:t>
            </a: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31" name=""/>
          <p:cNvSpPr/>
          <p:nvPr/>
        </p:nvSpPr>
        <p:spPr>
          <a:xfrm>
            <a:off x="2880" y="2880000"/>
            <a:ext cx="3597120" cy="340272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DejaVu Sans"/>
              </a:rPr>
              <a:t>Above picture shows multicast stream that splits at R2.</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DejaVu Sans"/>
              </a:rPr>
              <a:t>Workstation F does not process the  multicast packets and is discarded as NIC (in contrast broadcast packets would be discarded after processing at CPU).</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DejaVu Sans"/>
              </a:rPr>
              <a:t>With IGMP Snooping, multicast packet would not reach Workstation F NIC.</a:t>
            </a:r>
            <a:endParaRPr lang="en-AU" sz="1600" b="0" u="none" strike="noStrike">
              <a:solidFill>
                <a:srgbClr val="000000"/>
              </a:solidFill>
              <a:effectLst/>
              <a:uFillTx/>
              <a:latin typeface="Arial"/>
            </a:endParaRPr>
          </a:p>
          <a:p>
            <a:pPr>
              <a:lnSpc>
                <a:spcPct val="100000"/>
              </a:lnSpc>
              <a:spcBef>
                <a:spcPts val="283"/>
              </a:spcBef>
              <a:spcAft>
                <a:spcPts val="283"/>
              </a:spcAft>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a:p>
            <a:pPr>
              <a:lnSpc>
                <a:spcPct val="100000"/>
              </a:lnSpc>
            </a:pPr>
            <a:endParaRPr lang="en-AU" sz="1600" b="0" u="none" strike="noStrike">
              <a:solidFill>
                <a:srgbClr val="000000"/>
              </a:solidFill>
              <a:effectLst/>
              <a:uFillTx/>
              <a:latin typeface="Arial"/>
            </a:endParaRPr>
          </a:p>
        </p:txBody>
      </p:sp>
      <p:pic>
        <p:nvPicPr>
          <p:cNvPr id="32" name=""/>
          <p:cNvPicPr/>
          <p:nvPr/>
        </p:nvPicPr>
        <p:blipFill>
          <a:blip r:embed="rId1"/>
          <a:stretch/>
        </p:blipFill>
        <p:spPr>
          <a:xfrm>
            <a:off x="443160" y="1131840"/>
            <a:ext cx="2616840" cy="1748160"/>
          </a:xfrm>
          <a:prstGeom prst="rect">
            <a:avLst/>
          </a:prstGeom>
          <a:noFill/>
          <a:ln w="0">
            <a:noFill/>
          </a:ln>
        </p:spPr>
      </p:pic>
      <p:pic>
        <p:nvPicPr>
          <p:cNvPr id="33" name=""/>
          <p:cNvPicPr/>
          <p:nvPr/>
        </p:nvPicPr>
        <p:blipFill>
          <a:blip r:embed="rId2"/>
          <a:stretch/>
        </p:blipFill>
        <p:spPr>
          <a:xfrm>
            <a:off x="5876640" y="3368160"/>
            <a:ext cx="2043360" cy="21607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Rectangle 1">
            <a:extLst>
              <a:ext uri="{C183D7F6-B498-43B3-948B-1728B52AA6E4}">
                <adec:decorative xmlns:adec="http://schemas.microsoft.com/office/drawing/2017/decorative" val="1"/>
              </a:ext>
            </a:extLst>
          </p:cNvPr>
          <p:cNvSpPr/>
          <p:nvPr/>
        </p:nvSpPr>
        <p:spPr>
          <a:xfrm>
            <a:off x="0" y="360"/>
            <a:ext cx="377964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2.Multicast Addressing</a:t>
            </a:r>
            <a:endParaRPr lang="en-AU" sz="3200" b="0" u="none" strike="noStrike">
              <a:solidFill>
                <a:srgbClr val="FFFFFF"/>
              </a:solidFill>
              <a:effectLst/>
              <a:uFillTx/>
              <a:latin typeface="Arial"/>
            </a:endParaRPr>
          </a:p>
        </p:txBody>
      </p:sp>
      <p:sp>
        <p:nvSpPr>
          <p:cNvPr id="35" name="PlaceHolder 1"/>
          <p:cNvSpPr>
            <a:spLocks noGrp="1"/>
          </p:cNvSpPr>
          <p:nvPr>
            <p:ph/>
          </p:nvPr>
        </p:nvSpPr>
        <p:spPr>
          <a:xfrm>
            <a:off x="3779640" y="75960"/>
            <a:ext cx="6116760" cy="54997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Layer 3 Multicast Addressing:</a:t>
            </a:r>
            <a:r>
              <a:rPr lang="en-US" sz="1600" b="0" u="none" strike="noStrike">
                <a:solidFill>
                  <a:schemeClr val="dk1"/>
                </a:solidFill>
                <a:effectLst/>
                <a:uFillTx/>
                <a:latin typeface="Arial"/>
                <a:ea typeface="Microsoft YaHei"/>
              </a:rPr>
              <a:t> IANA reserved multicast addresses are class D network whose first octet starts with 1110 (224.0.0.0/4) to (1111) -1 = 239.255.255.255.</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In the multicast address space, multiple blocks are reserved for specific purposes: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224.0.0.0/24 (224.0.0.0 to 224.0.0.255): Local network control block: </a:t>
            </a:r>
            <a:r>
              <a:rPr lang="en-US" sz="1600" b="0" u="none" strike="noStrike">
                <a:solidFill>
                  <a:schemeClr val="dk1"/>
                </a:solidFill>
                <a:effectLst/>
                <a:uFillTx/>
                <a:latin typeface="Arial"/>
                <a:ea typeface="Microsoft YaHei"/>
              </a:rPr>
              <a:t>Protocol control traffic that is not forwarded outside a broadcast domain.</a:t>
            </a: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224.0.0.1: All hosts group (in a subnet)</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224.0.0.2: All routers group (in a subnet)</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224.0.0.5: All OSPF routers</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224.0.0.6: All OSPF DRs</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224.0.0.9: All RIPv2 routers</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224.0.0.10: All EIGRP routers</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224.0.0.13: All PIM routers</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224.0.0.18: VRRP </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224.0.0.22: IGMPv3</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224.0.0.102: HSRPv2 and GLBP</a:t>
            </a:r>
            <a:endParaRPr lang="en-US" sz="1400" b="0" u="none" strike="noStrike">
              <a:solidFill>
                <a:schemeClr val="dk1"/>
              </a:solidFill>
              <a:effectLst/>
              <a:uFillTx/>
              <a:latin typeface="Aptos"/>
            </a:endParaRPr>
          </a:p>
          <a:p>
            <a:pPr marL="360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Mnemonics: </a:t>
            </a:r>
            <a:r>
              <a:rPr lang="en-US" sz="1000" b="1" u="none" strike="noStrike">
                <a:solidFill>
                  <a:schemeClr val="dk1"/>
                </a:solidFill>
                <a:effectLst/>
                <a:uFillTx/>
                <a:latin typeface="Arial"/>
                <a:ea typeface="Microsoft YaHei"/>
              </a:rPr>
              <a:t>1</a:t>
            </a:r>
            <a:r>
              <a:rPr lang="en-US" sz="1000" b="0" u="none" strike="noStrike" baseline="33000">
                <a:solidFill>
                  <a:schemeClr val="dk1"/>
                </a:solidFill>
                <a:effectLst/>
                <a:uFillTx/>
                <a:latin typeface="Arial"/>
                <a:ea typeface="Microsoft YaHei"/>
              </a:rPr>
              <a:t>st</a:t>
            </a:r>
            <a:r>
              <a:rPr lang="en-US" sz="1000" b="0" u="none" strike="noStrike">
                <a:solidFill>
                  <a:schemeClr val="dk1"/>
                </a:solidFill>
                <a:effectLst/>
                <a:uFillTx/>
                <a:latin typeface="Arial"/>
                <a:ea typeface="Microsoft YaHei"/>
              </a:rPr>
              <a:t> priority-to-</a:t>
            </a:r>
            <a:r>
              <a:rPr lang="en-US" sz="1000" b="1" u="none" strike="noStrike">
                <a:solidFill>
                  <a:schemeClr val="dk1"/>
                </a:solidFill>
                <a:effectLst/>
                <a:uFillTx/>
                <a:latin typeface="Arial"/>
                <a:ea typeface="Microsoft YaHei"/>
              </a:rPr>
              <a:t>Hosts</a:t>
            </a:r>
            <a:r>
              <a:rPr lang="en-US" sz="1000" b="0" u="none" strike="noStrike">
                <a:solidFill>
                  <a:schemeClr val="dk1"/>
                </a:solidFill>
                <a:effectLst/>
                <a:uFillTx/>
                <a:latin typeface="Arial"/>
                <a:ea typeface="Microsoft YaHei"/>
              </a:rPr>
              <a:t>, </a:t>
            </a:r>
            <a:r>
              <a:rPr lang="en-US" sz="1000" b="1" u="none" strike="noStrike">
                <a:solidFill>
                  <a:schemeClr val="dk1"/>
                </a:solidFill>
                <a:effectLst/>
                <a:uFillTx/>
                <a:latin typeface="Arial"/>
                <a:ea typeface="Microsoft YaHei"/>
              </a:rPr>
              <a:t>Routers</a:t>
            </a:r>
            <a:r>
              <a:rPr lang="en-US" sz="1000" b="0" u="none" strike="noStrike">
                <a:solidFill>
                  <a:schemeClr val="dk1"/>
                </a:solidFill>
                <a:effectLst/>
                <a:uFillTx/>
                <a:latin typeface="Arial"/>
                <a:ea typeface="Microsoft YaHei"/>
              </a:rPr>
              <a:t>-pass-traffic-between </a:t>
            </a:r>
            <a:r>
              <a:rPr lang="en-US" sz="1000" b="1" u="none" strike="noStrike">
                <a:solidFill>
                  <a:schemeClr val="dk1"/>
                </a:solidFill>
                <a:effectLst/>
                <a:uFillTx/>
                <a:latin typeface="Arial"/>
                <a:ea typeface="Microsoft YaHei"/>
              </a:rPr>
              <a:t>2</a:t>
            </a:r>
            <a:r>
              <a:rPr lang="en-US" sz="1000" b="0" u="none" strike="noStrike">
                <a:solidFill>
                  <a:schemeClr val="dk1"/>
                </a:solidFill>
                <a:effectLst/>
                <a:uFillTx/>
                <a:latin typeface="Arial"/>
                <a:ea typeface="Microsoft YaHei"/>
              </a:rPr>
              <a:t> interfaces, </a:t>
            </a:r>
            <a:r>
              <a:rPr lang="en-US" sz="1000" b="1" u="none" strike="noStrike">
                <a:solidFill>
                  <a:schemeClr val="dk1"/>
                </a:solidFill>
                <a:effectLst/>
                <a:uFillTx/>
                <a:latin typeface="Arial"/>
                <a:ea typeface="Microsoft YaHei"/>
              </a:rPr>
              <a:t>AllOSPF</a:t>
            </a:r>
            <a:r>
              <a:rPr lang="en-US" sz="1000" b="0" u="none" strike="noStrike">
                <a:solidFill>
                  <a:schemeClr val="dk1"/>
                </a:solidFill>
                <a:effectLst/>
                <a:uFillTx/>
                <a:latin typeface="Arial"/>
                <a:ea typeface="Microsoft YaHei"/>
              </a:rPr>
              <a:t> has </a:t>
            </a:r>
            <a:r>
              <a:rPr lang="en-US" sz="1000" b="1" u="none" strike="noStrike">
                <a:solidFill>
                  <a:schemeClr val="dk1"/>
                </a:solidFill>
                <a:effectLst/>
                <a:uFillTx/>
                <a:latin typeface="Arial"/>
                <a:ea typeface="Microsoft YaHei"/>
              </a:rPr>
              <a:t>5</a:t>
            </a:r>
            <a:r>
              <a:rPr lang="en-US" sz="1000" b="0" u="none" strike="noStrike">
                <a:solidFill>
                  <a:schemeClr val="dk1"/>
                </a:solidFill>
                <a:effectLst/>
                <a:uFillTx/>
                <a:latin typeface="Arial"/>
                <a:ea typeface="Microsoft YaHei"/>
              </a:rPr>
              <a:t> capital letters,</a:t>
            </a:r>
            <a:r>
              <a:rPr lang="en-US" sz="1000" b="1" u="none" strike="noStrike">
                <a:solidFill>
                  <a:schemeClr val="dk1"/>
                </a:solidFill>
                <a:effectLst/>
                <a:uFillTx/>
                <a:latin typeface="Arial"/>
                <a:ea typeface="Microsoft YaHei"/>
              </a:rPr>
              <a:t>OSPF-Doctors</a:t>
            </a:r>
            <a:r>
              <a:rPr lang="en-US" sz="1000" b="0" u="none" strike="noStrike">
                <a:solidFill>
                  <a:schemeClr val="dk1"/>
                </a:solidFill>
                <a:effectLst/>
                <a:uFillTx/>
                <a:latin typeface="Arial"/>
                <a:ea typeface="Microsoft YaHei"/>
              </a:rPr>
              <a:t> work </a:t>
            </a:r>
            <a:r>
              <a:rPr lang="en-US" sz="1000" b="1" u="none" strike="noStrike">
                <a:solidFill>
                  <a:schemeClr val="dk1"/>
                </a:solidFill>
                <a:effectLst/>
                <a:uFillTx/>
                <a:latin typeface="Arial"/>
                <a:ea typeface="Microsoft YaHei"/>
              </a:rPr>
              <a:t>6</a:t>
            </a:r>
            <a:r>
              <a:rPr lang="en-US" sz="1000" b="0" u="none" strike="noStrike">
                <a:solidFill>
                  <a:schemeClr val="dk1"/>
                </a:solidFill>
                <a:effectLst/>
                <a:uFillTx/>
                <a:latin typeface="Arial"/>
                <a:ea typeface="Microsoft YaHei"/>
              </a:rPr>
              <a:t> days a week,</a:t>
            </a:r>
            <a:r>
              <a:rPr lang="en-US" sz="1000" b="1" u="none" strike="noStrike">
                <a:solidFill>
                  <a:schemeClr val="dk1"/>
                </a:solidFill>
                <a:effectLst/>
                <a:uFillTx/>
                <a:latin typeface="Arial"/>
                <a:ea typeface="Microsoft YaHei"/>
              </a:rPr>
              <a:t>RIP</a:t>
            </a:r>
            <a:r>
              <a:rPr lang="en-US" sz="1000" b="0" u="none" strike="noStrike">
                <a:solidFill>
                  <a:schemeClr val="dk1"/>
                </a:solidFill>
                <a:effectLst/>
                <a:uFillTx/>
                <a:latin typeface="Arial"/>
                <a:ea typeface="Microsoft YaHei"/>
              </a:rPr>
              <a:t> after </a:t>
            </a:r>
            <a:r>
              <a:rPr lang="en-US" sz="1000" b="1" u="none" strike="noStrike">
                <a:solidFill>
                  <a:schemeClr val="dk1"/>
                </a:solidFill>
                <a:effectLst/>
                <a:uFillTx/>
                <a:latin typeface="Arial"/>
                <a:ea typeface="Microsoft YaHei"/>
              </a:rPr>
              <a:t>9</a:t>
            </a:r>
            <a:r>
              <a:rPr lang="en-US" sz="1000" b="0" u="none" strike="noStrike">
                <a:solidFill>
                  <a:schemeClr val="dk1"/>
                </a:solidFill>
                <a:effectLst/>
                <a:uFillTx/>
                <a:latin typeface="Arial"/>
                <a:ea typeface="Microsoft YaHei"/>
              </a:rPr>
              <a:t> lives, Unlucky </a:t>
            </a:r>
            <a:r>
              <a:rPr lang="en-US" sz="1000" b="1" u="none" strike="noStrike">
                <a:solidFill>
                  <a:schemeClr val="dk1"/>
                </a:solidFill>
                <a:effectLst/>
                <a:uFillTx/>
                <a:latin typeface="Arial"/>
                <a:ea typeface="Microsoft YaHei"/>
              </a:rPr>
              <a:t>13</a:t>
            </a:r>
            <a:r>
              <a:rPr lang="en-US" sz="1000" b="0" u="none" strike="noStrike">
                <a:solidFill>
                  <a:schemeClr val="dk1"/>
                </a:solidFill>
                <a:effectLst/>
                <a:uFillTx/>
                <a:latin typeface="Arial"/>
                <a:ea typeface="Microsoft YaHei"/>
              </a:rPr>
              <a:t> caused by </a:t>
            </a:r>
            <a:r>
              <a:rPr lang="en-US" sz="1000" b="1" u="none" strike="noStrike">
                <a:solidFill>
                  <a:schemeClr val="dk1"/>
                </a:solidFill>
                <a:effectLst/>
                <a:uFillTx/>
                <a:latin typeface="Arial"/>
                <a:ea typeface="Microsoft YaHei"/>
              </a:rPr>
              <a:t>PIM</a:t>
            </a:r>
            <a:r>
              <a:rPr lang="en-US" sz="1000" b="0" u="none" strike="noStrike">
                <a:solidFill>
                  <a:schemeClr val="dk1"/>
                </a:solidFill>
                <a:effectLst/>
                <a:uFillTx/>
                <a:latin typeface="Arial"/>
                <a:ea typeface="Microsoft YaHei"/>
              </a:rPr>
              <a:t> splitting traffic, must be </a:t>
            </a:r>
            <a:r>
              <a:rPr lang="en-US" sz="1000" b="1" u="none" strike="noStrike">
                <a:solidFill>
                  <a:schemeClr val="dk1"/>
                </a:solidFill>
                <a:effectLst/>
                <a:uFillTx/>
                <a:latin typeface="Arial"/>
                <a:ea typeface="Microsoft YaHei"/>
              </a:rPr>
              <a:t>18</a:t>
            </a:r>
            <a:r>
              <a:rPr lang="en-US" sz="1000" b="0" u="none" strike="noStrike">
                <a:solidFill>
                  <a:schemeClr val="dk1"/>
                </a:solidFill>
                <a:effectLst/>
                <a:uFillTx/>
                <a:latin typeface="Arial"/>
                <a:ea typeface="Microsoft YaHei"/>
              </a:rPr>
              <a:t> to vote for </a:t>
            </a:r>
            <a:r>
              <a:rPr lang="en-US" sz="1000" b="1" u="none" strike="noStrike">
                <a:solidFill>
                  <a:schemeClr val="dk1"/>
                </a:solidFill>
                <a:effectLst/>
                <a:uFillTx/>
                <a:latin typeface="Arial"/>
                <a:ea typeface="Microsoft YaHei"/>
              </a:rPr>
              <a:t>Virtual Representatives</a:t>
            </a:r>
            <a:r>
              <a:rPr lang="en-US" sz="1000" b="0" u="none" strike="noStrike">
                <a:solidFill>
                  <a:schemeClr val="dk1"/>
                </a:solidFill>
                <a:effectLst/>
                <a:uFillTx/>
                <a:latin typeface="Arial"/>
                <a:ea typeface="Microsoft YaHei"/>
              </a:rPr>
              <a:t> (VRRP), 2 and 2 joined to form (</a:t>
            </a:r>
            <a:r>
              <a:rPr lang="en-US" sz="1000" b="1" u="none" strike="noStrike">
                <a:solidFill>
                  <a:schemeClr val="dk1"/>
                </a:solidFill>
                <a:effectLst/>
                <a:uFillTx/>
                <a:latin typeface="Arial"/>
                <a:ea typeface="Microsoft YaHei"/>
              </a:rPr>
              <a:t>IGMP</a:t>
            </a:r>
            <a:r>
              <a:rPr lang="en-US" sz="1000" b="0" u="none" strike="noStrike">
                <a:solidFill>
                  <a:schemeClr val="dk1"/>
                </a:solidFill>
                <a:effectLst/>
                <a:uFillTx/>
                <a:latin typeface="Arial"/>
                <a:ea typeface="Microsoft YaHei"/>
              </a:rPr>
              <a:t>) group </a:t>
            </a:r>
            <a:r>
              <a:rPr lang="en-US" sz="1000" b="1" u="none" strike="noStrike">
                <a:solidFill>
                  <a:schemeClr val="dk1"/>
                </a:solidFill>
                <a:effectLst/>
                <a:uFillTx/>
                <a:latin typeface="Arial"/>
                <a:ea typeface="Microsoft YaHei"/>
              </a:rPr>
              <a:t>22</a:t>
            </a:r>
            <a:r>
              <a:rPr lang="en-US" sz="1000" b="0" u="none" strike="noStrike">
                <a:solidFill>
                  <a:schemeClr val="dk1"/>
                </a:solidFill>
                <a:effectLst/>
                <a:uFillTx/>
                <a:latin typeface="Arial"/>
                <a:ea typeface="Microsoft YaHei"/>
              </a:rPr>
              <a:t>, </a:t>
            </a:r>
            <a:r>
              <a:rPr lang="en-US" sz="1000" b="1" u="none" strike="noStrike">
                <a:solidFill>
                  <a:schemeClr val="dk1"/>
                </a:solidFill>
                <a:effectLst/>
                <a:uFillTx/>
                <a:latin typeface="Arial"/>
                <a:ea typeface="Microsoft YaHei"/>
              </a:rPr>
              <a:t>102</a:t>
            </a:r>
            <a:r>
              <a:rPr lang="en-US" sz="1000" b="0" u="none" strike="noStrike">
                <a:solidFill>
                  <a:schemeClr val="dk1"/>
                </a:solidFill>
                <a:effectLst/>
                <a:uFillTx/>
                <a:latin typeface="Arial"/>
                <a:ea typeface="Microsoft YaHei"/>
              </a:rPr>
              <a:t> Hot Standby Regular Paramedics (</a:t>
            </a:r>
            <a:r>
              <a:rPr lang="en-US" sz="1000" b="1" u="none" strike="noStrike">
                <a:solidFill>
                  <a:schemeClr val="dk1"/>
                </a:solidFill>
                <a:effectLst/>
                <a:uFillTx/>
                <a:latin typeface="Arial"/>
                <a:ea typeface="Microsoft YaHei"/>
              </a:rPr>
              <a:t>HSRP</a:t>
            </a:r>
            <a:r>
              <a:rPr lang="en-US" sz="1000" b="0" u="none" strike="noStrike">
                <a:solidFill>
                  <a:schemeClr val="dk1"/>
                </a:solidFill>
                <a:effectLst/>
                <a:uFillTx/>
                <a:latin typeface="Arial"/>
                <a:ea typeface="Microsoft YaHei"/>
              </a:rPr>
              <a:t>) &amp; Good Looking Bold Paramedics(</a:t>
            </a:r>
            <a:r>
              <a:rPr lang="en-US" sz="1000" b="1" u="none" strike="noStrike">
                <a:solidFill>
                  <a:schemeClr val="dk1"/>
                </a:solidFill>
                <a:effectLst/>
                <a:uFillTx/>
                <a:latin typeface="Arial"/>
                <a:ea typeface="Microsoft YaHei"/>
              </a:rPr>
              <a:t>GLBP</a:t>
            </a:r>
            <a:r>
              <a:rPr lang="en-US" sz="1000" b="0" u="none" strike="noStrike">
                <a:solidFill>
                  <a:schemeClr val="dk1"/>
                </a:solidFill>
                <a:effectLst/>
                <a:uFillTx/>
                <a:latin typeface="Arial"/>
                <a:ea typeface="Microsoft YaHei"/>
              </a:rPr>
              <a:t>).</a:t>
            </a:r>
            <a:endParaRPr lang="en-US" sz="10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36" name=""/>
          <p:cNvSpPr/>
          <p:nvPr/>
        </p:nvSpPr>
        <p:spPr>
          <a:xfrm>
            <a:off x="2880" y="1152000"/>
            <a:ext cx="3777120" cy="4890960"/>
          </a:xfrm>
          <a:prstGeom prst="rect">
            <a:avLst/>
          </a:prstGeom>
          <a:noFill/>
          <a:ln w="0">
            <a:noFill/>
          </a:ln>
        </p:spPr>
        <p:style>
          <a:lnRef idx="0"/>
          <a:fillRef idx="0"/>
          <a:effectRef idx="0"/>
          <a:fontRef idx="minor"/>
        </p:style>
        <p:txBody>
          <a:bodyPr lIns="90000" tIns="45000" rIns="90000" bIns="45000" anchor="t">
            <a:spAutoFit/>
          </a:bodyPr>
          <a:p>
            <a:pPr marL="162000" indent="-162000"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224.0.1.0/24 (224.0.1.0 to 224.0.1.255): Internetwork control block: </a:t>
            </a:r>
            <a:r>
              <a:rPr lang="en-US" sz="1600" b="0" u="none" strike="noStrike">
                <a:solidFill>
                  <a:schemeClr val="dk1"/>
                </a:solidFill>
                <a:effectLst/>
                <a:uFillTx/>
                <a:latin typeface="Arial"/>
                <a:ea typeface="Microsoft YaHei"/>
              </a:rPr>
              <a:t>Protocol control traffic that may be forwarded throughout the internet.</a:t>
            </a:r>
            <a:endParaRPr lang="en-AU" sz="16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224.0.1.1: NTP</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224.0.1.39: Cisco RP Announce (Auto RP)</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224.0.0.40: Cisco RP Discovery(Auto RP)</a:t>
            </a:r>
            <a:endParaRPr lang="en-AU" sz="1400" b="0" u="none" strike="noStrike">
              <a:solidFill>
                <a:srgbClr val="000000"/>
              </a:solidFill>
              <a:effectLst/>
              <a:uFillTx/>
              <a:latin typeface="Arial"/>
            </a:endParaRPr>
          </a:p>
          <a:p>
            <a:pPr marL="360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Mnemonics: </a:t>
            </a:r>
            <a:r>
              <a:rPr lang="en-US" sz="1000" b="0" u="none" strike="noStrike">
                <a:solidFill>
                  <a:schemeClr val="dk1"/>
                </a:solidFill>
                <a:effectLst/>
                <a:uFillTx/>
                <a:latin typeface="Arial"/>
                <a:ea typeface="Microsoft YaHei"/>
              </a:rPr>
              <a:t>Even more </a:t>
            </a:r>
            <a:r>
              <a:rPr lang="en-US" sz="1000" b="1" u="none" strike="noStrike">
                <a:solidFill>
                  <a:schemeClr val="dk1"/>
                </a:solidFill>
                <a:effectLst/>
                <a:uFillTx/>
                <a:latin typeface="Arial"/>
                <a:ea typeface="Microsoft YaHei"/>
              </a:rPr>
              <a:t>1.1</a:t>
            </a:r>
            <a:r>
              <a:rPr lang="en-US" sz="1000" b="0" u="none" strike="noStrike">
                <a:solidFill>
                  <a:schemeClr val="dk1"/>
                </a:solidFill>
                <a:effectLst/>
                <a:uFillTx/>
                <a:latin typeface="Arial"/>
                <a:ea typeface="Microsoft YaHei"/>
              </a:rPr>
              <a:t> priority to Time (</a:t>
            </a:r>
            <a:r>
              <a:rPr lang="en-US" sz="1000" b="1" u="none" strike="noStrike">
                <a:solidFill>
                  <a:schemeClr val="dk1"/>
                </a:solidFill>
                <a:effectLst/>
                <a:uFillTx/>
                <a:latin typeface="Arial"/>
                <a:ea typeface="Microsoft YaHei"/>
              </a:rPr>
              <a:t>NTP</a:t>
            </a:r>
            <a:r>
              <a:rPr lang="en-US" sz="1000" b="0" u="none" strike="noStrike">
                <a:solidFill>
                  <a:schemeClr val="dk1"/>
                </a:solidFill>
                <a:effectLst/>
                <a:uFillTx/>
                <a:latin typeface="Arial"/>
                <a:ea typeface="Microsoft YaHei"/>
              </a:rPr>
              <a:t>), ‘</a:t>
            </a:r>
            <a:r>
              <a:rPr lang="en-US" sz="1000" b="1" u="none" strike="noStrike">
                <a:solidFill>
                  <a:schemeClr val="dk1"/>
                </a:solidFill>
                <a:effectLst/>
                <a:uFillTx/>
                <a:latin typeface="Arial"/>
                <a:ea typeface="Microsoft YaHei"/>
              </a:rPr>
              <a:t>39</a:t>
            </a:r>
            <a:r>
              <a:rPr lang="en-US" sz="1000" b="0" u="none" strike="noStrike">
                <a:solidFill>
                  <a:schemeClr val="dk1"/>
                </a:solidFill>
                <a:effectLst/>
                <a:uFillTx/>
                <a:latin typeface="Arial"/>
                <a:ea typeface="Microsoft YaHei"/>
              </a:rPr>
              <a:t> sign or divine’ </a:t>
            </a:r>
            <a:r>
              <a:rPr lang="en-US" sz="1000" b="1" u="none" strike="noStrike">
                <a:solidFill>
                  <a:schemeClr val="dk1"/>
                </a:solidFill>
                <a:effectLst/>
                <a:uFillTx/>
                <a:latin typeface="Arial"/>
                <a:ea typeface="Microsoft YaHei"/>
              </a:rPr>
              <a:t>announcement</a:t>
            </a:r>
            <a:r>
              <a:rPr lang="en-US" sz="1000" b="0" u="none" strike="noStrike">
                <a:solidFill>
                  <a:schemeClr val="dk1"/>
                </a:solidFill>
                <a:effectLst/>
                <a:uFillTx/>
                <a:latin typeface="Arial"/>
                <a:ea typeface="Microsoft YaHei"/>
              </a:rPr>
              <a:t> is made to the crowd, mid-life crisis at age </a:t>
            </a:r>
            <a:r>
              <a:rPr lang="en-US" sz="1000" b="1" u="none" strike="noStrike">
                <a:solidFill>
                  <a:schemeClr val="dk1"/>
                </a:solidFill>
                <a:effectLst/>
                <a:uFillTx/>
                <a:latin typeface="Arial"/>
                <a:ea typeface="Microsoft YaHei"/>
              </a:rPr>
              <a:t>40</a:t>
            </a:r>
            <a:r>
              <a:rPr lang="en-US" sz="1000" b="0" u="none" strike="noStrike">
                <a:solidFill>
                  <a:schemeClr val="dk1"/>
                </a:solidFill>
                <a:effectLst/>
                <a:uFillTx/>
                <a:latin typeface="Arial"/>
                <a:ea typeface="Microsoft YaHei"/>
              </a:rPr>
              <a:t> to </a:t>
            </a:r>
            <a:r>
              <a:rPr lang="en-US" sz="1000" b="1" u="none" strike="noStrike">
                <a:solidFill>
                  <a:schemeClr val="dk1"/>
                </a:solidFill>
                <a:effectLst/>
                <a:uFillTx/>
                <a:latin typeface="Arial"/>
                <a:ea typeface="Microsoft YaHei"/>
              </a:rPr>
              <a:t>discover</a:t>
            </a:r>
            <a:r>
              <a:rPr lang="en-US" sz="1000" b="0" u="none" strike="noStrike">
                <a:solidFill>
                  <a:schemeClr val="dk1"/>
                </a:solidFill>
                <a:effectLst/>
                <a:uFillTx/>
                <a:latin typeface="Arial"/>
                <a:ea typeface="Microsoft YaHei"/>
              </a:rPr>
              <a:t> oneself.</a:t>
            </a:r>
            <a:endParaRPr lang="en-AU" sz="10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232.0.0.0/8 (232.0.0.0 to 232.255.255.255) Source Specific Multicast(SSM):</a:t>
            </a:r>
            <a:r>
              <a:rPr lang="en-US" sz="1400" b="1" u="none" strike="noStrike">
                <a:solidFill>
                  <a:schemeClr val="dk1"/>
                </a:solidFill>
                <a:effectLst/>
                <a:uFillTx/>
                <a:latin typeface="Arial"/>
                <a:ea typeface="Microsoft YaHei"/>
              </a:rPr>
              <a:t> </a:t>
            </a:r>
            <a:r>
              <a:rPr lang="en-US" sz="1400" b="0" u="none" strike="noStrike">
                <a:solidFill>
                  <a:schemeClr val="dk1"/>
                </a:solidFill>
                <a:effectLst/>
                <a:uFillTx/>
                <a:latin typeface="Arial"/>
                <a:ea typeface="Microsoft YaHei"/>
              </a:rPr>
              <a:t>SSM is</a:t>
            </a:r>
            <a:r>
              <a:rPr lang="en-US" sz="1400" b="1" u="none" strike="noStrike">
                <a:solidFill>
                  <a:schemeClr val="dk1"/>
                </a:solidFill>
                <a:effectLst/>
                <a:uFillTx/>
                <a:latin typeface="Arial"/>
                <a:ea typeface="Microsoft YaHei"/>
              </a:rPr>
              <a:t> </a:t>
            </a:r>
            <a:r>
              <a:rPr lang="en-US" sz="1400" b="0" u="none" strike="noStrike">
                <a:solidFill>
                  <a:schemeClr val="dk1"/>
                </a:solidFill>
                <a:effectLst/>
                <a:uFillTx/>
                <a:latin typeface="Arial"/>
                <a:ea typeface="Microsoft YaHei"/>
              </a:rPr>
              <a:t>PIM extension that forwards traffic only from those multicast source in which the receivers have shown interest.</a:t>
            </a:r>
            <a:endParaRPr lang="en-AU" sz="1400" b="0" u="none" strike="noStrike">
              <a:solidFill>
                <a:srgbClr val="000000"/>
              </a:solidFill>
              <a:effectLst/>
              <a:uFillTx/>
              <a:latin typeface="Arial"/>
            </a:endParaRPr>
          </a:p>
          <a:p>
            <a:pPr defTabSz="914400">
              <a:lnSpc>
                <a:spcPct val="100000"/>
              </a:lnSpc>
              <a:spcBef>
                <a:spcPts val="283"/>
              </a:spcBef>
              <a:spcAft>
                <a:spcPts val="283"/>
              </a:spcAft>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Rectangle 2">
            <a:extLst>
              <a:ext uri="{C183D7F6-B498-43B3-948B-1728B52AA6E4}">
                <adec:decorative xmlns:adec="http://schemas.microsoft.com/office/drawing/2017/decorative" val="1"/>
              </a:ext>
            </a:extLst>
          </p:cNvPr>
          <p:cNvSpPr/>
          <p:nvPr/>
        </p:nvSpPr>
        <p:spPr>
          <a:xfrm>
            <a:off x="0" y="360"/>
            <a:ext cx="377964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2.Multicast Addressing</a:t>
            </a:r>
            <a:endParaRPr lang="en-AU" sz="3200" b="0" u="none" strike="noStrike">
              <a:solidFill>
                <a:srgbClr val="FFFFFF"/>
              </a:solidFill>
              <a:effectLst/>
              <a:uFillTx/>
              <a:latin typeface="Arial"/>
            </a:endParaRPr>
          </a:p>
        </p:txBody>
      </p:sp>
      <p:sp>
        <p:nvSpPr>
          <p:cNvPr id="38" name="PlaceHolder 1"/>
          <p:cNvSpPr>
            <a:spLocks noGrp="1"/>
          </p:cNvSpPr>
          <p:nvPr>
            <p:ph/>
          </p:nvPr>
        </p:nvSpPr>
        <p:spPr>
          <a:xfrm>
            <a:off x="3779640" y="75960"/>
            <a:ext cx="6116760" cy="5499720"/>
          </a:xfrm>
          <a:prstGeom prst="rect">
            <a:avLst/>
          </a:prstGeom>
          <a:noFill/>
          <a:ln w="0">
            <a:noFill/>
          </a:ln>
        </p:spPr>
        <p:txBody>
          <a:bodyPr lIns="91440" tIns="45720" rIns="91440" bIns="45720" anchor="t">
            <a:normAutofit lnSpcReduction="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Layer 3 Multicast Addressing:</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233.0.0.0/8 (233.0.0.0 to 233.255.255.255) GLOP block : </a:t>
            </a:r>
            <a:r>
              <a:rPr lang="en-US" sz="1600" b="0" u="none" strike="noStrike">
                <a:solidFill>
                  <a:schemeClr val="dk1"/>
                </a:solidFill>
                <a:effectLst/>
                <a:uFillTx/>
                <a:latin typeface="Arial"/>
                <a:ea typeface="Microsoft YaHei"/>
              </a:rPr>
              <a:t>Globally scoped statically assigned addresses where 2</a:t>
            </a:r>
            <a:r>
              <a:rPr lang="en-US" sz="1600" b="0" u="none" strike="noStrike" baseline="33000">
                <a:solidFill>
                  <a:schemeClr val="dk1"/>
                </a:solidFill>
                <a:effectLst/>
                <a:uFillTx/>
                <a:latin typeface="Arial"/>
                <a:ea typeface="Microsoft YaHei"/>
              </a:rPr>
              <a:t>nd</a:t>
            </a:r>
            <a:r>
              <a:rPr lang="en-US" sz="1600" b="0" u="none" strike="noStrike">
                <a:solidFill>
                  <a:schemeClr val="dk1"/>
                </a:solidFill>
                <a:effectLst/>
                <a:uFillTx/>
                <a:latin typeface="Arial"/>
                <a:ea typeface="Microsoft YaHei"/>
              </a:rPr>
              <a:t> and 3</a:t>
            </a:r>
            <a:r>
              <a:rPr lang="en-US" sz="1600" b="0" u="none" strike="noStrike" baseline="33000">
                <a:solidFill>
                  <a:schemeClr val="dk1"/>
                </a:solidFill>
                <a:effectLst/>
                <a:uFillTx/>
                <a:latin typeface="Arial"/>
                <a:ea typeface="Microsoft YaHei"/>
              </a:rPr>
              <a:t>rd</a:t>
            </a:r>
            <a:r>
              <a:rPr lang="en-US" sz="1600" b="0" u="none" strike="noStrike">
                <a:solidFill>
                  <a:schemeClr val="dk1"/>
                </a:solidFill>
                <a:effectLst/>
                <a:uFillTx/>
                <a:latin typeface="Arial"/>
                <a:ea typeface="Microsoft YaHei"/>
              </a:rPr>
              <a:t> octets are mapped to 16 bit domains ASNs.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239.0.0.0/8 (239.0.0.0 to 239.255.255.255) Administratively scoped block:</a:t>
            </a:r>
            <a:r>
              <a:rPr lang="en-US" sz="1600" b="0" u="none" strike="noStrike">
                <a:solidFill>
                  <a:schemeClr val="dk1"/>
                </a:solidFill>
                <a:effectLst/>
                <a:uFillTx/>
                <a:latin typeface="Arial"/>
                <a:ea typeface="Microsoft YaHei"/>
              </a:rPr>
              <a:t> Scope of this block is within the local organization’s administration. These are similar to private ip address ranges and are not routable in the internet. SSM typically assigned ip from this block.</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Layer 2 Multicast Addressing:</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Every multicast group address (ip address) is mapped to multicast MAC address.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First 24 bits of multicast MAC address always starts with 01:00:5E and 25</a:t>
            </a:r>
            <a:r>
              <a:rPr lang="en-US" sz="1600" b="0" u="none" strike="noStrike" baseline="33000">
                <a:solidFill>
                  <a:schemeClr val="dk1"/>
                </a:solidFill>
                <a:effectLst/>
                <a:uFillTx/>
                <a:latin typeface="Arial"/>
                <a:ea typeface="Microsoft YaHei"/>
              </a:rPr>
              <a:t>th</a:t>
            </a:r>
            <a:r>
              <a:rPr lang="en-US" sz="1600" b="0" u="none" strike="noStrike">
                <a:solidFill>
                  <a:schemeClr val="dk1"/>
                </a:solidFill>
                <a:effectLst/>
                <a:uFillTx/>
                <a:latin typeface="Arial"/>
                <a:ea typeface="Microsoft YaHei"/>
              </a:rPr>
              <a:t> bit is always set to 0.</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Rest of the LSB bits(23 bits) out of total 48 bits of the MAC address are copied from multicast group address (ip address) LSB.</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Example: a group address of 239.255.1.1 would be mapped to multicast MAC address of:</a:t>
            </a: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200" b="0" u="none" strike="noStrike">
                <a:solidFill>
                  <a:schemeClr val="dk1"/>
                </a:solidFill>
                <a:effectLst/>
                <a:uFillTx/>
                <a:latin typeface="Arial"/>
                <a:ea typeface="Microsoft YaHei"/>
              </a:rPr>
              <a:t>0b 11101111.11111111.00000001.00000001 = 0d 239.255.1.1</a:t>
            </a:r>
            <a:endParaRPr lang="en-US" sz="12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200" b="0" u="none" strike="noStrike">
                <a:solidFill>
                  <a:schemeClr val="dk1"/>
                </a:solidFill>
                <a:effectLst/>
                <a:uFillTx/>
                <a:latin typeface="Arial"/>
                <a:ea typeface="Microsoft YaHei"/>
              </a:rPr>
              <a:t>0b 0000 0001:0000 0000:0101 1110:           = 0x 01:00:5E: </a:t>
            </a:r>
            <a:endParaRPr lang="en-US" sz="12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200" b="0" u="none" strike="noStrike">
                <a:solidFill>
                  <a:schemeClr val="dk1"/>
                </a:solidFill>
                <a:effectLst/>
                <a:uFillTx/>
                <a:latin typeface="Arial"/>
                <a:ea typeface="Microsoft YaHei"/>
              </a:rPr>
              <a:t>setting 25</a:t>
            </a:r>
            <a:r>
              <a:rPr lang="en-US" sz="1200" b="0" u="none" strike="noStrike" baseline="33000">
                <a:solidFill>
                  <a:schemeClr val="dk1"/>
                </a:solidFill>
                <a:effectLst/>
                <a:uFillTx/>
                <a:latin typeface="Arial"/>
                <a:ea typeface="Microsoft YaHei"/>
              </a:rPr>
              <a:t>th</a:t>
            </a:r>
            <a:r>
              <a:rPr lang="en-US" sz="1200" b="0" u="none" strike="noStrike">
                <a:solidFill>
                  <a:schemeClr val="dk1"/>
                </a:solidFill>
                <a:effectLst/>
                <a:uFillTx/>
                <a:latin typeface="Arial"/>
                <a:ea typeface="Microsoft YaHei"/>
              </a:rPr>
              <a:t> bit to 0 of the multicast MAC and copying rest of the LSB from multicast group ip, multicast MAC = 0b 0000 0001:0000 0000:0101 1110:</a:t>
            </a:r>
            <a:r>
              <a:rPr lang="en-US" sz="1200" b="1" u="none" strike="noStrike">
                <a:solidFill>
                  <a:schemeClr val="dk1"/>
                </a:solidFill>
                <a:effectLst/>
                <a:uFillTx/>
                <a:latin typeface="Arial"/>
                <a:ea typeface="Microsoft YaHei"/>
              </a:rPr>
              <a:t>0</a:t>
            </a:r>
            <a:r>
              <a:rPr lang="en-US" sz="1200" b="0" u="none" strike="noStrike">
                <a:solidFill>
                  <a:schemeClr val="dk1"/>
                </a:solidFill>
                <a:effectLst/>
                <a:uFillTx/>
                <a:latin typeface="Arial"/>
                <a:ea typeface="Microsoft YaHei"/>
              </a:rPr>
              <a:t>111 1111:0000 0001:0000 0001 = 0x 01:00:5E:7F:01:01</a:t>
            </a:r>
            <a:endParaRPr lang="en-US" sz="12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39" name=""/>
          <p:cNvSpPr/>
          <p:nvPr/>
        </p:nvSpPr>
        <p:spPr>
          <a:xfrm>
            <a:off x="2880" y="1080000"/>
            <a:ext cx="3777120" cy="5013000"/>
          </a:xfrm>
          <a:prstGeom prst="rect">
            <a:avLst/>
          </a:prstGeom>
          <a:noFill/>
          <a:ln w="0">
            <a:noFill/>
          </a:ln>
        </p:spPr>
        <p:style>
          <a:lnRef idx="0"/>
          <a:fillRef idx="0"/>
          <a:effectRef idx="0"/>
          <a:fontRef idx="minor"/>
        </p:style>
        <p:txBody>
          <a:bodyPr lIns="90000" tIns="45000" rIns="90000" bIns="45000" anchor="t">
            <a:spAutoFit/>
          </a:bodyPr>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Out of the remaining 9 MSB of the ip address, 4 MSB are always 1110, remaining 5 bits can vary.</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Thus there are 2</a:t>
            </a:r>
            <a:r>
              <a:rPr lang="en-US" sz="1400" b="0" u="none" strike="noStrike" baseline="33000">
                <a:solidFill>
                  <a:schemeClr val="dk1"/>
                </a:solidFill>
                <a:effectLst/>
                <a:uFillTx/>
                <a:latin typeface="Arial"/>
                <a:ea typeface="Microsoft YaHei"/>
              </a:rPr>
              <a:t>5</a:t>
            </a:r>
            <a:r>
              <a:rPr lang="en-US" sz="1400" b="0" u="none" strike="noStrike">
                <a:solidFill>
                  <a:schemeClr val="dk1"/>
                </a:solidFill>
                <a:effectLst/>
                <a:uFillTx/>
                <a:latin typeface="Arial"/>
                <a:ea typeface="Microsoft YaHei"/>
              </a:rPr>
              <a:t> = 32 multicast ip addresses that map to same multicast MAC address. (overlapping)</a:t>
            </a:r>
            <a:endParaRPr lang="en-AU" sz="1400" b="0" u="none" strike="noStrike">
              <a:solidFill>
                <a:srgbClr val="000000"/>
              </a:solidFill>
              <a:effectLst/>
              <a:uFillTx/>
              <a:latin typeface="Arial"/>
            </a:endParaRPr>
          </a:p>
          <a:p>
            <a:pPr defTabSz="914400">
              <a:lnSpc>
                <a:spcPct val="100000"/>
              </a:lnSpc>
              <a:spcBef>
                <a:spcPts val="150"/>
              </a:spcBef>
              <a:tabLst>
                <a:tab pos="0" algn="l"/>
              </a:tabLst>
            </a:pPr>
            <a:endParaRPr lang="en-AU" sz="1400" b="0" u="none" strike="noStrike">
              <a:solidFill>
                <a:srgbClr val="000000"/>
              </a:solidFill>
              <a:effectLst/>
              <a:uFillTx/>
              <a:latin typeface="Arial"/>
            </a:endParaRPr>
          </a:p>
          <a:p>
            <a:pPr defTabSz="914400">
              <a:lnSpc>
                <a:spcPct val="100000"/>
              </a:lnSpc>
              <a:spcBef>
                <a:spcPts val="150"/>
              </a:spcBef>
              <a:tabLst>
                <a:tab pos="0" algn="l"/>
              </a:tabLst>
            </a:pPr>
            <a:endParaRPr lang="en-AU" sz="1400" b="0" u="none" strike="noStrike">
              <a:solidFill>
                <a:srgbClr val="000000"/>
              </a:solidFill>
              <a:effectLst/>
              <a:uFillTx/>
              <a:latin typeface="Arial"/>
            </a:endParaRPr>
          </a:p>
          <a:p>
            <a:pPr defTabSz="914400">
              <a:lnSpc>
                <a:spcPct val="100000"/>
              </a:lnSpc>
              <a:spcBef>
                <a:spcPts val="150"/>
              </a:spcBef>
              <a:tabLst>
                <a:tab pos="0" algn="l"/>
              </a:tabLst>
            </a:pPr>
            <a:endParaRPr lang="en-AU" sz="1400" b="0" u="none" strike="noStrike">
              <a:solidFill>
                <a:srgbClr val="000000"/>
              </a:solidFill>
              <a:effectLst/>
              <a:uFillTx/>
              <a:latin typeface="Arial"/>
            </a:endParaRPr>
          </a:p>
          <a:p>
            <a:pPr defTabSz="914400">
              <a:lnSpc>
                <a:spcPct val="100000"/>
              </a:lnSpc>
              <a:spcBef>
                <a:spcPts val="150"/>
              </a:spcBef>
              <a:tabLst>
                <a:tab pos="0" algn="l"/>
              </a:tabLst>
            </a:pPr>
            <a:endParaRPr lang="en-AU" sz="1400" b="0" u="none" strike="noStrike">
              <a:solidFill>
                <a:srgbClr val="000000"/>
              </a:solidFill>
              <a:effectLst/>
              <a:uFillTx/>
              <a:latin typeface="Arial"/>
            </a:endParaRPr>
          </a:p>
          <a:p>
            <a:pPr defTabSz="914400">
              <a:lnSpc>
                <a:spcPct val="100000"/>
              </a:lnSpc>
              <a:spcBef>
                <a:spcPts val="150"/>
              </a:spcBef>
              <a:tabLst>
                <a:tab pos="0" algn="l"/>
              </a:tabLst>
            </a:pP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Shortcut to map multicast group address to multicast MAC address:</a:t>
            </a:r>
            <a:endParaRPr lang="en-AU" sz="1400" b="0" u="none" strike="noStrike">
              <a:solidFill>
                <a:srgbClr val="000000"/>
              </a:solidFill>
              <a:effectLst/>
              <a:uFillTx/>
              <a:latin typeface="Arial"/>
            </a:endParaRPr>
          </a:p>
          <a:p>
            <a:pPr marL="360000" defTabSz="914400">
              <a:lnSpc>
                <a:spcPct val="100000"/>
              </a:lnSpc>
              <a:spcBef>
                <a:spcPts val="150"/>
              </a:spcBef>
              <a:buClr>
                <a:srgbClr val="000000"/>
              </a:buClr>
              <a:buFont typeface="OpenSymbol"/>
              <a:buChar char="-"/>
              <a:tabLst>
                <a:tab pos="0" algn="l"/>
              </a:tabLst>
            </a:pPr>
            <a:r>
              <a:rPr lang="en-US" sz="1000" b="0" u="none" strike="noStrike">
                <a:solidFill>
                  <a:schemeClr val="dk1"/>
                </a:solidFill>
                <a:effectLst/>
                <a:uFillTx/>
                <a:latin typeface="Arial"/>
                <a:ea typeface="Microsoft YaHei"/>
              </a:rPr>
              <a:t>Fixed 01:00:5E:</a:t>
            </a:r>
            <a:endParaRPr lang="en-AU" sz="1000" b="0" u="none" strike="noStrike">
              <a:solidFill>
                <a:srgbClr val="000000"/>
              </a:solidFill>
              <a:effectLst/>
              <a:uFillTx/>
              <a:latin typeface="Arial"/>
            </a:endParaRPr>
          </a:p>
          <a:p>
            <a:pPr marL="360000" defTabSz="914400">
              <a:lnSpc>
                <a:spcPct val="100000"/>
              </a:lnSpc>
              <a:spcBef>
                <a:spcPts val="150"/>
              </a:spcBef>
              <a:buClr>
                <a:srgbClr val="000000"/>
              </a:buClr>
              <a:buFont typeface="OpenSymbol"/>
              <a:buChar char="-"/>
              <a:tabLst>
                <a:tab pos="0" algn="l"/>
              </a:tabLst>
            </a:pPr>
            <a:r>
              <a:rPr lang="en-US" sz="1000" b="0" u="none" strike="noStrike">
                <a:solidFill>
                  <a:schemeClr val="dk1"/>
                </a:solidFill>
                <a:effectLst/>
                <a:uFillTx/>
                <a:latin typeface="Arial"/>
                <a:ea typeface="Microsoft YaHei"/>
              </a:rPr>
              <a:t>copy last two octets of ip address and convert to hex</a:t>
            </a:r>
            <a:endParaRPr lang="en-AU" sz="1000" b="0" u="none" strike="noStrike">
              <a:solidFill>
                <a:srgbClr val="000000"/>
              </a:solidFill>
              <a:effectLst/>
              <a:uFillTx/>
              <a:latin typeface="Arial"/>
            </a:endParaRPr>
          </a:p>
          <a:p>
            <a:pPr marL="360000" defTabSz="914400">
              <a:lnSpc>
                <a:spcPct val="100000"/>
              </a:lnSpc>
              <a:spcBef>
                <a:spcPts val="150"/>
              </a:spcBef>
              <a:buClr>
                <a:srgbClr val="000000"/>
              </a:buClr>
              <a:buFont typeface="OpenSymbol"/>
              <a:buChar char="-"/>
              <a:tabLst>
                <a:tab pos="0" algn="l"/>
              </a:tabLst>
            </a:pPr>
            <a:r>
              <a:rPr lang="en-US" sz="1000" b="0" u="none" strike="noStrike">
                <a:solidFill>
                  <a:schemeClr val="dk1"/>
                </a:solidFill>
                <a:effectLst/>
                <a:uFillTx/>
                <a:latin typeface="Arial"/>
                <a:ea typeface="Microsoft YaHei"/>
              </a:rPr>
              <a:t>copy 7 LSB of 2</a:t>
            </a:r>
            <a:r>
              <a:rPr lang="en-US" sz="1000" b="0" u="none" strike="noStrike" baseline="33000">
                <a:solidFill>
                  <a:schemeClr val="dk1"/>
                </a:solidFill>
                <a:effectLst/>
                <a:uFillTx/>
                <a:latin typeface="Arial"/>
                <a:ea typeface="Microsoft YaHei"/>
              </a:rPr>
              <a:t>nd</a:t>
            </a:r>
            <a:r>
              <a:rPr lang="en-US" sz="1000" b="0" u="none" strike="noStrike">
                <a:solidFill>
                  <a:schemeClr val="dk1"/>
                </a:solidFill>
                <a:effectLst/>
                <a:uFillTx/>
                <a:latin typeface="Arial"/>
                <a:ea typeface="Microsoft YaHei"/>
              </a:rPr>
              <a:t> octet from ip, add always 0 25</a:t>
            </a:r>
            <a:r>
              <a:rPr lang="en-US" sz="1000" b="0" u="none" strike="noStrike" baseline="33000">
                <a:solidFill>
                  <a:schemeClr val="dk1"/>
                </a:solidFill>
                <a:effectLst/>
                <a:uFillTx/>
                <a:latin typeface="Arial"/>
                <a:ea typeface="Microsoft YaHei"/>
              </a:rPr>
              <a:t>th</a:t>
            </a:r>
            <a:r>
              <a:rPr lang="en-US" sz="1000" b="0" u="none" strike="noStrike">
                <a:solidFill>
                  <a:schemeClr val="dk1"/>
                </a:solidFill>
                <a:effectLst/>
                <a:uFillTx/>
                <a:latin typeface="Arial"/>
                <a:ea typeface="Microsoft YaHei"/>
              </a:rPr>
              <a:t> bit as 8</a:t>
            </a:r>
            <a:r>
              <a:rPr lang="en-US" sz="1000" b="0" u="none" strike="noStrike" baseline="33000">
                <a:solidFill>
                  <a:schemeClr val="dk1"/>
                </a:solidFill>
                <a:effectLst/>
                <a:uFillTx/>
                <a:latin typeface="Arial"/>
                <a:ea typeface="Microsoft YaHei"/>
              </a:rPr>
              <a:t>th</a:t>
            </a:r>
            <a:r>
              <a:rPr lang="en-US" sz="1000" b="0" u="none" strike="noStrike">
                <a:solidFill>
                  <a:schemeClr val="dk1"/>
                </a:solidFill>
                <a:effectLst/>
                <a:uFillTx/>
                <a:latin typeface="Arial"/>
                <a:ea typeface="Microsoft YaHei"/>
              </a:rPr>
              <a:t> bit and convert to hex.</a:t>
            </a:r>
            <a:endParaRPr lang="en-AU" sz="10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000" b="0" u="none" strike="noStrike">
                <a:solidFill>
                  <a:schemeClr val="dk1"/>
                </a:solidFill>
                <a:effectLst/>
                <a:uFillTx/>
                <a:latin typeface="Arial"/>
                <a:ea typeface="Microsoft YaHei"/>
              </a:rPr>
              <a:t>Example: 239.130.1.1</a:t>
            </a:r>
            <a:endParaRPr lang="en-AU" sz="10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000" b="0" u="none" strike="noStrike">
                <a:solidFill>
                  <a:schemeClr val="dk1"/>
                </a:solidFill>
                <a:effectLst/>
                <a:uFillTx/>
                <a:latin typeface="Arial"/>
                <a:ea typeface="Microsoft YaHei"/>
              </a:rPr>
              <a:t>0b 0000 0001.0000 0001 = 0x 01 01</a:t>
            </a:r>
            <a:endParaRPr lang="en-AU" sz="10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000" b="0" u="none" strike="noStrike">
                <a:solidFill>
                  <a:schemeClr val="dk1"/>
                </a:solidFill>
                <a:effectLst/>
                <a:uFillTx/>
                <a:latin typeface="Arial"/>
                <a:ea typeface="Microsoft YaHei"/>
              </a:rPr>
              <a:t>130 = 1</a:t>
            </a:r>
            <a:r>
              <a:rPr lang="en-US" sz="1000" b="1" u="none" strike="noStrike">
                <a:solidFill>
                  <a:schemeClr val="dk1"/>
                </a:solidFill>
                <a:effectLst/>
                <a:uFillTx/>
                <a:latin typeface="Arial"/>
                <a:ea typeface="Microsoft YaHei"/>
              </a:rPr>
              <a:t>0000010</a:t>
            </a:r>
            <a:endParaRPr lang="en-AU" sz="10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000" b="1" u="none" strike="noStrike">
                <a:solidFill>
                  <a:schemeClr val="dk1"/>
                </a:solidFill>
                <a:effectLst/>
                <a:uFillTx/>
                <a:latin typeface="Arial"/>
                <a:ea typeface="Microsoft YaHei"/>
              </a:rPr>
              <a:t>      </a:t>
            </a:r>
            <a:r>
              <a:rPr lang="en-US" sz="1000" b="0" u="none" strike="noStrike">
                <a:solidFill>
                  <a:schemeClr val="dk1"/>
                </a:solidFill>
                <a:effectLst/>
                <a:uFillTx/>
                <a:latin typeface="Arial"/>
                <a:ea typeface="Microsoft YaHei"/>
              </a:rPr>
              <a:t> =</a:t>
            </a:r>
            <a:r>
              <a:rPr lang="en-US" sz="1000" b="1" u="none" strike="noStrike">
                <a:solidFill>
                  <a:schemeClr val="dk1"/>
                </a:solidFill>
                <a:effectLst/>
                <a:uFillTx/>
                <a:latin typeface="Arial"/>
                <a:ea typeface="Microsoft YaHei"/>
              </a:rPr>
              <a:t> 0000 0010</a:t>
            </a:r>
            <a:endParaRPr lang="en-AU" sz="10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000" b="0" u="none" strike="noStrike">
                <a:solidFill>
                  <a:schemeClr val="dk1"/>
                </a:solidFill>
                <a:effectLst/>
                <a:uFillTx/>
                <a:latin typeface="Arial"/>
                <a:ea typeface="Microsoft YaHei"/>
              </a:rPr>
              <a:t>239.130.1.1 maps to 01:00:5E:02:01:01</a:t>
            </a:r>
            <a:endParaRPr lang="en-AU" sz="10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p:txBody>
      </p:sp>
      <p:pic>
        <p:nvPicPr>
          <p:cNvPr id="40" name=""/>
          <p:cNvPicPr/>
          <p:nvPr/>
        </p:nvPicPr>
        <p:blipFill>
          <a:blip r:embed="rId1"/>
          <a:stretch/>
        </p:blipFill>
        <p:spPr>
          <a:xfrm>
            <a:off x="72000" y="2533680"/>
            <a:ext cx="3240000" cy="113652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Rectangle 3">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2.IGMP</a:t>
            </a:r>
            <a:endParaRPr lang="en-AU" sz="3200" b="0" u="none" strike="noStrike">
              <a:solidFill>
                <a:srgbClr val="FFFFFF"/>
              </a:solidFill>
              <a:effectLst/>
              <a:uFillTx/>
              <a:latin typeface="Arial"/>
            </a:endParaRPr>
          </a:p>
        </p:txBody>
      </p:sp>
      <p:sp>
        <p:nvSpPr>
          <p:cNvPr id="42" name="PlaceHolder 1"/>
          <p:cNvSpPr>
            <a:spLocks noGrp="1"/>
          </p:cNvSpPr>
          <p:nvPr>
            <p:ph/>
          </p:nvPr>
        </p:nvSpPr>
        <p:spPr>
          <a:xfrm>
            <a:off x="3672000" y="75960"/>
            <a:ext cx="6228000" cy="54997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Internet Group Management Protocol (IGMP): </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When a receiver wants to receive multicast traffic from a source it sends a IGMP join (membership report) to it’s router.</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IGMP must be supported by the receivers and router interfaces facing the receivers. </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Three version of IGMP exist. IGMPv1 is old and rarely used.</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IGMPv2 is most common and IGMPv3 is used by Source Specific Multicast.</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IGMPv2</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IGMPv2</a:t>
            </a:r>
            <a:r>
              <a:rPr lang="en-US" sz="1600" b="1" u="none" strike="noStrike">
                <a:solidFill>
                  <a:schemeClr val="dk1"/>
                </a:solidFill>
                <a:effectLst/>
                <a:uFillTx/>
                <a:latin typeface="Arial"/>
                <a:ea typeface="Microsoft YaHei"/>
              </a:rPr>
              <a:t> </a:t>
            </a:r>
            <a:r>
              <a:rPr lang="en-US" sz="1600" b="0" u="none" strike="noStrike">
                <a:solidFill>
                  <a:schemeClr val="dk1"/>
                </a:solidFill>
                <a:effectLst/>
                <a:uFillTx/>
                <a:latin typeface="Arial"/>
                <a:ea typeface="Microsoft YaHei"/>
              </a:rPr>
              <a:t>packets are sent encapsulated within ip packet with the IP router alert option set, protocol number 2 and TTL value set to 1.</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Router alert option directs the router to closely inspect the packet (de-encapsulation) and since TTL is set to 1, it is discarded at local router.</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Below is the IGMP message format:</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43" name=""/>
          <p:cNvSpPr/>
          <p:nvPr/>
        </p:nvSpPr>
        <p:spPr>
          <a:xfrm>
            <a:off x="2880" y="1080000"/>
            <a:ext cx="3777120" cy="4971240"/>
          </a:xfrm>
          <a:prstGeom prst="rect">
            <a:avLst/>
          </a:prstGeom>
          <a:noFill/>
          <a:ln w="0">
            <a:noFill/>
          </a:ln>
        </p:spPr>
        <p:style>
          <a:lnRef idx="0"/>
          <a:fillRef idx="0"/>
          <a:effectRef idx="0"/>
          <a:fontRef idx="minor"/>
        </p:style>
        <p:txBody>
          <a:bodyPr lIns="90000" tIns="45000" rIns="90000" bIns="45000" anchor="t">
            <a:spAutoFit/>
          </a:bodyPr>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8 bit </a:t>
            </a:r>
            <a:r>
              <a:rPr lang="en-US" sz="1400" b="1" u="none" strike="noStrike">
                <a:solidFill>
                  <a:schemeClr val="dk1"/>
                </a:solidFill>
                <a:effectLst/>
                <a:uFillTx/>
                <a:latin typeface="Arial"/>
                <a:ea typeface="Microsoft YaHei"/>
              </a:rPr>
              <a:t>Type</a:t>
            </a:r>
            <a:r>
              <a:rPr lang="en-US" sz="1400" b="0" u="none" strike="noStrike">
                <a:solidFill>
                  <a:schemeClr val="dk1"/>
                </a:solidFill>
                <a:effectLst/>
                <a:uFillTx/>
                <a:latin typeface="Arial"/>
                <a:ea typeface="Microsoft YaHei"/>
              </a:rPr>
              <a:t> field describes 5 IGMP message types used by receivers and routers.</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OpenSymbol"/>
              <a:buAutoNum type="arabicPeriod"/>
              <a:tabLst>
                <a:tab pos="0" algn="l"/>
              </a:tabLst>
            </a:pPr>
            <a:r>
              <a:rPr lang="en-US" sz="1200" b="1" u="none" strike="noStrike">
                <a:solidFill>
                  <a:schemeClr val="dk1"/>
                </a:solidFill>
                <a:effectLst/>
                <a:uFillTx/>
                <a:latin typeface="Arial"/>
                <a:ea typeface="Microsoft YaHei"/>
              </a:rPr>
              <a:t>Version 2 membership report (type value 0x16): </a:t>
            </a:r>
            <a:r>
              <a:rPr lang="en-US" sz="1200" b="0" u="none" strike="noStrike">
                <a:solidFill>
                  <a:schemeClr val="dk1"/>
                </a:solidFill>
                <a:effectLst/>
                <a:uFillTx/>
                <a:latin typeface="Arial"/>
                <a:ea typeface="Microsoft YaHei"/>
              </a:rPr>
              <a:t>Used by receivers to join multicast group or to respond to local router’s membership query message. This message is commonly referred as IGMP join.</a:t>
            </a:r>
            <a:endParaRPr lang="en-AU" sz="12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OpenSymbol"/>
              <a:buAutoNum type="arabicPeriod"/>
              <a:tabLst>
                <a:tab pos="0" algn="l"/>
              </a:tabLst>
            </a:pPr>
            <a:r>
              <a:rPr lang="en-US" sz="1200" b="1" u="none" strike="noStrike">
                <a:solidFill>
                  <a:schemeClr val="dk1"/>
                </a:solidFill>
                <a:effectLst/>
                <a:uFillTx/>
                <a:latin typeface="Arial"/>
                <a:ea typeface="Microsoft YaHei"/>
              </a:rPr>
              <a:t>Version 1 membership report (type value 0x12): </a:t>
            </a:r>
            <a:r>
              <a:rPr lang="en-US" sz="1200" b="0" u="none" strike="noStrike">
                <a:solidFill>
                  <a:schemeClr val="dk1"/>
                </a:solidFill>
                <a:effectLst/>
                <a:uFillTx/>
                <a:latin typeface="Arial"/>
                <a:ea typeface="Microsoft YaHei"/>
              </a:rPr>
              <a:t>Used by receivers for backward compatibility to IGMPv1</a:t>
            </a:r>
            <a:endParaRPr lang="en-AU" sz="12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OpenSymbol"/>
              <a:buAutoNum type="arabicPeriod"/>
              <a:tabLst>
                <a:tab pos="0" algn="l"/>
              </a:tabLst>
            </a:pPr>
            <a:r>
              <a:rPr lang="en-US" sz="1200" b="1" u="none" strike="noStrike">
                <a:solidFill>
                  <a:schemeClr val="dk1"/>
                </a:solidFill>
                <a:effectLst/>
                <a:uFillTx/>
                <a:latin typeface="Arial"/>
                <a:ea typeface="Microsoft YaHei"/>
              </a:rPr>
              <a:t>Version 2 leave group(type value 0x17): </a:t>
            </a:r>
            <a:r>
              <a:rPr lang="en-US" sz="1200" b="0" u="none" strike="noStrike">
                <a:solidFill>
                  <a:schemeClr val="dk1"/>
                </a:solidFill>
                <a:effectLst/>
                <a:uFillTx/>
                <a:latin typeface="Arial"/>
                <a:ea typeface="Microsoft YaHei"/>
              </a:rPr>
              <a:t>Used by receiver to indicate they want to stop receiving multicast traffic for the group they joined.</a:t>
            </a:r>
            <a:endParaRPr lang="en-AU" sz="12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OpenSymbol"/>
              <a:buAutoNum type="arabicPeriod"/>
              <a:tabLst>
                <a:tab pos="0" algn="l"/>
              </a:tabLst>
            </a:pPr>
            <a:r>
              <a:rPr lang="en-US" sz="1200" b="1" u="none" strike="noStrike">
                <a:solidFill>
                  <a:schemeClr val="dk1"/>
                </a:solidFill>
                <a:effectLst/>
                <a:uFillTx/>
                <a:latin typeface="Arial"/>
                <a:ea typeface="Microsoft YaHei"/>
              </a:rPr>
              <a:t>General membership query(type value 0x11): </a:t>
            </a:r>
            <a:r>
              <a:rPr lang="en-US" sz="1200" b="0" u="none" strike="noStrike">
                <a:solidFill>
                  <a:schemeClr val="dk1"/>
                </a:solidFill>
                <a:effectLst/>
                <a:uFillTx/>
                <a:latin typeface="Arial"/>
                <a:ea typeface="Microsoft YaHei"/>
              </a:rPr>
              <a:t>Periodically sent to all hosts address 224.0.0.1 to check whether there are any receivers in the attached subnet. It sets the group address field to 0.0.0.0</a:t>
            </a:r>
            <a:endParaRPr lang="en-AU" sz="12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OpenSymbol"/>
              <a:buAutoNum type="arabicPeriod"/>
              <a:tabLst>
                <a:tab pos="0" algn="l"/>
              </a:tabLst>
            </a:pPr>
            <a:r>
              <a:rPr lang="en-US" sz="1200" b="1" u="none" strike="noStrike">
                <a:solidFill>
                  <a:schemeClr val="dk1"/>
                </a:solidFill>
                <a:effectLst/>
                <a:uFillTx/>
                <a:latin typeface="Arial"/>
                <a:ea typeface="Microsoft YaHei"/>
              </a:rPr>
              <a:t>Group specific query(type value 0x11): </a:t>
            </a:r>
            <a:r>
              <a:rPr lang="en-US" sz="1200" b="0" u="none" strike="noStrike">
                <a:solidFill>
                  <a:schemeClr val="dk1"/>
                </a:solidFill>
                <a:effectLst/>
                <a:uFillTx/>
                <a:latin typeface="Arial"/>
                <a:ea typeface="Microsoft YaHei"/>
              </a:rPr>
              <a:t>Sent in response to the leave group message. The group address is the destination IP address of the packet and the group address field of leave group message.</a:t>
            </a:r>
            <a:r>
              <a:rPr lang="en-US" sz="1400" b="1" u="none" strike="noStrike">
                <a:solidFill>
                  <a:schemeClr val="dk1"/>
                </a:solidFill>
                <a:effectLst/>
                <a:uFillTx/>
                <a:latin typeface="Arial"/>
                <a:ea typeface="Microsoft YaHei"/>
              </a:rPr>
              <a:t> </a:t>
            </a:r>
            <a:endParaRPr lang="en-AU" sz="14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p:txBody>
      </p:sp>
      <p:pic>
        <p:nvPicPr>
          <p:cNvPr id="44" name=""/>
          <p:cNvPicPr/>
          <p:nvPr/>
        </p:nvPicPr>
        <p:blipFill>
          <a:blip r:embed="rId1"/>
          <a:stretch/>
        </p:blipFill>
        <p:spPr>
          <a:xfrm>
            <a:off x="5148000" y="4284000"/>
            <a:ext cx="4476240" cy="8528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Rectangle 5">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2.IGMP</a:t>
            </a:r>
            <a:endParaRPr lang="en-AU" sz="3200" b="0" u="none" strike="noStrike">
              <a:solidFill>
                <a:srgbClr val="FFFFFF"/>
              </a:solidFill>
              <a:effectLst/>
              <a:uFillTx/>
              <a:latin typeface="Arial"/>
            </a:endParaRPr>
          </a:p>
        </p:txBody>
      </p:sp>
      <p:sp>
        <p:nvSpPr>
          <p:cNvPr id="46" name="PlaceHolder 1"/>
          <p:cNvSpPr>
            <a:spLocks noGrp="1"/>
          </p:cNvSpPr>
          <p:nvPr>
            <p:ph/>
          </p:nvPr>
        </p:nvSpPr>
        <p:spPr>
          <a:xfrm>
            <a:off x="3672000" y="75960"/>
            <a:ext cx="6228000" cy="54997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IGMPv2</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Max Response Time: </a:t>
            </a:r>
            <a:r>
              <a:rPr lang="en-US" sz="1600" b="0" u="none" strike="noStrike">
                <a:solidFill>
                  <a:schemeClr val="dk1"/>
                </a:solidFill>
                <a:effectLst/>
                <a:uFillTx/>
                <a:latin typeface="Arial"/>
                <a:ea typeface="Microsoft YaHei"/>
              </a:rPr>
              <a:t>It is set only in general and group specific query messages (type value 0x11).In all other messages it is set to 0x 00 and is ignored.</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Checksum:</a:t>
            </a:r>
            <a:r>
              <a:rPr lang="en-US" sz="1600" b="0" u="none" strike="noStrike">
                <a:solidFill>
                  <a:schemeClr val="dk1"/>
                </a:solidFill>
                <a:effectLst/>
                <a:uFillTx/>
                <a:latin typeface="Arial"/>
                <a:ea typeface="Microsoft YaHei"/>
              </a:rPr>
              <a:t> Message checksum calculated same as TCP/IP checksum.That is 16-bit 1’s complement of the 1’s complement sum of the IGMP message.</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1" u="none" strike="noStrike">
                <a:solidFill>
                  <a:schemeClr val="dk1"/>
                </a:solidFill>
                <a:effectLst/>
                <a:uFillTx/>
                <a:latin typeface="Arial"/>
                <a:ea typeface="Microsoft YaHei"/>
              </a:rPr>
              <a:t>Group Address:</a:t>
            </a:r>
            <a:r>
              <a:rPr lang="en-US" sz="1600" b="0" u="none" strike="noStrike">
                <a:solidFill>
                  <a:schemeClr val="dk1"/>
                </a:solidFill>
                <a:effectLst/>
                <a:uFillTx/>
                <a:latin typeface="Arial"/>
                <a:ea typeface="Microsoft YaHei"/>
              </a:rPr>
              <a:t> Set to 0.0.0.0 in general query message. And is set to group ip address receiver wants to join and leave in membership report, group specific query and leave group messages. </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IGMPv2 Operation</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Receiver sends an unsolicited membership report message for the group it wants to join (such as 239.1.1.1) to local router.</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Local router sends PIM join message upstream towards the source of the group.</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When local router starts receiving multicast traffic it forwards to the subnet where the receiver resides.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Local router then periodically sends general query message with max response time of 10 seconds to all host address 224.0.0.1 to check if any receivers in the subnet.</a:t>
            </a: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47" name=""/>
          <p:cNvSpPr/>
          <p:nvPr/>
        </p:nvSpPr>
        <p:spPr>
          <a:xfrm>
            <a:off x="2880" y="1080000"/>
            <a:ext cx="3777120" cy="5118120"/>
          </a:xfrm>
          <a:prstGeom prst="rect">
            <a:avLst/>
          </a:prstGeom>
          <a:noFill/>
          <a:ln w="0">
            <a:noFill/>
          </a:ln>
        </p:spPr>
        <p:style>
          <a:lnRef idx="0"/>
          <a:fillRef idx="0"/>
          <a:effectRef idx="0"/>
          <a:fontRef idx="minor"/>
        </p:style>
        <p:txBody>
          <a:bodyPr lIns="90000" tIns="45000" rIns="90000" bIns="45000" anchor="t">
            <a:spAutoFit/>
          </a:bodyPr>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In response to the general query message, receivers set a timer equal to max response time before sending a membership report message for the group.</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To prevent duplicate membership report message from a subnet, while the max response timer is running, if receivers receive any membership report message from any other receiver, it stops it’s timer and does not send membership report message.</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To leave a group, if the receiver is the last one to respond to the general query message, it sends the leave group message. If it’s not then it leaves the group quietly assuming there are other receivers for the group in the subnet.</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On receiving leave group message, local router sends group specific message to check if any receivers for the group left in the subnet.  </a:t>
            </a:r>
            <a:r>
              <a:rPr lang="en-US" sz="1400" b="1" u="none" strike="noStrike">
                <a:solidFill>
                  <a:schemeClr val="dk1"/>
                </a:solidFill>
                <a:effectLst/>
                <a:uFillTx/>
                <a:latin typeface="Arial"/>
                <a:ea typeface="Microsoft YaHei"/>
              </a:rPr>
              <a:t> </a:t>
            </a:r>
            <a:endParaRPr lang="en-AU" sz="14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 name="Rectangle 6">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2.IGMP</a:t>
            </a:r>
            <a:endParaRPr lang="en-AU" sz="3200" b="0" u="none" strike="noStrike">
              <a:solidFill>
                <a:srgbClr val="FFFFFF"/>
              </a:solidFill>
              <a:effectLst/>
              <a:uFillTx/>
              <a:latin typeface="Arial"/>
            </a:endParaRPr>
          </a:p>
        </p:txBody>
      </p:sp>
      <p:sp>
        <p:nvSpPr>
          <p:cNvPr id="49" name="PlaceHolder 1"/>
          <p:cNvSpPr>
            <a:spLocks noGrp="1"/>
          </p:cNvSpPr>
          <p:nvPr>
            <p:ph/>
          </p:nvPr>
        </p:nvSpPr>
        <p:spPr>
          <a:xfrm>
            <a:off x="3672000" y="75960"/>
            <a:ext cx="6228000" cy="54997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IGMPv2 Operation</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If no receivers left in the group, the local router removes the IGMP state for the group.</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If there are more than one router in a LAN segment, IGMP querier election takes place. </a:t>
            </a:r>
            <a:endParaRPr lang="en-US" sz="1600" b="0" u="none" strike="noStrike">
              <a:solidFill>
                <a:schemeClr val="dk1"/>
              </a:solidFill>
              <a:effectLst/>
              <a:uFillTx/>
              <a:latin typeface="Aptos"/>
            </a:endParaRPr>
          </a:p>
          <a:p>
            <a:pPr marL="360000" algn="l" defTabSz="914400">
              <a:lnSpc>
                <a:spcPct val="100000"/>
              </a:lnSpc>
              <a:spcBef>
                <a:spcPts val="150"/>
              </a:spcBef>
              <a:buClr>
                <a:srgbClr val="000000"/>
              </a:buClr>
              <a:buFont typeface="OpenSymbol"/>
              <a:buChar char="-"/>
              <a:tabLst>
                <a:tab pos="0" algn="l"/>
              </a:tabLst>
            </a:pPr>
            <a:r>
              <a:rPr lang="en-US" sz="1600" b="0" u="none" strike="noStrike">
                <a:solidFill>
                  <a:schemeClr val="dk1"/>
                </a:solidFill>
                <a:effectLst/>
                <a:uFillTx/>
                <a:latin typeface="Arial"/>
                <a:ea typeface="Microsoft YaHei"/>
              </a:rPr>
              <a:t>Local routers send general query message to all hosts address 224.0.0.1 with their interface ip address as source address.</a:t>
            </a:r>
            <a:endParaRPr lang="en-US" sz="1600" b="0" u="none" strike="noStrike">
              <a:solidFill>
                <a:schemeClr val="dk1"/>
              </a:solidFill>
              <a:effectLst/>
              <a:uFillTx/>
              <a:latin typeface="Aptos"/>
            </a:endParaRPr>
          </a:p>
          <a:p>
            <a:pPr marL="360000" algn="l" defTabSz="914400">
              <a:lnSpc>
                <a:spcPct val="100000"/>
              </a:lnSpc>
              <a:spcBef>
                <a:spcPts val="150"/>
              </a:spcBef>
              <a:buClr>
                <a:srgbClr val="000000"/>
              </a:buClr>
              <a:buFont typeface="OpenSymbol"/>
              <a:buChar char="-"/>
              <a:tabLst>
                <a:tab pos="0" algn="l"/>
              </a:tabLst>
            </a:pPr>
            <a:r>
              <a:rPr lang="en-US" sz="1600" b="0" u="none" strike="noStrike">
                <a:solidFill>
                  <a:schemeClr val="dk1"/>
                </a:solidFill>
                <a:effectLst/>
                <a:uFillTx/>
                <a:latin typeface="Arial"/>
                <a:ea typeface="Microsoft YaHei"/>
              </a:rPr>
              <a:t>Routers in a LAN segment receive each other’s general query message and compare the source ip address of the message.</a:t>
            </a:r>
            <a:endParaRPr lang="en-US" sz="1600" b="0" u="none" strike="noStrike">
              <a:solidFill>
                <a:schemeClr val="dk1"/>
              </a:solidFill>
              <a:effectLst/>
              <a:uFillTx/>
              <a:latin typeface="Aptos"/>
            </a:endParaRPr>
          </a:p>
          <a:p>
            <a:pPr marL="360000" algn="l" defTabSz="914400">
              <a:lnSpc>
                <a:spcPct val="100000"/>
              </a:lnSpc>
              <a:spcBef>
                <a:spcPts val="150"/>
              </a:spcBef>
              <a:buClr>
                <a:srgbClr val="000000"/>
              </a:buClr>
              <a:buFont typeface="OpenSymbol"/>
              <a:buChar char="-"/>
              <a:tabLst>
                <a:tab pos="0" algn="l"/>
              </a:tabLst>
            </a:pPr>
            <a:r>
              <a:rPr lang="en-US" sz="1600" b="0" u="none" strike="noStrike">
                <a:solidFill>
                  <a:schemeClr val="dk1"/>
                </a:solidFill>
                <a:effectLst/>
                <a:uFillTx/>
                <a:latin typeface="Arial"/>
                <a:ea typeface="Microsoft YaHei"/>
              </a:rPr>
              <a:t>Router with lower interface ip address is elected as IGMP querier for the group in the LAN segment.</a:t>
            </a:r>
            <a:endParaRPr lang="en-US" sz="1600" b="0" u="none" strike="noStrike">
              <a:solidFill>
                <a:schemeClr val="dk1"/>
              </a:solidFill>
              <a:effectLst/>
              <a:uFillTx/>
              <a:latin typeface="Aptos"/>
            </a:endParaRPr>
          </a:p>
          <a:p>
            <a:pPr marL="360000" algn="l" defTabSz="914400">
              <a:lnSpc>
                <a:spcPct val="100000"/>
              </a:lnSpc>
              <a:spcBef>
                <a:spcPts val="150"/>
              </a:spcBef>
              <a:buClr>
                <a:srgbClr val="000000"/>
              </a:buClr>
              <a:buFont typeface="OpenSymbol"/>
              <a:buChar char="-"/>
              <a:tabLst>
                <a:tab pos="0" algn="l"/>
              </a:tabLst>
            </a:pPr>
            <a:r>
              <a:rPr lang="en-US" sz="1600" b="0" u="none" strike="noStrike">
                <a:solidFill>
                  <a:schemeClr val="dk1"/>
                </a:solidFill>
                <a:effectLst/>
                <a:uFillTx/>
                <a:latin typeface="Arial"/>
                <a:ea typeface="Microsoft YaHei"/>
              </a:rPr>
              <a:t>All the non-querier routers start a timer that resets when they receive a general query message from the querier.</a:t>
            </a:r>
            <a:endParaRPr lang="en-US" sz="1600" b="0" u="none" strike="noStrike">
              <a:solidFill>
                <a:schemeClr val="dk1"/>
              </a:solidFill>
              <a:effectLst/>
              <a:uFillTx/>
              <a:latin typeface="Aptos"/>
            </a:endParaRPr>
          </a:p>
          <a:p>
            <a:pPr marL="360000" algn="l" defTabSz="914400">
              <a:lnSpc>
                <a:spcPct val="100000"/>
              </a:lnSpc>
              <a:spcBef>
                <a:spcPts val="150"/>
              </a:spcBef>
              <a:buClr>
                <a:srgbClr val="000000"/>
              </a:buClr>
              <a:buFont typeface="OpenSymbol"/>
              <a:buChar char="-"/>
              <a:tabLst>
                <a:tab pos="0" algn="l"/>
              </a:tabLst>
            </a:pPr>
            <a:r>
              <a:rPr lang="en-US" sz="1600" b="0" u="none" strike="noStrike">
                <a:solidFill>
                  <a:schemeClr val="dk1"/>
                </a:solidFill>
                <a:effectLst/>
                <a:uFillTx/>
                <a:latin typeface="Arial"/>
                <a:ea typeface="Microsoft YaHei"/>
              </a:rPr>
              <a:t>If the querier router stops sending general query, routers wait for twice the query interval (60 seconds) before triggering new querier election.</a:t>
            </a: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50" name=""/>
          <p:cNvSpPr/>
          <p:nvPr/>
        </p:nvSpPr>
        <p:spPr>
          <a:xfrm>
            <a:off x="2880" y="1080000"/>
            <a:ext cx="3777120" cy="5224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150"/>
              </a:spcBef>
              <a:tabLst>
                <a:tab pos="0" algn="l"/>
              </a:tabLst>
            </a:pPr>
            <a:r>
              <a:rPr lang="en-US" sz="1600" b="1" u="none" strike="noStrike">
                <a:solidFill>
                  <a:schemeClr val="dk1"/>
                </a:solidFill>
                <a:effectLst/>
                <a:uFillTx/>
                <a:latin typeface="Arial"/>
                <a:ea typeface="Microsoft YaHei"/>
              </a:rPr>
              <a:t>IGMPv3 </a:t>
            </a:r>
            <a:r>
              <a:rPr lang="en-US" sz="1400" b="1" u="none" strike="noStrike">
                <a:solidFill>
                  <a:schemeClr val="dk1"/>
                </a:solidFill>
                <a:effectLst/>
                <a:uFillTx/>
                <a:latin typeface="Arial"/>
                <a:ea typeface="Microsoft YaHei"/>
              </a:rPr>
              <a:t> </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IGMPv3 is backward compatible and supports all the IGMPv2 message types.</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IGMPv3 has new message type called </a:t>
            </a:r>
            <a:r>
              <a:rPr lang="en-US" sz="1200" b="1" u="none" strike="noStrike">
                <a:solidFill>
                  <a:schemeClr val="dk1"/>
                </a:solidFill>
                <a:effectLst/>
                <a:uFillTx/>
                <a:latin typeface="Arial"/>
                <a:ea typeface="Microsoft YaHei"/>
              </a:rPr>
              <a:t>version 3 membership report</a:t>
            </a:r>
            <a:r>
              <a:rPr lang="en-US" sz="1400" b="0" u="none" strike="noStrike">
                <a:solidFill>
                  <a:schemeClr val="dk1"/>
                </a:solidFill>
                <a:effectLst/>
                <a:uFillTx/>
                <a:latin typeface="Arial"/>
                <a:ea typeface="Microsoft YaHei"/>
              </a:rPr>
              <a:t> to support source filtering for source specific multicast (SSM).</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The receiver can specify the source it is interested in for the group in version 3 membership report message.</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IGMPv3 membership report message can operate in two modes:</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1" u="none" strike="noStrike">
                <a:solidFill>
                  <a:schemeClr val="dk1"/>
                </a:solidFill>
                <a:effectLst/>
                <a:uFillTx/>
                <a:latin typeface="Arial"/>
                <a:ea typeface="Microsoft YaHei"/>
              </a:rPr>
              <a:t>Include mode:</a:t>
            </a:r>
            <a:r>
              <a:rPr lang="en-US" sz="1400" b="0" u="none" strike="noStrike">
                <a:solidFill>
                  <a:schemeClr val="dk1"/>
                </a:solidFill>
                <a:effectLst/>
                <a:uFillTx/>
                <a:latin typeface="Arial"/>
                <a:ea typeface="Microsoft YaHei"/>
              </a:rPr>
              <a:t> Contains include list of the group source addresses the receiver wants to receive traffic from.</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1" u="none" strike="noStrike">
                <a:solidFill>
                  <a:schemeClr val="dk1"/>
                </a:solidFill>
                <a:effectLst/>
                <a:uFillTx/>
                <a:latin typeface="Arial"/>
                <a:ea typeface="Microsoft YaHei"/>
              </a:rPr>
              <a:t>Exclude mode:</a:t>
            </a:r>
            <a:r>
              <a:rPr lang="en-US" sz="1400" b="0" u="none" strike="noStrike">
                <a:solidFill>
                  <a:schemeClr val="dk1"/>
                </a:solidFill>
                <a:effectLst/>
                <a:uFillTx/>
                <a:latin typeface="Arial"/>
                <a:ea typeface="Microsoft YaHei"/>
              </a:rPr>
              <a:t> Contains exclude list of the group sources addresses the receiver does not want to receive traffic from. Empty exclude list operates same as IGMPv2 and receives traffic from all sources. </a:t>
            </a:r>
            <a:endParaRPr lang="en-AU" sz="1400" b="0" u="none" strike="noStrike">
              <a:solidFill>
                <a:srgbClr val="000000"/>
              </a:solidFill>
              <a:effectLst/>
              <a:uFillTx/>
              <a:latin typeface="Arial"/>
            </a:endParaRPr>
          </a:p>
          <a:p>
            <a:pPr defTabSz="914400">
              <a:lnSpc>
                <a:spcPct val="100000"/>
              </a:lnSpc>
              <a:spcBef>
                <a:spcPts val="150"/>
              </a:spcBef>
              <a:tabLst>
                <a:tab pos="0" algn="l"/>
              </a:tabLst>
            </a:pPr>
            <a:endParaRPr lang="en-AU" sz="14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Rectangle 7">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2.IGMP</a:t>
            </a:r>
            <a:endParaRPr lang="en-AU" sz="3200" b="0" u="none" strike="noStrike">
              <a:solidFill>
                <a:srgbClr val="FFFFFF"/>
              </a:solidFill>
              <a:effectLst/>
              <a:uFillTx/>
              <a:latin typeface="Arial"/>
            </a:endParaRPr>
          </a:p>
        </p:txBody>
      </p:sp>
      <p:sp>
        <p:nvSpPr>
          <p:cNvPr id="52" name="PlaceHolder 1"/>
          <p:cNvSpPr>
            <a:spLocks noGrp="1"/>
          </p:cNvSpPr>
          <p:nvPr>
            <p:ph/>
          </p:nvPr>
        </p:nvSpPr>
        <p:spPr>
          <a:xfrm>
            <a:off x="3672000" y="75960"/>
            <a:ext cx="6228000" cy="54997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IGMP Snooping</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To stop multicast traffic flooding in a LAN segment, switches can either use IGMP snooping or they can be configured with static MAC address entries.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Static MAC address entry is not scalable and is rarely used.</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Switches enabled with IGMP snooping, dynamically populate their MAC address table to forward multicast traffic only to the receivers that have joined the group.</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First picture shows Workstation A and C sending IGMP join message for group address 239.255.1.1 mapped to multicast MAC 01:00:5E:7F:01:01.</a:t>
            </a: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53" name=""/>
          <p:cNvSpPr/>
          <p:nvPr/>
        </p:nvSpPr>
        <p:spPr>
          <a:xfrm>
            <a:off x="2880" y="1080000"/>
            <a:ext cx="3777120" cy="4523400"/>
          </a:xfrm>
          <a:prstGeom prst="rect">
            <a:avLst/>
          </a:prstGeom>
          <a:noFill/>
          <a:ln w="0">
            <a:noFill/>
          </a:ln>
        </p:spPr>
        <p:style>
          <a:lnRef idx="0"/>
          <a:fillRef idx="0"/>
          <a:effectRef idx="0"/>
          <a:fontRef idx="minor"/>
        </p:style>
        <p:txBody>
          <a:bodyPr lIns="90000" tIns="45000" rIns="90000" bIns="45000" anchor="t">
            <a:spAutoFit/>
          </a:bodyPr>
          <a:p>
            <a:pPr marL="162000" indent="-162000"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SW1 populates it’s MAC address table with Multicast MAC address mapped to workstation A and C interfaces.</a:t>
            </a:r>
            <a:endParaRPr lang="en-AU" sz="16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In second picture, when SW1 receives multicast traffic for the group, it performs a MAC address lookup for the multicast group address to forward traffic only out the interfaces where it received join messages for the group.</a:t>
            </a:r>
            <a:endParaRPr lang="en-AU" sz="16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So SW1 forwards the multicast traffic out interface gi0/0 (workstation A) and  gi0/2(workstation C).</a:t>
            </a:r>
            <a:endParaRPr lang="en-AU" sz="1600" b="0" u="none" strike="noStrike">
              <a:solidFill>
                <a:srgbClr val="000000"/>
              </a:solidFill>
              <a:effectLst/>
              <a:uFillTx/>
              <a:latin typeface="Arial"/>
            </a:endParaRPr>
          </a:p>
          <a:p>
            <a:pPr defTabSz="914400">
              <a:lnSpc>
                <a:spcPct val="100000"/>
              </a:lnSpc>
              <a:spcBef>
                <a:spcPts val="150"/>
              </a:spcBef>
              <a:tabLst>
                <a:tab pos="0" algn="l"/>
              </a:tabLst>
            </a:pPr>
            <a:endParaRPr lang="en-AU" sz="1600" b="0" u="none" strike="noStrike">
              <a:solidFill>
                <a:srgbClr val="000000"/>
              </a:solidFill>
              <a:effectLst/>
              <a:uFillTx/>
              <a:latin typeface="Arial"/>
            </a:endParaRPr>
          </a:p>
          <a:p>
            <a:pPr defTabSz="914400">
              <a:lnSpc>
                <a:spcPct val="100000"/>
              </a:lnSpc>
              <a:spcBef>
                <a:spcPts val="150"/>
              </a:spcBef>
              <a:tabLst>
                <a:tab pos="0" algn="l"/>
              </a:tabLst>
            </a:pPr>
            <a:endParaRPr lang="en-AU" sz="14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a:p>
            <a:pPr defTabSz="914400">
              <a:lnSpc>
                <a:spcPct val="100000"/>
              </a:lnSpc>
              <a:tabLst>
                <a:tab pos="0" algn="l"/>
              </a:tabLst>
            </a:pPr>
            <a:endParaRPr lang="en-AU" sz="1600" b="0" u="none" strike="noStrike">
              <a:solidFill>
                <a:srgbClr val="000000"/>
              </a:solidFill>
              <a:effectLst/>
              <a:uFillTx/>
              <a:latin typeface="Arial"/>
            </a:endParaRPr>
          </a:p>
        </p:txBody>
      </p:sp>
      <p:pic>
        <p:nvPicPr>
          <p:cNvPr id="54" name=""/>
          <p:cNvPicPr/>
          <p:nvPr/>
        </p:nvPicPr>
        <p:blipFill>
          <a:blip r:embed="rId1"/>
          <a:stretch/>
        </p:blipFill>
        <p:spPr>
          <a:xfrm>
            <a:off x="3816000" y="3060000"/>
            <a:ext cx="3191760" cy="2515680"/>
          </a:xfrm>
          <a:prstGeom prst="rect">
            <a:avLst/>
          </a:prstGeom>
          <a:noFill/>
          <a:ln w="0">
            <a:noFill/>
          </a:ln>
        </p:spPr>
      </p:pic>
      <p:pic>
        <p:nvPicPr>
          <p:cNvPr id="55" name=""/>
          <p:cNvPicPr/>
          <p:nvPr/>
        </p:nvPicPr>
        <p:blipFill>
          <a:blip r:embed="rId2"/>
          <a:stretch/>
        </p:blipFill>
        <p:spPr>
          <a:xfrm>
            <a:off x="7056000" y="3060000"/>
            <a:ext cx="2887200" cy="24480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Rectangle 8">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3.PIM</a:t>
            </a:r>
            <a:endParaRPr lang="en-AU" sz="3200" b="0" u="none" strike="noStrike">
              <a:solidFill>
                <a:srgbClr val="FFFFFF"/>
              </a:solidFill>
              <a:effectLst/>
              <a:uFillTx/>
              <a:latin typeface="Arial"/>
            </a:endParaRPr>
          </a:p>
        </p:txBody>
      </p:sp>
      <p:sp>
        <p:nvSpPr>
          <p:cNvPr id="57" name="PlaceHolder 1"/>
          <p:cNvSpPr>
            <a:spLocks noGrp="1"/>
          </p:cNvSpPr>
          <p:nvPr>
            <p:ph/>
          </p:nvPr>
        </p:nvSpPr>
        <p:spPr>
          <a:xfrm>
            <a:off x="3672000" y="75960"/>
            <a:ext cx="6228000" cy="5499720"/>
          </a:xfrm>
          <a:prstGeom prst="rect">
            <a:avLst/>
          </a:prstGeom>
          <a:noFill/>
          <a:ln w="0">
            <a:noFill/>
          </a:ln>
        </p:spPr>
        <p:txBody>
          <a:bodyPr lIns="91440" tIns="45720" rIns="91440" bIns="45720" anchor="t">
            <a:normAutofit fontScale="92500" lnSpcReduction="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Protocol Independent Multicast (PIM)</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For multicast architecture where source and receivers are not connected to same router, a multicast routing protocol is required.</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Cisco fully only supports PIM as a multicast routing protocol that is unicast routing protocol independent but depends on unicast routing to identify path between source and receivers.</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PIM Distribution Trees</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Two basic types of Multicast Distribution Trees(MDT):</a:t>
            </a:r>
            <a:endParaRPr lang="en-US" sz="1600" b="0" u="none" strike="noStrike">
              <a:solidFill>
                <a:schemeClr val="dk1"/>
              </a:solidFill>
              <a:effectLst/>
              <a:uFillTx/>
              <a:latin typeface="Aptos"/>
            </a:endParaRPr>
          </a:p>
          <a:p>
            <a:pPr indent="-324000" algn="l" defTabSz="914400">
              <a:lnSpc>
                <a:spcPct val="100000"/>
              </a:lnSpc>
              <a:spcBef>
                <a:spcPts val="434"/>
              </a:spcBef>
              <a:spcAft>
                <a:spcPts val="283"/>
              </a:spcAft>
              <a:buClr>
                <a:srgbClr val="000000"/>
              </a:buClr>
              <a:buFont typeface="OpenSymbol"/>
              <a:buAutoNum type="arabicPeriod"/>
              <a:tabLst>
                <a:tab pos="0" algn="l"/>
              </a:tabLst>
            </a:pPr>
            <a:r>
              <a:rPr lang="en-US" sz="1600" b="1" u="none" strike="noStrike">
                <a:solidFill>
                  <a:schemeClr val="dk1"/>
                </a:solidFill>
                <a:effectLst/>
                <a:uFillTx/>
                <a:latin typeface="Arial"/>
                <a:ea typeface="Microsoft YaHei"/>
              </a:rPr>
              <a:t> Source Tree</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A MDT with source as root and branches through the multicast network upto the receivers.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The tree is built as a shortest path from root to the leaves thus it is also known as Shortest Path Tree (SPT).</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Forwarding state of the source tree is known by the notation S comma G (S,G) where S is the multicast source and G is the group address.</a:t>
            </a:r>
            <a:endParaRPr lang="en-US" sz="1600" b="0" u="none" strike="noStrike">
              <a:solidFill>
                <a:schemeClr val="dk1"/>
              </a:solidFill>
              <a:effectLst/>
              <a:uFillTx/>
              <a:latin typeface="Aptos"/>
            </a:endParaRPr>
          </a:p>
          <a:p>
            <a:pPr indent="-324000" algn="l" defTabSz="914400">
              <a:lnSpc>
                <a:spcPct val="100000"/>
              </a:lnSpc>
              <a:spcBef>
                <a:spcPts val="434"/>
              </a:spcBef>
              <a:spcAft>
                <a:spcPts val="283"/>
              </a:spcAft>
              <a:buClr>
                <a:srgbClr val="000000"/>
              </a:buClr>
              <a:buFont typeface="OpenSymbol"/>
              <a:buAutoNum type="arabicPeriod" startAt="2"/>
              <a:tabLst>
                <a:tab pos="0" algn="l"/>
              </a:tabLst>
            </a:pPr>
            <a:r>
              <a:rPr lang="en-US" sz="1600" b="1" u="none" strike="noStrike">
                <a:solidFill>
                  <a:schemeClr val="dk1"/>
                </a:solidFill>
                <a:effectLst/>
                <a:uFillTx/>
                <a:latin typeface="Arial"/>
                <a:ea typeface="Microsoft YaHei"/>
              </a:rPr>
              <a:t> Shared Tree</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A MDT where root of the tree is not multicast source but a designated router known as Rendezvous Point (RP).</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Thus shared tree is also known as RP Tree (RPT).</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Regardless of the multicast source, traffic is forwarded down the tree using the shared tree forwarding state ‘star comma G’ (*,G).</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58" name=""/>
          <p:cNvSpPr/>
          <p:nvPr/>
        </p:nvSpPr>
        <p:spPr>
          <a:xfrm>
            <a:off x="2880" y="1080000"/>
            <a:ext cx="3777120" cy="3185640"/>
          </a:xfrm>
          <a:prstGeom prst="rect">
            <a:avLst/>
          </a:prstGeom>
          <a:noFill/>
          <a:ln w="0">
            <a:noFill/>
          </a:ln>
        </p:spPr>
        <p:style>
          <a:lnRef idx="0"/>
          <a:fillRef idx="0"/>
          <a:effectRef idx="0"/>
          <a:fontRef idx="minor"/>
        </p:style>
        <p:txBody>
          <a:bodyPr lIns="90000" tIns="45000" rIns="90000" bIns="45000" anchor="t">
            <a:spAutoFit/>
          </a:bodyPr>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One of the benefits of shared tree is that it requires fewer forwarding states as any number of source can be represented with *  in (*,G).</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In below figure, * is 10.1.1.2 and 10.2.2.2, and G is 239.1.1.1.</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One of the drawbacks of shared tree is that multiple(one from each source) multicast stream flow in the network consuming bandwidth and receiver resources.</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r>
              <a:rPr lang="en-US" sz="1400" b="0" u="none" strike="noStrike">
                <a:solidFill>
                  <a:schemeClr val="dk1"/>
                </a:solidFill>
                <a:effectLst/>
                <a:uFillTx/>
                <a:latin typeface="Arial"/>
                <a:ea typeface="Microsoft YaHei"/>
              </a:rPr>
              <a:t>Security is another drawbacks as unwanted source can be introduced to the shared tree.</a:t>
            </a:r>
            <a:endParaRPr lang="en-AU" sz="1400" b="0" u="none" strike="noStrike">
              <a:solidFill>
                <a:srgbClr val="000000"/>
              </a:solidFill>
              <a:effectLst/>
              <a:uFillTx/>
              <a:latin typeface="Arial"/>
            </a:endParaRPr>
          </a:p>
          <a:p>
            <a:pPr marL="162000" indent="-162000" defTabSz="914400">
              <a:lnSpc>
                <a:spcPct val="100000"/>
              </a:lnSpc>
              <a:spcBef>
                <a:spcPts val="150"/>
              </a:spcBef>
              <a:buClr>
                <a:srgbClr val="000000"/>
              </a:buClr>
              <a:buFont typeface="Arial"/>
              <a:buChar char="•"/>
              <a:tabLst>
                <a:tab pos="0" algn="l"/>
              </a:tabLst>
            </a:pPr>
            <a:endParaRPr lang="en-AU" sz="1600" b="0" u="none" strike="noStrike">
              <a:solidFill>
                <a:srgbClr val="000000"/>
              </a:solidFill>
              <a:effectLst/>
              <a:uFillTx/>
              <a:latin typeface="Arial"/>
            </a:endParaRPr>
          </a:p>
        </p:txBody>
      </p:sp>
      <p:pic>
        <p:nvPicPr>
          <p:cNvPr id="59" name=""/>
          <p:cNvPicPr/>
          <p:nvPr/>
        </p:nvPicPr>
        <p:blipFill>
          <a:blip r:embed="rId1"/>
          <a:stretch/>
        </p:blipFill>
        <p:spPr>
          <a:xfrm>
            <a:off x="1440000" y="3780000"/>
            <a:ext cx="1919880" cy="180000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Rectangle 9">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3.PIM</a:t>
            </a:r>
            <a:endParaRPr lang="en-AU" sz="3200" b="0" u="none" strike="noStrike">
              <a:solidFill>
                <a:srgbClr val="FFFFFF"/>
              </a:solidFill>
              <a:effectLst/>
              <a:uFillTx/>
              <a:latin typeface="Arial"/>
            </a:endParaRPr>
          </a:p>
        </p:txBody>
      </p:sp>
      <p:sp>
        <p:nvSpPr>
          <p:cNvPr id="61" name="PlaceHolder 1"/>
          <p:cNvSpPr>
            <a:spLocks noGrp="1"/>
          </p:cNvSpPr>
          <p:nvPr>
            <p:ph/>
          </p:nvPr>
        </p:nvSpPr>
        <p:spPr>
          <a:xfrm>
            <a:off x="3672000" y="75960"/>
            <a:ext cx="6228000" cy="5499720"/>
          </a:xfrm>
          <a:prstGeom prst="rect">
            <a:avLst/>
          </a:prstGeom>
          <a:noFill/>
          <a:ln w="0">
            <a:noFill/>
          </a:ln>
        </p:spPr>
        <p:txBody>
          <a:bodyPr lIns="91440" tIns="45720" rIns="91440" bIns="45720" anchor="t">
            <a:normAutofit lnSpcReduction="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PIM Terminology</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Reverse Path Forwarding (RPF) Interface: </a:t>
            </a:r>
            <a:r>
              <a:rPr lang="en-US" sz="1400" b="0" u="none" strike="noStrike">
                <a:solidFill>
                  <a:schemeClr val="dk1"/>
                </a:solidFill>
                <a:effectLst/>
                <a:uFillTx/>
                <a:latin typeface="Arial"/>
                <a:ea typeface="Microsoft YaHei"/>
              </a:rPr>
              <a:t>Interface with lowest cost path to the root of SPT or RPT. For multiple interfaces with equal cost, interface with highest ip address is used as tiebreaker.Te0/1/2 of R5 and Te1/1/1 of R7 are the example of reverse path forwarding interface.</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RPF Neighbor: </a:t>
            </a:r>
            <a:r>
              <a:rPr lang="en-US" sz="1400" b="0" u="none" strike="noStrike">
                <a:solidFill>
                  <a:schemeClr val="dk1"/>
                </a:solidFill>
                <a:effectLst/>
                <a:uFillTx/>
                <a:latin typeface="Arial"/>
                <a:ea typeface="Microsoft YaHei"/>
              </a:rPr>
              <a:t>PIM neighbor on RPF interface. Example: If R7 is using SPT, RPF neighbor would be R4 and if it is using RPT, RPF neighbor would be R3.</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Upstream: </a:t>
            </a:r>
            <a:r>
              <a:rPr lang="en-US" sz="1400" b="0" u="none" strike="noStrike">
                <a:solidFill>
                  <a:schemeClr val="dk1"/>
                </a:solidFill>
                <a:effectLst/>
                <a:uFillTx/>
                <a:latin typeface="Arial"/>
                <a:ea typeface="Microsoft YaHei"/>
              </a:rPr>
              <a:t>Toward the root of the tree, RP in RPT and Source in SPT where PIM join message travels.</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Upstream Interface:</a:t>
            </a:r>
            <a:r>
              <a:rPr lang="en-US" sz="1400" b="0" u="none" strike="noStrike">
                <a:solidFill>
                  <a:schemeClr val="dk1"/>
                </a:solidFill>
                <a:effectLst/>
                <a:uFillTx/>
                <a:latin typeface="Arial"/>
                <a:ea typeface="Microsoft YaHei"/>
              </a:rPr>
              <a:t> Interface towards source of the tree which is also known as RPF interface or Incoming Interface.</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Downstream: </a:t>
            </a:r>
            <a:r>
              <a:rPr lang="en-US" sz="1400" b="0" u="none" strike="noStrike">
                <a:solidFill>
                  <a:schemeClr val="dk1"/>
                </a:solidFill>
                <a:effectLst/>
                <a:uFillTx/>
                <a:latin typeface="Arial"/>
                <a:ea typeface="Microsoft YaHei"/>
              </a:rPr>
              <a:t>Away from the source of the tree and towards the receiver.</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Downstream Interface: </a:t>
            </a:r>
            <a:r>
              <a:rPr lang="en-US" sz="1400" b="0" u="none" strike="noStrike">
                <a:solidFill>
                  <a:schemeClr val="dk1"/>
                </a:solidFill>
                <a:effectLst/>
                <a:uFillTx/>
                <a:latin typeface="Arial"/>
                <a:ea typeface="Microsoft YaHei"/>
              </a:rPr>
              <a:t>Any interface that is used to forward multicast traffic down the tree, also known as Outgoing Interface.</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Incoming Interface (IIF): </a:t>
            </a:r>
            <a:r>
              <a:rPr lang="en-US" sz="1400" b="0" u="none" strike="noStrike">
                <a:solidFill>
                  <a:schemeClr val="dk1"/>
                </a:solidFill>
                <a:effectLst/>
                <a:uFillTx/>
                <a:latin typeface="Arial"/>
                <a:ea typeface="Microsoft YaHei"/>
              </a:rPr>
              <a:t>Only interface that can accept multicast traffic coming from the source. Same as RPF interface. Example R3 Te0/0/1.</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Outgoing Interface(OIF):</a:t>
            </a:r>
            <a:r>
              <a:rPr lang="en-US" sz="1400" b="0" u="none" strike="noStrike">
                <a:solidFill>
                  <a:schemeClr val="dk1"/>
                </a:solidFill>
                <a:effectLst/>
                <a:uFillTx/>
                <a:latin typeface="Arial"/>
                <a:ea typeface="Microsoft YaHei"/>
              </a:rPr>
              <a:t> Any interface that is used to forward traffic down the tree, also known as downstream interface.</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Outgoing Interface List (OIL):</a:t>
            </a:r>
            <a:r>
              <a:rPr lang="en-US" sz="1400" b="0" u="none" strike="noStrike">
                <a:solidFill>
                  <a:schemeClr val="dk1"/>
                </a:solidFill>
                <a:effectLst/>
                <a:uFillTx/>
                <a:latin typeface="Arial"/>
                <a:ea typeface="Microsoft YaHei"/>
              </a:rPr>
              <a:t> List of outgoing interfaces that forwards traffic downstream. Example: R1’s Te0/0/0 and Te0/0/1.</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Last Hop Router (LHR):</a:t>
            </a:r>
            <a:r>
              <a:rPr lang="en-US" sz="1400" b="0" u="none" strike="noStrike">
                <a:solidFill>
                  <a:schemeClr val="dk1"/>
                </a:solidFill>
                <a:effectLst/>
                <a:uFillTx/>
                <a:latin typeface="Arial"/>
                <a:ea typeface="Microsoft YaHei"/>
              </a:rPr>
              <a:t> Also known as leaf router which is directly attached to receivers. It is responsible for sending PIM joins upstream towards the source.</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pic>
        <p:nvPicPr>
          <p:cNvPr id="62" name=""/>
          <p:cNvPicPr/>
          <p:nvPr/>
        </p:nvPicPr>
        <p:blipFill>
          <a:blip r:embed="rId1"/>
          <a:stretch/>
        </p:blipFill>
        <p:spPr>
          <a:xfrm>
            <a:off x="108000" y="1260000"/>
            <a:ext cx="3492000" cy="414000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 name="Rectangle 10">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3.PIM</a:t>
            </a:r>
            <a:endParaRPr lang="en-AU" sz="3200" b="0" u="none" strike="noStrike">
              <a:solidFill>
                <a:srgbClr val="FFFFFF"/>
              </a:solidFill>
              <a:effectLst/>
              <a:uFillTx/>
              <a:latin typeface="Arial"/>
            </a:endParaRPr>
          </a:p>
        </p:txBody>
      </p:sp>
      <p:sp>
        <p:nvSpPr>
          <p:cNvPr id="64" name="PlaceHolder 1"/>
          <p:cNvSpPr>
            <a:spLocks noGrp="1"/>
          </p:cNvSpPr>
          <p:nvPr>
            <p:ph/>
          </p:nvPr>
        </p:nvSpPr>
        <p:spPr>
          <a:xfrm>
            <a:off x="3672000" y="75960"/>
            <a:ext cx="6228000" cy="54997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PIM Terminology</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First Hop Router (FHR):</a:t>
            </a:r>
            <a:r>
              <a:rPr lang="en-US" sz="1400" b="0" u="none" strike="noStrike">
                <a:solidFill>
                  <a:schemeClr val="dk1"/>
                </a:solidFill>
                <a:effectLst/>
                <a:uFillTx/>
                <a:latin typeface="Arial"/>
                <a:ea typeface="Microsoft YaHei"/>
              </a:rPr>
              <a:t> Router that is directly attached to the multicast source also known as root router. It is responsible for sending register messages to RP.</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Multicast Routing Information Base (MRIB):</a:t>
            </a:r>
            <a:r>
              <a:rPr lang="en-US" sz="1400" b="0" u="none" strike="noStrike">
                <a:solidFill>
                  <a:schemeClr val="dk1"/>
                </a:solidFill>
                <a:effectLst/>
                <a:uFillTx/>
                <a:latin typeface="Arial"/>
                <a:ea typeface="Microsoft YaHei"/>
              </a:rPr>
              <a:t> Similar to unicast RIB, it is a topology table also known as multicast route table (mroute), that is derived from unicast routing table and PIM.MRIB contains Source(S), Group (G), IIF, OIF, and RPF neighbor for each multicast route.</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Multicast Forwarding Information Base (MFIB): </a:t>
            </a:r>
            <a:r>
              <a:rPr lang="en-US" sz="1400" b="0" u="none" strike="noStrike">
                <a:solidFill>
                  <a:schemeClr val="dk1"/>
                </a:solidFill>
                <a:effectLst/>
                <a:uFillTx/>
                <a:latin typeface="Arial"/>
                <a:ea typeface="Microsoft YaHei"/>
              </a:rPr>
              <a:t>A forwarding table that uses MRIB to program multicast forwarding information in hardware for faster forwarding.</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400" b="1" u="none" strike="noStrike">
                <a:solidFill>
                  <a:schemeClr val="dk1"/>
                </a:solidFill>
                <a:effectLst/>
                <a:uFillTx/>
                <a:latin typeface="Arial"/>
                <a:ea typeface="Microsoft YaHei"/>
              </a:rPr>
              <a:t>Multicast State:</a:t>
            </a:r>
            <a:r>
              <a:rPr lang="en-US" sz="1400" b="0" u="none" strike="noStrike">
                <a:solidFill>
                  <a:schemeClr val="dk1"/>
                </a:solidFill>
                <a:effectLst/>
                <a:uFillTx/>
                <a:latin typeface="Arial"/>
                <a:ea typeface="Microsoft YaHei"/>
              </a:rPr>
              <a:t> Forwarding state used by router to forward multicast traffic. It is composed of entries found in mroute table (S,G,IIF,OIF and so on).</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1" u="none" strike="noStrike">
                <a:solidFill>
                  <a:schemeClr val="dk1"/>
                </a:solidFill>
                <a:effectLst/>
                <a:uFillTx/>
                <a:latin typeface="Arial"/>
                <a:ea typeface="Microsoft YaHei"/>
              </a:rPr>
              <a:t>PIM Modes:</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PIM Dense Mode (PIM DM)   </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PIM Sparse Mode (PIM SM)</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PIM Sparse Dense Mode </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PIM Source Specific Multicast (PIM SSM) </a:t>
            </a:r>
            <a:endParaRPr lang="en-US" sz="14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PIM Bidirectional Mode (Bidir PIM)</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400" b="0" u="none" strike="noStrike">
                <a:solidFill>
                  <a:schemeClr val="dk1"/>
                </a:solidFill>
                <a:effectLst/>
                <a:uFillTx/>
                <a:latin typeface="Arial"/>
                <a:ea typeface="Microsoft YaHei"/>
              </a:rPr>
              <a:t>PIM Dense Mode and Sparse Mode commonly known as Any Source Multicast (ASM)</a:t>
            </a: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360000" indent="0" algn="l" defTabSz="914400">
              <a:lnSpc>
                <a:spcPct val="100000"/>
              </a:lnSpc>
              <a:spcBef>
                <a:spcPts val="150"/>
              </a:spcBef>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pic>
        <p:nvPicPr>
          <p:cNvPr id="65" name=""/>
          <p:cNvPicPr/>
          <p:nvPr/>
        </p:nvPicPr>
        <p:blipFill>
          <a:blip r:embed="rId1"/>
          <a:stretch/>
        </p:blipFill>
        <p:spPr>
          <a:xfrm>
            <a:off x="108000" y="1260000"/>
            <a:ext cx="3492000" cy="414000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Rectangle 11">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3.PIM</a:t>
            </a:r>
            <a:endParaRPr lang="en-AU" sz="3200" b="0" u="none" strike="noStrike">
              <a:solidFill>
                <a:srgbClr val="FFFFFF"/>
              </a:solidFill>
              <a:effectLst/>
              <a:uFillTx/>
              <a:latin typeface="Arial"/>
            </a:endParaRPr>
          </a:p>
        </p:txBody>
      </p:sp>
      <p:sp>
        <p:nvSpPr>
          <p:cNvPr id="67" name="PlaceHolder 1"/>
          <p:cNvSpPr>
            <a:spLocks noGrp="1"/>
          </p:cNvSpPr>
          <p:nvPr>
            <p:ph/>
          </p:nvPr>
        </p:nvSpPr>
        <p:spPr>
          <a:xfrm>
            <a:off x="3672000" y="75960"/>
            <a:ext cx="6228000" cy="54997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PIM Control Messages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All PIM control messages use IP protocol number 103 and they are either unicast (register and register stop) or multicast to All PIM address 224.0.0.13.</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4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PIM Hello messages are sent every 30 seconds by default.</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PIM Dense Mode (PIM-DM)</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PIM-DM is used on a multicast</a:t>
            </a:r>
            <a:r>
              <a:rPr lang="en-US" sz="1600" b="1" u="none" strike="noStrike">
                <a:solidFill>
                  <a:schemeClr val="dk1"/>
                </a:solidFill>
                <a:effectLst/>
                <a:uFillTx/>
                <a:latin typeface="Arial"/>
                <a:ea typeface="Microsoft YaHei"/>
              </a:rPr>
              <a:t> </a:t>
            </a:r>
            <a:r>
              <a:rPr lang="en-US" sz="1600" b="0" u="none" strike="noStrike">
                <a:solidFill>
                  <a:schemeClr val="dk1"/>
                </a:solidFill>
                <a:effectLst/>
                <a:uFillTx/>
                <a:latin typeface="Arial"/>
                <a:ea typeface="Microsoft YaHei"/>
              </a:rPr>
              <a:t>network architecture where receivers are densely populated or are located on every subnet.</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graphicFrame>
        <p:nvGraphicFramePr>
          <p:cNvPr id="68" name=""/>
          <p:cNvGraphicFramePr/>
          <p:nvPr/>
        </p:nvGraphicFramePr>
        <p:xfrm>
          <a:off x="3815280" y="1361520"/>
          <a:ext cx="6084360" cy="2634480"/>
        </p:xfrm>
        <a:graphic>
          <a:graphicData uri="http://schemas.openxmlformats.org/drawingml/2006/table">
            <a:tbl>
              <a:tblPr/>
              <a:tblGrid>
                <a:gridCol w="470160"/>
                <a:gridCol w="1272240"/>
                <a:gridCol w="2287800"/>
                <a:gridCol w="2054520"/>
              </a:tblGrid>
              <a:tr h="227520">
                <a:tc>
                  <a:txBody>
                    <a:bodyPr lIns="36000" tIns="36000" rIns="36000" bIns="36000" anchor="t">
                      <a:noAutofit/>
                    </a:bodyPr>
                    <a:p>
                      <a:r>
                        <a:rPr lang="en-AU" sz="1200" b="1" u="none" strike="noStrike">
                          <a:solidFill>
                            <a:srgbClr val="000000"/>
                          </a:solidFill>
                          <a:effectLst/>
                          <a:uFillTx/>
                          <a:latin typeface="Arial"/>
                        </a:rPr>
                        <a:t>Type</a:t>
                      </a:r>
                      <a:endParaRPr lang="en-AU" sz="12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1" u="none" strike="noStrike">
                          <a:solidFill>
                            <a:srgbClr val="000000"/>
                          </a:solidFill>
                          <a:effectLst/>
                          <a:uFillTx/>
                          <a:latin typeface="Arial"/>
                        </a:rPr>
                        <a:t>Messages</a:t>
                      </a:r>
                      <a:endParaRPr lang="en-AU" sz="12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1" u="none" strike="noStrike">
                          <a:solidFill>
                            <a:srgbClr val="000000"/>
                          </a:solidFill>
                          <a:effectLst/>
                          <a:uFillTx/>
                          <a:latin typeface="Arial"/>
                        </a:rPr>
                        <a:t>Destination</a:t>
                      </a:r>
                      <a:endParaRPr lang="en-AU" sz="12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1" u="none" strike="noStrike">
                          <a:solidFill>
                            <a:srgbClr val="000000"/>
                          </a:solidFill>
                          <a:effectLst/>
                          <a:uFillTx/>
                          <a:latin typeface="Arial"/>
                        </a:rPr>
                        <a:t>PIM Modes</a:t>
                      </a:r>
                      <a:endParaRPr lang="en-AU" sz="12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39760">
                <a:tc>
                  <a:txBody>
                    <a:bodyPr lIns="36000" tIns="36000" rIns="36000" bIns="36000" anchor="t">
                      <a:noAutofit/>
                    </a:bodyPr>
                    <a:p>
                      <a:r>
                        <a:rPr lang="en-AU" sz="1200" b="0" u="none" strike="noStrike">
                          <a:solidFill>
                            <a:srgbClr val="000000"/>
                          </a:solidFill>
                          <a:effectLst/>
                          <a:uFillTx/>
                          <a:latin typeface="Arial"/>
                        </a:rPr>
                        <a:t>0</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1" u="none" strike="noStrike">
                          <a:solidFill>
                            <a:srgbClr val="000000"/>
                          </a:solidFill>
                          <a:effectLst/>
                          <a:uFillTx/>
                          <a:latin typeface="Arial"/>
                        </a:rPr>
                        <a:t>Hello</a:t>
                      </a:r>
                      <a:endParaRPr lang="en-AU" sz="12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224.0.0.13 (all PIM routers)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SM,DM Bidir and SSM</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43720">
                <a:tc>
                  <a:txBody>
                    <a:bodyPr lIns="36000" tIns="36000" rIns="36000" bIns="36000" anchor="t">
                      <a:noAutofit/>
                    </a:bodyPr>
                    <a:p>
                      <a:r>
                        <a:rPr lang="en-AU" sz="1200" b="0" u="none" strike="noStrike">
                          <a:solidFill>
                            <a:srgbClr val="000000"/>
                          </a:solidFill>
                          <a:effectLst/>
                          <a:uFillTx/>
                          <a:latin typeface="Arial"/>
                        </a:rPr>
                        <a:t>1</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1" u="none" strike="noStrike">
                          <a:solidFill>
                            <a:srgbClr val="000000"/>
                          </a:solidFill>
                          <a:effectLst/>
                          <a:uFillTx/>
                          <a:latin typeface="Arial"/>
                        </a:rPr>
                        <a:t>Register</a:t>
                      </a:r>
                      <a:endParaRPr lang="en-AU" sz="12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RP address (unicast)</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PIM-SM</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40120">
                <a:tc>
                  <a:txBody>
                    <a:bodyPr lIns="36000" tIns="36000" rIns="36000" bIns="36000" anchor="t">
                      <a:noAutofit/>
                    </a:bodyPr>
                    <a:p>
                      <a:r>
                        <a:rPr lang="en-AU" sz="1200" b="0" u="none" strike="noStrike">
                          <a:solidFill>
                            <a:srgbClr val="000000"/>
                          </a:solidFill>
                          <a:effectLst/>
                          <a:uFillTx/>
                          <a:latin typeface="Arial"/>
                        </a:rPr>
                        <a:t>2</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1" u="none" strike="noStrike">
                          <a:solidFill>
                            <a:srgbClr val="000000"/>
                          </a:solidFill>
                          <a:effectLst/>
                          <a:uFillTx/>
                          <a:latin typeface="Arial"/>
                        </a:rPr>
                        <a:t>Register stop</a:t>
                      </a:r>
                      <a:endParaRPr lang="en-AU" sz="12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First Hop Router (Unicast)</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PIM-SM</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44080">
                <a:tc>
                  <a:txBody>
                    <a:bodyPr lIns="36000" tIns="36000" rIns="36000" bIns="36000" anchor="t">
                      <a:noAutofit/>
                    </a:bodyPr>
                    <a:p>
                      <a:r>
                        <a:rPr lang="en-AU" sz="1200" b="0" u="none" strike="noStrike">
                          <a:solidFill>
                            <a:srgbClr val="000000"/>
                          </a:solidFill>
                          <a:effectLst/>
                          <a:uFillTx/>
                          <a:latin typeface="Arial"/>
                        </a:rPr>
                        <a:t>3</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1" u="none" strike="noStrike">
                          <a:solidFill>
                            <a:srgbClr val="000000"/>
                          </a:solidFill>
                          <a:effectLst/>
                          <a:uFillTx/>
                          <a:latin typeface="Arial"/>
                        </a:rPr>
                        <a:t>join/prune</a:t>
                      </a:r>
                      <a:endParaRPr lang="en-AU" sz="12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224.0.0.13(all PIM routers)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PIM-SM,Bidir-PIM and SSM</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67840">
                <a:tc>
                  <a:txBody>
                    <a:bodyPr lIns="36000" tIns="36000" rIns="36000" bIns="36000" anchor="t">
                      <a:noAutofit/>
                    </a:bodyPr>
                    <a:p>
                      <a:r>
                        <a:rPr lang="en-AU" sz="1200" b="0" u="none" strike="noStrike">
                          <a:solidFill>
                            <a:srgbClr val="000000"/>
                          </a:solidFill>
                          <a:effectLst/>
                          <a:uFillTx/>
                          <a:latin typeface="Arial"/>
                        </a:rPr>
                        <a:t>4</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1" u="none" strike="noStrike">
                          <a:solidFill>
                            <a:srgbClr val="000000"/>
                          </a:solidFill>
                          <a:effectLst/>
                          <a:uFillTx/>
                          <a:latin typeface="Arial"/>
                        </a:rPr>
                        <a:t>Bootstrap</a:t>
                      </a:r>
                      <a:endParaRPr lang="en-AU" sz="12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224.0.0.13(all PIM routers)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PIM-SM and Bidir-PIM</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46960">
                <a:tc>
                  <a:txBody>
                    <a:bodyPr lIns="36000" tIns="36000" rIns="36000" bIns="36000" anchor="t">
                      <a:noAutofit/>
                    </a:bodyPr>
                    <a:p>
                      <a:r>
                        <a:rPr lang="en-AU" sz="1200" b="0" u="none" strike="noStrike">
                          <a:solidFill>
                            <a:srgbClr val="000000"/>
                          </a:solidFill>
                          <a:effectLst/>
                          <a:uFillTx/>
                          <a:latin typeface="Arial"/>
                        </a:rPr>
                        <a:t>5</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1" u="none" strike="noStrike">
                          <a:solidFill>
                            <a:srgbClr val="000000"/>
                          </a:solidFill>
                          <a:effectLst/>
                          <a:uFillTx/>
                          <a:latin typeface="Arial"/>
                        </a:rPr>
                        <a:t>Assert</a:t>
                      </a:r>
                      <a:endParaRPr lang="en-AU" sz="12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224.0.0.13 (all PIM routers)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SM,DM and Bidir-PIM</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346320">
                <a:tc>
                  <a:txBody>
                    <a:bodyPr lIns="36000" tIns="36000" rIns="36000" bIns="36000" anchor="t">
                      <a:noAutofit/>
                    </a:bodyPr>
                    <a:p>
                      <a:r>
                        <a:rPr lang="en-AU" sz="1200" b="0" u="none" strike="noStrike">
                          <a:solidFill>
                            <a:srgbClr val="000000"/>
                          </a:solidFill>
                          <a:effectLst/>
                          <a:uFillTx/>
                          <a:latin typeface="Arial"/>
                        </a:rPr>
                        <a:t>8</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1" u="none" strike="noStrike">
                          <a:solidFill>
                            <a:srgbClr val="000000"/>
                          </a:solidFill>
                          <a:effectLst/>
                          <a:uFillTx/>
                          <a:latin typeface="Arial"/>
                        </a:rPr>
                        <a:t>Candidate RP Advertisement</a:t>
                      </a:r>
                      <a:endParaRPr lang="en-AU" sz="12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Bootstrap Router Address (unicast to BSR)</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PIM-SM and Bidir-PIM</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35440">
                <a:tc>
                  <a:txBody>
                    <a:bodyPr lIns="36000" tIns="36000" rIns="36000" bIns="36000" anchor="t">
                      <a:noAutofit/>
                    </a:bodyPr>
                    <a:p>
                      <a:r>
                        <a:rPr lang="en-AU" sz="1200" b="0" u="none" strike="noStrike">
                          <a:solidFill>
                            <a:srgbClr val="000000"/>
                          </a:solidFill>
                          <a:effectLst/>
                          <a:uFillTx/>
                          <a:latin typeface="Arial"/>
                        </a:rPr>
                        <a:t>9</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1" u="none" strike="noStrike">
                          <a:solidFill>
                            <a:srgbClr val="000000"/>
                          </a:solidFill>
                          <a:effectLst/>
                          <a:uFillTx/>
                          <a:latin typeface="Arial"/>
                        </a:rPr>
                        <a:t>State refresh</a:t>
                      </a:r>
                      <a:endParaRPr lang="en-AU" sz="12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224.0.0.13 (all PIM routers)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PIM-DM</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r h="246600">
                <a:tc>
                  <a:txBody>
                    <a:bodyPr lIns="36000" tIns="36000" rIns="36000" bIns="36000" anchor="t">
                      <a:noAutofit/>
                    </a:bodyPr>
                    <a:p>
                      <a:r>
                        <a:rPr lang="en-AU" sz="1200" b="0" u="none" strike="noStrike">
                          <a:solidFill>
                            <a:srgbClr val="000000"/>
                          </a:solidFill>
                          <a:effectLst/>
                          <a:uFillTx/>
                          <a:latin typeface="Arial"/>
                        </a:rPr>
                        <a:t>10</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1" u="none" strike="noStrike">
                          <a:solidFill>
                            <a:srgbClr val="000000"/>
                          </a:solidFill>
                          <a:effectLst/>
                          <a:uFillTx/>
                          <a:latin typeface="Arial"/>
                        </a:rPr>
                        <a:t>DF election</a:t>
                      </a:r>
                      <a:endParaRPr lang="en-AU" sz="1200" b="1"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224.0.0.13 (all PIM routers)</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lIns="36000" tIns="36000" rIns="36000" bIns="36000" anchor="t">
                      <a:noAutofit/>
                    </a:bodyPr>
                    <a:p>
                      <a:r>
                        <a:rPr lang="en-AU" sz="1200" b="0" u="none" strike="noStrike">
                          <a:solidFill>
                            <a:srgbClr val="000000"/>
                          </a:solidFill>
                          <a:effectLst/>
                          <a:uFillTx/>
                          <a:latin typeface="Arial"/>
                        </a:rPr>
                        <a:t>Bidir-PIM</a:t>
                      </a:r>
                      <a:endParaRPr lang="en-AU" sz="1200" b="0" u="none" strike="noStrike">
                        <a:solidFill>
                          <a:srgbClr val="000000"/>
                        </a:solidFill>
                        <a:effectLst/>
                        <a:uFillTx/>
                        <a:latin typeface="Arial"/>
                      </a:endParaRPr>
                    </a:p>
                  </a:txBody>
                  <a:tcPr anchor="t" marL="36000" marR="36000" marT="36000" marB="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r>
            </a:tbl>
          </a:graphicData>
        </a:graphic>
      </p:graphicFrame>
      <p:sp>
        <p:nvSpPr>
          <p:cNvPr id="69" name=""/>
          <p:cNvSpPr txBox="1"/>
          <p:nvPr/>
        </p:nvSpPr>
        <p:spPr>
          <a:xfrm>
            <a:off x="0" y="1080000"/>
            <a:ext cx="3600000" cy="4756680"/>
          </a:xfrm>
          <a:prstGeom prst="rect">
            <a:avLst/>
          </a:prstGeom>
          <a:noFill/>
          <a:ln w="0">
            <a:noFill/>
          </a:ln>
        </p:spPr>
        <p:txBody>
          <a:bodyPr lIns="90000" tIns="45000" rIns="90000" bIns="45000" anchor="t">
            <a:spAutoFit/>
          </a:bodyPr>
          <a:p>
            <a:pPr marL="216000" indent="-216000">
              <a:lnSpc>
                <a:spcPct val="100000"/>
              </a:lnSpc>
              <a:spcBef>
                <a:spcPts val="283"/>
              </a:spcBef>
              <a:spcAft>
                <a:spcPts val="283"/>
              </a:spcAft>
              <a:buClr>
                <a:srgbClr val="000000"/>
              </a:buClr>
              <a:buSzPct val="45000"/>
              <a:buFont typeface="Wingdings" charset="2"/>
              <a:buChar char=""/>
            </a:pPr>
            <a:r>
              <a:rPr lang="en-US" sz="1600" b="0" u="none" strike="noStrike">
                <a:solidFill>
                  <a:schemeClr val="dk1"/>
                </a:solidFill>
                <a:effectLst/>
                <a:uFillTx/>
                <a:latin typeface="Arial"/>
                <a:ea typeface="Microsoft YaHei"/>
              </a:rPr>
              <a:t>MDT is built by initially flooding multicast traffic on every interface of PIM-DM router and later pruning off branches with no receivers.</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800" b="0" u="none" strike="noStrike">
                <a:solidFill>
                  <a:srgbClr val="000000"/>
                </a:solidFill>
                <a:effectLst/>
                <a:uFillTx/>
                <a:latin typeface="Arial"/>
                <a:ea typeface="Microsoft YaHei"/>
              </a:rPr>
              <a:t>On receiving multicast traffic on PIM-DM router, it must check if any active receivers are located on it.</a:t>
            </a:r>
            <a:endParaRPr lang="en-AU" sz="18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800" b="0" u="none" strike="noStrike">
                <a:solidFill>
                  <a:srgbClr val="000000"/>
                </a:solidFill>
                <a:effectLst/>
                <a:uFillTx/>
                <a:latin typeface="Arial"/>
                <a:ea typeface="Microsoft YaHei"/>
              </a:rPr>
              <a:t>If so, the router quietly lets the traffic flow through it.</a:t>
            </a:r>
            <a:endParaRPr lang="en-AU" sz="18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800" b="0" u="none" strike="noStrike">
                <a:solidFill>
                  <a:srgbClr val="000000"/>
                </a:solidFill>
                <a:effectLst/>
                <a:uFillTx/>
                <a:latin typeface="Arial"/>
                <a:ea typeface="Microsoft YaHei"/>
              </a:rPr>
              <a:t>If no receivers have requested the multicast traffic on LHR, it sends a prune message towards the source.</a:t>
            </a:r>
            <a:endParaRPr lang="en-AU" sz="18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800" b="0" u="none" strike="noStrike">
                <a:solidFill>
                  <a:srgbClr val="000000"/>
                </a:solidFill>
                <a:effectLst/>
                <a:uFillTx/>
                <a:latin typeface="Arial"/>
                <a:ea typeface="Microsoft YaHei"/>
              </a:rPr>
              <a:t>The branch of the tree is then pruned off to create a unique source tree.</a:t>
            </a:r>
            <a:endParaRPr lang="en-AU" sz="1800" b="0" u="none" strike="noStrike">
              <a:solidFill>
                <a:srgbClr val="000000"/>
              </a:solidFill>
              <a:effectLst/>
              <a:uFillTx/>
              <a:latin typeface="Arial"/>
            </a:endParaRPr>
          </a:p>
          <a:p>
            <a:r>
              <a:rPr lang="en-AU" sz="1800" b="0" u="none" strike="noStrike">
                <a:solidFill>
                  <a:srgbClr val="000000"/>
                </a:solidFill>
                <a:effectLst/>
                <a:uFillTx/>
                <a:latin typeface="Arial"/>
              </a:rPr>
              <a:t> </a:t>
            </a: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Rectangle 12">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3.PIM</a:t>
            </a:r>
            <a:endParaRPr lang="en-AU" sz="3200" b="0" u="none" strike="noStrike">
              <a:solidFill>
                <a:srgbClr val="FFFFFF"/>
              </a:solidFill>
              <a:effectLst/>
              <a:uFillTx/>
              <a:latin typeface="Arial"/>
            </a:endParaRPr>
          </a:p>
        </p:txBody>
      </p:sp>
      <p:sp>
        <p:nvSpPr>
          <p:cNvPr id="71" name="PlaceHolder 1"/>
          <p:cNvSpPr>
            <a:spLocks noGrp="1"/>
          </p:cNvSpPr>
          <p:nvPr>
            <p:ph/>
          </p:nvPr>
        </p:nvSpPr>
        <p:spPr>
          <a:xfrm>
            <a:off x="3672000" y="75960"/>
            <a:ext cx="6228000" cy="54997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PIM Dense Mode (PIM-DM): </a:t>
            </a:r>
            <a:r>
              <a:rPr lang="en-US" sz="1600" b="0" u="none" strike="noStrike">
                <a:solidFill>
                  <a:schemeClr val="dk1"/>
                </a:solidFill>
                <a:effectLst/>
                <a:uFillTx/>
                <a:latin typeface="Arial"/>
                <a:ea typeface="Microsoft YaHei"/>
              </a:rPr>
              <a:t>Below picture on left shows initial flooding and pruning mechanism of PIM-DM and resulting SPT.</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Eventhough multicast traffic is not reaching all the routers, (S,G) state still remains on all the routers (R2 and R4 as well).</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Prune messages are sent out of RPF interface if there are no downstream receivers as is the case with R4. </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And are also sent out of non-RPF interface to stop multicast traffic flow through non-RPF interfaces as is the case for R3.</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PIM-DM prune messages expire after 3 minutes, which causes periodic initial flooding and pruning operation every 3 minutes.</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Thus PIM-DM is good for small networks with dense receivers.</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72" name=""/>
          <p:cNvSpPr txBox="1"/>
          <p:nvPr/>
        </p:nvSpPr>
        <p:spPr>
          <a:xfrm>
            <a:off x="0" y="1080000"/>
            <a:ext cx="3600000" cy="4661280"/>
          </a:xfrm>
          <a:prstGeom prst="rect">
            <a:avLst/>
          </a:prstGeom>
          <a:noFill/>
          <a:ln w="0">
            <a:noFill/>
          </a:ln>
        </p:spPr>
        <p:txBody>
          <a:bodyPr lIns="90000" tIns="45000" rIns="90000" bIns="45000" anchor="t">
            <a:spAutoFit/>
          </a:bodyPr>
          <a:p>
            <a:pPr>
              <a:lnSpc>
                <a:spcPct val="100000"/>
              </a:lnSpc>
              <a:spcBef>
                <a:spcPts val="283"/>
              </a:spcBef>
              <a:spcAft>
                <a:spcPts val="283"/>
              </a:spcAft>
            </a:pPr>
            <a:r>
              <a:rPr lang="en-AU" sz="1600" b="1" u="none" strike="noStrike">
                <a:solidFill>
                  <a:srgbClr val="000000"/>
                </a:solidFill>
                <a:effectLst/>
                <a:uFillTx/>
                <a:latin typeface="Arial"/>
                <a:ea typeface="Microsoft YaHei"/>
              </a:rPr>
              <a:t>PIM Sparse Mode</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Microsoft YaHei"/>
              </a:rPr>
              <a:t>It</a:t>
            </a:r>
            <a:r>
              <a:rPr lang="en-AU" sz="1600" b="1" u="none" strike="noStrike">
                <a:solidFill>
                  <a:srgbClr val="000000"/>
                </a:solidFill>
                <a:effectLst/>
                <a:uFillTx/>
                <a:latin typeface="Arial"/>
                <a:ea typeface="Microsoft YaHei"/>
              </a:rPr>
              <a:t> </a:t>
            </a:r>
            <a:r>
              <a:rPr lang="en-AU" sz="1600" b="0" u="none" strike="noStrike">
                <a:solidFill>
                  <a:srgbClr val="000000"/>
                </a:solidFill>
                <a:effectLst/>
                <a:uFillTx/>
                <a:latin typeface="Arial"/>
                <a:ea typeface="Microsoft YaHei"/>
              </a:rPr>
              <a:t>works well with</a:t>
            </a:r>
            <a:r>
              <a:rPr lang="en-AU" sz="1600" b="1" u="none" strike="noStrike">
                <a:solidFill>
                  <a:srgbClr val="000000"/>
                </a:solidFill>
                <a:effectLst/>
                <a:uFillTx/>
                <a:latin typeface="Arial"/>
                <a:ea typeface="Microsoft YaHei"/>
              </a:rPr>
              <a:t> </a:t>
            </a:r>
            <a:r>
              <a:rPr lang="en-AU" sz="1600" b="0" u="none" strike="noStrike">
                <a:solidFill>
                  <a:srgbClr val="000000"/>
                </a:solidFill>
                <a:effectLst/>
                <a:uFillTx/>
                <a:latin typeface="Arial"/>
                <a:ea typeface="Microsoft YaHei"/>
              </a:rPr>
              <a:t>both densely or sparsely populated receivers but assumes that no receivers are interested in multicast traffic unless they explicitly join the group.</a:t>
            </a:r>
            <a:endParaRPr lang="en-AU" sz="1600" b="0" u="none" strike="noStrike">
              <a:solidFill>
                <a:srgbClr val="000000"/>
              </a:solidFill>
              <a:effectLst/>
              <a:uFillTx/>
              <a:latin typeface="Arial"/>
            </a:endParaRPr>
          </a:p>
          <a:p>
            <a:pPr>
              <a:lnSpc>
                <a:spcPct val="100000"/>
              </a:lnSpc>
              <a:spcBef>
                <a:spcPts val="283"/>
              </a:spcBef>
              <a:spcAft>
                <a:spcPts val="283"/>
              </a:spcAft>
            </a:pPr>
            <a:r>
              <a:rPr lang="en-AU" sz="1600" b="1" u="none" strike="noStrike">
                <a:solidFill>
                  <a:srgbClr val="000000"/>
                </a:solidFill>
                <a:effectLst/>
                <a:uFillTx/>
                <a:latin typeface="Arial"/>
                <a:ea typeface="Microsoft YaHei"/>
              </a:rPr>
              <a:t>Source and  Shared Path Tree</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Microsoft YaHei"/>
              </a:rPr>
              <a:t>Receivers send IGMP join to the local router (PIM LHR).</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Microsoft YaHei"/>
              </a:rPr>
              <a:t>LHR sends a PIM join message towards the root of the source path tree (FHR) or shared path tree(RP).</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ea typeface="Microsoft YaHei"/>
              </a:rPr>
              <a:t>Unlike PIM-DM where arrival of multicast traffic on a router creates forwarding state, these explicit PIM join messages create forwarding state in PIM-SM.</a:t>
            </a:r>
            <a:endParaRPr lang="en-AU" sz="16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endParaRPr lang="en-AU" sz="1600" b="0" u="none" strike="noStrike">
              <a:solidFill>
                <a:srgbClr val="000000"/>
              </a:solidFill>
              <a:effectLst/>
              <a:uFillTx/>
              <a:latin typeface="Arial"/>
            </a:endParaRPr>
          </a:p>
          <a:p>
            <a:r>
              <a:rPr lang="en-AU" sz="1800" b="0" u="none" strike="noStrike">
                <a:solidFill>
                  <a:srgbClr val="000000"/>
                </a:solidFill>
                <a:effectLst/>
                <a:uFillTx/>
                <a:latin typeface="Arial"/>
              </a:rPr>
              <a:t> </a:t>
            </a:r>
            <a:endParaRPr lang="en-AU" sz="1800" b="0" u="none" strike="noStrike">
              <a:solidFill>
                <a:srgbClr val="000000"/>
              </a:solidFill>
              <a:effectLst/>
              <a:uFillTx/>
              <a:latin typeface="Arial"/>
            </a:endParaRPr>
          </a:p>
        </p:txBody>
      </p:sp>
      <p:pic>
        <p:nvPicPr>
          <p:cNvPr id="73" name=""/>
          <p:cNvPicPr/>
          <p:nvPr/>
        </p:nvPicPr>
        <p:blipFill>
          <a:blip r:embed="rId1"/>
          <a:stretch/>
        </p:blipFill>
        <p:spPr>
          <a:xfrm>
            <a:off x="4104000" y="1152000"/>
            <a:ext cx="2844000" cy="2588040"/>
          </a:xfrm>
          <a:prstGeom prst="rect">
            <a:avLst/>
          </a:prstGeom>
          <a:noFill/>
          <a:ln w="0">
            <a:noFill/>
          </a:ln>
        </p:spPr>
      </p:pic>
      <p:pic>
        <p:nvPicPr>
          <p:cNvPr id="74" name=""/>
          <p:cNvPicPr/>
          <p:nvPr/>
        </p:nvPicPr>
        <p:blipFill>
          <a:blip r:embed="rId2"/>
          <a:stretch/>
        </p:blipFill>
        <p:spPr>
          <a:xfrm>
            <a:off x="7668000" y="1160280"/>
            <a:ext cx="1800000" cy="248004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5" name="Rectangle 13">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3.PIM</a:t>
            </a:r>
            <a:endParaRPr lang="en-AU" sz="3200" b="0" u="none" strike="noStrike">
              <a:solidFill>
                <a:srgbClr val="FFFFFF"/>
              </a:solidFill>
              <a:effectLst/>
              <a:uFillTx/>
              <a:latin typeface="Arial"/>
            </a:endParaRPr>
          </a:p>
        </p:txBody>
      </p:sp>
      <p:sp>
        <p:nvSpPr>
          <p:cNvPr id="76" name="PlaceHolder 1"/>
          <p:cNvSpPr>
            <a:spLocks noGrp="1"/>
          </p:cNvSpPr>
          <p:nvPr>
            <p:ph/>
          </p:nvPr>
        </p:nvSpPr>
        <p:spPr>
          <a:xfrm>
            <a:off x="3672000" y="75960"/>
            <a:ext cx="6228000" cy="5499720"/>
          </a:xfrm>
          <a:prstGeom prst="rect">
            <a:avLst/>
          </a:prstGeom>
          <a:noFill/>
          <a:ln w="0">
            <a:noFill/>
          </a:ln>
        </p:spPr>
        <p:txBody>
          <a:bodyPr lIns="91440" tIns="45720" rIns="91440" bIns="45720" anchor="t">
            <a:normAutofit/>
          </a:bodyPr>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Explicit join from receiver makes LHR to send PIM join (*,G) message towards RP, which travels hop by hop creating a Shared Path Tree (RPT) between RP and LHR.</a:t>
            </a:r>
            <a:endParaRPr lang="en-US" sz="1600" b="0" u="none" strike="noStrike">
              <a:solidFill>
                <a:schemeClr val="dk1"/>
              </a:solidFill>
              <a:effectLst/>
              <a:uFillTx/>
              <a:latin typeface="Aptos"/>
            </a:endParaRPr>
          </a:p>
          <a:p>
            <a:pPr marL="216000" indent="-216000" algn="l" defTabSz="914400">
              <a:lnSpc>
                <a:spcPct val="100000"/>
              </a:lnSpc>
              <a:spcBef>
                <a:spcPts val="283"/>
              </a:spcBef>
              <a:spcAft>
                <a:spcPts val="283"/>
              </a:spcAft>
              <a:buClr>
                <a:srgbClr val="000000"/>
              </a:buClr>
              <a:buSzPct val="45000"/>
              <a:buFont typeface="Wingdings" charset="2"/>
              <a:buChar char=""/>
              <a:tabLst>
                <a:tab pos="0" algn="l"/>
              </a:tabLst>
            </a:pPr>
            <a:r>
              <a:rPr lang="en-US" sz="1600" b="0" u="none" strike="noStrike">
                <a:solidFill>
                  <a:srgbClr val="000000"/>
                </a:solidFill>
                <a:effectLst/>
                <a:uFillTx/>
                <a:latin typeface="Arial"/>
                <a:ea typeface="Microsoft YaHei"/>
              </a:rPr>
              <a:t>PIM-SM builds a Source Path Tree (SPT) between FHR and RP using source registration.</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As the source sends multicast traffic towards FHR, it encapsulate the data with PIM Register message and sends through an unidirectional PIM tunnel.</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RP decapsulates the multicast traffic received on Register message and checks if there is any existing shared tree (RPT) because of any PIM join message for the group. </a:t>
            </a:r>
            <a:endParaRPr lang="en-US" sz="1600" b="0" u="none" strike="noStrike">
              <a:solidFill>
                <a:schemeClr val="dk1"/>
              </a:solidFill>
              <a:effectLst/>
              <a:uFillTx/>
              <a:latin typeface="Aptos"/>
            </a:endParaRPr>
          </a:p>
          <a:p>
            <a:pPr marL="162000" indent="-162000" algn="l" defTabSz="914400">
              <a:lnSpc>
                <a:spcPct val="100000"/>
              </a:lnSpc>
              <a:spcBef>
                <a:spcPts val="150"/>
              </a:spcBef>
              <a:buClr>
                <a:srgbClr val="000000"/>
              </a:buClr>
              <a:buFont typeface="Arial"/>
              <a:buChar char="•"/>
              <a:tabLst>
                <a:tab pos="0" algn="l"/>
              </a:tabLst>
            </a:pPr>
            <a:r>
              <a:rPr lang="en-US" sz="1600" b="0" u="none" strike="noStrike">
                <a:solidFill>
                  <a:schemeClr val="dk1"/>
                </a:solidFill>
                <a:effectLst/>
                <a:uFillTx/>
                <a:latin typeface="Arial"/>
                <a:ea typeface="Microsoft YaHei"/>
              </a:rPr>
              <a:t>If none, it sends unicast Register Stop message to FHR without traversing the Register tunnel.</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77" name=""/>
          <p:cNvSpPr txBox="1"/>
          <p:nvPr/>
        </p:nvSpPr>
        <p:spPr>
          <a:xfrm>
            <a:off x="0" y="1044000"/>
            <a:ext cx="3600000" cy="4957920"/>
          </a:xfrm>
          <a:prstGeom prst="rect">
            <a:avLst/>
          </a:prstGeom>
          <a:noFill/>
          <a:ln w="0">
            <a:noFill/>
          </a:ln>
        </p:spPr>
        <p:txBody>
          <a:bodyPr lIns="90000" tIns="45000" rIns="90000" bIns="45000" anchor="t">
            <a:spAutoFit/>
          </a:bodyPr>
          <a:p>
            <a:pPr marL="216000" indent="-216000">
              <a:lnSpc>
                <a:spcPct val="100000"/>
              </a:lnSpc>
              <a:spcBef>
                <a:spcPts val="283"/>
              </a:spcBef>
              <a:spcAft>
                <a:spcPts val="283"/>
              </a:spcAft>
              <a:buClr>
                <a:srgbClr val="000000"/>
              </a:buClr>
              <a:buSzPct val="45000"/>
              <a:buFont typeface="Wingdings" charset="2"/>
              <a:buChar char=""/>
            </a:pPr>
            <a:r>
              <a:rPr lang="en-AU" sz="1400" b="0" u="none" strike="noStrike">
                <a:solidFill>
                  <a:srgbClr val="000000"/>
                </a:solidFill>
                <a:effectLst/>
                <a:uFillTx/>
                <a:latin typeface="Arial"/>
                <a:ea typeface="Microsoft YaHei"/>
              </a:rPr>
              <a:t>If there is an active shared tree, RP forwards traffic downstream the shared tree and sends back a (S,G) join message towards the source to create a (S,G) SPT.</a:t>
            </a:r>
            <a:endParaRPr lang="en-AU" sz="14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400" b="0" u="none" strike="noStrike">
                <a:solidFill>
                  <a:srgbClr val="000000"/>
                </a:solidFill>
                <a:effectLst/>
                <a:uFillTx/>
                <a:latin typeface="Arial"/>
                <a:ea typeface="Microsoft YaHei"/>
              </a:rPr>
              <a:t>If RP and FHR are multi-hop away, a (S,G) state is created on all the routers inbetween,RP and FHR to create SPT.</a:t>
            </a:r>
            <a:endParaRPr lang="en-AU" sz="14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400" b="0" u="none" strike="noStrike">
                <a:solidFill>
                  <a:srgbClr val="000000"/>
                </a:solidFill>
                <a:effectLst/>
                <a:uFillTx/>
                <a:latin typeface="Arial"/>
                <a:ea typeface="Microsoft YaHei"/>
              </a:rPr>
              <a:t>The FHR, routers inbeetwen and RP also has (*,G) state.</a:t>
            </a:r>
            <a:endParaRPr lang="en-AU" sz="14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400" b="0" u="none" strike="noStrike">
                <a:solidFill>
                  <a:srgbClr val="000000"/>
                </a:solidFill>
                <a:effectLst/>
                <a:uFillTx/>
                <a:latin typeface="Arial"/>
                <a:ea typeface="Microsoft YaHei"/>
              </a:rPr>
              <a:t>Once SPT is created, multicast traffic start to flow natively using the SPT between RP and FHR and RP sends a Register stop message to FHR to stop the Register messages.</a:t>
            </a:r>
            <a:endParaRPr lang="en-AU" sz="14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400" b="0" u="none" strike="noStrike">
                <a:solidFill>
                  <a:srgbClr val="000000"/>
                </a:solidFill>
                <a:effectLst/>
                <a:uFillTx/>
                <a:latin typeface="Arial"/>
                <a:ea typeface="Microsoft YaHei"/>
              </a:rPr>
              <a:t>Multicast traffic now flows natively using SPT between FHR and RP, and RPT between RP and LHR.</a:t>
            </a:r>
            <a:endParaRPr lang="en-AU" sz="14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400" b="0" u="none" strike="noStrike">
                <a:solidFill>
                  <a:srgbClr val="000000"/>
                </a:solidFill>
                <a:effectLst/>
                <a:uFillTx/>
                <a:latin typeface="Arial"/>
                <a:ea typeface="Microsoft YaHei"/>
              </a:rPr>
              <a:t>The Register tunnel stays in up/up state even if there is no active multicast stream between FHR and RP until RP has valid RFP for the group. </a:t>
            </a:r>
            <a:endParaRPr lang="en-AU" sz="1400" b="0" u="none" strike="noStrike">
              <a:solidFill>
                <a:srgbClr val="000000"/>
              </a:solidFill>
              <a:effectLst/>
              <a:uFillTx/>
              <a:latin typeface="Arial"/>
            </a:endParaRPr>
          </a:p>
          <a:p>
            <a:r>
              <a:rPr lang="en-AU" sz="1800" b="0" u="none" strike="noStrike">
                <a:solidFill>
                  <a:srgbClr val="000000"/>
                </a:solidFill>
                <a:effectLst/>
                <a:uFillTx/>
                <a:latin typeface="Arial"/>
              </a:rPr>
              <a:t> </a:t>
            </a:r>
            <a:endParaRPr lang="en-AU" sz="1800" b="0" u="none" strike="noStrike">
              <a:solidFill>
                <a:srgbClr val="000000"/>
              </a:solidFill>
              <a:effectLst/>
              <a:uFillTx/>
              <a:latin typeface="Arial"/>
            </a:endParaRPr>
          </a:p>
        </p:txBody>
      </p:sp>
      <p:pic>
        <p:nvPicPr>
          <p:cNvPr id="78" name=""/>
          <p:cNvPicPr/>
          <p:nvPr/>
        </p:nvPicPr>
        <p:blipFill>
          <a:blip r:embed="rId1"/>
          <a:stretch/>
        </p:blipFill>
        <p:spPr>
          <a:xfrm>
            <a:off x="4824000" y="3420000"/>
            <a:ext cx="3780000" cy="215280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Rectangle 14">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3.PIM</a:t>
            </a:r>
            <a:endParaRPr lang="en-AU" sz="3200" b="0" u="none" strike="noStrike">
              <a:solidFill>
                <a:srgbClr val="FFFFFF"/>
              </a:solidFill>
              <a:effectLst/>
              <a:uFillTx/>
              <a:latin typeface="Arial"/>
            </a:endParaRPr>
          </a:p>
        </p:txBody>
      </p:sp>
      <p:sp>
        <p:nvSpPr>
          <p:cNvPr id="80" name="PlaceHolder 1"/>
          <p:cNvSpPr>
            <a:spLocks noGrp="1"/>
          </p:cNvSpPr>
          <p:nvPr>
            <p:ph/>
          </p:nvPr>
        </p:nvSpPr>
        <p:spPr>
          <a:xfrm>
            <a:off x="3672000" y="75960"/>
            <a:ext cx="6228000" cy="54997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PIM SPT Switchover</a:t>
            </a:r>
            <a:endParaRPr lang="en-US" sz="1600" b="0" u="none" strike="noStrike">
              <a:solidFill>
                <a:schemeClr val="dk1"/>
              </a:solidFill>
              <a:effectLst/>
              <a:uFillTx/>
              <a:latin typeface="Aptos"/>
            </a:endParaRPr>
          </a:p>
          <a:p>
            <a:pPr marL="162000" indent="-162000" algn="l" defTabSz="914400">
              <a:lnSpc>
                <a:spcPct val="100000"/>
              </a:lnSpc>
              <a:spcBef>
                <a:spcPts val="283"/>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PIM-SM allows SPT switchover for a specific group and in Cisco routers it is the default behavior that can be disabled on per group basis. </a:t>
            </a:r>
            <a:endParaRPr lang="en-US" sz="1600" b="0" u="none" strike="noStrike">
              <a:solidFill>
                <a:schemeClr val="dk1"/>
              </a:solidFill>
              <a:effectLst/>
              <a:uFillTx/>
              <a:latin typeface="Aptos"/>
            </a:endParaRPr>
          </a:p>
          <a:p>
            <a:pPr marL="162000" indent="-162000" algn="l" defTabSz="914400">
              <a:lnSpc>
                <a:spcPct val="100000"/>
              </a:lnSpc>
              <a:spcBef>
                <a:spcPts val="283"/>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LHR switches from shared tree to SPT after it receives the first multicast packet from the RP through a shared tree even if the SPT is through RP.</a:t>
            </a:r>
            <a:endParaRPr lang="en-US" sz="1600" b="0" u="none" strike="noStrike">
              <a:solidFill>
                <a:schemeClr val="dk1"/>
              </a:solidFill>
              <a:effectLst/>
              <a:uFillTx/>
              <a:latin typeface="Aptos"/>
            </a:endParaRPr>
          </a:p>
          <a:p>
            <a:pPr marL="162000" indent="-162000" algn="l" defTabSz="914400">
              <a:lnSpc>
                <a:spcPct val="100000"/>
              </a:lnSpc>
              <a:spcBef>
                <a:spcPts val="283"/>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After receiving first packet, LHR becomes aware of Source ip address and checks unicast routing table to check which is the shortest path to the source.</a:t>
            </a:r>
            <a:endParaRPr lang="en-US" sz="1600" b="0" u="none" strike="noStrike">
              <a:solidFill>
                <a:schemeClr val="dk1"/>
              </a:solidFill>
              <a:effectLst/>
              <a:uFillTx/>
              <a:latin typeface="Aptos"/>
            </a:endParaRPr>
          </a:p>
          <a:p>
            <a:pPr marL="162000" indent="-162000" algn="l" defTabSz="914400">
              <a:lnSpc>
                <a:spcPct val="100000"/>
              </a:lnSpc>
              <a:spcBef>
                <a:spcPts val="283"/>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It then sends a (S,G) towards the FHR hop by hop to create a SPT.</a:t>
            </a:r>
            <a:endParaRPr lang="en-US" sz="1600" b="0" u="none" strike="noStrike">
              <a:solidFill>
                <a:schemeClr val="dk1"/>
              </a:solidFill>
              <a:effectLst/>
              <a:uFillTx/>
              <a:latin typeface="Aptos"/>
            </a:endParaRPr>
          </a:p>
          <a:p>
            <a:pPr marL="162000" indent="-162000" algn="l" defTabSz="914400">
              <a:lnSpc>
                <a:spcPct val="100000"/>
              </a:lnSpc>
              <a:spcBef>
                <a:spcPts val="283"/>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Once LHR receives multicast packets from SPT, it switches RPF inteface if necessary.</a:t>
            </a:r>
            <a:endParaRPr lang="en-US" sz="1600" b="0" u="none" strike="noStrike">
              <a:solidFill>
                <a:schemeClr val="dk1"/>
              </a:solidFill>
              <a:effectLst/>
              <a:uFillTx/>
              <a:latin typeface="Aptos"/>
            </a:endParaRPr>
          </a:p>
          <a:p>
            <a:pPr marL="162000" indent="-162000" algn="l" defTabSz="914400">
              <a:lnSpc>
                <a:spcPct val="100000"/>
              </a:lnSpc>
              <a:spcBef>
                <a:spcPts val="283"/>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 LHR then sends PIM prune message towards RP to shut off the shared tree and block duplicate multicast traffic.</a:t>
            </a:r>
            <a:endParaRPr lang="en-US" sz="1600" b="0" u="none" strike="noStrike">
              <a:solidFill>
                <a:schemeClr val="dk1"/>
              </a:solidFill>
              <a:effectLst/>
              <a:uFillTx/>
              <a:latin typeface="Aptos"/>
            </a:endParaRPr>
          </a:p>
          <a:p>
            <a:pPr marL="162000" indent="-162000" algn="l" defTabSz="914400">
              <a:lnSpc>
                <a:spcPct val="100000"/>
              </a:lnSpc>
              <a:spcBef>
                <a:spcPts val="283"/>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In this topology the shortest path is via R1, thus R3 sends PIM join message to R1 and PIM prune message to R2.</a:t>
            </a:r>
            <a:endParaRPr lang="en-US" sz="1600" b="0" u="none" strike="noStrike">
              <a:solidFill>
                <a:schemeClr val="dk1"/>
              </a:solidFill>
              <a:effectLst/>
              <a:uFillTx/>
              <a:latin typeface="Aptos"/>
            </a:endParaRPr>
          </a:p>
          <a:p>
            <a:pPr marL="162000" indent="-162000" algn="l" defTabSz="914400">
              <a:lnSpc>
                <a:spcPct val="100000"/>
              </a:lnSpc>
              <a:spcBef>
                <a:spcPts val="283"/>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If RP (R2) does not have any other outgoing interfaces for the shared tree (group), it sends PIM prune message to FHR. </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pic>
        <p:nvPicPr>
          <p:cNvPr id="81" name=""/>
          <p:cNvPicPr/>
          <p:nvPr/>
        </p:nvPicPr>
        <p:blipFill>
          <a:blip r:embed="rId1"/>
          <a:stretch/>
        </p:blipFill>
        <p:spPr>
          <a:xfrm>
            <a:off x="180000" y="1330920"/>
            <a:ext cx="2972880" cy="298908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Rectangle 15">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3.PIM</a:t>
            </a:r>
            <a:endParaRPr lang="en-AU" sz="3200" b="0" u="none" strike="noStrike">
              <a:solidFill>
                <a:srgbClr val="FFFFFF"/>
              </a:solidFill>
              <a:effectLst/>
              <a:uFillTx/>
              <a:latin typeface="Arial"/>
            </a:endParaRPr>
          </a:p>
        </p:txBody>
      </p:sp>
      <p:sp>
        <p:nvSpPr>
          <p:cNvPr id="83" name="PlaceHolder 1"/>
          <p:cNvSpPr>
            <a:spLocks noGrp="1"/>
          </p:cNvSpPr>
          <p:nvPr>
            <p:ph/>
          </p:nvPr>
        </p:nvSpPr>
        <p:spPr>
          <a:xfrm>
            <a:off x="3672000" y="75960"/>
            <a:ext cx="6228000" cy="549972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Designated routers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If multiple PIM routers exist in a LAN segment, a PIM designated router(DR) needs to be elected using PIM Hello messages to prevent duplicate multicast traffic.</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By default DR priority value of all PIM routers is 1 and can be changed to force DR, where higher priority becomes DR.</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If priority can’t be changed and all routers have same priority, higher interface ip address is elected as DR.</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On FHR LAN segment, DR is responsible for sending unicast register message towards RP and without DR, duplication would occur.</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On LHR LAN segment, DR is responsible for sending PIM join and PIM prune messages towards RP and perform SPT switchover.</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Default DR hold time is 3.5 times Hello time (105 seconds) and can be changed to speed up DR re-election.</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Reverse Path Forwarding (RPF)</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RPF is an algorithm that prevents loops and ensures multicast traffic arrives on correct interface.</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84" name=""/>
          <p:cNvSpPr txBox="1"/>
          <p:nvPr/>
        </p:nvSpPr>
        <p:spPr>
          <a:xfrm>
            <a:off x="0" y="1080000"/>
            <a:ext cx="3600000" cy="4500000"/>
          </a:xfrm>
          <a:prstGeom prst="rect">
            <a:avLst/>
          </a:prstGeom>
          <a:noFill/>
          <a:ln w="0">
            <a:noFill/>
          </a:ln>
        </p:spPr>
        <p:txBody>
          <a:bodyPr lIns="90000" tIns="45000" rIns="90000" bIns="45000" anchor="t">
            <a:spAutoFit/>
          </a:bodyPr>
          <a:p>
            <a:r>
              <a:rPr lang="en-AU" sz="1800" b="0" u="none" strike="noStrike">
                <a:solidFill>
                  <a:srgbClr val="000000"/>
                </a:solidFill>
                <a:effectLst/>
                <a:uFillTx/>
                <a:latin typeface="Arial"/>
              </a:rPr>
              <a:t>RPF functions as follows:</a:t>
            </a:r>
            <a:endParaRPr lang="en-AU" sz="1800" b="0" u="none" strike="noStrike">
              <a:solidFill>
                <a:srgbClr val="000000"/>
              </a:solidFill>
              <a:effectLst/>
              <a:uFillTx/>
              <a:latin typeface="Arial"/>
            </a:endParaRPr>
          </a:p>
          <a:p>
            <a:pPr marL="216000" indent="-216000">
              <a:buClr>
                <a:srgbClr val="000000"/>
              </a:buClr>
              <a:buSzPct val="45000"/>
              <a:buFont typeface="Wingdings" charset="2"/>
              <a:buChar char=""/>
            </a:pPr>
            <a:r>
              <a:rPr lang="en-AU" sz="1800" b="0" u="none" strike="noStrike">
                <a:solidFill>
                  <a:srgbClr val="000000"/>
                </a:solidFill>
                <a:effectLst/>
                <a:uFillTx/>
                <a:latin typeface="Arial"/>
              </a:rPr>
              <a:t>If a router receives multicast traffic on an interface it uses to forward unicast traffic, the packet has arrived on RPF interface.</a:t>
            </a:r>
            <a:endParaRPr lang="en-AU" sz="1800" b="0" u="none" strike="noStrike">
              <a:solidFill>
                <a:srgbClr val="000000"/>
              </a:solidFill>
              <a:effectLst/>
              <a:uFillTx/>
              <a:latin typeface="Arial"/>
            </a:endParaRPr>
          </a:p>
          <a:p>
            <a:pPr marL="216000" indent="-216000">
              <a:buClr>
                <a:srgbClr val="000000"/>
              </a:buClr>
              <a:buSzPct val="45000"/>
              <a:buFont typeface="Wingdings" charset="2"/>
              <a:buChar char=""/>
            </a:pPr>
            <a:r>
              <a:rPr lang="en-AU" sz="1800" b="0" u="none" strike="noStrike">
                <a:solidFill>
                  <a:srgbClr val="000000"/>
                </a:solidFill>
                <a:effectLst/>
                <a:uFillTx/>
                <a:latin typeface="Arial"/>
              </a:rPr>
              <a:t>If a packet arrives on RPF interface, the router forwards it out the interfaces on outgoing interface list (OIL) of the mroute table entry.</a:t>
            </a:r>
            <a:endParaRPr lang="en-AU" sz="1800" b="0" u="none" strike="noStrike">
              <a:solidFill>
                <a:srgbClr val="000000"/>
              </a:solidFill>
              <a:effectLst/>
              <a:uFillTx/>
              <a:latin typeface="Arial"/>
            </a:endParaRPr>
          </a:p>
          <a:p>
            <a:pPr marL="216000" indent="-216000">
              <a:buClr>
                <a:srgbClr val="000000"/>
              </a:buClr>
              <a:buSzPct val="45000"/>
              <a:buFont typeface="Wingdings" charset="2"/>
              <a:buChar char=""/>
            </a:pPr>
            <a:r>
              <a:rPr lang="en-AU" sz="1800" b="0" u="none" strike="noStrike">
                <a:solidFill>
                  <a:srgbClr val="000000"/>
                </a:solidFill>
                <a:effectLst/>
                <a:uFillTx/>
                <a:latin typeface="Arial"/>
              </a:rPr>
              <a:t> If the packet does not arrive on RPF interface the packet is discarded to prevent loops.</a:t>
            </a:r>
            <a:endParaRPr lang="en-AU" sz="1800" b="0" u="none" strike="noStrike">
              <a:solidFill>
                <a:srgbClr val="000000"/>
              </a:solidFill>
              <a:effectLst/>
              <a:uFillTx/>
              <a:latin typeface="Arial"/>
            </a:endParaRPr>
          </a:p>
          <a:p>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5" name="Rectangle 16">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3.PIM</a:t>
            </a:r>
            <a:endParaRPr lang="en-AU" sz="3200" b="0" u="none" strike="noStrike">
              <a:solidFill>
                <a:srgbClr val="FFFFFF"/>
              </a:solidFill>
              <a:effectLst/>
              <a:uFillTx/>
              <a:latin typeface="Arial"/>
            </a:endParaRPr>
          </a:p>
        </p:txBody>
      </p:sp>
      <p:sp>
        <p:nvSpPr>
          <p:cNvPr id="86" name="PlaceHolder 1"/>
          <p:cNvSpPr>
            <a:spLocks noGrp="1"/>
          </p:cNvSpPr>
          <p:nvPr>
            <p:ph/>
          </p:nvPr>
        </p:nvSpPr>
        <p:spPr>
          <a:xfrm>
            <a:off x="3672000" y="75960"/>
            <a:ext cx="6228000" cy="5499720"/>
          </a:xfrm>
          <a:prstGeom prst="rect">
            <a:avLst/>
          </a:prstGeom>
          <a:noFill/>
          <a:ln w="0">
            <a:noFill/>
          </a:ln>
        </p:spPr>
        <p:txBody>
          <a:bodyPr lIns="91440" tIns="45720" rIns="91440" bIns="45720" anchor="t">
            <a:normAutofit lnSpcReduction="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Reverse Path Forwarding (RPF)</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PIM-SM forwards traffic using Source Path Tree (SPT) between FHR and RP,and between source and LHR. It also uses Shared Path Tree (RPT) between LHR and RP. </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Based on the MDT used, following RPF check is performed:</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If PIM router has (S,G) state, it performs RPF check against the ip address of the source.</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If PIM router has (*,G) state, it performs RPF check against the ip address of the RP.</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PIM Forwarder</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In cases where duplicate multicast traffic can flow in multi-access network, PIM Assert messages stops such duplicate traffic.</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 In the figure, R2 and R3 receive same (S,G) traffic and forward onto their outgoing interfaces.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Thus R2, and R3 receive same (S,G) traffic on their downstream interfaces through which they are sending out the same (S,G) traffic.</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This situation triggers Assert mechanism in PIM, where R2 and R3 send assert message on their outgoing interfaces (into LAN).</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Assert messages contain their AD and route metrics to the source to determine which router should forward the traffic for that LAN segment.</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pic>
        <p:nvPicPr>
          <p:cNvPr id="87" name=""/>
          <p:cNvPicPr/>
          <p:nvPr/>
        </p:nvPicPr>
        <p:blipFill>
          <a:blip r:embed="rId1"/>
          <a:stretch/>
        </p:blipFill>
        <p:spPr>
          <a:xfrm>
            <a:off x="180000" y="2774160"/>
            <a:ext cx="2988000" cy="2805840"/>
          </a:xfrm>
          <a:prstGeom prst="rect">
            <a:avLst/>
          </a:prstGeom>
          <a:noFill/>
          <a:ln w="0">
            <a:noFill/>
          </a:ln>
        </p:spPr>
      </p:pic>
      <p:sp>
        <p:nvSpPr>
          <p:cNvPr id="88" name=""/>
          <p:cNvSpPr txBox="1"/>
          <p:nvPr/>
        </p:nvSpPr>
        <p:spPr>
          <a:xfrm>
            <a:off x="0" y="1080000"/>
            <a:ext cx="3672000" cy="1670400"/>
          </a:xfrm>
          <a:prstGeom prst="rect">
            <a:avLst/>
          </a:prstGeom>
          <a:noFill/>
          <a:ln w="0">
            <a:noFill/>
          </a:ln>
        </p:spPr>
        <p:txBody>
          <a:bodyPr lIns="90000" tIns="45000" rIns="90000" bIns="45000" anchor="t">
            <a:spAutoFit/>
          </a:bodyPr>
          <a:p>
            <a:pPr marL="216000" indent="-216000">
              <a:buClr>
                <a:srgbClr val="000000"/>
              </a:buClr>
              <a:buSzPct val="45000"/>
              <a:buFont typeface="Wingdings" charset="2"/>
              <a:buChar char=""/>
            </a:pPr>
            <a:r>
              <a:rPr lang="en-AU" sz="1600" b="0" u="none" strike="noStrike">
                <a:solidFill>
                  <a:srgbClr val="000000"/>
                </a:solidFill>
                <a:effectLst/>
                <a:uFillTx/>
                <a:latin typeface="Arial"/>
              </a:rPr>
              <a:t>The router with lower AD, then lower route metrics then higher interface ip address becomes PIM forwarder for the segment.</a:t>
            </a:r>
            <a:endParaRPr lang="en-AU" sz="1600" b="0" u="none" strike="noStrike">
              <a:solidFill>
                <a:srgbClr val="000000"/>
              </a:solidFill>
              <a:effectLst/>
              <a:uFillTx/>
              <a:latin typeface="Arial"/>
            </a:endParaRPr>
          </a:p>
          <a:p>
            <a:pPr marL="216000" indent="-216000">
              <a:buClr>
                <a:srgbClr val="000000"/>
              </a:buClr>
              <a:buSzPct val="45000"/>
              <a:buFont typeface="Wingdings" charset="2"/>
              <a:buChar char=""/>
            </a:pPr>
            <a:r>
              <a:rPr lang="en-AU" sz="1600" b="0" u="none" strike="noStrike">
                <a:solidFill>
                  <a:srgbClr val="000000"/>
                </a:solidFill>
                <a:effectLst/>
                <a:uFillTx/>
                <a:latin typeface="Arial"/>
              </a:rPr>
              <a:t>Loosing router prunes it’s interface as if it has received a prun message on it.</a:t>
            </a: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9" name="Rectangle 17">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3.PIM</a:t>
            </a:r>
            <a:endParaRPr lang="en-AU" sz="3200" b="0" u="none" strike="noStrike">
              <a:solidFill>
                <a:srgbClr val="FFFFFF"/>
              </a:solidFill>
              <a:effectLst/>
              <a:uFillTx/>
              <a:latin typeface="Arial"/>
            </a:endParaRPr>
          </a:p>
        </p:txBody>
      </p:sp>
      <p:sp>
        <p:nvSpPr>
          <p:cNvPr id="90" name="PlaceHolder 1"/>
          <p:cNvSpPr>
            <a:spLocks noGrp="1"/>
          </p:cNvSpPr>
          <p:nvPr>
            <p:ph/>
          </p:nvPr>
        </p:nvSpPr>
        <p:spPr>
          <a:xfrm>
            <a:off x="3672000" y="75960"/>
            <a:ext cx="6228000" cy="5499720"/>
          </a:xfrm>
          <a:prstGeom prst="rect">
            <a:avLst/>
          </a:prstGeom>
          <a:noFill/>
          <a:ln w="0">
            <a:noFill/>
          </a:ln>
        </p:spPr>
        <p:txBody>
          <a:bodyPr lIns="91440" tIns="45720" rIns="91440" bIns="45720" anchor="t">
            <a:normAutofit lnSpcReduction="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PIM Forwarder</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Prune times out after 3 minutes and assert mechanism is repeated ever 3 minutes.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PIM forwarder is used mostly in PIM-DM and rarely in PIM-SM.</a:t>
            </a:r>
            <a:endParaRPr lang="en-US" sz="1600" b="0" u="none" strike="noStrike">
              <a:solidFill>
                <a:schemeClr val="dk1"/>
              </a:solidFill>
              <a:effectLst/>
              <a:uFillTx/>
              <a:latin typeface="Aptos"/>
            </a:endParaRPr>
          </a:p>
          <a:p>
            <a:pPr marL="162000"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PIM-SM eliminates use of assert mechanism</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In the PIM Forwarder example topology, PIM-SM would not use assert mechanism because of the PIM-SM operation procedure.</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PIM-SM routers identify their RPF neighbor and send PIM join messages with RPF neighbor ip field set (ex.R3’s ip).</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Assuming R1 is the RP, R2 would ignore the PIM join message because of the RPF neighbor ip set to R3, and only R3 sends PIM join message towards R1.</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This creates a shared tree between R1,R3 and R4 that eliminates the possibility of traffic duplication.</a:t>
            </a:r>
            <a:endParaRPr lang="en-US" sz="1600" b="0" u="none" strike="noStrike">
              <a:solidFill>
                <a:schemeClr val="dk1"/>
              </a:solidFill>
              <a:effectLst/>
              <a:uFillTx/>
              <a:latin typeface="Aptos"/>
            </a:endParaRPr>
          </a:p>
          <a:p>
            <a:pPr marL="162000"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PIM-SM cannot avoid assert mechanism</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In PIM-SM PIM Forward Example topology, R2 &amp; R4 is using OSPF and R3 &amp; R5 is using EIGRP.</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R4 learns about RP (R1) via R2 and R5 via R3, thus R4’s RPF neigbor is R2 and R5’s RPF neighbor is R3.</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Assuming both Receiver A and B wants to join a group, R4 and R5 send PIM join upstream and create RPT through their RPF neigbor.</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pic>
        <p:nvPicPr>
          <p:cNvPr id="91" name=""/>
          <p:cNvPicPr/>
          <p:nvPr/>
        </p:nvPicPr>
        <p:blipFill>
          <a:blip r:embed="rId1"/>
          <a:stretch/>
        </p:blipFill>
        <p:spPr>
          <a:xfrm>
            <a:off x="180000" y="2774160"/>
            <a:ext cx="2988000" cy="2805840"/>
          </a:xfrm>
          <a:prstGeom prst="rect">
            <a:avLst/>
          </a:prstGeom>
          <a:noFill/>
          <a:ln w="0">
            <a:noFill/>
          </a:ln>
        </p:spPr>
      </p:pic>
      <p:sp>
        <p:nvSpPr>
          <p:cNvPr id="92" name=""/>
          <p:cNvSpPr txBox="1"/>
          <p:nvPr/>
        </p:nvSpPr>
        <p:spPr>
          <a:xfrm>
            <a:off x="0" y="1080000"/>
            <a:ext cx="3672000" cy="1670400"/>
          </a:xfrm>
          <a:prstGeom prst="rect">
            <a:avLst/>
          </a:prstGeom>
          <a:noFill/>
          <a:ln w="0">
            <a:noFill/>
          </a:ln>
        </p:spPr>
        <p:txBody>
          <a:bodyPr lIns="90000" tIns="45000" rIns="90000" bIns="45000" anchor="t">
            <a:spAutoFit/>
          </a:bodyPr>
          <a:p>
            <a:pPr marL="216000" indent="-216000">
              <a:buClr>
                <a:srgbClr val="000000"/>
              </a:buClr>
              <a:buSzPct val="45000"/>
              <a:buFont typeface="Wingdings" charset="2"/>
              <a:buChar char=""/>
            </a:pPr>
            <a:r>
              <a:rPr lang="en-AU" sz="1600" b="0" u="none" strike="noStrike">
                <a:solidFill>
                  <a:srgbClr val="000000"/>
                </a:solidFill>
                <a:effectLst/>
                <a:uFillTx/>
                <a:latin typeface="Arial"/>
              </a:rPr>
              <a:t>R2 and R3 forward same multicast traffic via their outgoing interface. Which triggers assert mechanism.</a:t>
            </a:r>
            <a:endParaRPr lang="en-AU" sz="1600" b="0" u="none" strike="noStrike">
              <a:solidFill>
                <a:srgbClr val="000000"/>
              </a:solidFill>
              <a:effectLst/>
              <a:uFillTx/>
              <a:latin typeface="Arial"/>
            </a:endParaRPr>
          </a:p>
          <a:p>
            <a:pPr marL="216000" indent="-216000">
              <a:buClr>
                <a:srgbClr val="000000"/>
              </a:buClr>
              <a:buSzPct val="45000"/>
              <a:buFont typeface="Wingdings" charset="2"/>
              <a:buChar char=""/>
            </a:pPr>
            <a:r>
              <a:rPr lang="en-AU" sz="1600" b="0" u="none" strike="noStrike">
                <a:solidFill>
                  <a:srgbClr val="000000"/>
                </a:solidFill>
                <a:effectLst/>
                <a:uFillTx/>
                <a:latin typeface="Arial"/>
              </a:rPr>
              <a:t>R2 prunes it’s downstream interface and R3 becomes PIM Forwarder for the LAN segment.</a:t>
            </a:r>
            <a:endParaRPr lang="en-AU"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 name="Rectangle 18">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3.PIM</a:t>
            </a:r>
            <a:endParaRPr lang="en-AU" sz="3200" b="0" u="none" strike="noStrike">
              <a:solidFill>
                <a:srgbClr val="FFFFFF"/>
              </a:solidFill>
              <a:effectLst/>
              <a:uFillTx/>
              <a:latin typeface="Arial"/>
            </a:endParaRPr>
          </a:p>
        </p:txBody>
      </p:sp>
      <p:sp>
        <p:nvSpPr>
          <p:cNvPr id="94" name="PlaceHolder 1"/>
          <p:cNvSpPr>
            <a:spLocks noGrp="1"/>
          </p:cNvSpPr>
          <p:nvPr>
            <p:ph/>
          </p:nvPr>
        </p:nvSpPr>
        <p:spPr>
          <a:xfrm>
            <a:off x="3960000" y="75960"/>
            <a:ext cx="5940000" cy="5499720"/>
          </a:xfrm>
          <a:prstGeom prst="rect">
            <a:avLst/>
          </a:prstGeom>
          <a:noFill/>
          <a:ln w="0">
            <a:noFill/>
          </a:ln>
        </p:spPr>
        <p:txBody>
          <a:bodyPr lIns="91440" tIns="45720" rIns="91440" bIns="45720" anchor="t">
            <a:normAutofit lnSpcReduction="9999"/>
          </a:bodyPr>
          <a:p>
            <a:pPr indent="0" algn="l" defTabSz="914400">
              <a:lnSpc>
                <a:spcPct val="100000"/>
              </a:lnSpc>
              <a:spcBef>
                <a:spcPts val="150"/>
              </a:spcBef>
              <a:buNone/>
              <a:tabLst>
                <a:tab pos="0" algn="l"/>
              </a:tabLst>
            </a:pPr>
            <a:r>
              <a:rPr lang="en-US" sz="1600" b="1" u="none" strike="noStrike">
                <a:solidFill>
                  <a:schemeClr val="dk1"/>
                </a:solidFill>
                <a:effectLst/>
                <a:uFillTx/>
                <a:latin typeface="Arial"/>
                <a:ea typeface="Microsoft YaHei"/>
              </a:rPr>
              <a:t>Rendezvous Points (RP)</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In PIM-SM, it is mandatory to choose one or more routers as root of shared tree known as Rendezvous Points.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RP can be selected in following ways:</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Static: </a:t>
            </a:r>
            <a:r>
              <a:rPr lang="en-US" sz="1600" b="0" u="none" strike="noStrike">
                <a:solidFill>
                  <a:schemeClr val="dk1"/>
                </a:solidFill>
                <a:effectLst/>
                <a:uFillTx/>
                <a:latin typeface="Arial"/>
                <a:ea typeface="Microsoft YaHei"/>
              </a:rPr>
              <a:t>Statically configure RP on all routers of the multicast domain with global config command </a:t>
            </a:r>
            <a:r>
              <a:rPr lang="en-US" sz="1400" b="1" u="none" strike="noStrike">
                <a:solidFill>
                  <a:schemeClr val="dk1"/>
                </a:solidFill>
                <a:effectLst/>
                <a:uFillTx/>
                <a:latin typeface="Arial"/>
                <a:ea typeface="Microsoft YaHei"/>
              </a:rPr>
              <a:t>ip pim rp-address </a:t>
            </a:r>
            <a:r>
              <a:rPr lang="en-US" sz="1400" b="0" i="1" u="none" strike="noStrike">
                <a:solidFill>
                  <a:schemeClr val="dk1"/>
                </a:solidFill>
                <a:effectLst/>
                <a:uFillTx/>
                <a:latin typeface="Arial"/>
                <a:ea typeface="Microsoft YaHei"/>
              </a:rPr>
              <a:t>rp-address.</a:t>
            </a:r>
            <a:endParaRPr lang="en-US" sz="14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0" u="none" strike="noStrike">
                <a:solidFill>
                  <a:schemeClr val="dk1"/>
                </a:solidFill>
                <a:effectLst/>
                <a:uFillTx/>
                <a:latin typeface="Arial"/>
                <a:ea typeface="Microsoft YaHei"/>
              </a:rPr>
              <a:t>Statically configuring RP in large networks is not scalable and is not a viable solution for a network where RP can change frequently and requires failover.</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Auto RP: </a:t>
            </a:r>
            <a:r>
              <a:rPr lang="en-US" sz="1600" b="0" u="none" strike="noStrike">
                <a:solidFill>
                  <a:schemeClr val="dk1"/>
                </a:solidFill>
                <a:effectLst/>
                <a:uFillTx/>
                <a:latin typeface="Arial"/>
                <a:ea typeface="Microsoft YaHei"/>
              </a:rPr>
              <a:t>Cisco proprietary solution that automatically distributes PIM group to RP and has following benefits.</a:t>
            </a:r>
            <a:endParaRPr lang="en-US" sz="1600" b="0" u="none" strike="noStrike">
              <a:solidFill>
                <a:schemeClr val="dk1"/>
              </a:solidFill>
              <a:effectLst/>
              <a:uFillTx/>
              <a:latin typeface="Aptos"/>
            </a:endParaRPr>
          </a:p>
          <a:p>
            <a:pPr marL="360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Easy to use multiple RPs for different PIM groups.</a:t>
            </a:r>
            <a:endParaRPr lang="en-US" sz="1600" b="0" u="none" strike="noStrike">
              <a:solidFill>
                <a:schemeClr val="dk1"/>
              </a:solidFill>
              <a:effectLst/>
              <a:uFillTx/>
              <a:latin typeface="Aptos"/>
            </a:endParaRPr>
          </a:p>
          <a:p>
            <a:pPr marL="360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Allows load balancing between different Rps.</a:t>
            </a:r>
            <a:endParaRPr lang="en-US" sz="1600" b="0" u="none" strike="noStrike">
              <a:solidFill>
                <a:schemeClr val="dk1"/>
              </a:solidFill>
              <a:effectLst/>
              <a:uFillTx/>
              <a:latin typeface="Aptos"/>
            </a:endParaRPr>
          </a:p>
          <a:p>
            <a:pPr marL="360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Simplifies RP placement according to the location of group participants.</a:t>
            </a:r>
            <a:endParaRPr lang="en-US" sz="1600" b="0" u="none" strike="noStrike">
              <a:solidFill>
                <a:schemeClr val="dk1"/>
              </a:solidFill>
              <a:effectLst/>
              <a:uFillTx/>
              <a:latin typeface="Aptos"/>
            </a:endParaRPr>
          </a:p>
          <a:p>
            <a:pPr marL="360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Prevents inconsistent manual RP configuration.</a:t>
            </a:r>
            <a:endParaRPr lang="en-US" sz="1600" b="0" u="none" strike="noStrike">
              <a:solidFill>
                <a:schemeClr val="dk1"/>
              </a:solidFill>
              <a:effectLst/>
              <a:uFillTx/>
              <a:latin typeface="Aptos"/>
            </a:endParaRPr>
          </a:p>
          <a:p>
            <a:pPr marL="360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RPs of one group can be configured as backup for another group.</a:t>
            </a:r>
            <a:endParaRPr lang="en-US" sz="1600" b="0" u="none" strike="noStrike">
              <a:solidFill>
                <a:schemeClr val="dk1"/>
              </a:solidFill>
              <a:effectLst/>
              <a:uFillTx/>
              <a:latin typeface="Aptos"/>
            </a:endParaRPr>
          </a:p>
          <a:p>
            <a:pPr marL="360000" algn="l" defTabSz="914400">
              <a:lnSpc>
                <a:spcPct val="100000"/>
              </a:lnSpc>
              <a:spcBef>
                <a:spcPts val="434"/>
              </a:spcBef>
              <a:spcAft>
                <a:spcPts val="283"/>
              </a:spcAft>
              <a:buClr>
                <a:srgbClr val="000000"/>
              </a:buClr>
              <a:buSzPct val="45000"/>
              <a:buFont typeface="Wingdings" charset="2"/>
              <a:buChar char=""/>
              <a:tabLst>
                <a:tab pos="0" algn="l"/>
              </a:tabLst>
            </a:pPr>
            <a:r>
              <a:rPr lang="en-US" sz="1600" b="0" u="none" strike="noStrike">
                <a:solidFill>
                  <a:schemeClr val="dk1"/>
                </a:solidFill>
                <a:effectLst/>
                <a:uFillTx/>
                <a:latin typeface="Arial"/>
                <a:ea typeface="Microsoft YaHei"/>
              </a:rPr>
              <a:t>Auto RP has two basic components, Candidate RP (C-RP) and RP Mapping Agents (MAs).</a:t>
            </a: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95" name=""/>
          <p:cNvSpPr txBox="1"/>
          <p:nvPr/>
        </p:nvSpPr>
        <p:spPr>
          <a:xfrm>
            <a:off x="0" y="1080000"/>
            <a:ext cx="3780000" cy="4604760"/>
          </a:xfrm>
          <a:prstGeom prst="rect">
            <a:avLst/>
          </a:prstGeom>
          <a:noFill/>
          <a:ln w="0">
            <a:noFill/>
          </a:ln>
        </p:spPr>
        <p:txBody>
          <a:bodyPr lIns="90000" tIns="45000" rIns="90000" bIns="45000" anchor="t">
            <a:spAutoFit/>
          </a:bodyPr>
          <a:p>
            <a:r>
              <a:rPr lang="en-AU" sz="1600" b="1" u="none" strike="noStrike">
                <a:solidFill>
                  <a:srgbClr val="000000"/>
                </a:solidFill>
                <a:effectLst/>
                <a:uFillTx/>
                <a:latin typeface="Arial"/>
              </a:rPr>
              <a:t>Candidate RPs (C-RP) : </a:t>
            </a:r>
            <a:endParaRPr lang="en-AU" sz="1600" b="1" u="none" strike="noStrike">
              <a:solidFill>
                <a:srgbClr val="000000"/>
              </a:solidFill>
              <a:effectLst/>
              <a:uFillTx/>
              <a:latin typeface="Arial"/>
            </a:endParaRPr>
          </a:p>
          <a:p>
            <a:pPr marL="216000" indent="-216000">
              <a:buClr>
                <a:srgbClr val="000000"/>
              </a:buClr>
              <a:buSzPct val="45000"/>
              <a:buFont typeface="Wingdings" charset="2"/>
              <a:buChar char=""/>
            </a:pPr>
            <a:r>
              <a:rPr lang="en-AU" sz="1600" b="0" u="none" strike="noStrike">
                <a:solidFill>
                  <a:srgbClr val="000000"/>
                </a:solidFill>
                <a:effectLst/>
                <a:uFillTx/>
                <a:latin typeface="Arial"/>
              </a:rPr>
              <a:t>C-RP announce it’s willingness to become RP to a well known RP-announce address 224.0.1.39 using RP announcement message every RP announce interval of 60 seconds by default.</a:t>
            </a:r>
            <a:endParaRPr lang="en-AU" sz="1600" b="1" u="none" strike="noStrike">
              <a:solidFill>
                <a:srgbClr val="000000"/>
              </a:solidFill>
              <a:effectLst/>
              <a:uFillTx/>
              <a:latin typeface="Arial"/>
            </a:endParaRPr>
          </a:p>
          <a:p>
            <a:pPr marL="216000" indent="-216000">
              <a:buClr>
                <a:srgbClr val="000000"/>
              </a:buClr>
              <a:buSzPct val="45000"/>
              <a:buFont typeface="Wingdings" charset="2"/>
              <a:buChar char=""/>
            </a:pPr>
            <a:r>
              <a:rPr lang="en-AU" sz="1600" b="0" u="none" strike="noStrike">
                <a:solidFill>
                  <a:srgbClr val="000000"/>
                </a:solidFill>
                <a:effectLst/>
                <a:uFillTx/>
                <a:latin typeface="Arial"/>
              </a:rPr>
              <a:t>RP announcement message contains default group range 224.0.0.0/4, C-RP ip address and hold time of 3 times RP-announce interval.</a:t>
            </a:r>
            <a:endParaRPr lang="en-AU" sz="1600" b="1" u="none" strike="noStrike">
              <a:solidFill>
                <a:srgbClr val="000000"/>
              </a:solidFill>
              <a:effectLst/>
              <a:uFillTx/>
              <a:latin typeface="Arial"/>
            </a:endParaRPr>
          </a:p>
          <a:p>
            <a:pPr marL="216000" indent="-216000">
              <a:buClr>
                <a:srgbClr val="000000"/>
              </a:buClr>
              <a:buSzPct val="45000"/>
              <a:buFont typeface="Wingdings" charset="2"/>
              <a:buChar char=""/>
            </a:pPr>
            <a:r>
              <a:rPr lang="en-AU" sz="1600" b="0" u="none" strike="noStrike">
                <a:solidFill>
                  <a:srgbClr val="000000"/>
                </a:solidFill>
                <a:effectLst/>
                <a:uFillTx/>
                <a:latin typeface="Arial"/>
              </a:rPr>
              <a:t>C-RP with highest ip address is selected as RP.</a:t>
            </a:r>
            <a:endParaRPr lang="en-AU" sz="1600" b="1" u="none" strike="noStrike">
              <a:solidFill>
                <a:srgbClr val="000000"/>
              </a:solidFill>
              <a:effectLst/>
              <a:uFillTx/>
              <a:latin typeface="Arial"/>
            </a:endParaRPr>
          </a:p>
          <a:p>
            <a:r>
              <a:rPr lang="en-AU" sz="1600" b="1" u="none" strike="noStrike">
                <a:solidFill>
                  <a:srgbClr val="000000"/>
                </a:solidFill>
                <a:effectLst/>
                <a:uFillTx/>
                <a:latin typeface="Arial"/>
              </a:rPr>
              <a:t>RP Mapping Agents (MAs): </a:t>
            </a:r>
            <a:endParaRPr lang="en-AU" sz="1600" b="1" u="none" strike="noStrike">
              <a:solidFill>
                <a:srgbClr val="000000"/>
              </a:solidFill>
              <a:effectLst/>
              <a:uFillTx/>
              <a:latin typeface="Arial"/>
            </a:endParaRPr>
          </a:p>
          <a:p>
            <a:pPr marL="216000" indent="-216000">
              <a:buClr>
                <a:srgbClr val="000000"/>
              </a:buClr>
              <a:buSzPct val="45000"/>
              <a:buFont typeface="Wingdings" charset="2"/>
              <a:buChar char=""/>
            </a:pPr>
            <a:r>
              <a:rPr lang="en-AU" sz="1600" b="0" u="none" strike="noStrike">
                <a:solidFill>
                  <a:srgbClr val="000000"/>
                </a:solidFill>
                <a:effectLst/>
                <a:uFillTx/>
                <a:latin typeface="Arial"/>
              </a:rPr>
              <a:t>Primary role of RP MAs is to store RP to group mapping and hold times in their RP to group mapping cache.</a:t>
            </a:r>
            <a:endParaRPr lang="en-AU" sz="1600" b="1"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600" b="0" u="none" strike="noStrike">
                <a:solidFill>
                  <a:srgbClr val="000000"/>
                </a:solidFill>
                <a:effectLst/>
                <a:uFillTx/>
                <a:latin typeface="Arial"/>
              </a:rPr>
              <a:t>RP MAs join group 224.0.1.39 to receive RP announcements.</a:t>
            </a:r>
            <a:endParaRPr lang="en-AU" sz="1600" b="1"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6" name="Rectangle 19">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3.PIM</a:t>
            </a:r>
            <a:endParaRPr lang="en-AU" sz="3200" b="0" u="none" strike="noStrike">
              <a:solidFill>
                <a:srgbClr val="FFFFFF"/>
              </a:solidFill>
              <a:effectLst/>
              <a:uFillTx/>
              <a:latin typeface="Arial"/>
            </a:endParaRPr>
          </a:p>
        </p:txBody>
      </p:sp>
      <p:sp>
        <p:nvSpPr>
          <p:cNvPr id="97" name="PlaceHolder 1"/>
          <p:cNvSpPr>
            <a:spLocks noGrp="1"/>
          </p:cNvSpPr>
          <p:nvPr>
            <p:ph/>
          </p:nvPr>
        </p:nvSpPr>
        <p:spPr>
          <a:xfrm>
            <a:off x="3852000" y="75960"/>
            <a:ext cx="6120000" cy="5499720"/>
          </a:xfrm>
          <a:prstGeom prst="rect">
            <a:avLst/>
          </a:prstGeom>
          <a:noFill/>
          <a:ln w="0">
            <a:noFill/>
          </a:ln>
        </p:spPr>
        <p:txBody>
          <a:bodyPr lIns="91440" tIns="45720" rIns="91440" bIns="45720" anchor="t">
            <a:normAutofit/>
          </a:bodyPr>
          <a:p>
            <a:pPr indent="0" algn="l" defTabSz="914400">
              <a:lnSpc>
                <a:spcPct val="100000"/>
              </a:lnSpc>
              <a:buNone/>
              <a:tabLst>
                <a:tab pos="0" algn="l"/>
              </a:tabLst>
            </a:pPr>
            <a:r>
              <a:rPr lang="en-US" sz="1600" b="1" u="none" strike="noStrike">
                <a:solidFill>
                  <a:schemeClr val="dk1"/>
                </a:solidFill>
                <a:effectLst/>
                <a:uFillTx/>
                <a:latin typeface="Arial"/>
                <a:ea typeface="Microsoft YaHei"/>
              </a:rPr>
              <a:t>RP Mapping Agents (MAs)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RP MAs advertise RP-to-Group mapping and elected RPs to well known (Cisco-RP-Discovery) address 224.0.1.40 every 60 seconds by default or when any change is detected.</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All PIM enabled routers join RP-Discovery group and store the RP mappings in their private cache.</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RP MAs act independently and for redundancy multiple MAs can be configured in a network which advertise and store identical RP-to-Group mappings in their cache.</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In the figure, MA periodically receive RP-Announce messages from C-RP and periodically advertise RP-to-Group mappings to all PIM routers using Cisco-RP-Discovery address 224.0.1.40.</a:t>
            </a:r>
            <a:endParaRPr lang="en-US" sz="1600" b="0" u="none" strike="noStrike">
              <a:solidFill>
                <a:schemeClr val="dk1"/>
              </a:solidFill>
              <a:effectLst/>
              <a:uFillTx/>
              <a:latin typeface="Aptos"/>
            </a:endParaRPr>
          </a:p>
          <a:p>
            <a:pPr marL="162000"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pic>
        <p:nvPicPr>
          <p:cNvPr id="98" name=""/>
          <p:cNvPicPr/>
          <p:nvPr/>
        </p:nvPicPr>
        <p:blipFill>
          <a:blip r:embed="rId1"/>
          <a:stretch/>
        </p:blipFill>
        <p:spPr>
          <a:xfrm>
            <a:off x="5259960" y="3420000"/>
            <a:ext cx="3128040" cy="2158560"/>
          </a:xfrm>
          <a:prstGeom prst="rect">
            <a:avLst/>
          </a:prstGeom>
          <a:noFill/>
          <a:ln w="0">
            <a:noFill/>
          </a:ln>
        </p:spPr>
      </p:pic>
      <p:sp>
        <p:nvSpPr>
          <p:cNvPr id="99" name=""/>
          <p:cNvSpPr txBox="1"/>
          <p:nvPr/>
        </p:nvSpPr>
        <p:spPr>
          <a:xfrm>
            <a:off x="0" y="1080000"/>
            <a:ext cx="3780000" cy="4500000"/>
          </a:xfrm>
          <a:prstGeom prst="rect">
            <a:avLst/>
          </a:prstGeom>
          <a:noFill/>
          <a:ln w="0">
            <a:noFill/>
          </a:ln>
        </p:spPr>
        <p:txBody>
          <a:bodyPr lIns="90000" tIns="45000" rIns="90000" bIns="45000" anchor="t">
            <a:spAutoFit/>
          </a:bodyPr>
          <a:p>
            <a:r>
              <a:rPr lang="en-AU" sz="1600" b="1" u="none" strike="noStrike">
                <a:solidFill>
                  <a:srgbClr val="000000"/>
                </a:solidFill>
                <a:effectLst/>
                <a:uFillTx/>
                <a:latin typeface="Arial"/>
              </a:rPr>
              <a:t>PIM BootStrap Router (BSR)</a:t>
            </a:r>
            <a:endParaRPr lang="en-AU" sz="1600" b="1"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rPr>
              <a:t>Another method to dynamically discover and distribute fault tolerant RP is by using BootStrap Router.</a:t>
            </a:r>
            <a:endParaRPr lang="en-AU" sz="1600" b="1"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rPr>
              <a:t>Similar to Auto-RP ,PIM uses non-proprietary BSR mechanism to announce and discover RP set information for each group prefix to all PIM routers in the domain.</a:t>
            </a:r>
            <a:endParaRPr lang="en-AU" sz="1600" b="1"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1600" b="0" u="none" strike="noStrike">
                <a:solidFill>
                  <a:srgbClr val="000000"/>
                </a:solidFill>
                <a:effectLst/>
                <a:uFillTx/>
                <a:latin typeface="Arial"/>
              </a:rPr>
              <a:t>RP set is Group-to-RP mapping with below information:</a:t>
            </a:r>
            <a:endParaRPr lang="en-AU" sz="1600" b="1" u="none" strike="noStrike">
              <a:solidFill>
                <a:srgbClr val="000000"/>
              </a:solidFill>
              <a:effectLst/>
              <a:uFillTx/>
              <a:latin typeface="Arial"/>
            </a:endParaRPr>
          </a:p>
          <a:p>
            <a:pPr marL="360000">
              <a:lnSpc>
                <a:spcPct val="100000"/>
              </a:lnSpc>
              <a:spcBef>
                <a:spcPts val="283"/>
              </a:spcBef>
              <a:spcAft>
                <a:spcPts val="283"/>
              </a:spcAft>
              <a:buClr>
                <a:srgbClr val="000000"/>
              </a:buClr>
              <a:buSzPct val="45000"/>
              <a:buFont typeface="OpenSymbol"/>
              <a:buChar char="-"/>
            </a:pPr>
            <a:r>
              <a:rPr lang="en-AU" sz="1600" b="0" u="none" strike="noStrike">
                <a:solidFill>
                  <a:srgbClr val="000000"/>
                </a:solidFill>
                <a:effectLst/>
                <a:uFillTx/>
                <a:latin typeface="Arial"/>
              </a:rPr>
              <a:t>Multicast group range</a:t>
            </a:r>
            <a:endParaRPr lang="en-AU" sz="1600" b="1" u="none" strike="noStrike">
              <a:solidFill>
                <a:srgbClr val="000000"/>
              </a:solidFill>
              <a:effectLst/>
              <a:uFillTx/>
              <a:latin typeface="Arial"/>
            </a:endParaRPr>
          </a:p>
          <a:p>
            <a:pPr marL="360000">
              <a:lnSpc>
                <a:spcPct val="100000"/>
              </a:lnSpc>
              <a:spcBef>
                <a:spcPts val="283"/>
              </a:spcBef>
              <a:spcAft>
                <a:spcPts val="283"/>
              </a:spcAft>
              <a:buClr>
                <a:srgbClr val="000000"/>
              </a:buClr>
              <a:buSzPct val="45000"/>
              <a:buFont typeface="OpenSymbol"/>
              <a:buChar char="-"/>
            </a:pPr>
            <a:r>
              <a:rPr lang="en-AU" sz="1600" b="0" u="none" strike="noStrike">
                <a:solidFill>
                  <a:srgbClr val="000000"/>
                </a:solidFill>
                <a:effectLst/>
                <a:uFillTx/>
                <a:latin typeface="Arial"/>
              </a:rPr>
              <a:t>RP priority</a:t>
            </a:r>
            <a:endParaRPr lang="en-AU" sz="1600" b="1" u="none" strike="noStrike">
              <a:solidFill>
                <a:srgbClr val="000000"/>
              </a:solidFill>
              <a:effectLst/>
              <a:uFillTx/>
              <a:latin typeface="Arial"/>
            </a:endParaRPr>
          </a:p>
          <a:p>
            <a:pPr marL="360000">
              <a:lnSpc>
                <a:spcPct val="100000"/>
              </a:lnSpc>
              <a:spcBef>
                <a:spcPts val="283"/>
              </a:spcBef>
              <a:spcAft>
                <a:spcPts val="283"/>
              </a:spcAft>
              <a:buClr>
                <a:srgbClr val="000000"/>
              </a:buClr>
              <a:buSzPct val="45000"/>
              <a:buFont typeface="OpenSymbol"/>
              <a:buChar char="-"/>
            </a:pPr>
            <a:r>
              <a:rPr lang="en-AU" sz="1600" b="0" u="none" strike="noStrike">
                <a:solidFill>
                  <a:srgbClr val="000000"/>
                </a:solidFill>
                <a:effectLst/>
                <a:uFillTx/>
                <a:latin typeface="Arial"/>
              </a:rPr>
              <a:t>RP address</a:t>
            </a:r>
            <a:endParaRPr lang="en-AU" sz="1600" b="1" u="none" strike="noStrike">
              <a:solidFill>
                <a:srgbClr val="000000"/>
              </a:solidFill>
              <a:effectLst/>
              <a:uFillTx/>
              <a:latin typeface="Arial"/>
            </a:endParaRPr>
          </a:p>
          <a:p>
            <a:pPr marL="360000">
              <a:lnSpc>
                <a:spcPct val="100000"/>
              </a:lnSpc>
              <a:spcBef>
                <a:spcPts val="283"/>
              </a:spcBef>
              <a:spcAft>
                <a:spcPts val="283"/>
              </a:spcAft>
              <a:buClr>
                <a:srgbClr val="000000"/>
              </a:buClr>
              <a:buSzPct val="45000"/>
              <a:buFont typeface="OpenSymbol"/>
              <a:buChar char="-"/>
            </a:pPr>
            <a:r>
              <a:rPr lang="en-AU" sz="1600" b="0" u="none" strike="noStrike">
                <a:solidFill>
                  <a:srgbClr val="000000"/>
                </a:solidFill>
                <a:effectLst/>
                <a:uFillTx/>
                <a:latin typeface="Arial"/>
              </a:rPr>
              <a:t>Hash mask length</a:t>
            </a:r>
            <a:endParaRPr lang="en-AU" sz="1600" b="1" u="none" strike="noStrike">
              <a:solidFill>
                <a:srgbClr val="000000"/>
              </a:solidFill>
              <a:effectLst/>
              <a:uFillTx/>
              <a:latin typeface="Arial"/>
            </a:endParaRPr>
          </a:p>
          <a:p>
            <a:pPr marL="360000">
              <a:lnSpc>
                <a:spcPct val="100000"/>
              </a:lnSpc>
              <a:spcBef>
                <a:spcPts val="283"/>
              </a:spcBef>
              <a:spcAft>
                <a:spcPts val="283"/>
              </a:spcAft>
              <a:buClr>
                <a:srgbClr val="000000"/>
              </a:buClr>
              <a:buSzPct val="45000"/>
              <a:buFont typeface="OpenSymbol"/>
              <a:buChar char="-"/>
            </a:pPr>
            <a:r>
              <a:rPr lang="en-AU" sz="1600" b="0" u="none" strike="noStrike">
                <a:solidFill>
                  <a:srgbClr val="000000"/>
                </a:solidFill>
                <a:effectLst/>
                <a:uFillTx/>
                <a:latin typeface="Arial"/>
              </a:rPr>
              <a:t>SM/Bidir flag</a:t>
            </a:r>
            <a:endParaRPr lang="en-AU" sz="1600" b="1"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Rectangle 21">
            <a:extLst>
              <a:ext uri="{C183D7F6-B498-43B3-948B-1728B52AA6E4}">
                <adec:decorative xmlns:adec="http://schemas.microsoft.com/office/drawing/2017/decorative" val="1"/>
              </a:ext>
            </a:extLst>
          </p:cNvPr>
          <p:cNvSpPr/>
          <p:nvPr/>
        </p:nvSpPr>
        <p:spPr>
          <a:xfrm>
            <a:off x="0" y="360"/>
            <a:ext cx="3600000" cy="1076040"/>
          </a:xfrm>
          <a:prstGeom prst="rect">
            <a:avLst/>
          </a:prstGeom>
          <a:solidFill>
            <a:schemeClr val="accent2"/>
          </a:solidFill>
          <a:ln w="19080">
            <a:noFill/>
          </a:ln>
        </p:spPr>
        <p:style>
          <a:lnRef idx="0"/>
          <a:fillRef idx="0"/>
          <a:effectRef idx="0"/>
          <a:fontRef idx="minor"/>
        </p:style>
        <p:txBody>
          <a:bodyPr lIns="90000" tIns="45000" rIns="90000" bIns="45000" anchor="ctr">
            <a:noAutofit/>
          </a:bodyPr>
          <a:p>
            <a:pPr defTabSz="914400">
              <a:lnSpc>
                <a:spcPct val="90000"/>
              </a:lnSpc>
              <a:tabLst>
                <a:tab pos="0" algn="l"/>
              </a:tabLst>
            </a:pPr>
            <a:r>
              <a:rPr lang="en-US" sz="3200" b="1" u="none" strike="noStrike">
                <a:solidFill>
                  <a:schemeClr val="lt1"/>
                </a:solidFill>
                <a:effectLst/>
                <a:uFillTx/>
                <a:latin typeface="Arial"/>
                <a:ea typeface="DejaVu Sans"/>
              </a:rPr>
              <a:t>3.PIM</a:t>
            </a:r>
            <a:endParaRPr lang="en-AU" sz="3200" b="0" u="none" strike="noStrike">
              <a:solidFill>
                <a:srgbClr val="FFFFFF"/>
              </a:solidFill>
              <a:effectLst/>
              <a:uFillTx/>
              <a:latin typeface="Arial"/>
            </a:endParaRPr>
          </a:p>
        </p:txBody>
      </p:sp>
      <p:sp>
        <p:nvSpPr>
          <p:cNvPr id="101" name="PlaceHolder 1"/>
          <p:cNvSpPr>
            <a:spLocks noGrp="1"/>
          </p:cNvSpPr>
          <p:nvPr>
            <p:ph/>
          </p:nvPr>
        </p:nvSpPr>
        <p:spPr>
          <a:xfrm>
            <a:off x="3852000" y="75960"/>
            <a:ext cx="6120000" cy="5499720"/>
          </a:xfrm>
          <a:prstGeom prst="rect">
            <a:avLst/>
          </a:prstGeom>
          <a:noFill/>
          <a:ln w="0">
            <a:noFill/>
          </a:ln>
        </p:spPr>
        <p:txBody>
          <a:bodyPr lIns="91440" tIns="45720" rIns="91440" bIns="45720" anchor="t">
            <a:normAutofit lnSpcReduction="9999"/>
          </a:bodyPr>
          <a:p>
            <a:pPr indent="0" algn="l" defTabSz="914400">
              <a:lnSpc>
                <a:spcPct val="100000"/>
              </a:lnSpc>
              <a:buNone/>
              <a:tabLst>
                <a:tab pos="0" algn="l"/>
              </a:tabLst>
            </a:pPr>
            <a:r>
              <a:rPr lang="en-US" sz="1600" b="1" u="none" strike="noStrike">
                <a:solidFill>
                  <a:schemeClr val="dk1"/>
                </a:solidFill>
                <a:effectLst/>
                <a:uFillTx/>
                <a:latin typeface="Arial"/>
                <a:ea typeface="Microsoft YaHei"/>
              </a:rPr>
              <a:t>PIM BootStrap Router (BSR)</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BSR messages originate in BSR routers and is flooded into the multicast domain hop by hop using allPIM router address 224.0.0.13 with TTL of 1.</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For redundancy multiple candidate BSRs (C-BSR) can be deployed but a single BSR is elected among C-BSR using C-BSR priority. And highest C-BSR ip address as a tiebreaker.</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r>
              <a:rPr lang="en-US" sz="1600" b="1" u="none" strike="noStrike">
                <a:solidFill>
                  <a:schemeClr val="dk1"/>
                </a:solidFill>
                <a:effectLst/>
                <a:uFillTx/>
                <a:latin typeface="Arial"/>
                <a:ea typeface="Microsoft YaHei"/>
              </a:rPr>
              <a:t>Candidate RPs (C-RPs)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PIM routers are configured as C-RP which receive BSR messages that contains current BSR’s ip address.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C-RP can then send unicast Candidate RP Advertisement (C-RP-Adv) messages to BSR directly.</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C-RP-Adv messages contain list of group address and group mask field pairs for the group it is willing to become RP.</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BSR store incoming C-RP-Adv into it’s local group-to-RP mapping cache and advertise same to all PIM routers in the domain through BSR messages every 60 seconds.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 BSR does not elect RP for the group and leave this task for individual PIM routers.</a:t>
            </a:r>
            <a:endParaRPr lang="en-US" sz="1600" b="0" u="none" strike="noStrike">
              <a:solidFill>
                <a:schemeClr val="dk1"/>
              </a:solidFill>
              <a:effectLst/>
              <a:uFillTx/>
              <a:latin typeface="Aptos"/>
            </a:endParaRPr>
          </a:p>
          <a:p>
            <a:pPr marL="162000" indent="-162000" algn="l" defTabSz="914400">
              <a:lnSpc>
                <a:spcPct val="100000"/>
              </a:lnSpc>
              <a:spcBef>
                <a:spcPts val="434"/>
              </a:spcBef>
              <a:spcAft>
                <a:spcPts val="283"/>
              </a:spcAft>
              <a:buClr>
                <a:srgbClr val="000000"/>
              </a:buClr>
              <a:buFont typeface="Arial"/>
              <a:buChar char="•"/>
              <a:tabLst>
                <a:tab pos="0" algn="l"/>
              </a:tabLst>
            </a:pPr>
            <a:r>
              <a:rPr lang="en-US" sz="1600" b="0" u="none" strike="noStrike">
                <a:solidFill>
                  <a:schemeClr val="dk1"/>
                </a:solidFill>
                <a:effectLst/>
                <a:uFillTx/>
                <a:latin typeface="Arial"/>
                <a:ea typeface="Microsoft YaHei"/>
              </a:rPr>
              <a:t>Each PIM router use same well-known hashing algorithm against the same list of C-RP for a group to elect same RP for the group.</a:t>
            </a:r>
            <a:endParaRPr lang="en-US" sz="1600" b="0" u="none" strike="noStrike">
              <a:solidFill>
                <a:schemeClr val="dk1"/>
              </a:solidFill>
              <a:effectLst/>
              <a:uFillTx/>
              <a:latin typeface="Aptos"/>
            </a:endParaRPr>
          </a:p>
          <a:p>
            <a:pPr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434"/>
              </a:spcBef>
              <a:spcAft>
                <a:spcPts val="283"/>
              </a:spcAft>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marL="162000"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a:p>
            <a:pPr indent="0" algn="l" defTabSz="914400">
              <a:lnSpc>
                <a:spcPct val="100000"/>
              </a:lnSpc>
              <a:spcBef>
                <a:spcPts val="150"/>
              </a:spcBef>
              <a:buNone/>
              <a:tabLst>
                <a:tab pos="0" algn="l"/>
              </a:tabLst>
            </a:pPr>
            <a:endParaRPr lang="en-US" sz="1600" b="0" u="none" strike="noStrike">
              <a:solidFill>
                <a:schemeClr val="dk1"/>
              </a:solidFill>
              <a:effectLst/>
              <a:uFillTx/>
              <a:latin typeface="Aptos"/>
            </a:endParaRPr>
          </a:p>
        </p:txBody>
      </p:sp>
      <p:sp>
        <p:nvSpPr>
          <p:cNvPr id="102" name=""/>
          <p:cNvSpPr txBox="1"/>
          <p:nvPr/>
        </p:nvSpPr>
        <p:spPr>
          <a:xfrm>
            <a:off x="0" y="1080000"/>
            <a:ext cx="3780000" cy="1260000"/>
          </a:xfrm>
          <a:prstGeom prst="rect">
            <a:avLst/>
          </a:prstGeom>
          <a:noFill/>
          <a:ln w="0">
            <a:noFill/>
          </a:ln>
        </p:spPr>
        <p:txBody>
          <a:bodyPr lIns="90000" tIns="45000" rIns="90000" bIns="45000" anchor="t">
            <a:spAutoFit/>
          </a:bodyPr>
          <a:p>
            <a:pPr marL="216000" indent="-216000">
              <a:buClr>
                <a:srgbClr val="000000"/>
              </a:buClr>
              <a:buSzPct val="45000"/>
              <a:buFont typeface="Wingdings" charset="2"/>
              <a:buChar char=""/>
            </a:pPr>
            <a:r>
              <a:rPr lang="en-AU" sz="1600" b="0" u="none" strike="noStrike">
                <a:solidFill>
                  <a:srgbClr val="000000"/>
                </a:solidFill>
                <a:effectLst/>
                <a:uFillTx/>
                <a:latin typeface="Arial"/>
              </a:rPr>
              <a:t>In below figure, BSR messages are sent to All PIM routers on 224.0.0.13 and C-RP-Adv messages are unicast to BSR.</a:t>
            </a:r>
            <a:endParaRPr lang="en-AU" sz="1600" b="1" u="none" strike="noStrike">
              <a:solidFill>
                <a:srgbClr val="000000"/>
              </a:solidFill>
              <a:effectLst/>
              <a:uFillTx/>
              <a:latin typeface="Arial"/>
            </a:endParaRPr>
          </a:p>
        </p:txBody>
      </p:sp>
      <p:pic>
        <p:nvPicPr>
          <p:cNvPr id="103" name=""/>
          <p:cNvPicPr/>
          <p:nvPr/>
        </p:nvPicPr>
        <p:blipFill>
          <a:blip r:embed="rId1"/>
          <a:stretch/>
        </p:blipFill>
        <p:spPr>
          <a:xfrm>
            <a:off x="180000" y="2358720"/>
            <a:ext cx="3240000" cy="226728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302</TotalTime>
  <Application>LibreOffice/26.2.5.2$Windows_X86_64 LibreOffice_project/cd7284b4cbbfeb507e630c1aac019f4157393acb</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2026-08-08T08:04:51Z</dcterms:created>
  <dc:creator/>
  <dc:description/>
  <dc:language>en-AU</dc:language>
  <cp:lastModifiedBy/>
  <dcterms:modified xsi:type="dcterms:W3CDTF">2026-08-10T13:10:12Z</dcterms:modified>
  <cp:revision>4</cp:revision>
  <dc:subject/>
  <dc:title/>
</cp:coreProperties>
</file>