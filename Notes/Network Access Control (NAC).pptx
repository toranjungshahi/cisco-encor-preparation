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1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slideMasters/slideMaster1.xml" ContentType="application/vnd.openxmlformats-officedocument.presentationml.slideMaster+xml"/>
  <Override PartName="/ppt/notesSlides/notesSlide3.xml" ContentType="application/vnd.openxmlformats-officedocument.presentationml.notesSlide+xml"/>
  <Override PartName="/ppt/notesSlides/notesSlide10.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Lst>
  <p:sldSz cx="12192000" cy="6858000"/>
  <p:notesSz cx="7559675" cy="10691813"/>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algn="ctr" defTabSz="914400">
              <a:lnSpc>
                <a:spcPct val="90000"/>
              </a:lnSpc>
              <a:tabLst>
                <a:tab pos="0" algn="l"/>
              </a:tabLst>
            </a:pPr>
            <a:r>
              <a:rPr lang="en-US" sz="6000" b="0" u="none" strike="noStrike">
                <a:solidFill>
                  <a:schemeClr val="dk1"/>
                </a:solidFill>
                <a:effectLst/>
                <a:uFillTx/>
                <a:latin typeface="Aptos Display"/>
              </a:rPr>
              <a:t>Click to move the slide</a:t>
            </a:r>
            <a:endParaRPr lang="en-US" sz="6000" b="0" u="none" strike="noStrike">
              <a:solidFill>
                <a:schemeClr val="dk1"/>
              </a:solidFill>
              <a:effectLst/>
              <a:uFillTx/>
              <a:latin typeface="Aptos Display"/>
            </a:endParaRPr>
          </a:p>
        </p:txBody>
      </p:sp>
      <p:sp>
        <p:nvSpPr>
          <p:cNvPr id="6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AU" sz="2000" b="0" u="none" strike="noStrike">
                <a:solidFill>
                  <a:srgbClr val="000000"/>
                </a:solidFill>
                <a:effectLst/>
                <a:uFillTx/>
                <a:latin typeface="Arial"/>
              </a:rPr>
              <a:t>Click to edit the notes format</a:t>
            </a:r>
            <a:endParaRPr lang="en-AU" sz="2000" b="0" u="none" strike="noStrike">
              <a:solidFill>
                <a:srgbClr val="000000"/>
              </a:solidFill>
              <a:effectLst/>
              <a:uFillTx/>
              <a:latin typeface="Arial"/>
            </a:endParaRPr>
          </a:p>
        </p:txBody>
      </p:sp>
      <p:sp>
        <p:nvSpPr>
          <p:cNvPr id="62"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AU" sz="1400" b="0" u="none" strike="noStrike">
                <a:solidFill>
                  <a:srgbClr val="000000"/>
                </a:solidFill>
                <a:effectLst/>
                <a:uFillTx/>
                <a:latin typeface="Times New Roman"/>
              </a:rPr>
              <a:t>&lt;header&gt;</a:t>
            </a:r>
            <a:endParaRPr lang="en-AU" sz="1400" b="0" u="none" strike="noStrike">
              <a:solidFill>
                <a:srgbClr val="000000"/>
              </a:solidFill>
              <a:effectLst/>
              <a:uFillTx/>
              <a:latin typeface="Times New Roman"/>
            </a:endParaRPr>
          </a:p>
        </p:txBody>
      </p:sp>
      <p:sp>
        <p:nvSpPr>
          <p:cNvPr id="63"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AU" sz="1400" b="0" u="none" strike="noStrike">
                <a:solidFill>
                  <a:srgbClr val="000000"/>
                </a:solidFill>
                <a:effectLst/>
                <a:uFillTx/>
                <a:latin typeface="Times New Roman"/>
              </a:defRPr>
            </a:lvl1pPr>
          </a:lstStyle>
          <a:p>
            <a:pPr indent="0" algn="r">
              <a:buNone/>
            </a:pPr>
            <a:r>
              <a:rPr lang="en-AU" sz="1400" b="0" u="none" strike="noStrike">
                <a:solidFill>
                  <a:srgbClr val="000000"/>
                </a:solidFill>
                <a:effectLst/>
                <a:uFillTx/>
                <a:latin typeface="Times New Roman"/>
              </a:rPr>
              <a:t>&lt;date/time&gt;</a:t>
            </a:r>
            <a:endParaRPr lang="en-AU" sz="1400" b="0" u="none" strike="noStrike">
              <a:solidFill>
                <a:srgbClr val="000000"/>
              </a:solidFill>
              <a:effectLst/>
              <a:uFillTx/>
              <a:latin typeface="Times New Roman"/>
            </a:endParaRPr>
          </a:p>
        </p:txBody>
      </p:sp>
      <p:sp>
        <p:nvSpPr>
          <p:cNvPr id="64"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AU" sz="1400" b="0" u="none" strike="noStrike">
                <a:solidFill>
                  <a:srgbClr val="000000"/>
                </a:solidFill>
                <a:effectLst/>
                <a:uFillTx/>
                <a:latin typeface="Times New Roman"/>
              </a:defRPr>
            </a:lvl1pPr>
          </a:lstStyle>
          <a:p>
            <a:pPr indent="0" algn="l">
              <a:buNone/>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65"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AU" sz="1400" b="0" u="none" strike="noStrike">
                <a:solidFill>
                  <a:srgbClr val="000000"/>
                </a:solidFill>
                <a:effectLst/>
                <a:uFillTx/>
                <a:latin typeface="Times New Roman"/>
              </a:defRPr>
            </a:lvl1pPr>
          </a:lstStyle>
          <a:p>
            <a:pPr indent="0" algn="r">
              <a:buNone/>
            </a:pPr>
            <a:fld id="{B57D51A5-9F50-47B2-8DC2-0B647848321E}" type="slidenum">
              <a:rPr lang="en-AU" sz="1400" b="0" u="none" strike="noStrike">
                <a:solidFill>
                  <a:srgbClr val="000000"/>
                </a:solidFill>
                <a:effectLst/>
                <a:uFillTx/>
                <a:latin typeface="Times New Roman"/>
              </a:rPr>
              <a:t>&lt;number&gt;</a:t>
            </a:fld>
            <a:endParaRPr lang="en-AU"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sldImg"/>
          </p:nvPr>
        </p:nvSpPr>
        <p:spPr>
          <a:xfrm>
            <a:off x="685800" y="1143000"/>
            <a:ext cx="5484960" cy="3084840"/>
          </a:xfrm>
          <a:prstGeom prst="rect">
            <a:avLst/>
          </a:prstGeom>
          <a:ln w="0">
            <a:noFill/>
          </a:ln>
        </p:spPr>
      </p:sp>
      <p:sp>
        <p:nvSpPr>
          <p:cNvPr id="16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61" name="PlaceHolder 3"/>
          <p:cNvSpPr>
            <a:spLocks noGrp="1"/>
          </p:cNvSpPr>
          <p:nvPr>
            <p:ph type="sldNum" idx="37"/>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AU" sz="1200" b="0" u="none" strike="noStrike">
                <a:solidFill>
                  <a:srgbClr val="000000"/>
                </a:solidFill>
                <a:effectLst/>
                <a:uFillTx/>
                <a:latin typeface="Times New Roman"/>
              </a:defRPr>
            </a:lvl1pPr>
          </a:lstStyle>
          <a:p>
            <a:pPr indent="0" algn="r">
              <a:lnSpc>
                <a:spcPct val="100000"/>
              </a:lnSpc>
              <a:buNone/>
              <a:tabLst>
                <a:tab pos="0" algn="l"/>
              </a:tabLst>
            </a:pPr>
            <a:fld id="{C3423B35-0088-4501-8002-78AF8F572365}"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Img"/>
          </p:nvPr>
        </p:nvSpPr>
        <p:spPr>
          <a:xfrm>
            <a:off x="685800" y="1143000"/>
            <a:ext cx="5484960" cy="3084840"/>
          </a:xfrm>
          <a:prstGeom prst="rect">
            <a:avLst/>
          </a:prstGeom>
          <a:ln w="0">
            <a:noFill/>
          </a:ln>
        </p:spPr>
      </p:sp>
      <p:sp>
        <p:nvSpPr>
          <p:cNvPr id="16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FF0000"/>
                </a:solidFill>
                <a:effectLst/>
                <a:uFillTx/>
                <a:latin typeface="Arial"/>
              </a:rPr>
              <a:t>Contextual information </a:t>
            </a:r>
            <a:r>
              <a:rPr lang="en-US" sz="2000" b="0" u="none" strike="noStrike">
                <a:solidFill>
                  <a:srgbClr val="000000"/>
                </a:solidFill>
                <a:effectLst/>
                <a:uFillTx/>
                <a:latin typeface="Arial"/>
              </a:rPr>
              <a:t>(user, device, location, time-stamp, application etc)</a:t>
            </a:r>
            <a:endParaRPr lang="en-AU"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Cisco Stealthwatch provides observability from the context of network security.</a:t>
            </a:r>
            <a:endParaRPr lang="en-AU" sz="2000" b="0" u="none" strike="noStrike">
              <a:solidFill>
                <a:srgbClr val="000000"/>
              </a:solidFill>
              <a:effectLst/>
              <a:uFillTx/>
              <a:latin typeface="Arial"/>
            </a:endParaRPr>
          </a:p>
        </p:txBody>
      </p:sp>
      <p:sp>
        <p:nvSpPr>
          <p:cNvPr id="164" name="PlaceHolder 3"/>
          <p:cNvSpPr>
            <a:spLocks noGrp="1"/>
          </p:cNvSpPr>
          <p:nvPr>
            <p:ph type="sldNum" idx="38"/>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AU" sz="1200" b="0" u="none" strike="noStrike">
                <a:solidFill>
                  <a:srgbClr val="000000"/>
                </a:solidFill>
                <a:effectLst/>
                <a:uFillTx/>
                <a:latin typeface="Times New Roman"/>
              </a:defRPr>
            </a:lvl1pPr>
          </a:lstStyle>
          <a:p>
            <a:pPr indent="0" algn="r">
              <a:lnSpc>
                <a:spcPct val="100000"/>
              </a:lnSpc>
              <a:buNone/>
              <a:tabLst>
                <a:tab pos="0" algn="l"/>
              </a:tabLst>
            </a:pPr>
            <a:fld id="{676D0E0B-78CC-4081-83B9-0C591DCB7018}"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sldImg"/>
          </p:nvPr>
        </p:nvSpPr>
        <p:spPr>
          <a:xfrm>
            <a:off x="685800" y="1143000"/>
            <a:ext cx="5484960" cy="3084840"/>
          </a:xfrm>
          <a:prstGeom prst="rect">
            <a:avLst/>
          </a:prstGeom>
          <a:ln w="0">
            <a:noFill/>
          </a:ln>
        </p:spPr>
      </p:sp>
      <p:sp>
        <p:nvSpPr>
          <p:cNvPr id="16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EAP TTLS methods(EAP-FAST, EAP-TTLS and PEAP) use one of the inner Authentication methods over an outer TLS tunnel. </a:t>
            </a:r>
            <a:endParaRPr lang="en-AU" sz="2000" b="0" u="none" strike="noStrike">
              <a:solidFill>
                <a:srgbClr val="000000"/>
              </a:solidFill>
              <a:effectLst/>
              <a:uFillTx/>
              <a:latin typeface="Arial"/>
            </a:endParaRPr>
          </a:p>
        </p:txBody>
      </p:sp>
      <p:sp>
        <p:nvSpPr>
          <p:cNvPr id="167" name="PlaceHolder 3"/>
          <p:cNvSpPr>
            <a:spLocks noGrp="1"/>
          </p:cNvSpPr>
          <p:nvPr>
            <p:ph type="sldNum" idx="39"/>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AU" sz="1200" b="0" u="none" strike="noStrike">
                <a:solidFill>
                  <a:srgbClr val="000000"/>
                </a:solidFill>
                <a:effectLst/>
                <a:uFillTx/>
                <a:latin typeface="Times New Roman"/>
              </a:defRPr>
            </a:lvl1pPr>
          </a:lstStyle>
          <a:p>
            <a:pPr indent="0" algn="r">
              <a:lnSpc>
                <a:spcPct val="100000"/>
              </a:lnSpc>
              <a:buNone/>
              <a:tabLst>
                <a:tab pos="0" algn="l"/>
              </a:tabLst>
            </a:pPr>
            <a:fld id="{D6188864-567E-44DD-B998-D64BC2E8A7B6}"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sldImg"/>
          </p:nvPr>
        </p:nvSpPr>
        <p:spPr>
          <a:xfrm>
            <a:off x="685800" y="1143000"/>
            <a:ext cx="5484960" cy="3084840"/>
          </a:xfrm>
          <a:prstGeom prst="rect">
            <a:avLst/>
          </a:prstGeom>
          <a:ln w="0">
            <a:noFill/>
          </a:ln>
        </p:spPr>
      </p:sp>
      <p:sp>
        <p:nvSpPr>
          <p:cNvPr id="16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buNone/>
            </a:pPr>
            <a:endParaRPr lang="en-AU" sz="1800" b="0" u="none" strike="noStrike">
              <a:solidFill>
                <a:srgbClr val="000000"/>
              </a:solidFill>
              <a:effectLst/>
              <a:uFillTx/>
              <a:latin typeface="Arial"/>
            </a:endParaRPr>
          </a:p>
        </p:txBody>
      </p:sp>
      <p:sp>
        <p:nvSpPr>
          <p:cNvPr id="170" name="PlaceHolder 3"/>
          <p:cNvSpPr>
            <a:spLocks noGrp="1"/>
          </p:cNvSpPr>
          <p:nvPr>
            <p:ph type="sldNum" idx="40"/>
          </p:nvPr>
        </p:nvSpPr>
        <p:spPr>
          <a:xfrm>
            <a:off x="3884760" y="8685360"/>
            <a:ext cx="2970360" cy="457200"/>
          </a:xfrm>
          <a:prstGeom prst="rect">
            <a:avLst/>
          </a:prstGeom>
          <a:noFill/>
          <a:ln w="0">
            <a:noFill/>
          </a:ln>
        </p:spPr>
        <p:txBody>
          <a:bodyPr lIns="91440" tIns="45720" rIns="91440" bIns="45720" anchor="b">
            <a:noAutofit/>
          </a:bodyPr>
          <a:lstStyle>
            <a:lvl1pPr indent="0" algn="r">
              <a:lnSpc>
                <a:spcPct val="100000"/>
              </a:lnSpc>
              <a:buNone/>
              <a:tabLst>
                <a:tab pos="0" algn="l"/>
              </a:tabLst>
              <a:defRPr lang="en-AU" sz="1200" b="0" u="none" strike="noStrike">
                <a:solidFill>
                  <a:srgbClr val="000000"/>
                </a:solidFill>
                <a:effectLst/>
                <a:uFillTx/>
                <a:latin typeface="Times New Roman"/>
              </a:defRPr>
            </a:lvl1pPr>
          </a:lstStyle>
          <a:p>
            <a:pPr indent="0" algn="r">
              <a:lnSpc>
                <a:spcPct val="100000"/>
              </a:lnSpc>
              <a:buNone/>
              <a:tabLst>
                <a:tab pos="0" algn="l"/>
              </a:tabLst>
            </a:pPr>
            <a:fld id="{3792E32A-CDC6-46FC-B810-309F513FF8A5}" type="slidenum">
              <a:rPr lang="en-AU" sz="1200" b="0" u="none" strike="noStrike">
                <a:solidFill>
                  <a:srgbClr val="000000"/>
                </a:solidFill>
                <a:effectLst/>
                <a:uFillTx/>
                <a:latin typeface="Times New Roman"/>
              </a:rPr>
              <a:t>&lt;number&gt;</a:t>
            </a:fld>
            <a:endParaRPr lang="en-AU"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724960" y="365040"/>
            <a:ext cx="2627640" cy="5810400"/>
          </a:xfrm>
          <a:prstGeom prst="rect">
            <a:avLst/>
          </a:prstGeom>
          <a:noFill/>
          <a:ln w="0">
            <a:noFill/>
          </a:ln>
        </p:spPr>
        <p:txBody>
          <a:bodyPr lIns="91440" tIns="45720" rIns="91440" bIns="45720" anchor="ctr" vert="eaVert">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 name="PlaceHolder 2"/>
          <p:cNvSpPr>
            <a:spLocks noGrp="1"/>
          </p:cNvSpPr>
          <p:nvPr>
            <p:ph type="body"/>
          </p:nvPr>
        </p:nvSpPr>
        <p:spPr>
          <a:xfrm>
            <a:off x="838080" y="365040"/>
            <a:ext cx="7732800" cy="581040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4" name="PlaceHolder 3"/>
          <p:cNvSpPr>
            <a:spLocks noGrp="1"/>
          </p:cNvSpPr>
          <p:nvPr>
            <p:ph type="dt" idx="1"/>
          </p:nvPr>
        </p:nvSpPr>
        <p:spPr>
          <a:xfrm>
            <a:off x="838080" y="6356520"/>
            <a:ext cx="2741760" cy="36360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5" name="PlaceHolder 4"/>
          <p:cNvSpPr>
            <a:spLocks noGrp="1"/>
          </p:cNvSpPr>
          <p:nvPr>
            <p:ph type="ftr" idx="2"/>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57EFC420-8368-47B4-8190-2459EAEAA44C}" type="slidenum">
              <a:rPr lang="en-AU" sz="1200" b="0" u="none" strike="noStrike">
                <a:solidFill>
                  <a:schemeClr val="dk1">
                    <a:tint val="82000"/>
                  </a:schemeClr>
                </a:solidFill>
                <a:effectLst/>
                <a:uFillTx/>
                <a:latin typeface="Aptos"/>
              </a:rPr>
              <a:t>26</a:t>
            </a:fld>
            <a:endParaRPr lang="en-AU"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8" name="PlaceHolder 2"/>
          <p:cNvSpPr>
            <a:spLocks noGrp="1"/>
          </p:cNvSpPr>
          <p:nvPr>
            <p:ph type="body"/>
          </p:nvPr>
        </p:nvSpPr>
        <p:spPr>
          <a:xfrm>
            <a:off x="838080" y="1825560"/>
            <a:ext cx="10514160" cy="4349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9" name="PlaceHolder 3"/>
          <p:cNvSpPr>
            <a:spLocks noGrp="1"/>
          </p:cNvSpPr>
          <p:nvPr>
            <p:ph type="dt" idx="4"/>
          </p:nvPr>
        </p:nvSpPr>
        <p:spPr>
          <a:xfrm>
            <a:off x="838080" y="6356520"/>
            <a:ext cx="2741760" cy="36360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C4AEC46D-F116-42B6-A005-56DE9EA941F0}" type="slidenum">
              <a:rPr lang="en-AU" sz="1200" b="0" u="none" strike="noStrike">
                <a:solidFill>
                  <a:schemeClr val="dk1">
                    <a:tint val="82000"/>
                  </a:schemeClr>
                </a:solidFill>
                <a:effectLst/>
                <a:uFillTx/>
                <a:latin typeface="Aptos"/>
              </a:rPr>
              <a:t>26</a:t>
            </a:fld>
            <a:endParaRPr lang="en-AU"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31960" y="1709640"/>
            <a:ext cx="10514160" cy="285120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6000" b="0" u="none" strike="noStrike">
                <a:solidFill>
                  <a:schemeClr val="dk1"/>
                </a:solidFill>
                <a:effectLst/>
                <a:uFillTx/>
                <a:latin typeface="Aptos Display"/>
              </a:defRPr>
            </a:lvl1pPr>
          </a:lstStyle>
          <a:p>
            <a:pPr indent="0" algn="l"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13" name="PlaceHolder 2"/>
          <p:cNvSpPr>
            <a:spLocks noGrp="1"/>
          </p:cNvSpPr>
          <p:nvPr>
            <p:ph type="body"/>
          </p:nvPr>
        </p:nvSpPr>
        <p:spPr>
          <a:xfrm>
            <a:off x="831960" y="4589640"/>
            <a:ext cx="10514160" cy="149868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2400" b="0" u="none" strike="noStrike">
                <a:solidFill>
                  <a:schemeClr val="dk1">
                    <a:tint val="82000"/>
                  </a:schemeClr>
                </a:solidFill>
                <a:effectLst/>
                <a:uFillTx/>
                <a:latin typeface="Aptos"/>
              </a:defRPr>
            </a:lvl1pPr>
          </a:lstStyle>
          <a:p>
            <a:pPr indent="0" algn="l" defTabSz="914400">
              <a:lnSpc>
                <a:spcPct val="90000"/>
              </a:lnSpc>
              <a:spcBef>
                <a:spcPts val="1001"/>
              </a:spcBef>
              <a:buNone/>
              <a:tabLst>
                <a:tab pos="0" algn="l"/>
              </a:tabLst>
            </a:pPr>
            <a:r>
              <a:rPr lang="en-US" sz="2400" b="0" u="none" strike="noStrike">
                <a:solidFill>
                  <a:schemeClr val="dk1">
                    <a:tint val="82000"/>
                  </a:schemeClr>
                </a:solidFill>
                <a:effectLst/>
                <a:uFillTx/>
                <a:latin typeface="Aptos"/>
              </a:rPr>
              <a:t>Click to edit Master text styles</a:t>
            </a:r>
            <a:endParaRPr lang="en-US" sz="2400" b="0" u="none" strike="noStrike">
              <a:solidFill>
                <a:schemeClr val="dk1">
                  <a:tint val="82000"/>
                </a:schemeClr>
              </a:solidFill>
              <a:effectLst/>
              <a:uFillTx/>
              <a:latin typeface="Aptos"/>
            </a:endParaRPr>
          </a:p>
        </p:txBody>
      </p:sp>
      <p:sp>
        <p:nvSpPr>
          <p:cNvPr id="14" name="PlaceHolder 3"/>
          <p:cNvSpPr>
            <a:spLocks noGrp="1"/>
          </p:cNvSpPr>
          <p:nvPr>
            <p:ph type="dt" idx="7"/>
          </p:nvPr>
        </p:nvSpPr>
        <p:spPr>
          <a:xfrm>
            <a:off x="838080" y="6356520"/>
            <a:ext cx="2741760" cy="36360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31B63B84-E7CF-466C-B77B-74FD0E05A494}" type="slidenum">
              <a:rPr lang="en-AU" sz="1200" b="0" u="none" strike="noStrike">
                <a:solidFill>
                  <a:schemeClr val="dk1">
                    <a:tint val="82000"/>
                  </a:schemeClr>
                </a:solidFill>
                <a:effectLst/>
                <a:uFillTx/>
                <a:latin typeface="Aptos"/>
              </a:rPr>
              <a:t>26</a:t>
            </a:fld>
            <a:endParaRPr lang="en-AU"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18" name="PlaceHolder 2"/>
          <p:cNvSpPr>
            <a:spLocks noGrp="1"/>
          </p:cNvSpPr>
          <p:nvPr>
            <p:ph type="body"/>
          </p:nvPr>
        </p:nvSpPr>
        <p:spPr>
          <a:xfrm>
            <a:off x="838080" y="1825560"/>
            <a:ext cx="5180040" cy="4349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19" name="PlaceHolder 3"/>
          <p:cNvSpPr>
            <a:spLocks noGrp="1"/>
          </p:cNvSpPr>
          <p:nvPr>
            <p:ph type="body"/>
          </p:nvPr>
        </p:nvSpPr>
        <p:spPr>
          <a:xfrm>
            <a:off x="6172200" y="1825560"/>
            <a:ext cx="5180040" cy="434988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0" name="PlaceHolder 4"/>
          <p:cNvSpPr>
            <a:spLocks noGrp="1"/>
          </p:cNvSpPr>
          <p:nvPr>
            <p:ph type="dt" idx="10"/>
          </p:nvPr>
        </p:nvSpPr>
        <p:spPr>
          <a:xfrm>
            <a:off x="838080" y="6356520"/>
            <a:ext cx="2741760" cy="36360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21" name="PlaceHolder 5"/>
          <p:cNvSpPr>
            <a:spLocks noGrp="1"/>
          </p:cNvSpPr>
          <p:nvPr>
            <p:ph type="ftr" idx="11"/>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22" name="PlaceHolder 6"/>
          <p:cNvSpPr>
            <a:spLocks noGrp="1"/>
          </p:cNvSpPr>
          <p:nvPr>
            <p:ph type="sldNum" idx="12"/>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D424F62B-D091-490A-8263-A6BCD252BCEB}" type="slidenum">
              <a:rPr lang="en-AU" sz="1200" b="0" u="none" strike="noStrike">
                <a:solidFill>
                  <a:schemeClr val="dk1">
                    <a:tint val="82000"/>
                  </a:schemeClr>
                </a:solidFill>
                <a:effectLst/>
                <a:uFillTx/>
                <a:latin typeface="Aptos"/>
              </a:rPr>
              <a:t>26</a:t>
            </a:fld>
            <a:endParaRPr lang="en-AU"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9880" y="365040"/>
            <a:ext cx="10514160" cy="132408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24" name="PlaceHolder 2"/>
          <p:cNvSpPr>
            <a:spLocks noGrp="1"/>
          </p:cNvSpPr>
          <p:nvPr>
            <p:ph type="body"/>
          </p:nvPr>
        </p:nvSpPr>
        <p:spPr>
          <a:xfrm>
            <a:off x="839880" y="1681200"/>
            <a:ext cx="5156280" cy="82260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25" name="PlaceHolder 3"/>
          <p:cNvSpPr>
            <a:spLocks noGrp="1"/>
          </p:cNvSpPr>
          <p:nvPr>
            <p:ph type="body"/>
          </p:nvPr>
        </p:nvSpPr>
        <p:spPr>
          <a:xfrm>
            <a:off x="839880" y="2505240"/>
            <a:ext cx="5156280" cy="36831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6" name="PlaceHolder 4"/>
          <p:cNvSpPr>
            <a:spLocks noGrp="1"/>
          </p:cNvSpPr>
          <p:nvPr>
            <p:ph type="body"/>
          </p:nvPr>
        </p:nvSpPr>
        <p:spPr>
          <a:xfrm>
            <a:off x="6172200" y="1681200"/>
            <a:ext cx="5181840" cy="82260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n-US" sz="2400" b="1"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2400" b="1" u="none" strike="noStrike">
                <a:solidFill>
                  <a:schemeClr val="dk1"/>
                </a:solidFill>
                <a:effectLst/>
                <a:uFillTx/>
                <a:latin typeface="Aptos"/>
              </a:rPr>
              <a:t>Click to edit Master text styles</a:t>
            </a:r>
            <a:endParaRPr lang="en-US" sz="2400" b="0" u="none" strike="noStrike">
              <a:solidFill>
                <a:schemeClr val="dk1"/>
              </a:solidFill>
              <a:effectLst/>
              <a:uFillTx/>
              <a:latin typeface="Aptos"/>
            </a:endParaRPr>
          </a:p>
        </p:txBody>
      </p:sp>
      <p:sp>
        <p:nvSpPr>
          <p:cNvPr id="27" name="PlaceHolder 5"/>
          <p:cNvSpPr>
            <a:spLocks noGrp="1"/>
          </p:cNvSpPr>
          <p:nvPr>
            <p:ph type="body"/>
          </p:nvPr>
        </p:nvSpPr>
        <p:spPr>
          <a:xfrm>
            <a:off x="6172200" y="2505240"/>
            <a:ext cx="5181840" cy="36831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tabLst>
                <a:tab pos="0" algn="l"/>
              </a:tabLst>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tabLst>
                <a:tab pos="0" algn="l"/>
              </a:tabLst>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tabLst>
                <a:tab pos="0" algn="l"/>
              </a:tabLst>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tabLst>
                <a:tab pos="0" algn="l"/>
              </a:tabLst>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tabLst>
                <a:tab pos="0" algn="l"/>
              </a:tabLst>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tabLst>
                <a:tab pos="0" algn="l"/>
              </a:tabLst>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tabLst>
                <a:tab pos="0" algn="l"/>
              </a:tabLst>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28" name="PlaceHolder 6"/>
          <p:cNvSpPr>
            <a:spLocks noGrp="1"/>
          </p:cNvSpPr>
          <p:nvPr>
            <p:ph type="dt" idx="13"/>
          </p:nvPr>
        </p:nvSpPr>
        <p:spPr>
          <a:xfrm>
            <a:off x="838080" y="6356520"/>
            <a:ext cx="2741760" cy="36360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29" name="PlaceHolder 7"/>
          <p:cNvSpPr>
            <a:spLocks noGrp="1"/>
          </p:cNvSpPr>
          <p:nvPr>
            <p:ph type="ftr" idx="14"/>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30" name="PlaceHolder 8"/>
          <p:cNvSpPr>
            <a:spLocks noGrp="1"/>
          </p:cNvSpPr>
          <p:nvPr>
            <p:ph type="sldNum" idx="15"/>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1EE5C93C-D752-43BE-BC07-7BFB56E60D6A}" type="slidenum">
              <a:rPr lang="en-AU" sz="1200" b="0" u="none" strike="noStrike">
                <a:solidFill>
                  <a:schemeClr val="dk1">
                    <a:tint val="82000"/>
                  </a:schemeClr>
                </a:solidFill>
                <a:effectLst/>
                <a:uFillTx/>
                <a:latin typeface="Aptos"/>
              </a:rPr>
              <a:t>26</a:t>
            </a:fld>
            <a:endParaRPr lang="en-AU"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32" name="PlaceHolder 2"/>
          <p:cNvSpPr>
            <a:spLocks noGrp="1"/>
          </p:cNvSpPr>
          <p:nvPr>
            <p:ph type="dt" idx="16"/>
          </p:nvPr>
        </p:nvSpPr>
        <p:spPr>
          <a:xfrm>
            <a:off x="838080" y="6356520"/>
            <a:ext cx="2741760" cy="36360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33" name="PlaceHolder 3"/>
          <p:cNvSpPr>
            <a:spLocks noGrp="1"/>
          </p:cNvSpPr>
          <p:nvPr>
            <p:ph type="ftr" idx="17"/>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34" name="PlaceHolder 4"/>
          <p:cNvSpPr>
            <a:spLocks noGrp="1"/>
          </p:cNvSpPr>
          <p:nvPr>
            <p:ph type="sldNum" idx="18"/>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0F5E4FA2-19B3-44C6-84FA-209E9B4E82FE}" type="slidenum">
              <a:rPr lang="en-AU" sz="1200" b="0" u="none" strike="noStrike">
                <a:solidFill>
                  <a:schemeClr val="dk1">
                    <a:tint val="82000"/>
                  </a:schemeClr>
                </a:solidFill>
                <a:effectLst/>
                <a:uFillTx/>
                <a:latin typeface="Aptos"/>
              </a:rPr>
              <a:t>26</a:t>
            </a:fld>
            <a:endParaRPr lang="en-AU"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dt" idx="19"/>
          </p:nvPr>
        </p:nvSpPr>
        <p:spPr>
          <a:xfrm>
            <a:off x="838080" y="6356520"/>
            <a:ext cx="2741760" cy="36360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36" name="PlaceHolder 2"/>
          <p:cNvSpPr>
            <a:spLocks noGrp="1"/>
          </p:cNvSpPr>
          <p:nvPr>
            <p:ph type="ftr" idx="20"/>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37" name="PlaceHolder 3"/>
          <p:cNvSpPr>
            <a:spLocks noGrp="1"/>
          </p:cNvSpPr>
          <p:nvPr>
            <p:ph type="sldNum" idx="21"/>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F61827C1-FD6D-43CF-9CF7-ACFBEED6AB22}" type="slidenum">
              <a:rPr lang="en-AU" sz="1200" b="0" u="none" strike="noStrike">
                <a:solidFill>
                  <a:schemeClr val="dk1">
                    <a:tint val="82000"/>
                  </a:schemeClr>
                </a:solidFill>
                <a:effectLst/>
                <a:uFillTx/>
                <a:latin typeface="Aptos"/>
              </a:rPr>
              <a:t>26</a:t>
            </a:fld>
            <a:endParaRPr lang="en-AU"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839880" y="457200"/>
            <a:ext cx="3930840" cy="159876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Aptos Display"/>
              </a:defRPr>
            </a:lvl1pPr>
          </a:lstStyle>
          <a:p>
            <a:pPr indent="0" algn="l"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39" name="PlaceHolder 2"/>
          <p:cNvSpPr>
            <a:spLocks noGrp="1"/>
          </p:cNvSpPr>
          <p:nvPr>
            <p:ph type="body"/>
          </p:nvPr>
        </p:nvSpPr>
        <p:spPr>
          <a:xfrm>
            <a:off x="5183280" y="987480"/>
            <a:ext cx="6170760" cy="4872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8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3200" b="0" u="none" strike="noStrike">
                <a:solidFill>
                  <a:schemeClr val="dk1"/>
                </a:solidFill>
                <a:effectLst/>
                <a:uFillTx/>
                <a:latin typeface="Aptos"/>
              </a:rPr>
              <a:t>Click to edit Master text styles</a:t>
            </a:r>
            <a:endParaRPr lang="en-US" sz="32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800" b="0" u="none" strike="noStrike">
                <a:solidFill>
                  <a:schemeClr val="dk1"/>
                </a:solidFill>
                <a:effectLst/>
                <a:uFillTx/>
                <a:latin typeface="Aptos"/>
              </a:rPr>
              <a:t>Second level</a:t>
            </a:r>
            <a:endParaRPr lang="en-US" sz="28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Third level</a:t>
            </a:r>
            <a:endParaRPr lang="en-US" sz="24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Fourth level</a:t>
            </a:r>
            <a:endParaRPr lang="en-US" sz="20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Fifth level</a:t>
            </a:r>
            <a:endParaRPr lang="en-US" sz="2000" b="0" u="none" strike="noStrike">
              <a:solidFill>
                <a:schemeClr val="dk1"/>
              </a:solidFill>
              <a:effectLst/>
              <a:uFillTx/>
              <a:latin typeface="Aptos"/>
            </a:endParaRPr>
          </a:p>
        </p:txBody>
      </p:sp>
      <p:sp>
        <p:nvSpPr>
          <p:cNvPr id="40" name="PlaceHolder 3"/>
          <p:cNvSpPr>
            <a:spLocks noGrp="1"/>
          </p:cNvSpPr>
          <p:nvPr>
            <p:ph type="body"/>
          </p:nvPr>
        </p:nvSpPr>
        <p:spPr>
          <a:xfrm>
            <a:off x="839880" y="2057400"/>
            <a:ext cx="3930840" cy="381024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41" name="PlaceHolder 4"/>
          <p:cNvSpPr>
            <a:spLocks noGrp="1"/>
          </p:cNvSpPr>
          <p:nvPr>
            <p:ph type="dt" idx="22"/>
          </p:nvPr>
        </p:nvSpPr>
        <p:spPr>
          <a:xfrm>
            <a:off x="838080" y="6356520"/>
            <a:ext cx="2741760" cy="36360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42" name="PlaceHolder 5"/>
          <p:cNvSpPr>
            <a:spLocks noGrp="1"/>
          </p:cNvSpPr>
          <p:nvPr>
            <p:ph type="ftr" idx="23"/>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43" name="PlaceHolder 6"/>
          <p:cNvSpPr>
            <a:spLocks noGrp="1"/>
          </p:cNvSpPr>
          <p:nvPr>
            <p:ph type="sldNum" idx="24"/>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8D094C1E-102F-46CF-B360-043E71DBBA86}" type="slidenum">
              <a:rPr lang="en-AU" sz="1200" b="0" u="none" strike="noStrike">
                <a:solidFill>
                  <a:schemeClr val="dk1">
                    <a:tint val="82000"/>
                  </a:schemeClr>
                </a:solidFill>
                <a:effectLst/>
                <a:uFillTx/>
                <a:latin typeface="Aptos"/>
              </a:rPr>
              <a:t>26</a:t>
            </a:fld>
            <a:endParaRPr lang="en-AU"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44" name="PlaceHolder 1"/>
          <p:cNvSpPr>
            <a:spLocks noGrp="1"/>
          </p:cNvSpPr>
          <p:nvPr>
            <p:ph type="title"/>
          </p:nvPr>
        </p:nvSpPr>
        <p:spPr>
          <a:xfrm>
            <a:off x="839880" y="457200"/>
            <a:ext cx="3930840" cy="1598760"/>
          </a:xfrm>
          <a:prstGeom prst="rect">
            <a:avLst/>
          </a:prstGeom>
          <a:noFill/>
          <a:ln w="0">
            <a:noFill/>
          </a:ln>
        </p:spPr>
        <p:txBody>
          <a:bodyPr lIns="91440" tIns="45720" rIns="91440" bIns="45720" anchor="b">
            <a:noAutofit/>
          </a:bodyPr>
          <a:lstStyle>
            <a:lvl1pPr indent="0" algn="l" defTabSz="914400">
              <a:lnSpc>
                <a:spcPct val="90000"/>
              </a:lnSpc>
              <a:buNone/>
              <a:tabLst>
                <a:tab pos="0" algn="l"/>
              </a:tabLst>
              <a:defRPr lang="en-US" sz="3200" b="0" u="none" strike="noStrike">
                <a:solidFill>
                  <a:schemeClr val="dk1"/>
                </a:solidFill>
                <a:effectLst/>
                <a:uFillTx/>
                <a:latin typeface="Aptos Display"/>
              </a:defRPr>
            </a:lvl1pPr>
          </a:lstStyle>
          <a:p>
            <a:pPr indent="0" algn="l" defTabSz="914400">
              <a:lnSpc>
                <a:spcPct val="90000"/>
              </a:lnSpc>
              <a:buNone/>
              <a:tabLst>
                <a:tab pos="0" algn="l"/>
              </a:tabLst>
            </a:pPr>
            <a:r>
              <a:rPr lang="en-US" sz="3200" b="0" u="none" strike="noStrike">
                <a:solidFill>
                  <a:schemeClr val="dk1"/>
                </a:solidFill>
                <a:effectLst/>
                <a:uFillTx/>
                <a:latin typeface="Aptos Display"/>
              </a:rPr>
              <a:t>Click to edit Master title style</a:t>
            </a:r>
            <a:endParaRPr lang="en-US" sz="3200" b="0" u="none" strike="noStrike">
              <a:solidFill>
                <a:schemeClr val="dk1"/>
              </a:solidFill>
              <a:effectLst/>
              <a:uFillTx/>
              <a:latin typeface="Aptos Display"/>
            </a:endParaRPr>
          </a:p>
        </p:txBody>
      </p:sp>
      <p:sp>
        <p:nvSpPr>
          <p:cNvPr id="45" name="PlaceHolder 2"/>
          <p:cNvSpPr>
            <a:spLocks noGrp="1"/>
          </p:cNvSpPr>
          <p:nvPr>
            <p:ph type="body"/>
          </p:nvPr>
        </p:nvSpPr>
        <p:spPr>
          <a:xfrm>
            <a:off x="5183280" y="987480"/>
            <a:ext cx="6170760" cy="4872240"/>
          </a:xfrm>
          <a:prstGeom prst="rect">
            <a:avLst/>
          </a:prstGeom>
          <a:noFill/>
          <a:ln w="0">
            <a:noFill/>
          </a:ln>
        </p:spPr>
        <p:txBody>
          <a:bodyPr lIns="90000" tIns="45000" rIns="90000" bIns="45000" anchor="t">
            <a:noAutofit/>
          </a:bodyPr>
          <a:lstStyle>
            <a:lvl1pPr algn="l" defTabSz="914400">
              <a:lnSpc>
                <a:spcPct val="90000"/>
              </a:lnSpc>
              <a:spcBef>
                <a:spcPts val="1001"/>
              </a:spcBef>
              <a:buClr>
                <a:srgbClr val="000000"/>
              </a:buClr>
              <a:buFont typeface="Arial"/>
              <a:buChar char="•"/>
              <a:tabLst>
                <a:tab pos="0" algn="l"/>
              </a:tabLst>
              <a:defRPr lang="en-US" sz="32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tabLst>
                <a:tab pos="0" algn="l"/>
              </a:tabLst>
              <a:defRPr lang="en-US" sz="32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tabLst>
                <a:tab pos="0" algn="l"/>
              </a:tabLst>
              <a:defRPr lang="en-US" sz="32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tabLst>
                <a:tab pos="0" algn="l"/>
              </a:tabLst>
              <a:defRPr lang="en-US" sz="32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tabLst>
                <a:tab pos="0" algn="l"/>
              </a:tabLst>
              <a:defRPr lang="en-US" sz="32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tabLst>
                <a:tab pos="0" algn="l"/>
              </a:tabLst>
              <a:defRPr lang="en-US" sz="3200" b="0" u="none" strike="noStrike">
                <a:solidFill>
                  <a:schemeClr val="dk1"/>
                </a:solidFill>
                <a:effectLst/>
                <a:uFillTx/>
                <a:latin typeface="Aptos"/>
              </a:defRPr>
            </a:lvl7pPr>
          </a:lstStyle>
          <a:p>
            <a:pPr marL="432000" indent="-324000" algn="l" defTabSz="914400">
              <a:lnSpc>
                <a:spcPct val="90000"/>
              </a:lnSpc>
              <a:spcBef>
                <a:spcPts val="1001"/>
              </a:spcBef>
              <a:buClr>
                <a:srgbClr val="000000"/>
              </a:buClr>
              <a:buFont typeface="Arial"/>
              <a:buChar char="•"/>
              <a:tabLst>
                <a:tab pos="0" algn="l"/>
              </a:tabLst>
            </a:pPr>
            <a:r>
              <a:rPr lang="en-US" sz="3200" b="0" u="none" strike="noStrike">
                <a:solidFill>
                  <a:schemeClr val="dk1"/>
                </a:solidFill>
                <a:effectLst/>
                <a:uFillTx/>
                <a:latin typeface="Aptos"/>
              </a:rPr>
              <a:t>Click to edit the outline text format</a:t>
            </a:r>
            <a:endParaRPr lang="en-US" sz="3200" b="0" u="none" strike="noStrike">
              <a:solidFill>
                <a:schemeClr val="dk1"/>
              </a:solidFill>
              <a:effectLst/>
              <a:uFillTx/>
              <a:latin typeface="Aptos"/>
            </a:endParaRPr>
          </a:p>
          <a:p>
            <a:pPr marL="457200" lvl="1" indent="-324000" algn="l" defTabSz="914400">
              <a:lnSpc>
                <a:spcPct val="90000"/>
              </a:lnSpc>
              <a:spcBef>
                <a:spcPts val="499"/>
              </a:spcBef>
              <a:buClr>
                <a:srgbClr val="000000"/>
              </a:buClr>
              <a:buSzPct val="75000"/>
              <a:buFont typeface="Symbol" charset="2"/>
              <a:buChar char=""/>
              <a:tabLst>
                <a:tab pos="0" algn="l"/>
              </a:tabLst>
            </a:pPr>
            <a:r>
              <a:rPr lang="en-US" sz="3200" b="0" u="none" strike="noStrike">
                <a:solidFill>
                  <a:schemeClr val="dk1"/>
                </a:solidFill>
                <a:effectLst/>
                <a:uFillTx/>
                <a:latin typeface="Aptos"/>
              </a:rPr>
              <a:t>Second Outline Level</a:t>
            </a:r>
            <a:endParaRPr lang="en-US" sz="3200" b="0" u="none" strike="noStrike">
              <a:solidFill>
                <a:schemeClr val="dk1"/>
              </a:solidFill>
              <a:effectLst/>
              <a:uFillTx/>
              <a:latin typeface="Aptos"/>
            </a:endParaRPr>
          </a:p>
          <a:p>
            <a:pPr marL="914400" lvl="2" indent="-288000" algn="l" defTabSz="914400">
              <a:lnSpc>
                <a:spcPct val="90000"/>
              </a:lnSpc>
              <a:spcBef>
                <a:spcPts val="499"/>
              </a:spcBef>
              <a:buClr>
                <a:srgbClr val="000000"/>
              </a:buClr>
              <a:buSzPct val="45000"/>
              <a:buFont typeface="Wingdings" charset="2"/>
              <a:buChar char=""/>
              <a:tabLst>
                <a:tab pos="0" algn="l"/>
              </a:tabLst>
            </a:pPr>
            <a:r>
              <a:rPr lang="en-US" sz="3200" b="0" u="none" strike="noStrike">
                <a:solidFill>
                  <a:schemeClr val="dk1"/>
                </a:solidFill>
                <a:effectLst/>
                <a:uFillTx/>
                <a:latin typeface="Aptos"/>
              </a:rPr>
              <a:t>Third Outline Level</a:t>
            </a:r>
            <a:endParaRPr lang="en-US" sz="3200" b="0" u="none" strike="noStrike">
              <a:solidFill>
                <a:schemeClr val="dk1"/>
              </a:solidFill>
              <a:effectLst/>
              <a:uFillTx/>
              <a:latin typeface="Aptos"/>
            </a:endParaRPr>
          </a:p>
          <a:p>
            <a:pPr marL="1371600" lvl="3" indent="-216000" algn="l" defTabSz="914400">
              <a:lnSpc>
                <a:spcPct val="90000"/>
              </a:lnSpc>
              <a:spcBef>
                <a:spcPts val="499"/>
              </a:spcBef>
              <a:buClr>
                <a:srgbClr val="000000"/>
              </a:buClr>
              <a:buSzPct val="75000"/>
              <a:buFont typeface="Symbol" charset="2"/>
              <a:buChar char=""/>
              <a:tabLst>
                <a:tab pos="0" algn="l"/>
              </a:tabLst>
            </a:pPr>
            <a:r>
              <a:rPr lang="en-US" sz="3200" b="0" u="none" strike="noStrike">
                <a:solidFill>
                  <a:schemeClr val="dk1"/>
                </a:solidFill>
                <a:effectLst/>
                <a:uFillTx/>
                <a:latin typeface="Aptos"/>
              </a:rPr>
              <a:t>Fourth Outline Level</a:t>
            </a:r>
            <a:endParaRPr lang="en-US" sz="3200" b="0" u="none" strike="noStrike">
              <a:solidFill>
                <a:schemeClr val="dk1"/>
              </a:solidFill>
              <a:effectLst/>
              <a:uFillTx/>
              <a:latin typeface="Aptos"/>
            </a:endParaRPr>
          </a:p>
          <a:p>
            <a:pPr marL="1828800" lvl="4" indent="-216000" algn="l" defTabSz="914400">
              <a:lnSpc>
                <a:spcPct val="90000"/>
              </a:lnSpc>
              <a:spcBef>
                <a:spcPts val="499"/>
              </a:spcBef>
              <a:buClr>
                <a:srgbClr val="000000"/>
              </a:buClr>
              <a:buSzPct val="45000"/>
              <a:buFont typeface="Wingdings" charset="2"/>
              <a:buChar char=""/>
              <a:tabLst>
                <a:tab pos="0" algn="l"/>
              </a:tabLst>
            </a:pPr>
            <a:r>
              <a:rPr lang="en-US" sz="3200" b="0" u="none" strike="noStrike">
                <a:solidFill>
                  <a:schemeClr val="dk1"/>
                </a:solidFill>
                <a:effectLst/>
                <a:uFillTx/>
                <a:latin typeface="Aptos"/>
              </a:rPr>
              <a:t>Fifth Outline Level</a:t>
            </a:r>
            <a:endParaRPr lang="en-US" sz="3200" b="0" u="none" strike="noStrike">
              <a:solidFill>
                <a:schemeClr val="dk1"/>
              </a:solidFill>
              <a:effectLst/>
              <a:uFillTx/>
              <a:latin typeface="Aptos"/>
            </a:endParaRPr>
          </a:p>
          <a:p>
            <a:pPr marL="2286000" lvl="5" indent="-216000" algn="l" defTabSz="914400">
              <a:lnSpc>
                <a:spcPct val="9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Aptos"/>
              </a:rPr>
              <a:t>Sixth Outline Level</a:t>
            </a:r>
            <a:endParaRPr lang="en-US" sz="3200" b="0" u="none" strike="noStrike">
              <a:solidFill>
                <a:schemeClr val="dk1"/>
              </a:solidFill>
              <a:effectLst/>
              <a:uFillTx/>
              <a:latin typeface="Aptos"/>
            </a:endParaRPr>
          </a:p>
          <a:p>
            <a:pPr marL="2743200" lvl="6" indent="-216000" algn="l" defTabSz="914400">
              <a:lnSpc>
                <a:spcPct val="90000"/>
              </a:lnSpc>
              <a:spcBef>
                <a:spcPts val="283"/>
              </a:spcBef>
              <a:buClr>
                <a:srgbClr val="000000"/>
              </a:buClr>
              <a:buSzPct val="45000"/>
              <a:buFont typeface="Wingdings" charset="2"/>
              <a:buChar char=""/>
              <a:tabLst>
                <a:tab pos="0" algn="l"/>
              </a:tabLst>
            </a:pPr>
            <a:r>
              <a:rPr lang="en-US" sz="3200" b="0" u="none" strike="noStrike">
                <a:solidFill>
                  <a:schemeClr val="dk1"/>
                </a:solidFill>
                <a:effectLst/>
                <a:uFillTx/>
                <a:latin typeface="Aptos"/>
              </a:rPr>
              <a:t>Seventh Outline Level</a:t>
            </a:r>
            <a:endParaRPr lang="en-US" sz="3200" b="0" u="none" strike="noStrike">
              <a:solidFill>
                <a:schemeClr val="dk1"/>
              </a:solidFill>
              <a:effectLst/>
              <a:uFillTx/>
              <a:latin typeface="Aptos"/>
            </a:endParaRPr>
          </a:p>
        </p:txBody>
      </p:sp>
      <p:sp>
        <p:nvSpPr>
          <p:cNvPr id="46" name="PlaceHolder 3"/>
          <p:cNvSpPr>
            <a:spLocks noGrp="1"/>
          </p:cNvSpPr>
          <p:nvPr>
            <p:ph type="body"/>
          </p:nvPr>
        </p:nvSpPr>
        <p:spPr>
          <a:xfrm>
            <a:off x="839880" y="2057400"/>
            <a:ext cx="3930840" cy="381024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n-US" sz="1600" b="0" u="none" strike="noStrike">
                <a:solidFill>
                  <a:schemeClr val="dk1"/>
                </a:solidFill>
                <a:effectLst/>
                <a:uFillTx/>
                <a:latin typeface="Aptos"/>
              </a:defRPr>
            </a:lvl1pPr>
          </a:lstStyle>
          <a:p>
            <a:pPr indent="0" algn="l" defTabSz="914400">
              <a:lnSpc>
                <a:spcPct val="90000"/>
              </a:lnSpc>
              <a:spcBef>
                <a:spcPts val="1001"/>
              </a:spcBef>
              <a:buNone/>
              <a:tabLst>
                <a:tab pos="0" algn="l"/>
              </a:tabLst>
            </a:pPr>
            <a:r>
              <a:rPr lang="en-US" sz="1600" b="0" u="none" strike="noStrike">
                <a:solidFill>
                  <a:schemeClr val="dk1"/>
                </a:solidFill>
                <a:effectLst/>
                <a:uFillTx/>
                <a:latin typeface="Aptos"/>
              </a:rPr>
              <a:t>Click to edit Master text styles</a:t>
            </a:r>
            <a:endParaRPr lang="en-US" sz="1600" b="0" u="none" strike="noStrike">
              <a:solidFill>
                <a:schemeClr val="dk1"/>
              </a:solidFill>
              <a:effectLst/>
              <a:uFillTx/>
              <a:latin typeface="Aptos"/>
            </a:endParaRPr>
          </a:p>
        </p:txBody>
      </p:sp>
      <p:sp>
        <p:nvSpPr>
          <p:cNvPr id="47" name="PlaceHolder 4"/>
          <p:cNvSpPr>
            <a:spLocks noGrp="1"/>
          </p:cNvSpPr>
          <p:nvPr>
            <p:ph type="dt" idx="25"/>
          </p:nvPr>
        </p:nvSpPr>
        <p:spPr>
          <a:xfrm>
            <a:off x="838080" y="6356520"/>
            <a:ext cx="2741760" cy="36360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48" name="PlaceHolder 5"/>
          <p:cNvSpPr>
            <a:spLocks noGrp="1"/>
          </p:cNvSpPr>
          <p:nvPr>
            <p:ph type="ftr" idx="26"/>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49" name="PlaceHolder 6"/>
          <p:cNvSpPr>
            <a:spLocks noGrp="1"/>
          </p:cNvSpPr>
          <p:nvPr>
            <p:ph type="sldNum" idx="27"/>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2A9CEC3B-D48B-4ECD-9DFC-30683E1E9D69}" type="slidenum">
              <a:rPr lang="en-AU" sz="1200" b="0" u="none" strike="noStrike">
                <a:solidFill>
                  <a:schemeClr val="dk1">
                    <a:tint val="82000"/>
                  </a:schemeClr>
                </a:solidFill>
                <a:effectLst/>
                <a:uFillTx/>
                <a:latin typeface="Aptos"/>
              </a:rPr>
              <a:t>26</a:t>
            </a:fld>
            <a:endParaRPr lang="en-AU" sz="12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title"/>
          </p:nvPr>
        </p:nvSpPr>
        <p:spPr>
          <a:xfrm>
            <a:off x="1523880" y="1122480"/>
            <a:ext cx="9142560" cy="2386080"/>
          </a:xfrm>
          <a:prstGeom prst="rect">
            <a:avLst/>
          </a:prstGeom>
          <a:noFill/>
          <a:ln w="0">
            <a:noFill/>
          </a:ln>
        </p:spPr>
        <p:txBody>
          <a:bodyPr lIns="91440" tIns="45720" rIns="91440" bIns="45720" anchor="b">
            <a:noAutofit/>
          </a:bodyPr>
          <a:lstStyle>
            <a:lvl1pPr indent="0" algn="ctr" defTabSz="914400">
              <a:lnSpc>
                <a:spcPct val="90000"/>
              </a:lnSpc>
              <a:buNone/>
              <a:tabLst>
                <a:tab pos="0" algn="l"/>
              </a:tabLst>
              <a:defRPr lang="en-US" sz="6000" b="0" u="none" strike="noStrike">
                <a:solidFill>
                  <a:schemeClr val="dk1"/>
                </a:solidFill>
                <a:effectLst/>
                <a:uFillTx/>
                <a:latin typeface="Aptos Display"/>
              </a:defRPr>
            </a:lvl1pPr>
          </a:lstStyle>
          <a:p>
            <a:pPr indent="0" algn="ctr" defTabSz="914400">
              <a:lnSpc>
                <a:spcPct val="90000"/>
              </a:lnSpc>
              <a:buNone/>
              <a:tabLst>
                <a:tab pos="0" algn="l"/>
              </a:tabLst>
            </a:pPr>
            <a:r>
              <a:rPr lang="en-US" sz="6000" b="0" u="none" strike="noStrike">
                <a:solidFill>
                  <a:schemeClr val="dk1"/>
                </a:solidFill>
                <a:effectLst/>
                <a:uFillTx/>
                <a:latin typeface="Aptos Display"/>
              </a:rPr>
              <a:t>Click to edit Master title style</a:t>
            </a:r>
            <a:endParaRPr lang="en-US" sz="6000" b="0" u="none" strike="noStrike">
              <a:solidFill>
                <a:schemeClr val="dk1"/>
              </a:solidFill>
              <a:effectLst/>
              <a:uFillTx/>
              <a:latin typeface="Aptos Display"/>
            </a:endParaRPr>
          </a:p>
        </p:txBody>
      </p:sp>
      <p:sp>
        <p:nvSpPr>
          <p:cNvPr id="51" name="PlaceHolder 2"/>
          <p:cNvSpPr>
            <a:spLocks noGrp="1"/>
          </p:cNvSpPr>
          <p:nvPr>
            <p:ph type="dt" idx="28"/>
          </p:nvPr>
        </p:nvSpPr>
        <p:spPr>
          <a:xfrm>
            <a:off x="838080" y="6356520"/>
            <a:ext cx="2741760" cy="36360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 </a:t>
            </a:r>
            <a:endParaRPr lang="en-AU" sz="1200" b="0" u="none" strike="noStrike">
              <a:solidFill>
                <a:srgbClr val="000000"/>
              </a:solidFill>
              <a:effectLst/>
              <a:uFillTx/>
              <a:latin typeface="Times New Roman"/>
            </a:endParaRPr>
          </a:p>
        </p:txBody>
      </p:sp>
      <p:sp>
        <p:nvSpPr>
          <p:cNvPr id="52" name="PlaceHolder 3"/>
          <p:cNvSpPr>
            <a:spLocks noGrp="1"/>
          </p:cNvSpPr>
          <p:nvPr>
            <p:ph type="ftr" idx="29"/>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 </a:t>
            </a:r>
            <a:endParaRPr lang="en-AU" sz="1400" b="0" u="none" strike="noStrike">
              <a:solidFill>
                <a:srgbClr val="000000"/>
              </a:solidFill>
              <a:effectLst/>
              <a:uFillTx/>
              <a:latin typeface="Times New Roman"/>
            </a:endParaRPr>
          </a:p>
        </p:txBody>
      </p:sp>
      <p:sp>
        <p:nvSpPr>
          <p:cNvPr id="53" name="PlaceHolder 4"/>
          <p:cNvSpPr>
            <a:spLocks noGrp="1"/>
          </p:cNvSpPr>
          <p:nvPr>
            <p:ph type="sldNum" idx="30"/>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CEC89BF1-2FB3-49A7-A2C1-2DB17FC6676B}" type="slidenum">
              <a:rPr lang="en-AU" sz="1200" b="0" u="none" strike="noStrike">
                <a:solidFill>
                  <a:schemeClr val="dk1">
                    <a:tint val="82000"/>
                  </a:schemeClr>
                </a:solidFill>
                <a:effectLst/>
                <a:uFillTx/>
                <a:latin typeface="Aptos"/>
              </a:rPr>
              <a:t>26</a:t>
            </a:fld>
            <a:endParaRPr lang="en-AU" sz="1200" b="0" u="none" strike="noStrike">
              <a:solidFill>
                <a:srgbClr val="000000"/>
              </a:solidFill>
              <a:effectLst/>
              <a:uFillTx/>
              <a:latin typeface="Times New Roman"/>
            </a:endParaRPr>
          </a:p>
        </p:txBody>
      </p:sp>
      <p:sp>
        <p:nvSpPr>
          <p:cNvPr id="54" name="PlaceHolder 5"/>
          <p:cNvSpPr>
            <a:spLocks noGrp="1"/>
          </p:cNvSpPr>
          <p:nvPr>
            <p:ph type="body"/>
          </p:nvPr>
        </p:nvSpPr>
        <p:spPr>
          <a:xfrm>
            <a:off x="609480" y="1604520"/>
            <a:ext cx="10971360" cy="397620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Aptos"/>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Aptos"/>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the outline text format</a:t>
            </a:r>
            <a:endParaRPr lang="en-US" sz="2800" b="0" u="none" strike="noStrike">
              <a:solidFill>
                <a:schemeClr val="dk1"/>
              </a:solidFill>
              <a:effectLst/>
              <a:uFillTx/>
              <a:latin typeface="Aptos"/>
            </a:endParaRP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Aptos"/>
              </a:rPr>
              <a:t>Second Outline Level</a:t>
            </a:r>
            <a:endParaRPr lang="en-US" sz="2400" b="0" u="none" strike="noStrike">
              <a:solidFill>
                <a:schemeClr val="dk1"/>
              </a:solidFill>
              <a:effectLst/>
              <a:uFillTx/>
              <a:latin typeface="Aptos"/>
            </a:endParaRP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Aptos"/>
              </a:rPr>
              <a:t>Third Outline Level</a:t>
            </a:r>
            <a:endParaRPr lang="en-US" sz="2000" b="0" u="none" strike="noStrike">
              <a:solidFill>
                <a:schemeClr val="dk1"/>
              </a:solidFill>
              <a:effectLst/>
              <a:uFillTx/>
              <a:latin typeface="Aptos"/>
            </a:endParaRP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Aptos"/>
              </a:rPr>
              <a:t>Fourth Outline Level</a:t>
            </a:r>
            <a:endParaRPr lang="en-US" sz="1800" b="0" u="none" strike="noStrike">
              <a:solidFill>
                <a:schemeClr val="dk1"/>
              </a:solidFill>
              <a:effectLst/>
              <a:uFillTx/>
              <a:latin typeface="Aptos"/>
            </a:endParaRP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Aptos"/>
              </a:rPr>
              <a:t>Fifth Outline Level</a:t>
            </a:r>
            <a:endParaRPr lang="en-US" sz="1800" b="0" u="none" strike="noStrike">
              <a:solidFill>
                <a:schemeClr val="dk1"/>
              </a:solidFill>
              <a:effectLst/>
              <a:uFillTx/>
              <a:latin typeface="Aptos"/>
            </a:endParaRP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Sixth Outline Level</a:t>
            </a:r>
            <a:endParaRPr lang="en-US" sz="2000" b="0" u="none" strike="noStrike">
              <a:solidFill>
                <a:schemeClr val="dk1"/>
              </a:solidFill>
              <a:effectLst/>
              <a:uFillTx/>
              <a:latin typeface="Aptos"/>
            </a:endParaRP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Aptos"/>
              </a:rPr>
              <a:t>Seventh Outline Level</a:t>
            </a:r>
            <a:endParaRPr lang="en-US" sz="2000" b="0" u="none" strike="noStrike">
              <a:solidFill>
                <a:schemeClr val="dk1"/>
              </a:solidFill>
              <a:effectLst/>
              <a:uFillTx/>
              <a:latin typeface="Aptos"/>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4160" cy="1324080"/>
          </a:xfrm>
          <a:prstGeom prst="rect">
            <a:avLst/>
          </a:prstGeom>
          <a:noFill/>
          <a:ln w="0">
            <a:noFill/>
          </a:ln>
        </p:spPr>
        <p:txBody>
          <a:bodyPr lIns="91440" tIns="45720" rIns="91440" bIns="45720" anchor="ctr">
            <a:noAutofit/>
          </a:bodyPr>
          <a:lstStyle>
            <a:lvl1pPr indent="0" algn="l" defTabSz="914400">
              <a:lnSpc>
                <a:spcPct val="90000"/>
              </a:lnSpc>
              <a:buNone/>
              <a:tabLst>
                <a:tab pos="0" algn="l"/>
              </a:tabLst>
              <a:defRPr lang="en-US" sz="4400" b="0" u="none" strike="noStrike">
                <a:solidFill>
                  <a:schemeClr val="dk1"/>
                </a:solidFill>
                <a:effectLst/>
                <a:uFillTx/>
                <a:latin typeface="Aptos Display"/>
              </a:defRPr>
            </a:lvl1pPr>
          </a:lstStyle>
          <a:p>
            <a:pPr indent="0" algn="l" defTabSz="914400">
              <a:lnSpc>
                <a:spcPct val="90000"/>
              </a:lnSpc>
              <a:buNone/>
              <a:tabLst>
                <a:tab pos="0" algn="l"/>
              </a:tabLst>
            </a:pPr>
            <a:r>
              <a:rPr lang="en-US" sz="4400" b="0" u="none" strike="noStrike">
                <a:solidFill>
                  <a:schemeClr val="dk1"/>
                </a:solidFill>
                <a:effectLst/>
                <a:uFillTx/>
                <a:latin typeface="Aptos Display"/>
              </a:rPr>
              <a:t>Click to edit Master title style</a:t>
            </a:r>
            <a:endParaRPr lang="en-US" sz="4400" b="0" u="none" strike="noStrike">
              <a:solidFill>
                <a:schemeClr val="dk1"/>
              </a:solidFill>
              <a:effectLst/>
              <a:uFillTx/>
              <a:latin typeface="Aptos Display"/>
            </a:endParaRPr>
          </a:p>
        </p:txBody>
      </p:sp>
      <p:sp>
        <p:nvSpPr>
          <p:cNvPr id="56" name="PlaceHolder 2"/>
          <p:cNvSpPr>
            <a:spLocks noGrp="1"/>
          </p:cNvSpPr>
          <p:nvPr>
            <p:ph type="body"/>
          </p:nvPr>
        </p:nvSpPr>
        <p:spPr>
          <a:xfrm>
            <a:off x="838080" y="1825560"/>
            <a:ext cx="10514160" cy="43498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Aptos"/>
              </a:defRPr>
            </a:lvl1pPr>
            <a:lvl2pPr lvl="1" algn="l" defTabSz="914400">
              <a:lnSpc>
                <a:spcPct val="90000"/>
              </a:lnSpc>
              <a:spcBef>
                <a:spcPts val="499"/>
              </a:spcBef>
              <a:buClr>
                <a:srgbClr val="000000"/>
              </a:buClr>
              <a:buFont typeface="Arial"/>
              <a:buChar char="•"/>
              <a:defRPr lang="en-US" sz="2400" b="0" u="none" strike="noStrike">
                <a:solidFill>
                  <a:schemeClr val="dk1"/>
                </a:solidFill>
                <a:effectLst/>
                <a:uFillTx/>
                <a:latin typeface="Aptos"/>
              </a:defRPr>
            </a:lvl2pPr>
            <a:lvl3pPr lvl="2" algn="l" defTabSz="914400">
              <a:lnSpc>
                <a:spcPct val="90000"/>
              </a:lnSpc>
              <a:spcBef>
                <a:spcPts val="499"/>
              </a:spcBef>
              <a:buClr>
                <a:srgbClr val="000000"/>
              </a:buClr>
              <a:buFont typeface="Arial"/>
              <a:buChar char="•"/>
              <a:defRPr lang="en-US" sz="2000" b="0" u="none" strike="noStrike">
                <a:solidFill>
                  <a:schemeClr val="dk1"/>
                </a:solidFill>
                <a:effectLst/>
                <a:uFillTx/>
                <a:latin typeface="Aptos"/>
              </a:defRPr>
            </a:lvl3pPr>
            <a:lvl4pPr lvl="3"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4pPr>
            <a:lvl5pPr lvl="4" algn="l" defTabSz="914400">
              <a:lnSpc>
                <a:spcPct val="90000"/>
              </a:lnSpc>
              <a:spcBef>
                <a:spcPts val="499"/>
              </a:spcBef>
              <a:buClr>
                <a:srgbClr val="000000"/>
              </a:buClr>
              <a:buFont typeface="Arial"/>
              <a:buChar char="•"/>
              <a:defRPr lang="en-US" sz="1800" b="0" u="none" strike="noStrike">
                <a:solidFill>
                  <a:schemeClr val="dk1"/>
                </a:solidFill>
                <a:effectLst/>
                <a:uFillTx/>
                <a:latin typeface="Aptos"/>
              </a:defRPr>
            </a:lvl5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Aptos"/>
              </a:rPr>
              <a:t>Click to edit Master text styles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ptos"/>
              </a:rPr>
              <a:t>Second level</a:t>
            </a:r>
            <a:endParaRPr lang="en-US" sz="2400" b="0" u="none" strike="noStrike">
              <a:solidFill>
                <a:schemeClr val="dk1"/>
              </a:solidFill>
              <a:effectLst/>
              <a:uFillTx/>
              <a:latin typeface="Aptos"/>
            </a:endParaRPr>
          </a:p>
          <a:p>
            <a:pPr marL="1143000" lvl="2" indent="-228600" algn="l" defTabSz="914400">
              <a:lnSpc>
                <a:spcPct val="90000"/>
              </a:lnSpc>
              <a:spcBef>
                <a:spcPts val="499"/>
              </a:spcBef>
              <a:buClr>
                <a:srgbClr val="000000"/>
              </a:buClr>
              <a:buFont typeface="Arial"/>
              <a:buChar char="•"/>
            </a:pPr>
            <a:r>
              <a:rPr lang="en-US" sz="2000" b="0" u="none" strike="noStrike">
                <a:solidFill>
                  <a:schemeClr val="dk1"/>
                </a:solidFill>
                <a:effectLst/>
                <a:uFillTx/>
                <a:latin typeface="Aptos"/>
              </a:rPr>
              <a:t>Third level</a:t>
            </a:r>
            <a:endParaRPr lang="en-US" sz="2000" b="0" u="none" strike="noStrike">
              <a:solidFill>
                <a:schemeClr val="dk1"/>
              </a:solidFill>
              <a:effectLst/>
              <a:uFillTx/>
              <a:latin typeface="Aptos"/>
            </a:endParaRPr>
          </a:p>
          <a:p>
            <a:pPr marL="1600200" lvl="3"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Fourth level</a:t>
            </a:r>
            <a:endParaRPr lang="en-US" sz="1800" b="0" u="none" strike="noStrike">
              <a:solidFill>
                <a:schemeClr val="dk1"/>
              </a:solidFill>
              <a:effectLst/>
              <a:uFillTx/>
              <a:latin typeface="Aptos"/>
            </a:endParaRPr>
          </a:p>
          <a:p>
            <a:pPr marL="2057400" lvl="4" indent="-228600" algn="l" defTabSz="914400">
              <a:lnSpc>
                <a:spcPct val="90000"/>
              </a:lnSpc>
              <a:spcBef>
                <a:spcPts val="499"/>
              </a:spcBef>
              <a:buClr>
                <a:srgbClr val="000000"/>
              </a:buClr>
              <a:buFont typeface="Arial"/>
              <a:buChar char="•"/>
            </a:pPr>
            <a:r>
              <a:rPr lang="en-US" sz="1800" b="0" u="none" strike="noStrike">
                <a:solidFill>
                  <a:schemeClr val="dk1"/>
                </a:solidFill>
                <a:effectLst/>
                <a:uFillTx/>
                <a:latin typeface="Aptos"/>
              </a:rPr>
              <a:t>Fifth level</a:t>
            </a:r>
            <a:endParaRPr lang="en-US" sz="1800" b="0" u="none" strike="noStrike">
              <a:solidFill>
                <a:schemeClr val="dk1"/>
              </a:solidFill>
              <a:effectLst/>
              <a:uFillTx/>
              <a:latin typeface="Aptos"/>
            </a:endParaRPr>
          </a:p>
        </p:txBody>
      </p:sp>
      <p:sp>
        <p:nvSpPr>
          <p:cNvPr id="57" name="PlaceHolder 3"/>
          <p:cNvSpPr>
            <a:spLocks noGrp="1"/>
          </p:cNvSpPr>
          <p:nvPr>
            <p:ph type="dt" idx="31"/>
          </p:nvPr>
        </p:nvSpPr>
        <p:spPr>
          <a:xfrm>
            <a:off x="838080" y="6356520"/>
            <a:ext cx="2741760" cy="363600"/>
          </a:xfrm>
          <a:prstGeom prst="rect">
            <a:avLst/>
          </a:prstGeom>
          <a:noFill/>
          <a:ln w="0">
            <a:noFill/>
          </a:ln>
        </p:spPr>
        <p:txBody>
          <a:bodyPr lIns="91440" tIns="45720" rIns="91440" bIns="45720" anchor="ctr">
            <a:noAutofit/>
          </a:bodyPr>
          <a:lstStyle>
            <a:lvl1pPr indent="0" algn="l"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l" defTabSz="914400">
              <a:lnSpc>
                <a:spcPct val="100000"/>
              </a:lnSpc>
              <a:buNone/>
              <a:tabLst>
                <a:tab pos="0" algn="l"/>
              </a:tabLst>
            </a:pPr>
            <a:r>
              <a:rPr lang="en-AU" sz="1200" b="0" u="none" strike="noStrike">
                <a:solidFill>
                  <a:schemeClr val="dk1">
                    <a:tint val="82000"/>
                  </a:schemeClr>
                </a:solidFill>
                <a:effectLst/>
                <a:uFillTx/>
                <a:latin typeface="Aptos"/>
              </a:rPr>
              <a:t>&lt;date/time&gt;</a:t>
            </a:r>
            <a:endParaRPr lang="en-AU" sz="1200" b="0" u="none" strike="noStrike">
              <a:solidFill>
                <a:srgbClr val="000000"/>
              </a:solidFill>
              <a:effectLst/>
              <a:uFillTx/>
              <a:latin typeface="Times New Roman"/>
            </a:endParaRPr>
          </a:p>
        </p:txBody>
      </p:sp>
      <p:sp>
        <p:nvSpPr>
          <p:cNvPr id="58" name="PlaceHolder 4"/>
          <p:cNvSpPr>
            <a:spLocks noGrp="1"/>
          </p:cNvSpPr>
          <p:nvPr>
            <p:ph type="ftr" idx="32"/>
          </p:nvPr>
        </p:nvSpPr>
        <p:spPr>
          <a:xfrm>
            <a:off x="4038480" y="6356520"/>
            <a:ext cx="4113360" cy="36360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AU" sz="1400" b="0" u="none" strike="noStrike">
                <a:solidFill>
                  <a:srgbClr val="000000"/>
                </a:solidFill>
                <a:effectLst/>
                <a:uFillTx/>
                <a:latin typeface="Times New Roman"/>
              </a:defRPr>
            </a:lvl1pPr>
          </a:lstStyle>
          <a:p>
            <a:pPr indent="0" algn="ctr">
              <a:lnSpc>
                <a:spcPct val="100000"/>
              </a:lnSpc>
              <a:buNone/>
              <a:tabLst>
                <a:tab pos="0" algn="l"/>
              </a:tabLst>
            </a:pPr>
            <a:r>
              <a:rPr lang="en-AU" sz="1400" b="0" u="none" strike="noStrike">
                <a:solidFill>
                  <a:srgbClr val="000000"/>
                </a:solidFill>
                <a:effectLst/>
                <a:uFillTx/>
                <a:latin typeface="Times New Roman"/>
              </a:rPr>
              <a:t>&lt;footer&gt;</a:t>
            </a:r>
            <a:endParaRPr lang="en-AU" sz="1400" b="0" u="none" strike="noStrike">
              <a:solidFill>
                <a:srgbClr val="000000"/>
              </a:solidFill>
              <a:effectLst/>
              <a:uFillTx/>
              <a:latin typeface="Times New Roman"/>
            </a:endParaRPr>
          </a:p>
        </p:txBody>
      </p:sp>
      <p:sp>
        <p:nvSpPr>
          <p:cNvPr id="59" name="PlaceHolder 5"/>
          <p:cNvSpPr>
            <a:spLocks noGrp="1"/>
          </p:cNvSpPr>
          <p:nvPr>
            <p:ph type="sldNum" idx="33"/>
          </p:nvPr>
        </p:nvSpPr>
        <p:spPr>
          <a:xfrm>
            <a:off x="8610480" y="6356520"/>
            <a:ext cx="2741760" cy="36360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n-AU" sz="1200" b="0" u="none" strike="noStrike">
                <a:solidFill>
                  <a:schemeClr val="dk1">
                    <a:tint val="82000"/>
                  </a:schemeClr>
                </a:solidFill>
                <a:effectLst/>
                <a:uFillTx/>
                <a:latin typeface="Aptos"/>
              </a:defRPr>
            </a:lvl1pPr>
          </a:lstStyle>
          <a:p>
            <a:pPr indent="0" algn="r" defTabSz="914400">
              <a:lnSpc>
                <a:spcPct val="100000"/>
              </a:lnSpc>
              <a:buNone/>
              <a:tabLst>
                <a:tab pos="0" algn="l"/>
              </a:tabLst>
            </a:pPr>
            <a:fld id="{41312E4F-2FB1-47B7-BCF2-F8127A14A9F2}" type="slidenum">
              <a:rPr lang="en-AU" sz="1200" b="0" u="none" strike="noStrike">
                <a:solidFill>
                  <a:schemeClr val="dk1">
                    <a:tint val="82000"/>
                  </a:schemeClr>
                </a:solidFill>
                <a:effectLst/>
                <a:uFillTx/>
                <a:latin typeface="Aptos"/>
              </a:rPr>
              <a:t>&lt;number&gt;</a:t>
            </a:fld>
            <a:endParaRPr lang="en-AU"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0.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2.xml"/>
</Relationships>
</file>

<file path=ppt/slides/_rels/slide1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
</Relationships>
</file>

<file path=ppt/slides/_rels/slide21.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xml"/>
</Relationships>
</file>

<file path=ppt/slides/_rels/slide2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2.xml"/>
</Relationships>
</file>

<file path=ppt/slides/_rels/slide2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
</Relationships>
</file>

<file path=ppt/slides/_rels/slide2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2.xml"/>
</Relationships>
</file>

<file path=ppt/slides/_rels/slide2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
</Relationships>
</file>

<file path=ppt/slides/_rels/slide2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66" name="Rectangle 20">
            <a:extLst>
              <a:ext uri="{C183D7F6-B498-43B3-948B-1728B52AA6E4}">
                <adec:decorative xmlns:adec="http://schemas.microsoft.com/office/drawing/2017/decorative" val="1"/>
              </a:ext>
            </a:extLst>
          </p:cNvPr>
          <p:cNvSpPr/>
          <p:nvPr/>
        </p:nvSpPr>
        <p:spPr>
          <a:xfrm>
            <a:off x="0" y="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67" name="PlaceHolder 1"/>
          <p:cNvSpPr>
            <a:spLocks noGrp="1"/>
          </p:cNvSpPr>
          <p:nvPr>
            <p:ph type="title"/>
          </p:nvPr>
        </p:nvSpPr>
        <p:spPr>
          <a:xfrm>
            <a:off x="841320" y="548640"/>
            <a:ext cx="3117600" cy="543024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5400" b="0" u="none" strike="noStrike">
                <a:solidFill>
                  <a:srgbClr val="C00000"/>
                </a:solidFill>
                <a:effectLst/>
                <a:uFillTx/>
                <a:latin typeface="Arial"/>
              </a:rPr>
              <a:t>Secure Network Access Control</a:t>
            </a:r>
            <a:endParaRPr lang="en-US" sz="5400" b="0" u="none" strike="noStrike">
              <a:solidFill>
                <a:schemeClr val="dk1"/>
              </a:solidFill>
              <a:effectLst/>
              <a:uFillTx/>
              <a:latin typeface="Aptos Display"/>
            </a:endParaRPr>
          </a:p>
        </p:txBody>
      </p:sp>
      <p:sp>
        <p:nvSpPr>
          <p:cNvPr id="68" name="sketch line">
            <a:extLst>
              <a:ext uri="{C183D7F6-B498-43B3-948B-1728B52AA6E4}">
                <adec:decorative xmlns:adec="http://schemas.microsoft.com/office/drawing/2017/decorative" val="1"/>
              </a:ext>
            </a:extLst>
          </p:cNvPr>
          <p:cNvSpPr/>
          <p:nvPr/>
        </p:nvSpPr>
        <p:spPr>
          <a:xfrm rot="5400000">
            <a:off x="2545200" y="3258360"/>
            <a:ext cx="4479120" cy="16920"/>
          </a:xfrm>
          <a:custGeom>
            <a:avLst/>
            <a:gdLst>
              <a:gd name="textAreaLeft" fmla="*/ 0 w 4479120"/>
              <a:gd name="textAreaRight" fmla="*/ 4480560 w 4479120"/>
              <a:gd name="textAreaTop" fmla="*/ 0 h 16920"/>
              <a:gd name="textAreaBottom" fmla="*/ 18360 h 16920"/>
              <a:gd name="GluePoint1X" fmla="*/ 0 w 4480560"/>
              <a:gd name="GluePoint1Y" fmla="*/ 0 h 18288"/>
              <a:gd name="GluePoint2X" fmla="*/ 595274 w 4480560"/>
              <a:gd name="GluePoint2Y" fmla="*/ 0 h 18288"/>
              <a:gd name="GluePoint3X" fmla="*/ 1100938 w 4480560"/>
              <a:gd name="GluePoint3Y" fmla="*/ 0 h 18288"/>
              <a:gd name="GluePoint4X" fmla="*/ 1651406 w 4480560"/>
              <a:gd name="GluePoint4Y" fmla="*/ 0 h 18288"/>
              <a:gd name="GluePoint5X" fmla="*/ 2336292 w 4480560"/>
              <a:gd name="GluePoint5Y" fmla="*/ 0 h 18288"/>
              <a:gd name="GluePoint6X" fmla="*/ 2931566 w 4480560"/>
              <a:gd name="GluePoint6Y" fmla="*/ 0 h 18288"/>
              <a:gd name="GluePoint7X" fmla="*/ 3482035 w 4480560"/>
              <a:gd name="GluePoint7Y" fmla="*/ 0 h 18288"/>
              <a:gd name="GluePoint8X" fmla="*/ 4480560 w 4480560"/>
              <a:gd name="GluePoint8Y" fmla="*/ 0 h 18288"/>
              <a:gd name="GluePoint9X" fmla="*/ 4480560 w 4480560"/>
              <a:gd name="GluePoint9Y" fmla="*/ 18288 h 18288"/>
              <a:gd name="GluePoint10X" fmla="*/ 3840480 w 4480560"/>
              <a:gd name="GluePoint10Y" fmla="*/ 18288 h 18288"/>
              <a:gd name="GluePoint11X" fmla="*/ 3290011 w 4480560"/>
              <a:gd name="GluePoint11Y" fmla="*/ 18288 h 18288"/>
              <a:gd name="GluePoint12X" fmla="*/ 2560320 w 4480560"/>
              <a:gd name="GluePoint12Y" fmla="*/ 18288 h 18288"/>
              <a:gd name="GluePoint13X" fmla="*/ 1965046 w 4480560"/>
              <a:gd name="GluePoint13Y" fmla="*/ 18288 h 18288"/>
              <a:gd name="GluePoint14X" fmla="*/ 1459382 w 4480560"/>
              <a:gd name="GluePoint14Y" fmla="*/ 18288 h 18288"/>
              <a:gd name="GluePoint15X" fmla="*/ 774497 w 4480560"/>
              <a:gd name="GluePoint15Y" fmla="*/ 18288 h 18288"/>
              <a:gd name="GluePoint16X" fmla="*/ 0 w 4480560"/>
              <a:gd name="GluePoint16Y" fmla="*/ 18288 h 18288"/>
              <a:gd name="GluePoint17X" fmla="*/ 0 w 4480560"/>
              <a:gd name="GluePoint17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Lst>
            <a:rect l="textAreaLeft" t="textAreaTop" r="textAreaRight" b="textAreaBottom"/>
            <a:pathLst>
              <a:path fill="none" w="4480560" h="18288">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stroke="0" w="4480560" h="18288">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cap="rnd" w="41275">
            <a:solidFill>
              <a:srgbClr val="E97132"/>
            </a:solidFill>
            <a:round/>
          </a:ln>
        </p:spPr>
        <p:style>
          <a:lnRef idx="2">
            <a:schemeClr val="accent1">
              <a:shade val="50000"/>
            </a:schemeClr>
          </a:lnRef>
          <a:fillRef idx="1">
            <a:schemeClr val="accent1"/>
          </a:fillRef>
          <a:effectRef idx="0">
            <a:schemeClr val="accent1"/>
          </a:effectRef>
          <a:fontRef idx="minor"/>
        </p:style>
        <p:txBody>
          <a:bodyPr lIns="90000" tIns="-26640" rIns="90000" bIns="-26640" anchor="ctr">
            <a:noAutofit/>
          </a:bodyPr>
          <a:p>
            <a:endParaRPr lang="en-US" sz="1800" b="0" u="none" strike="noStrike">
              <a:solidFill>
                <a:schemeClr val="lt1"/>
              </a:solidFill>
              <a:effectLst/>
              <a:uFillTx/>
              <a:latin typeface="Aptos"/>
            </a:endParaRPr>
          </a:p>
        </p:txBody>
      </p:sp>
      <p:sp>
        <p:nvSpPr>
          <p:cNvPr id="69" name="PlaceHolder 2"/>
          <p:cNvSpPr>
            <a:spLocks noGrp="1"/>
          </p:cNvSpPr>
          <p:nvPr>
            <p:ph type="subTitle"/>
          </p:nvPr>
        </p:nvSpPr>
        <p:spPr>
          <a:xfrm>
            <a:off x="4793400" y="337320"/>
            <a:ext cx="7124400" cy="6279480"/>
          </a:xfrm>
          <a:prstGeom prst="rect">
            <a:avLst/>
          </a:prstGeom>
          <a:noFill/>
          <a:ln w="0">
            <a:noFill/>
          </a:ln>
        </p:spPr>
        <p:txBody>
          <a:bodyPr lIns="91440" tIns="45720" rIns="91440" bIns="45720" anchor="ctr">
            <a:noAutofit/>
          </a:bodyPr>
          <a:p>
            <a:pPr marL="216000" indent="-228600" algn="l" defTabSz="914400">
              <a:lnSpc>
                <a:spcPct val="90000"/>
              </a:lnSpc>
              <a:spcBef>
                <a:spcPts val="1001"/>
              </a:spcBef>
              <a:buClr>
                <a:srgbClr val="000000"/>
              </a:buClr>
              <a:buFont typeface="Arial"/>
              <a:buChar char="•"/>
              <a:tabLst>
                <a:tab pos="0" algn="l"/>
              </a:tabLst>
            </a:pPr>
            <a:r>
              <a:rPr lang="en-US" sz="2400" b="1" u="none" strike="noStrike">
                <a:solidFill>
                  <a:schemeClr val="dk1"/>
                </a:solidFill>
                <a:effectLst/>
                <a:uFillTx/>
                <a:latin typeface="Arial"/>
              </a:rPr>
              <a:t>Learning Outcomes:</a:t>
            </a:r>
            <a:endParaRPr lang="en-AU" sz="2400" b="0" u="none" strike="noStrike">
              <a:solidFill>
                <a:srgbClr val="000000"/>
              </a:solidFill>
              <a:effectLst/>
              <a:uFillTx/>
              <a:latin typeface="Arial"/>
            </a:endParaRPr>
          </a:p>
          <a:p>
            <a:pPr indent="0" algn="l" defTabSz="914400">
              <a:lnSpc>
                <a:spcPct val="90000"/>
              </a:lnSpc>
              <a:spcBef>
                <a:spcPts val="1001"/>
              </a:spcBef>
              <a:buNone/>
              <a:tabLst>
                <a:tab pos="0" algn="l"/>
              </a:tabLst>
            </a:pP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Arial"/>
              <a:buChar char="•"/>
              <a:tabLst>
                <a:tab pos="0" algn="l"/>
              </a:tabLst>
            </a:pPr>
            <a:r>
              <a:rPr lang="en-US" sz="2400" b="1" u="none" strike="noStrike">
                <a:solidFill>
                  <a:schemeClr val="accent6"/>
                </a:solidFill>
                <a:effectLst/>
                <a:uFillTx/>
                <a:latin typeface="Arial"/>
              </a:rPr>
              <a:t>Network Security Design for Threat Defense</a:t>
            </a:r>
            <a:r>
              <a:rPr lang="en-US" sz="2400" b="0" u="none" strike="noStrike">
                <a:solidFill>
                  <a:schemeClr val="accent6"/>
                </a:solidFill>
                <a:effectLst/>
                <a:uFillTx/>
                <a:latin typeface="Arial"/>
              </a:rPr>
              <a:t>: </a:t>
            </a:r>
            <a:r>
              <a:rPr lang="en-US" sz="2400" b="0" u="none" strike="noStrike">
                <a:solidFill>
                  <a:schemeClr val="dk1"/>
                </a:solidFill>
                <a:effectLst/>
                <a:uFillTx/>
                <a:latin typeface="Arial"/>
              </a:rPr>
              <a:t>Cisco security </a:t>
            </a:r>
            <a:r>
              <a:rPr lang="en-US" sz="2400" b="1" u="none" strike="noStrike">
                <a:solidFill>
                  <a:schemeClr val="dk1"/>
                </a:solidFill>
                <a:effectLst/>
                <a:uFillTx/>
                <a:latin typeface="Arial"/>
              </a:rPr>
              <a:t>framework</a:t>
            </a:r>
            <a:r>
              <a:rPr lang="en-US" sz="2400" b="0" u="none" strike="noStrike">
                <a:solidFill>
                  <a:schemeClr val="dk1"/>
                </a:solidFill>
                <a:effectLst/>
                <a:uFillTx/>
                <a:latin typeface="Arial"/>
              </a:rPr>
              <a:t> to protect networks from evolving cybersecurity threats. </a:t>
            </a: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Arial"/>
              <a:buChar char="•"/>
              <a:tabLst>
                <a:tab pos="0" algn="l"/>
              </a:tabLst>
            </a:pPr>
            <a:r>
              <a:rPr lang="en-US" sz="2400" b="1" u="none" strike="noStrike">
                <a:solidFill>
                  <a:schemeClr val="accent6"/>
                </a:solidFill>
                <a:effectLst/>
                <a:uFillTx/>
                <a:latin typeface="Arial"/>
              </a:rPr>
              <a:t>Next-Generation Endpoint Security:</a:t>
            </a:r>
            <a:r>
              <a:rPr lang="en-US" sz="2400" b="0" u="none" strike="noStrike">
                <a:solidFill>
                  <a:schemeClr val="accent6"/>
                </a:solidFill>
                <a:effectLst/>
                <a:uFillTx/>
                <a:latin typeface="Arial"/>
              </a:rPr>
              <a:t> </a:t>
            </a:r>
            <a:r>
              <a:rPr lang="en-US" sz="2400" b="0" u="none" strike="noStrike">
                <a:solidFill>
                  <a:schemeClr val="dk1"/>
                </a:solidFill>
                <a:effectLst/>
                <a:uFillTx/>
                <a:latin typeface="Arial"/>
              </a:rPr>
              <a:t>Security components such as </a:t>
            </a:r>
            <a:r>
              <a:rPr lang="en-US" sz="2400" b="1" u="none" strike="noStrike">
                <a:solidFill>
                  <a:schemeClr val="dk1"/>
                </a:solidFill>
                <a:effectLst/>
                <a:uFillTx/>
                <a:latin typeface="Arial"/>
              </a:rPr>
              <a:t>next-generation firewalls</a:t>
            </a:r>
            <a:r>
              <a:rPr lang="en-US" sz="2400" b="0" u="none" strike="noStrike">
                <a:solidFill>
                  <a:schemeClr val="dk1"/>
                </a:solidFill>
                <a:effectLst/>
                <a:uFillTx/>
                <a:latin typeface="Arial"/>
              </a:rPr>
              <a:t>, </a:t>
            </a:r>
            <a:r>
              <a:rPr lang="en-US" sz="2400" b="1" u="none" strike="noStrike">
                <a:solidFill>
                  <a:schemeClr val="dk1"/>
                </a:solidFill>
                <a:effectLst/>
                <a:uFillTx/>
                <a:latin typeface="Arial"/>
              </a:rPr>
              <a:t>Web Security Appliance (WSA)</a:t>
            </a:r>
            <a:r>
              <a:rPr lang="en-US" sz="2400" b="0" u="none" strike="noStrike">
                <a:solidFill>
                  <a:schemeClr val="dk1"/>
                </a:solidFill>
                <a:effectLst/>
                <a:uFillTx/>
                <a:latin typeface="Arial"/>
              </a:rPr>
              <a:t>, and </a:t>
            </a:r>
            <a:r>
              <a:rPr lang="en-US" sz="2400" b="1" u="none" strike="noStrike">
                <a:solidFill>
                  <a:schemeClr val="dk1"/>
                </a:solidFill>
                <a:effectLst/>
                <a:uFillTx/>
                <a:latin typeface="Arial"/>
              </a:rPr>
              <a:t>Email Security Appliance (ESA) </a:t>
            </a:r>
            <a:r>
              <a:rPr lang="en-US" sz="2400" b="0" u="none" strike="noStrike">
                <a:solidFill>
                  <a:schemeClr val="dk1"/>
                </a:solidFill>
                <a:effectLst/>
                <a:uFillTx/>
                <a:latin typeface="Arial"/>
              </a:rPr>
              <a:t>that are part of the Cisco security framework to protect endpoints from threats and attacks.</a:t>
            </a:r>
            <a:endParaRPr lang="en-AU" sz="2400" b="0" u="none" strike="noStrike">
              <a:solidFill>
                <a:srgbClr val="000000"/>
              </a:solidFill>
              <a:effectLst/>
              <a:uFillTx/>
              <a:latin typeface="Arial"/>
            </a:endParaRPr>
          </a:p>
          <a:p>
            <a:pPr marL="216000" indent="-228600" algn="l" defTabSz="914400">
              <a:lnSpc>
                <a:spcPct val="90000"/>
              </a:lnSpc>
              <a:spcBef>
                <a:spcPts val="499"/>
              </a:spcBef>
              <a:buClr>
                <a:srgbClr val="000000"/>
              </a:buClr>
              <a:buFont typeface="Arial"/>
              <a:buChar char="•"/>
              <a:tabLst>
                <a:tab pos="0" algn="l"/>
              </a:tabLst>
            </a:pPr>
            <a:r>
              <a:rPr lang="en-US" sz="2400" b="1" u="none" strike="noStrike">
                <a:solidFill>
                  <a:schemeClr val="accent6"/>
                </a:solidFill>
                <a:effectLst/>
                <a:uFillTx/>
                <a:latin typeface="Arial"/>
                <a:ea typeface="Microsoft YaHei"/>
              </a:rPr>
              <a:t>Network Access Control (NAC): </a:t>
            </a:r>
            <a:r>
              <a:rPr lang="en-US" sz="2400" b="0" u="none" strike="noStrike">
                <a:solidFill>
                  <a:schemeClr val="dk1"/>
                </a:solidFill>
                <a:effectLst/>
                <a:uFillTx/>
                <a:latin typeface="Arial"/>
                <a:ea typeface="Microsoft YaHei"/>
              </a:rPr>
              <a:t>Technologies such as </a:t>
            </a:r>
            <a:r>
              <a:rPr lang="en-US" sz="2400" b="1" u="none" strike="noStrike">
                <a:solidFill>
                  <a:schemeClr val="dk1"/>
                </a:solidFill>
                <a:effectLst/>
                <a:uFillTx/>
                <a:latin typeface="Arial"/>
                <a:ea typeface="Microsoft YaHei"/>
              </a:rPr>
              <a:t>802.1x</a:t>
            </a:r>
            <a:r>
              <a:rPr lang="en-US" sz="2400" b="0" u="none" strike="noStrike">
                <a:solidFill>
                  <a:schemeClr val="dk1"/>
                </a:solidFill>
                <a:effectLst/>
                <a:uFillTx/>
                <a:latin typeface="Arial"/>
                <a:ea typeface="Microsoft YaHei"/>
              </a:rPr>
              <a:t>, </a:t>
            </a:r>
            <a:r>
              <a:rPr lang="en-US" sz="2400" b="1" u="none" strike="noStrike">
                <a:solidFill>
                  <a:schemeClr val="dk1"/>
                </a:solidFill>
                <a:effectLst/>
                <a:uFillTx/>
                <a:latin typeface="Arial"/>
                <a:ea typeface="Microsoft YaHei"/>
              </a:rPr>
              <a:t>MAC Authentication Bypass (MAB)</a:t>
            </a:r>
            <a:r>
              <a:rPr lang="en-US" sz="2400" b="0" u="none" strike="noStrike">
                <a:solidFill>
                  <a:schemeClr val="dk1"/>
                </a:solidFill>
                <a:effectLst/>
                <a:uFillTx/>
                <a:latin typeface="Arial"/>
                <a:ea typeface="Microsoft YaHei"/>
              </a:rPr>
              <a:t>, </a:t>
            </a:r>
            <a:r>
              <a:rPr lang="en-US" sz="2400" b="1" u="none" strike="noStrike">
                <a:solidFill>
                  <a:schemeClr val="dk1"/>
                </a:solidFill>
                <a:effectLst/>
                <a:uFillTx/>
                <a:latin typeface="Arial"/>
                <a:ea typeface="Microsoft YaHei"/>
              </a:rPr>
              <a:t>Web Authentication (WebAuth),</a:t>
            </a:r>
            <a:r>
              <a:rPr lang="en-US" sz="2400" b="0" u="none" strike="noStrike">
                <a:solidFill>
                  <a:schemeClr val="dk1"/>
                </a:solidFill>
                <a:effectLst/>
                <a:uFillTx/>
                <a:latin typeface="Arial"/>
                <a:ea typeface="Microsoft YaHei"/>
              </a:rPr>
              <a:t> </a:t>
            </a:r>
            <a:r>
              <a:rPr lang="en-US" sz="2400" b="1" u="none" strike="noStrike">
                <a:solidFill>
                  <a:schemeClr val="dk1"/>
                </a:solidFill>
                <a:effectLst/>
                <a:uFillTx/>
                <a:latin typeface="Arial"/>
                <a:ea typeface="Microsoft YaHei"/>
              </a:rPr>
              <a:t>TrustSec</a:t>
            </a:r>
            <a:r>
              <a:rPr lang="en-US" sz="2400" b="0" u="none" strike="noStrike">
                <a:solidFill>
                  <a:schemeClr val="dk1"/>
                </a:solidFill>
                <a:effectLst/>
                <a:uFillTx/>
                <a:latin typeface="Arial"/>
                <a:ea typeface="Microsoft YaHei"/>
              </a:rPr>
              <a:t> and </a:t>
            </a:r>
            <a:r>
              <a:rPr lang="en-US" sz="2400" b="1" u="none" strike="noStrike">
                <a:solidFill>
                  <a:schemeClr val="dk1"/>
                </a:solidFill>
                <a:effectLst/>
                <a:uFillTx/>
                <a:latin typeface="Arial"/>
                <a:ea typeface="Microsoft YaHei"/>
              </a:rPr>
              <a:t>MACsec</a:t>
            </a:r>
            <a:r>
              <a:rPr lang="en-US" sz="2400" b="0" u="none" strike="noStrike">
                <a:solidFill>
                  <a:schemeClr val="dk1"/>
                </a:solidFill>
                <a:effectLst/>
                <a:uFillTx/>
                <a:latin typeface="Arial"/>
                <a:ea typeface="Microsoft YaHei"/>
              </a:rPr>
              <a:t> to enforce network access control.</a:t>
            </a:r>
            <a:endParaRPr lang="en-AU"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0" y="0"/>
            <a:ext cx="4134960" cy="6856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rial"/>
              </a:rPr>
              <a:t>1. Network Security   Design for Threat Defense </a:t>
            </a:r>
            <a:r>
              <a:rPr lang="en-US" sz="4400" b="1" u="none" strike="noStrike">
                <a:solidFill>
                  <a:schemeClr val="dk1"/>
                </a:solidFill>
                <a:effectLst/>
                <a:uFillTx/>
                <a:latin typeface="Arial"/>
              </a:rPr>
              <a:t>(Cisco SAFE – Secure Architecture for Everyone)</a:t>
            </a:r>
            <a:endParaRPr lang="en-US" sz="4400" b="0" u="none" strike="noStrike">
              <a:solidFill>
                <a:schemeClr val="dk1"/>
              </a:solidFill>
              <a:effectLst/>
              <a:uFillTx/>
              <a:latin typeface="Aptos Display"/>
            </a:endParaRPr>
          </a:p>
        </p:txBody>
      </p:sp>
      <p:pic>
        <p:nvPicPr>
          <p:cNvPr id="71" name="Content Placeholder 4"/>
          <p:cNvPicPr/>
          <p:nvPr/>
        </p:nvPicPr>
        <p:blipFill>
          <a:blip r:embed="rId1"/>
          <a:stretch/>
        </p:blipFill>
        <p:spPr>
          <a:xfrm>
            <a:off x="4561200" y="914400"/>
            <a:ext cx="7368120" cy="499500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title"/>
          </p:nvPr>
        </p:nvSpPr>
        <p:spPr>
          <a:xfrm>
            <a:off x="0" y="0"/>
            <a:ext cx="4102560" cy="6856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rial"/>
              </a:rPr>
              <a:t>1. Network Security Design for Threat Defense </a:t>
            </a:r>
            <a:r>
              <a:rPr lang="en-US" sz="4400" b="1" u="none" strike="noStrike">
                <a:solidFill>
                  <a:schemeClr val="dk1"/>
                </a:solidFill>
                <a:effectLst/>
                <a:uFillTx/>
                <a:latin typeface="Arial"/>
              </a:rPr>
              <a:t>(Cisco SAFE – Secure Architecture for Everyone) </a:t>
            </a:r>
            <a:endParaRPr lang="en-US" sz="4400" b="0" u="none" strike="noStrike">
              <a:solidFill>
                <a:schemeClr val="dk1"/>
              </a:solidFill>
              <a:effectLst/>
              <a:uFillTx/>
              <a:latin typeface="Aptos Display"/>
            </a:endParaRPr>
          </a:p>
        </p:txBody>
      </p:sp>
      <p:sp>
        <p:nvSpPr>
          <p:cNvPr id="73" name="PlaceHolder 2"/>
          <p:cNvSpPr>
            <a:spLocks noGrp="1"/>
          </p:cNvSpPr>
          <p:nvPr>
            <p:ph/>
          </p:nvPr>
        </p:nvSpPr>
        <p:spPr>
          <a:xfrm>
            <a:off x="4964040" y="544320"/>
            <a:ext cx="6388560" cy="5778720"/>
          </a:xfrm>
          <a:prstGeom prst="rect">
            <a:avLst/>
          </a:prstGeom>
          <a:noFill/>
          <a:ln w="0">
            <a:noFill/>
          </a:ln>
        </p:spPr>
        <p:txBody>
          <a:bodyPr lIns="91440" tIns="45720" rIns="91440" bIns="45720" anchor="t">
            <a:normAutofit/>
          </a:bodyPr>
          <a:p>
            <a:pPr marL="514440" indent="-514440" algn="l" defTabSz="914400">
              <a:lnSpc>
                <a:spcPct val="90000"/>
              </a:lnSpc>
              <a:spcBef>
                <a:spcPts val="1001"/>
              </a:spcBef>
              <a:buClr>
                <a:srgbClr val="000000"/>
              </a:buClr>
              <a:buFont typeface="OpenSymbol"/>
              <a:buAutoNum type="alphaLcParenR"/>
            </a:pPr>
            <a:r>
              <a:rPr lang="en-US" sz="2800" b="1" u="none" strike="noStrike">
                <a:solidFill>
                  <a:schemeClr val="dk1"/>
                </a:solidFill>
                <a:effectLst/>
                <a:uFillTx/>
                <a:latin typeface="Arial"/>
              </a:rPr>
              <a:t>Places in Networks (PIN) of SAFE </a:t>
            </a:r>
            <a:r>
              <a:rPr lang="en-US" sz="2800" b="0" u="none" strike="noStrike">
                <a:solidFill>
                  <a:schemeClr val="dk1"/>
                </a:solidFill>
                <a:effectLst/>
                <a:uFillTx/>
                <a:latin typeface="Arial"/>
              </a:rPr>
              <a:t>Branch, Campus, Data center, Edge, Cloud, Wide Area Network (WAN)</a:t>
            </a:r>
            <a:endParaRPr lang="en-US" sz="2800" b="0" u="none" strike="noStrike">
              <a:solidFill>
                <a:schemeClr val="dk1"/>
              </a:solidFill>
              <a:effectLst/>
              <a:uFillTx/>
              <a:latin typeface="Aptos"/>
            </a:endParaRPr>
          </a:p>
          <a:p>
            <a:pPr marL="514440" indent="-514440" algn="l" defTabSz="914400">
              <a:lnSpc>
                <a:spcPct val="90000"/>
              </a:lnSpc>
              <a:spcBef>
                <a:spcPts val="1001"/>
              </a:spcBef>
              <a:buClr>
                <a:srgbClr val="000000"/>
              </a:buClr>
              <a:buFont typeface="OpenSymbol"/>
              <a:buAutoNum type="alphaLcParenR"/>
            </a:pPr>
            <a:r>
              <a:rPr lang="en-US" sz="2800" b="1" u="none" strike="noStrike">
                <a:solidFill>
                  <a:schemeClr val="dk1"/>
                </a:solidFill>
                <a:effectLst/>
                <a:uFillTx/>
                <a:latin typeface="Arial"/>
              </a:rPr>
              <a:t>Security Domains :  </a:t>
            </a:r>
            <a:r>
              <a:rPr lang="en-US" sz="2800" b="0" u="none" strike="noStrike">
                <a:solidFill>
                  <a:schemeClr val="dk1"/>
                </a:solidFill>
                <a:effectLst/>
                <a:uFillTx/>
                <a:latin typeface="Arial"/>
              </a:rPr>
              <a:t>Management, Security Intelligence, Compliance, Segmentation, Threat Defense, Secure Services</a:t>
            </a:r>
            <a:endParaRPr lang="en-US" sz="2800" b="0" u="none" strike="noStrike">
              <a:solidFill>
                <a:schemeClr val="dk1"/>
              </a:solidFill>
              <a:effectLst/>
              <a:uFillTx/>
              <a:latin typeface="Aptos"/>
            </a:endParaRPr>
          </a:p>
          <a:p>
            <a:pPr marL="514440" indent="-514440" algn="l" defTabSz="914400">
              <a:lnSpc>
                <a:spcPct val="90000"/>
              </a:lnSpc>
              <a:spcBef>
                <a:spcPts val="1001"/>
              </a:spcBef>
              <a:buClr>
                <a:srgbClr val="000000"/>
              </a:buClr>
              <a:buFont typeface="OpenSymbol"/>
              <a:buAutoNum type="alphaLcParenR"/>
              <a:tabLst>
                <a:tab pos="0" algn="l"/>
              </a:tabLst>
            </a:pPr>
            <a:r>
              <a:rPr lang="en-US" sz="2800" b="1" u="none" strike="noStrike">
                <a:solidFill>
                  <a:schemeClr val="dk1"/>
                </a:solidFill>
                <a:effectLst/>
                <a:uFillTx/>
                <a:latin typeface="Arial"/>
              </a:rPr>
              <a:t>Attack Continuum:  </a:t>
            </a:r>
            <a:r>
              <a:rPr lang="en-US" sz="2800" b="0" u="none" strike="noStrike">
                <a:solidFill>
                  <a:schemeClr val="dk1"/>
                </a:solidFill>
                <a:effectLst/>
                <a:uFillTx/>
                <a:latin typeface="Arial"/>
              </a:rPr>
              <a:t>Before, During and After attack</a:t>
            </a: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0" y="0"/>
            <a:ext cx="3873960" cy="6856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rial"/>
              </a:rPr>
              <a:t>a) Places in Networks (PIN) of SAFE</a:t>
            </a:r>
            <a:br>
              <a:rPr sz="4400"/>
            </a:br>
            <a:endParaRPr lang="en-US" sz="4400" b="0" u="none" strike="noStrike">
              <a:solidFill>
                <a:schemeClr val="dk1"/>
              </a:solidFill>
              <a:effectLst/>
              <a:uFillTx/>
              <a:latin typeface="Aptos Display"/>
            </a:endParaRPr>
          </a:p>
        </p:txBody>
      </p:sp>
      <p:sp>
        <p:nvSpPr>
          <p:cNvPr id="75" name="PlaceHolder 2"/>
          <p:cNvSpPr>
            <a:spLocks noGrp="1"/>
          </p:cNvSpPr>
          <p:nvPr>
            <p:ph/>
          </p:nvPr>
        </p:nvSpPr>
        <p:spPr>
          <a:xfrm>
            <a:off x="4027680" y="293760"/>
            <a:ext cx="7727400" cy="6127200"/>
          </a:xfrm>
          <a:prstGeom prst="rect">
            <a:avLst/>
          </a:prstGeom>
          <a:noFill/>
          <a:ln w="0">
            <a:noFill/>
          </a:ln>
        </p:spPr>
        <p:txBody>
          <a:bodyPr lIns="91440" tIns="45720" rIns="91440" bIns="45720" anchor="t">
            <a:normAutofit lnSpcReduction="9999"/>
          </a:bodyPr>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Branch </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High vulnerability level, low criticality level</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Threats include endpoint malware, Wireless infrastructure exploits (rogue AP, MitM), malicious client activity and exploitation of trust.</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Campus</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Medium vulnerability and criticality infrastructures</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Threats include phishing, web-based exploits, unauthorized network access, malware propagation and botnet infestation. </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Data center</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Least vulnerable but most critical</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Threats include data extraction, malware propagation, unauthorized network access (application compromise), botnet infestation (scrumping), data loss, privilege escalation, and reconnaissance</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0" y="0"/>
            <a:ext cx="3764880" cy="685656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chemeClr val="lt1"/>
                </a:solidFill>
                <a:effectLst/>
                <a:uFillTx/>
                <a:latin typeface="Arial"/>
              </a:rPr>
              <a:t>a) Places in Networks (PIN) of SAFE</a:t>
            </a:r>
            <a:br>
              <a:rPr sz="4400"/>
            </a:br>
            <a:endParaRPr lang="en-US" sz="4400" b="0" u="none" strike="noStrike">
              <a:solidFill>
                <a:schemeClr val="dk1"/>
              </a:solidFill>
              <a:effectLst/>
              <a:uFillTx/>
              <a:latin typeface="Aptos Display"/>
            </a:endParaRPr>
          </a:p>
        </p:txBody>
      </p:sp>
      <p:sp>
        <p:nvSpPr>
          <p:cNvPr id="77" name="PlaceHolder 2"/>
          <p:cNvSpPr>
            <a:spLocks noGrp="1"/>
          </p:cNvSpPr>
          <p:nvPr>
            <p:ph/>
          </p:nvPr>
        </p:nvSpPr>
        <p:spPr>
          <a:xfrm>
            <a:off x="3766320" y="681120"/>
            <a:ext cx="7585920" cy="5592600"/>
          </a:xfrm>
          <a:prstGeom prst="rect">
            <a:avLst/>
          </a:prstGeom>
          <a:noFill/>
          <a:ln w="0">
            <a:noFill/>
          </a:ln>
        </p:spPr>
        <p:txBody>
          <a:bodyPr lIns="91440" tIns="45720" rIns="91440" bIns="45720" anchor="t">
            <a:normAutofit fontScale="92500" lnSpcReduction="9999"/>
          </a:bodyPr>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Edge</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Most Vulnerable PIN</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Threats include web server vulnerabilities, distributed denial-of-service (DDoS) attacks, data loss, and MitM attacks.</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Cloud</a:t>
            </a:r>
            <a:r>
              <a:rPr lang="en-US" sz="2800" b="0" u="none" strike="noStrike">
                <a:solidFill>
                  <a:schemeClr val="dk1"/>
                </a:solidFill>
                <a:effectLst/>
                <a:uFillTx/>
                <a:latin typeface="Arial"/>
              </a:rPr>
              <a:t> </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Low level of vulnerability and criticality, due to SLA’s with cloud provider</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Threats include web server vulnerabilities, loss of access, data loss, malware, and MitM attacks</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Wide Area Network (WAN)</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High Vulnerability, low criticality level</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Connects PINs together, therefore challenging task to manage security </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Threats include malware propagation, unauthorized network access, WAN sniffing, and MitM attacks.</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0" y="0"/>
            <a:ext cx="4124160" cy="6856560"/>
          </a:xfrm>
          <a:prstGeom prst="rect">
            <a:avLst/>
          </a:prstGeom>
          <a:solidFill>
            <a:schemeClr val="accent2"/>
          </a:solidFill>
          <a:ln w="0">
            <a:noFill/>
          </a:ln>
        </p:spPr>
        <p:txBody>
          <a:bodyPr lIns="91440" tIns="45720" rIns="91440" bIns="45720" anchor="ctr">
            <a:noAutofit/>
          </a:bodyPr>
          <a:p>
            <a:pPr indent="0" algn="ctr" defTabSz="914400">
              <a:lnSpc>
                <a:spcPct val="90000"/>
              </a:lnSpc>
              <a:buNone/>
              <a:tabLst>
                <a:tab pos="0" algn="l"/>
              </a:tabLst>
            </a:pPr>
            <a:r>
              <a:rPr lang="en-US" sz="4400" b="1" u="none" strike="noStrike">
                <a:solidFill>
                  <a:schemeClr val="lt1"/>
                </a:solidFill>
                <a:effectLst/>
                <a:uFillTx/>
                <a:latin typeface="Arial"/>
              </a:rPr>
              <a:t>b) Security Domains</a:t>
            </a:r>
            <a:endParaRPr lang="en-US" sz="4400" b="0" u="none" strike="noStrike">
              <a:solidFill>
                <a:schemeClr val="dk1"/>
              </a:solidFill>
              <a:effectLst/>
              <a:uFillTx/>
              <a:latin typeface="Aptos Display"/>
            </a:endParaRPr>
          </a:p>
        </p:txBody>
      </p:sp>
      <p:sp>
        <p:nvSpPr>
          <p:cNvPr id="79" name="PlaceHolder 2"/>
          <p:cNvSpPr>
            <a:spLocks noGrp="1"/>
          </p:cNvSpPr>
          <p:nvPr>
            <p:ph/>
          </p:nvPr>
        </p:nvSpPr>
        <p:spPr>
          <a:xfrm>
            <a:off x="4354200" y="555120"/>
            <a:ext cx="6998040" cy="5620320"/>
          </a:xfrm>
          <a:prstGeom prst="rect">
            <a:avLst/>
          </a:prstGeom>
          <a:noFill/>
          <a:ln w="0">
            <a:noFill/>
          </a:ln>
        </p:spPr>
        <p:txBody>
          <a:bodyPr lIns="91440" tIns="45720" rIns="91440" bIns="45720" anchor="t">
            <a:normAutofit fontScale="85000" lnSpcReduction="9999"/>
          </a:bodyPr>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Management: </a:t>
            </a:r>
            <a:r>
              <a:rPr lang="en-US" sz="2800" b="0" u="none" strike="noStrike">
                <a:solidFill>
                  <a:schemeClr val="dk1"/>
                </a:solidFill>
                <a:effectLst/>
                <a:uFillTx/>
                <a:latin typeface="Arial"/>
              </a:rPr>
              <a:t>Devices and system management using centralized services</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Security Intelligence: </a:t>
            </a:r>
            <a:r>
              <a:rPr lang="en-US" sz="2800" b="0" u="none" strike="noStrike">
                <a:solidFill>
                  <a:schemeClr val="dk1"/>
                </a:solidFill>
                <a:effectLst/>
                <a:uFillTx/>
                <a:latin typeface="Arial"/>
              </a:rPr>
              <a:t>Dynamic detection of emerging threats and malware</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Compliance: </a:t>
            </a:r>
            <a:r>
              <a:rPr lang="en-US" sz="2800" b="0" u="none" strike="noStrike">
                <a:solidFill>
                  <a:schemeClr val="dk1"/>
                </a:solidFill>
                <a:effectLst/>
                <a:uFillTx/>
                <a:latin typeface="Arial"/>
              </a:rPr>
              <a:t>Compliance such as PCI DSS 3.0 and HIPAA</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Segmentation: </a:t>
            </a:r>
            <a:r>
              <a:rPr lang="en-US" sz="2800" b="0" u="none" strike="noStrike">
                <a:solidFill>
                  <a:schemeClr val="dk1"/>
                </a:solidFill>
                <a:effectLst/>
                <a:uFillTx/>
                <a:latin typeface="Arial"/>
              </a:rPr>
              <a:t>Establishing boundary for data and users </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Threat Defense: </a:t>
            </a:r>
            <a:r>
              <a:rPr lang="en-US" sz="2800" b="0" u="none" strike="noStrike">
                <a:solidFill>
                  <a:schemeClr val="dk1"/>
                </a:solidFill>
                <a:effectLst/>
                <a:uFillTx/>
                <a:latin typeface="Arial"/>
              </a:rPr>
              <a:t>Visibility into most dangerous cyber threat through network telemetry, file reputation and contextual information.</a:t>
            </a:r>
            <a:endParaRPr lang="en-US" sz="28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Secure Services: </a:t>
            </a:r>
            <a:r>
              <a:rPr lang="en-US" sz="2800" b="0" u="none" strike="noStrike">
                <a:solidFill>
                  <a:schemeClr val="dk1"/>
                </a:solidFill>
                <a:effectLst/>
                <a:uFillTx/>
                <a:latin typeface="Arial"/>
              </a:rPr>
              <a:t>provide technologies such as ACL, VPN and encryption for services such as applications, wireless and collaboration.</a:t>
            </a: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80" name="Rectangle 9">
            <a:extLst>
              <a:ext uri="{C183D7F6-B498-43B3-948B-1728B52AA6E4}">
                <adec:decorative xmlns:adec="http://schemas.microsoft.com/office/drawing/2017/decorative" val="1"/>
              </a:ext>
            </a:extLst>
          </p:cNvPr>
          <p:cNvSpPr/>
          <p:nvPr/>
        </p:nvSpPr>
        <p:spPr>
          <a:xfrm>
            <a:off x="0" y="0"/>
            <a:ext cx="1219068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81" name="PlaceHolder 1"/>
          <p:cNvSpPr>
            <a:spLocks noGrp="1"/>
          </p:cNvSpPr>
          <p:nvPr>
            <p:ph type="title"/>
          </p:nvPr>
        </p:nvSpPr>
        <p:spPr>
          <a:xfrm>
            <a:off x="0" y="0"/>
            <a:ext cx="4049280" cy="4016520"/>
          </a:xfrm>
          <a:prstGeom prst="rect">
            <a:avLst/>
          </a:prstGeom>
          <a:solidFill>
            <a:schemeClr val="accent2"/>
          </a:solidFill>
          <a:ln w="0">
            <a:noFill/>
          </a:ln>
        </p:spPr>
        <p:txBody>
          <a:bodyPr lIns="91440" tIns="45720" rIns="91440" bIns="45720" anchor="ctr">
            <a:normAutofit/>
          </a:bodyPr>
          <a:p>
            <a:pPr indent="0" algn="ctr" defTabSz="914400">
              <a:lnSpc>
                <a:spcPct val="90000"/>
              </a:lnSpc>
              <a:buNone/>
              <a:tabLst>
                <a:tab pos="0" algn="l"/>
              </a:tabLst>
            </a:pPr>
            <a:r>
              <a:rPr lang="en-US" sz="4800" b="1" u="none" strike="noStrike">
                <a:solidFill>
                  <a:schemeClr val="lt1"/>
                </a:solidFill>
                <a:effectLst/>
                <a:uFillTx/>
                <a:latin typeface="Arial"/>
              </a:rPr>
              <a:t>c) Attack Continuum</a:t>
            </a:r>
            <a:endParaRPr lang="en-US" sz="4800" b="0" u="none" strike="noStrike">
              <a:solidFill>
                <a:schemeClr val="dk1"/>
              </a:solidFill>
              <a:effectLst/>
              <a:uFillTx/>
              <a:latin typeface="Aptos Display"/>
            </a:endParaRPr>
          </a:p>
        </p:txBody>
      </p:sp>
      <p:sp>
        <p:nvSpPr>
          <p:cNvPr id="82" name="sketch line">
            <a:extLst>
              <a:ext uri="{C183D7F6-B498-43B3-948B-1728B52AA6E4}">
                <adec:decorative xmlns:adec="http://schemas.microsoft.com/office/drawing/2017/decorative" val="1"/>
              </a:ext>
            </a:extLst>
          </p:cNvPr>
          <p:cNvSpPr/>
          <p:nvPr/>
        </p:nvSpPr>
        <p:spPr>
          <a:xfrm rot="5400000">
            <a:off x="3567240" y="1225080"/>
            <a:ext cx="1553040" cy="16920"/>
          </a:xfrm>
          <a:custGeom>
            <a:avLst/>
            <a:gdLst>
              <a:gd name="textAreaLeft" fmla="*/ 0 w 1553040"/>
              <a:gd name="textAreaRight" fmla="*/ 1554480 w 1553040"/>
              <a:gd name="textAreaTop" fmla="*/ 0 h 16920"/>
              <a:gd name="textAreaBottom" fmla="*/ 18360 h 16920"/>
              <a:gd name="GluePoint1X" fmla="*/ 0 w 1554480"/>
              <a:gd name="GluePoint1Y" fmla="*/ 0 h 18288"/>
              <a:gd name="GluePoint2X" fmla="*/ 549250 w 1554480"/>
              <a:gd name="GluePoint2Y" fmla="*/ 0 h 18288"/>
              <a:gd name="GluePoint3X" fmla="*/ 1082954 w 1554480"/>
              <a:gd name="GluePoint3Y" fmla="*/ 0 h 18288"/>
              <a:gd name="GluePoint4X" fmla="*/ 1554480 w 1554480"/>
              <a:gd name="GluePoint4Y" fmla="*/ 0 h 18288"/>
              <a:gd name="GluePoint5X" fmla="*/ 1554480 w 1554480"/>
              <a:gd name="GluePoint5Y" fmla="*/ 18288 h 18288"/>
              <a:gd name="GluePoint6X" fmla="*/ 1067410 w 1554480"/>
              <a:gd name="GluePoint6Y" fmla="*/ 18288 h 18288"/>
              <a:gd name="GluePoint7X" fmla="*/ 549250 w 1554480"/>
              <a:gd name="GluePoint7Y" fmla="*/ 18288 h 18288"/>
              <a:gd name="GluePoint8X" fmla="*/ 0 w 1554480"/>
              <a:gd name="GluePoint8Y" fmla="*/ 18288 h 18288"/>
              <a:gd name="GluePoint9X" fmla="*/ 0 w 1554480"/>
              <a:gd name="GluePoint9Y" fmla="*/ 0 h 1828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Lst>
            <a:rect l="textAreaLeft" t="textAreaTop" r="textAreaRight" b="textAreaBottom"/>
            <a:pathLst>
              <a:path fill="none" w="1554480" h="18288">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stroke="0" w="1554480" h="18288">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cap="rnd" w="41275">
            <a:solidFill>
              <a:srgbClr val="E97132"/>
            </a:solidFill>
            <a:round/>
          </a:ln>
        </p:spPr>
        <p:style>
          <a:lnRef idx="2">
            <a:schemeClr val="accent1">
              <a:shade val="50000"/>
            </a:schemeClr>
          </a:lnRef>
          <a:fillRef idx="1">
            <a:schemeClr val="accent1"/>
          </a:fillRef>
          <a:effectRef idx="0">
            <a:schemeClr val="accent1"/>
          </a:effectRef>
          <a:fontRef idx="minor"/>
        </p:style>
        <p:txBody>
          <a:bodyPr lIns="90000" tIns="-26640" rIns="90000" bIns="-26640" anchor="ctr">
            <a:noAutofit/>
          </a:bodyPr>
          <a:p>
            <a:endParaRPr lang="en-US" sz="1800" b="0" u="none" strike="noStrike">
              <a:solidFill>
                <a:schemeClr val="lt1"/>
              </a:solidFill>
              <a:effectLst/>
              <a:uFillTx/>
              <a:latin typeface="Aptos"/>
            </a:endParaRPr>
          </a:p>
        </p:txBody>
      </p:sp>
      <p:sp>
        <p:nvSpPr>
          <p:cNvPr id="83" name="PlaceHolder 2"/>
          <p:cNvSpPr>
            <a:spLocks noGrp="1"/>
          </p:cNvSpPr>
          <p:nvPr>
            <p:ph/>
          </p:nvPr>
        </p:nvSpPr>
        <p:spPr>
          <a:xfrm>
            <a:off x="4654440" y="502920"/>
            <a:ext cx="6893280" cy="3513600"/>
          </a:xfrm>
          <a:prstGeom prst="rect">
            <a:avLst/>
          </a:prstGeom>
          <a:noFill/>
          <a:ln w="0">
            <a:noFill/>
          </a:ln>
        </p:spPr>
        <p:txBody>
          <a:bodyPr lIns="91440" tIns="45720" rIns="91440" bIns="45720" anchor="ctr">
            <a:noAutofit/>
          </a:bodyPr>
          <a:p>
            <a:pPr marL="228600" indent="-228600" algn="l" defTabSz="914400">
              <a:lnSpc>
                <a:spcPct val="90000"/>
              </a:lnSpc>
              <a:spcBef>
                <a:spcPts val="1001"/>
              </a:spcBef>
              <a:buClr>
                <a:srgbClr val="000000"/>
              </a:buClr>
              <a:buFont typeface="Arial"/>
              <a:buChar char="•"/>
            </a:pPr>
            <a:r>
              <a:rPr lang="en-US" sz="2400" b="1" u="none" strike="noStrike">
                <a:solidFill>
                  <a:schemeClr val="dk1"/>
                </a:solidFill>
                <a:effectLst/>
                <a:uFillTx/>
                <a:latin typeface="Arial"/>
              </a:rPr>
              <a:t>Before</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Know your devices that need to be protected</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Identify targets</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Establish policies and implement risk reduction techniques</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next-generation firewalls, network access control, network security analysis(IDS), and identity services can be utilized.</a:t>
            </a:r>
            <a:endParaRPr lang="en-US" sz="2400" b="0" u="none" strike="noStrike">
              <a:solidFill>
                <a:schemeClr val="dk1"/>
              </a:solidFill>
              <a:effectLst/>
              <a:uFillTx/>
              <a:latin typeface="Aptos"/>
            </a:endParaRPr>
          </a:p>
        </p:txBody>
      </p:sp>
      <p:pic>
        <p:nvPicPr>
          <p:cNvPr id="84" name="Picture 4"/>
          <p:cNvPicPr/>
          <p:nvPr/>
        </p:nvPicPr>
        <p:blipFill>
          <a:blip r:embed="rId1"/>
          <a:stretch/>
        </p:blipFill>
        <p:spPr>
          <a:xfrm>
            <a:off x="3624840" y="4017960"/>
            <a:ext cx="8066880" cy="249012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85" name="Rectangle 7">
            <a:extLst>
              <a:ext uri="{C183D7F6-B498-43B3-948B-1728B52AA6E4}">
                <adec:decorative xmlns:adec="http://schemas.microsoft.com/office/drawing/2017/decorative" val="1"/>
              </a:ext>
            </a:extLst>
          </p:cNvPr>
          <p:cNvSpPr/>
          <p:nvPr/>
        </p:nvSpPr>
        <p:spPr>
          <a:xfrm>
            <a:off x="2880" y="432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86" name="Rectangle 9">
            <a:extLst>
              <a:ext uri="{C183D7F6-B498-43B3-948B-1728B52AA6E4}">
                <adec:decorative xmlns:adec="http://schemas.microsoft.com/office/drawing/2017/decorative" val="1"/>
              </a:ext>
            </a:extLst>
          </p:cNvPr>
          <p:cNvSpPr/>
          <p:nvPr/>
        </p:nvSpPr>
        <p:spPr>
          <a:xfrm>
            <a:off x="0" y="0"/>
            <a:ext cx="4165920" cy="6856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87" name="PlaceHolder 1"/>
          <p:cNvSpPr>
            <a:spLocks noGrp="1"/>
          </p:cNvSpPr>
          <p:nvPr>
            <p:ph type="title"/>
          </p:nvPr>
        </p:nvSpPr>
        <p:spPr>
          <a:xfrm>
            <a:off x="686880" y="591480"/>
            <a:ext cx="3198960" cy="558432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4400" b="1" u="none" strike="noStrike">
                <a:solidFill>
                  <a:srgbClr val="FFFFFF"/>
                </a:solidFill>
                <a:effectLst/>
                <a:uFillTx/>
                <a:latin typeface="Arial"/>
              </a:rPr>
              <a:t>c) Attack Continuum</a:t>
            </a:r>
            <a:endParaRPr lang="en-US" sz="4400" b="0" u="none" strike="noStrike">
              <a:solidFill>
                <a:schemeClr val="dk1"/>
              </a:solidFill>
              <a:effectLst/>
              <a:uFillTx/>
              <a:latin typeface="Aptos Display"/>
            </a:endParaRPr>
          </a:p>
        </p:txBody>
      </p:sp>
      <p:sp>
        <p:nvSpPr>
          <p:cNvPr id="88" name="PlaceHolder 2"/>
          <p:cNvSpPr>
            <a:spLocks noGrp="1"/>
          </p:cNvSpPr>
          <p:nvPr>
            <p:ph/>
          </p:nvPr>
        </p:nvSpPr>
        <p:spPr>
          <a:xfrm>
            <a:off x="4447440" y="591480"/>
            <a:ext cx="6905160" cy="5584320"/>
          </a:xfrm>
          <a:prstGeom prst="rect">
            <a:avLst/>
          </a:prstGeom>
          <a:noFill/>
          <a:ln w="0">
            <a:noFill/>
          </a:ln>
        </p:spPr>
        <p:txBody>
          <a:bodyPr lIns="91440" tIns="45720" rIns="91440" bIns="45720" anchor="ctr">
            <a:normAutofit/>
          </a:bodyPr>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During</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Abilities and Actions </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Threat/Attack analysis and response</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IPS, NGFWs, malware protection and Email &amp; Web security appliances can be utilized. </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800" b="1" u="none" strike="noStrike">
                <a:solidFill>
                  <a:schemeClr val="dk1"/>
                </a:solidFill>
                <a:effectLst/>
                <a:uFillTx/>
                <a:latin typeface="Arial"/>
              </a:rPr>
              <a:t>After</a:t>
            </a:r>
            <a:endParaRPr lang="en-US" sz="28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Ability to detect, contain and remediate</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Reflection and lesson learned</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0" u="none" strike="noStrike">
                <a:solidFill>
                  <a:schemeClr val="dk1"/>
                </a:solidFill>
                <a:effectLst/>
                <a:uFillTx/>
                <a:latin typeface="Arial"/>
              </a:rPr>
              <a:t>Cisco Advanced Malware Protection, NGFWs, and Stealthwatch can be utilized</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8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89" name="Rectangle 7">
            <a:extLst>
              <a:ext uri="{C183D7F6-B498-43B3-948B-1728B52AA6E4}">
                <adec:decorative xmlns:adec="http://schemas.microsoft.com/office/drawing/2017/decorative" val="1"/>
              </a:ext>
            </a:extLst>
          </p:cNvPr>
          <p:cNvSpPr/>
          <p:nvPr/>
        </p:nvSpPr>
        <p:spPr>
          <a:xfrm>
            <a:off x="2880" y="432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90" name="Rectangle 9">
            <a:extLst>
              <a:ext uri="{C183D7F6-B498-43B3-948B-1728B52AA6E4}">
                <adec:decorative xmlns:adec="http://schemas.microsoft.com/office/drawing/2017/decorative" val="1"/>
              </a:ext>
            </a:extLst>
          </p:cNvPr>
          <p:cNvSpPr/>
          <p:nvPr/>
        </p:nvSpPr>
        <p:spPr>
          <a:xfrm>
            <a:off x="0" y="0"/>
            <a:ext cx="4165920" cy="6856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91" name="PlaceHolder 1"/>
          <p:cNvSpPr>
            <a:spLocks noGrp="1"/>
          </p:cNvSpPr>
          <p:nvPr>
            <p:ph type="title"/>
          </p:nvPr>
        </p:nvSpPr>
        <p:spPr>
          <a:xfrm>
            <a:off x="686880" y="591480"/>
            <a:ext cx="3198960" cy="558432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4400" b="1" u="none" strike="noStrike">
                <a:solidFill>
                  <a:srgbClr val="FFFFFF"/>
                </a:solidFill>
                <a:effectLst/>
                <a:uFillTx/>
                <a:latin typeface="Arial"/>
              </a:rPr>
              <a:t>2. Next-Generation Endpoint Security</a:t>
            </a:r>
            <a:endParaRPr lang="en-US" sz="4400" b="0" u="none" strike="noStrike">
              <a:solidFill>
                <a:schemeClr val="dk1"/>
              </a:solidFill>
              <a:effectLst/>
              <a:uFillTx/>
              <a:latin typeface="Aptos Display"/>
            </a:endParaRPr>
          </a:p>
        </p:txBody>
      </p:sp>
      <p:sp>
        <p:nvSpPr>
          <p:cNvPr id="92" name="PlaceHolder 2"/>
          <p:cNvSpPr>
            <a:spLocks noGrp="1"/>
          </p:cNvSpPr>
          <p:nvPr>
            <p:ph/>
          </p:nvPr>
        </p:nvSpPr>
        <p:spPr>
          <a:xfrm>
            <a:off x="4447440" y="591480"/>
            <a:ext cx="6905160" cy="5584320"/>
          </a:xfrm>
          <a:prstGeom prst="rect">
            <a:avLst/>
          </a:prstGeom>
          <a:noFill/>
          <a:ln w="0">
            <a:noFill/>
          </a:ln>
        </p:spPr>
        <p:txBody>
          <a:bodyPr lIns="91440" tIns="45720" rIns="91440" bIns="45720" anchor="ctr">
            <a:normAutofit lnSpcReduction="9999"/>
          </a:bodyPr>
          <a:p>
            <a:pPr marL="2286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Cisco Talos </a:t>
            </a:r>
            <a:r>
              <a:rPr lang="en-US" sz="2200" b="0" u="none" strike="noStrike">
                <a:solidFill>
                  <a:schemeClr val="dk1"/>
                </a:solidFill>
                <a:effectLst/>
                <a:uFillTx/>
                <a:latin typeface="Arial"/>
              </a:rPr>
              <a:t>: Threat Intelligence research group.</a:t>
            </a:r>
            <a:endParaRPr lang="en-US" sz="22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Cisco Threat Grid</a:t>
            </a:r>
            <a:r>
              <a:rPr lang="en-US" sz="2200" b="0" u="none" strike="noStrike">
                <a:solidFill>
                  <a:schemeClr val="dk1"/>
                </a:solidFill>
                <a:effectLst/>
                <a:uFillTx/>
                <a:latin typeface="Arial"/>
              </a:rPr>
              <a:t>: Protects against malware using sandbox and threat intelligence.</a:t>
            </a:r>
            <a:endParaRPr lang="en-US" sz="22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Cisco Advanced Malware Protection (AMP)</a:t>
            </a:r>
            <a:r>
              <a:rPr lang="en-US" sz="2200" b="0" u="none" strike="noStrike">
                <a:solidFill>
                  <a:schemeClr val="dk1"/>
                </a:solidFill>
                <a:effectLst/>
                <a:uFillTx/>
                <a:latin typeface="Arial"/>
              </a:rPr>
              <a:t>:</a:t>
            </a:r>
            <a:r>
              <a:rPr lang="en-US" sz="2200" b="1" u="none" strike="noStrike">
                <a:solidFill>
                  <a:schemeClr val="dk1"/>
                </a:solidFill>
                <a:effectLst/>
                <a:uFillTx/>
                <a:latin typeface="Arial"/>
              </a:rPr>
              <a:t> </a:t>
            </a:r>
            <a:r>
              <a:rPr lang="en-US" sz="2200" b="0" u="none" strike="noStrike">
                <a:solidFill>
                  <a:schemeClr val="dk1"/>
                </a:solidFill>
                <a:effectLst/>
                <a:uFillTx/>
                <a:latin typeface="Arial"/>
              </a:rPr>
              <a:t>Malware analysis and protection that goes beyond point in time.</a:t>
            </a:r>
            <a:endParaRPr lang="en-US" sz="22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Cisco AnyConnect</a:t>
            </a:r>
            <a:r>
              <a:rPr lang="en-US" sz="2200" b="0" u="none" strike="noStrike">
                <a:solidFill>
                  <a:schemeClr val="dk1"/>
                </a:solidFill>
                <a:effectLst/>
                <a:uFillTx/>
                <a:latin typeface="Arial"/>
              </a:rPr>
              <a:t>: A modular VPN client that can map VPN posture and ISE posture.</a:t>
            </a:r>
            <a:endParaRPr lang="en-US" sz="22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Cisco Umbrella</a:t>
            </a:r>
            <a:r>
              <a:rPr lang="en-US" sz="2200" b="0" u="none" strike="noStrike">
                <a:solidFill>
                  <a:schemeClr val="dk1"/>
                </a:solidFill>
                <a:effectLst/>
                <a:uFillTx/>
                <a:latin typeface="Arial"/>
              </a:rPr>
              <a:t>: Cloud service with DNS intelligence to block requests to malicious domains, urls or IPs.</a:t>
            </a:r>
            <a:endParaRPr lang="en-US" sz="22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Web Security Appliance (WSA)</a:t>
            </a:r>
            <a:r>
              <a:rPr lang="en-US" sz="2200" b="0" u="none" strike="noStrike">
                <a:solidFill>
                  <a:schemeClr val="dk1"/>
                </a:solidFill>
                <a:effectLst/>
                <a:uFillTx/>
                <a:latin typeface="Arial"/>
              </a:rPr>
              <a:t>:  Web gateway that blocks malware from suspicious and legitimate websites</a:t>
            </a:r>
            <a:endParaRPr lang="en-US" sz="22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Email Security Appliance (ESA)</a:t>
            </a:r>
            <a:r>
              <a:rPr lang="en-US" sz="2200" b="0" u="none" strike="noStrike">
                <a:solidFill>
                  <a:schemeClr val="dk1"/>
                </a:solidFill>
                <a:effectLst/>
                <a:uFillTx/>
                <a:latin typeface="Arial"/>
              </a:rPr>
              <a:t>: Secure email and combat email security threats.</a:t>
            </a:r>
            <a:endParaRPr lang="en-US" sz="22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2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93" name="Rectangle 7">
            <a:extLst>
              <a:ext uri="{C183D7F6-B498-43B3-948B-1728B52AA6E4}">
                <adec:decorative xmlns:adec="http://schemas.microsoft.com/office/drawing/2017/decorative" val="1"/>
              </a:ext>
            </a:extLst>
          </p:cNvPr>
          <p:cNvSpPr/>
          <p:nvPr/>
        </p:nvSpPr>
        <p:spPr>
          <a:xfrm>
            <a:off x="2880" y="432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94" name="Rectangle 9">
            <a:extLst>
              <a:ext uri="{C183D7F6-B498-43B3-948B-1728B52AA6E4}">
                <adec:decorative xmlns:adec="http://schemas.microsoft.com/office/drawing/2017/decorative" val="1"/>
              </a:ext>
            </a:extLst>
          </p:cNvPr>
          <p:cNvSpPr/>
          <p:nvPr/>
        </p:nvSpPr>
        <p:spPr>
          <a:xfrm>
            <a:off x="0" y="0"/>
            <a:ext cx="4165920" cy="6856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95" name="PlaceHolder 1"/>
          <p:cNvSpPr>
            <a:spLocks noGrp="1"/>
          </p:cNvSpPr>
          <p:nvPr>
            <p:ph type="title"/>
          </p:nvPr>
        </p:nvSpPr>
        <p:spPr>
          <a:xfrm>
            <a:off x="686880" y="591480"/>
            <a:ext cx="3198960" cy="558432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4400" b="1" u="none" strike="noStrike">
                <a:solidFill>
                  <a:srgbClr val="FFFFFF"/>
                </a:solidFill>
                <a:effectLst/>
                <a:uFillTx/>
                <a:latin typeface="Arial"/>
              </a:rPr>
              <a:t>2. Next-Generation Endpoint Security</a:t>
            </a:r>
            <a:endParaRPr lang="en-US" sz="4400" b="0" u="none" strike="noStrike">
              <a:solidFill>
                <a:schemeClr val="dk1"/>
              </a:solidFill>
              <a:effectLst/>
              <a:uFillTx/>
              <a:latin typeface="Aptos Display"/>
            </a:endParaRPr>
          </a:p>
        </p:txBody>
      </p:sp>
      <p:sp>
        <p:nvSpPr>
          <p:cNvPr id="96" name="PlaceHolder 2"/>
          <p:cNvSpPr>
            <a:spLocks noGrp="1"/>
          </p:cNvSpPr>
          <p:nvPr>
            <p:ph/>
          </p:nvPr>
        </p:nvSpPr>
        <p:spPr>
          <a:xfrm>
            <a:off x="4447440" y="591480"/>
            <a:ext cx="6905160" cy="5584320"/>
          </a:xfrm>
          <a:prstGeom prst="rect">
            <a:avLst/>
          </a:prstGeom>
          <a:noFill/>
          <a:ln w="0">
            <a:noFill/>
          </a:ln>
        </p:spPr>
        <p:txBody>
          <a:bodyPr lIns="91440" tIns="45720" rIns="91440" bIns="45720" anchor="ctr">
            <a:normAutofit lnSpcReduction="9999"/>
          </a:bodyPr>
          <a:p>
            <a:pPr marL="2286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Next Generation Intrusion Prevention System (NGIPS)</a:t>
            </a:r>
            <a:r>
              <a:rPr lang="en-US" sz="2200" b="0" u="none" strike="noStrike">
                <a:solidFill>
                  <a:schemeClr val="dk1"/>
                </a:solidFill>
                <a:effectLst/>
                <a:uFillTx/>
                <a:latin typeface="Arial"/>
              </a:rPr>
              <a:t>: (Does Deep packet inspection), IPS called Firepower that exceeds Gartner NGIPS specifications </a:t>
            </a:r>
            <a:endParaRPr lang="en-US" sz="22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Next Generation Firewall (NGFW)</a:t>
            </a:r>
            <a:r>
              <a:rPr lang="en-US" sz="2200" b="0" u="none" strike="noStrike">
                <a:solidFill>
                  <a:schemeClr val="dk1"/>
                </a:solidFill>
                <a:effectLst/>
                <a:uFillTx/>
                <a:latin typeface="Arial"/>
              </a:rPr>
              <a:t> : Stateful packet filtering based on IP headers only (protocol, ports &amp; IP addr.)</a:t>
            </a:r>
            <a:endParaRPr lang="en-US" sz="22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Cisco Firepower Management Centre (FMC) </a:t>
            </a:r>
            <a:r>
              <a:rPr lang="en-US" sz="2200" b="0" u="none" strike="noStrike">
                <a:solidFill>
                  <a:schemeClr val="dk1"/>
                </a:solidFill>
                <a:effectLst/>
                <a:uFillTx/>
                <a:latin typeface="Arial"/>
              </a:rPr>
              <a:t>: Centralised management platform to aggregate and correlate security events, contextual information and network device performance.</a:t>
            </a:r>
            <a:endParaRPr lang="en-US" sz="22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Cisco Stealthwatch (Cisco Secure Network Analytics)</a:t>
            </a:r>
            <a:r>
              <a:rPr lang="en-US" sz="2200" b="0" u="none" strike="noStrike">
                <a:solidFill>
                  <a:schemeClr val="dk1"/>
                </a:solidFill>
                <a:effectLst/>
                <a:uFillTx/>
                <a:latin typeface="Arial"/>
              </a:rPr>
              <a:t> : Collector and aggregator of network telemetry data to analyse and monitor threats.</a:t>
            </a:r>
            <a:endParaRPr lang="en-US" sz="22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Cisco Identity Services Engine (ISE) </a:t>
            </a:r>
            <a:r>
              <a:rPr lang="en-US" sz="2200" b="0" u="none" strike="noStrike">
                <a:solidFill>
                  <a:schemeClr val="dk1"/>
                </a:solidFill>
                <a:effectLst/>
                <a:uFillTx/>
                <a:latin typeface="Arial"/>
              </a:rPr>
              <a:t>: Security policy management platform for both user and device based network access control .</a:t>
            </a:r>
            <a:endParaRPr lang="en-US" sz="22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22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97" name="Rectangle 23">
            <a:extLst>
              <a:ext uri="{C183D7F6-B498-43B3-948B-1728B52AA6E4}">
                <adec:decorative xmlns:adec="http://schemas.microsoft.com/office/drawing/2017/decorative" val="1"/>
              </a:ext>
            </a:extLst>
          </p:cNvPr>
          <p:cNvSpPr/>
          <p:nvPr/>
        </p:nvSpPr>
        <p:spPr>
          <a:xfrm>
            <a:off x="2880" y="432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98" name="Rectangle 24">
            <a:extLst>
              <a:ext uri="{C183D7F6-B498-43B3-948B-1728B52AA6E4}">
                <adec:decorative xmlns:adec="http://schemas.microsoft.com/office/drawing/2017/decorative" val="1"/>
              </a:ext>
            </a:extLst>
          </p:cNvPr>
          <p:cNvSpPr/>
          <p:nvPr/>
        </p:nvSpPr>
        <p:spPr>
          <a:xfrm>
            <a:off x="0" y="0"/>
            <a:ext cx="4165920" cy="6856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99" name="PlaceHolder 1"/>
          <p:cNvSpPr>
            <a:spLocks noGrp="1"/>
          </p:cNvSpPr>
          <p:nvPr>
            <p:ph type="title"/>
          </p:nvPr>
        </p:nvSpPr>
        <p:spPr>
          <a:xfrm>
            <a:off x="180000" y="591480"/>
            <a:ext cx="3779640" cy="558432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4400" b="1" u="none" strike="noStrike">
                <a:solidFill>
                  <a:srgbClr val="FFFFFF"/>
                </a:solidFill>
                <a:effectLst/>
                <a:uFillTx/>
                <a:latin typeface="Arial"/>
              </a:rPr>
              <a:t>3. Network Access Control (NAC) : </a:t>
            </a:r>
            <a:r>
              <a:rPr lang="en-US" sz="4400" b="1" u="none" strike="noStrike">
                <a:solidFill>
                  <a:schemeClr val="dk1"/>
                </a:solidFill>
                <a:effectLst/>
                <a:uFillTx/>
                <a:latin typeface="Arial"/>
              </a:rPr>
              <a:t>802.1x Components</a:t>
            </a:r>
            <a:endParaRPr lang="en-US" sz="4400" b="0" u="none" strike="noStrike">
              <a:solidFill>
                <a:schemeClr val="dk1"/>
              </a:solidFill>
              <a:effectLst/>
              <a:uFillTx/>
              <a:latin typeface="Aptos Display"/>
            </a:endParaRPr>
          </a:p>
        </p:txBody>
      </p:sp>
      <p:sp>
        <p:nvSpPr>
          <p:cNvPr id="100" name="PlaceHolder 2"/>
          <p:cNvSpPr>
            <a:spLocks noGrp="1"/>
          </p:cNvSpPr>
          <p:nvPr>
            <p:ph/>
          </p:nvPr>
        </p:nvSpPr>
        <p:spPr>
          <a:xfrm>
            <a:off x="4447440" y="318960"/>
            <a:ext cx="6905160" cy="5856480"/>
          </a:xfrm>
          <a:prstGeom prst="rect">
            <a:avLst/>
          </a:prstGeom>
          <a:noFill/>
          <a:ln w="0">
            <a:noFill/>
          </a:ln>
        </p:spPr>
        <p:txBody>
          <a:bodyPr lIns="91440" tIns="45720" rIns="91440" bIns="45720" anchor="ctr">
            <a:normAutofit lnSpcReduction="9999"/>
          </a:bodyPr>
          <a:p>
            <a:pPr marL="228600" indent="-228600" algn="l" defTabSz="914400">
              <a:lnSpc>
                <a:spcPct val="90000"/>
              </a:lnSpc>
              <a:spcBef>
                <a:spcPts val="1001"/>
              </a:spcBef>
              <a:buClr>
                <a:srgbClr val="000000"/>
              </a:buClr>
              <a:buFont typeface="Arial"/>
              <a:buChar char="•"/>
            </a:pPr>
            <a:r>
              <a:rPr lang="en-US" sz="2400" b="0" u="none" strike="noStrike">
                <a:solidFill>
                  <a:schemeClr val="dk1"/>
                </a:solidFill>
                <a:effectLst/>
                <a:uFillTx/>
                <a:latin typeface="Arial"/>
              </a:rPr>
              <a:t>Port based network access control (PNAC) that provides authentication mechanism for LAN and WLAN devices/users.</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400" b="1" u="none" strike="noStrike">
                <a:solidFill>
                  <a:schemeClr val="dk1"/>
                </a:solidFill>
                <a:effectLst/>
                <a:uFillTx/>
                <a:latin typeface="Arial"/>
              </a:rPr>
              <a:t>Dot1x components</a:t>
            </a:r>
            <a:r>
              <a:rPr lang="en-US" sz="2400" b="0" u="none" strike="noStrike">
                <a:solidFill>
                  <a:schemeClr val="dk1"/>
                </a:solidFill>
                <a:effectLst/>
                <a:uFillTx/>
                <a:latin typeface="Arial"/>
              </a:rPr>
              <a:t>: </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1" u="none" strike="noStrike">
                <a:solidFill>
                  <a:schemeClr val="dk1"/>
                </a:solidFill>
                <a:effectLst/>
                <a:uFillTx/>
                <a:latin typeface="Arial"/>
              </a:rPr>
              <a:t>Extensible Authentication Protocol (EAP)</a:t>
            </a:r>
            <a:r>
              <a:rPr lang="en-US" sz="2400" b="0" u="none" strike="noStrike">
                <a:solidFill>
                  <a:schemeClr val="dk1"/>
                </a:solidFill>
                <a:effectLst/>
                <a:uFillTx/>
                <a:latin typeface="Arial"/>
              </a:rPr>
              <a:t> : Message format and framework to provide encapsulated transport of authentication parameters.</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1" u="none" strike="noStrike">
                <a:solidFill>
                  <a:schemeClr val="dk1"/>
                </a:solidFill>
                <a:effectLst/>
                <a:uFillTx/>
                <a:latin typeface="Arial"/>
              </a:rPr>
              <a:t>EAP Type/Method </a:t>
            </a:r>
            <a:r>
              <a:rPr lang="en-US" sz="2400" b="0" u="none" strike="noStrike">
                <a:solidFill>
                  <a:schemeClr val="dk1"/>
                </a:solidFill>
                <a:effectLst/>
                <a:uFillTx/>
                <a:latin typeface="Arial"/>
              </a:rPr>
              <a:t>: Several authentication methods available for EAP</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1" u="none" strike="noStrike">
                <a:solidFill>
                  <a:schemeClr val="dk1"/>
                </a:solidFill>
                <a:effectLst/>
                <a:uFillTx/>
                <a:latin typeface="Arial"/>
              </a:rPr>
              <a:t>EAP over LAN (EAPoL) </a:t>
            </a:r>
            <a:r>
              <a:rPr lang="en-US" sz="2400" b="0" u="none" strike="noStrike">
                <a:solidFill>
                  <a:schemeClr val="dk1"/>
                </a:solidFill>
                <a:effectLst/>
                <a:uFillTx/>
                <a:latin typeface="Arial"/>
              </a:rPr>
              <a:t>: Layer 2 encapsulation protocol used in the first leg of the EAP connection, i.e. between Supplicant and Authenticator.</a:t>
            </a:r>
            <a:endParaRPr lang="en-US" sz="2400" b="0" u="none" strike="noStrike">
              <a:solidFill>
                <a:schemeClr val="dk1"/>
              </a:solidFill>
              <a:effectLst/>
              <a:uFillTx/>
              <a:latin typeface="Aptos"/>
            </a:endParaRPr>
          </a:p>
          <a:p>
            <a:pPr marL="685800" lvl="1" indent="-228600" algn="l" defTabSz="914400">
              <a:lnSpc>
                <a:spcPct val="90000"/>
              </a:lnSpc>
              <a:spcBef>
                <a:spcPts val="499"/>
              </a:spcBef>
              <a:buClr>
                <a:srgbClr val="000000"/>
              </a:buClr>
              <a:buFont typeface="Arial"/>
              <a:buChar char="•"/>
            </a:pPr>
            <a:r>
              <a:rPr lang="en-US" sz="2400" b="1" u="none" strike="noStrike">
                <a:solidFill>
                  <a:schemeClr val="dk1"/>
                </a:solidFill>
                <a:effectLst/>
                <a:uFillTx/>
                <a:latin typeface="Arial"/>
              </a:rPr>
              <a:t>RADIUS : </a:t>
            </a:r>
            <a:r>
              <a:rPr lang="en-US" sz="2400" b="0" u="none" strike="noStrike">
                <a:solidFill>
                  <a:schemeClr val="dk1"/>
                </a:solidFill>
                <a:effectLst/>
                <a:uFillTx/>
                <a:latin typeface="Arial"/>
              </a:rPr>
              <a:t>AAA protocol used in second leg of EAP connection, i.e. between Authenticator and Authentication Server(AS) / Cisco ISE.</a:t>
            </a:r>
            <a:endParaRPr lang="en-US" sz="2400" b="0" u="none" strike="noStrike">
              <a:solidFill>
                <a:schemeClr val="dk1"/>
              </a:solidFill>
              <a:effectLst/>
              <a:uFillTx/>
              <a:latin typeface="Aptos"/>
            </a:endParaRPr>
          </a:p>
          <a:p>
            <a:pPr indent="0" algn="l" defTabSz="914400">
              <a:lnSpc>
                <a:spcPct val="90000"/>
              </a:lnSpc>
              <a:spcBef>
                <a:spcPts val="1001"/>
              </a:spcBef>
              <a:buNone/>
              <a:tabLst>
                <a:tab pos="0" algn="l"/>
              </a:tabLst>
            </a:pPr>
            <a:endParaRPr lang="en-US" sz="15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01" name="Rectangle 16">
            <a:extLst>
              <a:ext uri="{C183D7F6-B498-43B3-948B-1728B52AA6E4}">
                <adec:decorative xmlns:adec="http://schemas.microsoft.com/office/drawing/2017/decorative" val="1"/>
              </a:ext>
            </a:extLst>
          </p:cNvPr>
          <p:cNvSpPr/>
          <p:nvPr/>
        </p:nvSpPr>
        <p:spPr>
          <a:xfrm>
            <a:off x="2880" y="432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102" name="Rectangle 18">
            <a:extLst>
              <a:ext uri="{C183D7F6-B498-43B3-948B-1728B52AA6E4}">
                <adec:decorative xmlns:adec="http://schemas.microsoft.com/office/drawing/2017/decorative" val="1"/>
              </a:ext>
            </a:extLst>
          </p:cNvPr>
          <p:cNvSpPr/>
          <p:nvPr/>
        </p:nvSpPr>
        <p:spPr>
          <a:xfrm>
            <a:off x="0" y="0"/>
            <a:ext cx="4165920" cy="6856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103" name="PlaceHolder 1"/>
          <p:cNvSpPr>
            <a:spLocks noGrp="1"/>
          </p:cNvSpPr>
          <p:nvPr>
            <p:ph type="title"/>
          </p:nvPr>
        </p:nvSpPr>
        <p:spPr>
          <a:xfrm>
            <a:off x="0" y="-4320"/>
            <a:ext cx="4165920" cy="6856560"/>
          </a:xfrm>
          <a:prstGeom prst="rect">
            <a:avLst/>
          </a:prstGeom>
          <a:noFill/>
          <a:ln w="0">
            <a:noFill/>
          </a:ln>
        </p:spPr>
        <p:txBody>
          <a:bodyPr lIns="91440" tIns="45720" rIns="91440" bIns="45720" anchor="ctr">
            <a:normAutofit/>
          </a:bodyPr>
          <a:p>
            <a:pPr indent="0" algn="ctr" defTabSz="914400">
              <a:lnSpc>
                <a:spcPct val="90000"/>
              </a:lnSpc>
              <a:buNone/>
              <a:tabLst>
                <a:tab pos="0" algn="l"/>
              </a:tabLst>
            </a:pPr>
            <a:r>
              <a:rPr lang="en-US" sz="4400" b="1" u="none" strike="noStrike">
                <a:solidFill>
                  <a:srgbClr val="FFFFFF"/>
                </a:solidFill>
                <a:effectLst/>
                <a:uFillTx/>
                <a:latin typeface="Arial"/>
              </a:rPr>
              <a:t>3. Network Access Control (NAC) : </a:t>
            </a:r>
            <a:r>
              <a:rPr lang="en-US" sz="4400" b="1" u="none" strike="noStrike">
                <a:solidFill>
                  <a:schemeClr val="dk1"/>
                </a:solidFill>
                <a:effectLst/>
                <a:uFillTx/>
                <a:latin typeface="Arial"/>
              </a:rPr>
              <a:t>802.1x Devices</a:t>
            </a:r>
            <a:endParaRPr lang="en-US" sz="4400" b="0" u="none" strike="noStrike">
              <a:solidFill>
                <a:schemeClr val="dk1"/>
              </a:solidFill>
              <a:effectLst/>
              <a:uFillTx/>
              <a:latin typeface="Aptos Display"/>
            </a:endParaRPr>
          </a:p>
        </p:txBody>
      </p:sp>
      <p:sp>
        <p:nvSpPr>
          <p:cNvPr id="104" name="PlaceHolder 2"/>
          <p:cNvSpPr>
            <a:spLocks noGrp="1"/>
          </p:cNvSpPr>
          <p:nvPr>
            <p:ph/>
          </p:nvPr>
        </p:nvSpPr>
        <p:spPr>
          <a:xfrm>
            <a:off x="4528440" y="318960"/>
            <a:ext cx="6649560" cy="5960520"/>
          </a:xfrm>
          <a:prstGeom prst="rect">
            <a:avLst/>
          </a:prstGeom>
          <a:noFill/>
          <a:ln w="0">
            <a:noFill/>
          </a:ln>
        </p:spPr>
        <p:txBody>
          <a:bodyPr lIns="91440" tIns="45720" rIns="91440" bIns="45720" anchor="ctr">
            <a:normAutofit/>
          </a:bodyPr>
          <a:p>
            <a:pPr marL="228600" indent="-228600" algn="l" defTabSz="914400">
              <a:lnSpc>
                <a:spcPct val="90000"/>
              </a:lnSpc>
              <a:spcBef>
                <a:spcPts val="1001"/>
              </a:spcBef>
              <a:buClr>
                <a:srgbClr val="000000"/>
              </a:buClr>
              <a:buFont typeface="Arial"/>
              <a:buChar char="•"/>
            </a:pPr>
            <a:r>
              <a:rPr lang="en-US" sz="2400" b="1" u="none" strike="noStrike">
                <a:solidFill>
                  <a:schemeClr val="dk1"/>
                </a:solidFill>
                <a:effectLst/>
                <a:uFillTx/>
                <a:latin typeface="Arial"/>
              </a:rPr>
              <a:t>Supplicant : </a:t>
            </a:r>
            <a:r>
              <a:rPr lang="en-US" sz="2400" b="0" u="none" strike="noStrike">
                <a:solidFill>
                  <a:schemeClr val="dk1"/>
                </a:solidFill>
                <a:effectLst/>
                <a:uFillTx/>
                <a:latin typeface="Arial"/>
              </a:rPr>
              <a:t>Endpoint software that provides identity credentials to authenticator. Windows and Mac OS has native application. Cisco AnyConnect Network Access Manager (NAM)</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400" b="1" u="none" strike="noStrike">
                <a:solidFill>
                  <a:schemeClr val="dk1"/>
                </a:solidFill>
                <a:effectLst/>
                <a:uFillTx/>
                <a:latin typeface="Arial"/>
              </a:rPr>
              <a:t>Authenticator : </a:t>
            </a:r>
            <a:r>
              <a:rPr lang="en-US" sz="2400" b="0" u="none" strike="noStrike">
                <a:solidFill>
                  <a:schemeClr val="dk1"/>
                </a:solidFill>
                <a:effectLst/>
                <a:uFillTx/>
                <a:latin typeface="Arial"/>
              </a:rPr>
              <a:t>Takes EAPoL packets and encapsulates them into RADIUS packets. Has logical controlled and uncontrolled ports. Controlled port for data transport after successful authentication of supplicant through uncontrolled port. Network access devices such as Switch, APs or WLC.</a:t>
            </a:r>
            <a:endParaRPr lang="en-US" sz="2400" b="0" u="none" strike="noStrike">
              <a:solidFill>
                <a:schemeClr val="dk1"/>
              </a:solidFill>
              <a:effectLst/>
              <a:uFillTx/>
              <a:latin typeface="Aptos"/>
            </a:endParaRPr>
          </a:p>
          <a:p>
            <a:pPr marL="228600" indent="-228600" algn="l" defTabSz="914400">
              <a:lnSpc>
                <a:spcPct val="90000"/>
              </a:lnSpc>
              <a:spcBef>
                <a:spcPts val="1001"/>
              </a:spcBef>
              <a:buClr>
                <a:srgbClr val="000000"/>
              </a:buClr>
              <a:buFont typeface="Arial"/>
              <a:buChar char="•"/>
            </a:pPr>
            <a:r>
              <a:rPr lang="en-US" sz="2400" b="1" u="none" strike="noStrike">
                <a:solidFill>
                  <a:schemeClr val="dk1"/>
                </a:solidFill>
                <a:effectLst/>
                <a:uFillTx/>
                <a:latin typeface="Arial"/>
              </a:rPr>
              <a:t>Authentication Server (AS) :  </a:t>
            </a:r>
            <a:r>
              <a:rPr lang="en-US" sz="2400" b="0" u="none" strike="noStrike">
                <a:solidFill>
                  <a:schemeClr val="dk1"/>
                </a:solidFill>
                <a:effectLst/>
                <a:uFillTx/>
                <a:latin typeface="Arial"/>
              </a:rPr>
              <a:t>Performs authentication of the endpoint by verifying it’s identity through RADIUS  Accept or Deny messages</a:t>
            </a:r>
            <a:endParaRPr lang="en-US" sz="24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05" name="Rectangle 16">
            <a:extLst>
              <a:ext uri="{C183D7F6-B498-43B3-948B-1728B52AA6E4}">
                <adec:decorative xmlns:adec="http://schemas.microsoft.com/office/drawing/2017/decorative" val="1"/>
              </a:ext>
            </a:extLst>
          </p:cNvPr>
          <p:cNvSpPr/>
          <p:nvPr/>
        </p:nvSpPr>
        <p:spPr>
          <a:xfrm>
            <a:off x="2880" y="432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106" name="Rectangle 18">
            <a:extLst>
              <a:ext uri="{C183D7F6-B498-43B3-948B-1728B52AA6E4}">
                <adec:decorative xmlns:adec="http://schemas.microsoft.com/office/drawing/2017/decorative" val="1"/>
              </a:ext>
            </a:extLst>
          </p:cNvPr>
          <p:cNvSpPr/>
          <p:nvPr/>
        </p:nvSpPr>
        <p:spPr>
          <a:xfrm>
            <a:off x="0" y="0"/>
            <a:ext cx="4165920" cy="68565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107" name="PlaceHolder 1"/>
          <p:cNvSpPr>
            <a:spLocks noGrp="1"/>
          </p:cNvSpPr>
          <p:nvPr>
            <p:ph type="title"/>
          </p:nvPr>
        </p:nvSpPr>
        <p:spPr>
          <a:xfrm>
            <a:off x="180000" y="354960"/>
            <a:ext cx="3791880" cy="5584320"/>
          </a:xfrm>
          <a:prstGeom prst="rect">
            <a:avLst/>
          </a:prstGeom>
          <a:noFill/>
          <a:ln w="0">
            <a:noFill/>
          </a:ln>
        </p:spPr>
        <p:txBody>
          <a:bodyPr lIns="91440" tIns="45720" rIns="91440" bIns="45720" anchor="ctr">
            <a:normAutofit/>
          </a:bodyPr>
          <a:p>
            <a:pPr indent="0" algn="l" defTabSz="914400">
              <a:lnSpc>
                <a:spcPct val="90000"/>
              </a:lnSpc>
              <a:buNone/>
              <a:tabLst>
                <a:tab pos="0" algn="l"/>
              </a:tabLst>
            </a:pPr>
            <a:r>
              <a:rPr lang="en-US" sz="4400" b="1" u="none" strike="noStrike">
                <a:solidFill>
                  <a:schemeClr val="lt1"/>
                </a:solidFill>
                <a:effectLst/>
                <a:uFillTx/>
                <a:latin typeface="Arial"/>
              </a:rPr>
              <a:t>3. Network Access Control (NAC) : </a:t>
            </a:r>
            <a:r>
              <a:rPr lang="en-US" sz="4400" b="1" u="none" strike="noStrike">
                <a:solidFill>
                  <a:schemeClr val="dk1"/>
                </a:solidFill>
                <a:effectLst/>
                <a:uFillTx/>
                <a:latin typeface="Arial"/>
              </a:rPr>
              <a:t>Components and Devices</a:t>
            </a:r>
            <a:endParaRPr lang="en-US" sz="4400" b="0" u="none" strike="noStrike">
              <a:solidFill>
                <a:schemeClr val="dk1"/>
              </a:solidFill>
              <a:effectLst/>
              <a:uFillTx/>
              <a:latin typeface="Aptos Display"/>
            </a:endParaRPr>
          </a:p>
        </p:txBody>
      </p:sp>
      <p:pic>
        <p:nvPicPr>
          <p:cNvPr id="108" name="Content Placeholder 4"/>
          <p:cNvPicPr/>
          <p:nvPr/>
        </p:nvPicPr>
        <p:blipFill>
          <a:blip r:embed="rId1"/>
          <a:stretch/>
        </p:blipFill>
        <p:spPr>
          <a:xfrm>
            <a:off x="4931280" y="783720"/>
            <a:ext cx="6701040" cy="467460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9" name="Rectangle 18">
            <a:extLst>
              <a:ext uri="{C183D7F6-B498-43B3-948B-1728B52AA6E4}">
                <adec:decorative xmlns:adec="http://schemas.microsoft.com/office/drawing/2017/decorative" val="1"/>
              </a:ext>
            </a:extLst>
          </p:cNvPr>
          <p:cNvSpPr/>
          <p:nvPr/>
        </p:nvSpPr>
        <p:spPr>
          <a:xfrm>
            <a:off x="1800" y="0"/>
            <a:ext cx="4138200" cy="143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p>
            <a:pPr defTabSz="914400">
              <a:lnSpc>
                <a:spcPct val="90000"/>
              </a:lnSpc>
              <a:tabLst>
                <a:tab pos="0" algn="l"/>
              </a:tabLst>
            </a:pPr>
            <a:r>
              <a:rPr lang="en-US" sz="4400" b="1" u="none" strike="noStrike">
                <a:solidFill>
                  <a:schemeClr val="lt1"/>
                </a:solidFill>
                <a:effectLst/>
                <a:uFillTx/>
                <a:latin typeface="Arial"/>
              </a:rPr>
              <a:t>3. NAC: </a:t>
            </a:r>
            <a:r>
              <a:rPr lang="en-US" sz="4400" b="1" u="none" strike="noStrike">
                <a:solidFill>
                  <a:schemeClr val="dk1"/>
                </a:solidFill>
                <a:effectLst/>
                <a:uFillTx/>
                <a:latin typeface="Arial"/>
              </a:rPr>
              <a:t>Dot1X Process flow</a:t>
            </a:r>
            <a:endParaRPr lang="en-AU" sz="4400" b="0" u="none" strike="noStrike">
              <a:solidFill>
                <a:srgbClr val="FFFFFF"/>
              </a:solidFill>
              <a:effectLst/>
              <a:uFillTx/>
              <a:latin typeface="Arial"/>
            </a:endParaRPr>
          </a:p>
        </p:txBody>
      </p:sp>
      <p:pic>
        <p:nvPicPr>
          <p:cNvPr id="110" name="Content Placeholder 6"/>
          <p:cNvPicPr/>
          <p:nvPr/>
        </p:nvPicPr>
        <p:blipFill>
          <a:blip r:embed="rId1"/>
          <a:stretch/>
        </p:blipFill>
        <p:spPr>
          <a:xfrm>
            <a:off x="108720" y="1620000"/>
            <a:ext cx="4030560" cy="3580200"/>
          </a:xfrm>
          <a:prstGeom prst="rect">
            <a:avLst/>
          </a:prstGeom>
          <a:noFill/>
          <a:ln w="0">
            <a:noFill/>
          </a:ln>
        </p:spPr>
      </p:pic>
      <p:sp>
        <p:nvSpPr>
          <p:cNvPr id="111" name=""/>
          <p:cNvSpPr/>
          <p:nvPr/>
        </p:nvSpPr>
        <p:spPr>
          <a:xfrm>
            <a:off x="4320000" y="180000"/>
            <a:ext cx="7739280" cy="6119280"/>
          </a:xfrm>
          <a:prstGeom prst="rect">
            <a:avLst/>
          </a:prstGeom>
          <a:noFill/>
          <a:ln w="0">
            <a:noFill/>
          </a:ln>
        </p:spPr>
        <p:style>
          <a:lnRef idx="0"/>
          <a:fillRef idx="0"/>
          <a:effectRef idx="0"/>
          <a:fontRef idx="minor"/>
        </p:style>
        <p:txBody>
          <a:bodyPr lIns="90000" tIns="45000" rIns="90000" bIns="45000" anchor="t">
            <a:spAutoFit/>
          </a:bodyPr>
          <a:p>
            <a:pPr marL="228600" indent="-228600"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Step 1: </a:t>
            </a:r>
            <a:r>
              <a:rPr lang="en-US" sz="2200" b="0" u="none" strike="noStrike">
                <a:solidFill>
                  <a:schemeClr val="dk1"/>
                </a:solidFill>
                <a:effectLst/>
                <a:uFillTx/>
                <a:latin typeface="Arial"/>
              </a:rPr>
              <a:t>When Authenticator senses port coming up, it sends ‘</a:t>
            </a:r>
            <a:r>
              <a:rPr lang="en-US" sz="2200" b="1" i="1" u="none" strike="noStrike">
                <a:solidFill>
                  <a:schemeClr val="dk1"/>
                </a:solidFill>
                <a:effectLst/>
                <a:uFillTx/>
                <a:latin typeface="Arial"/>
              </a:rPr>
              <a:t>EAPoL Request-Identity</a:t>
            </a:r>
            <a:r>
              <a:rPr lang="en-US" sz="2200" b="0" u="none" strike="noStrike">
                <a:solidFill>
                  <a:schemeClr val="dk1"/>
                </a:solidFill>
                <a:effectLst/>
                <a:uFillTx/>
                <a:latin typeface="Arial"/>
              </a:rPr>
              <a:t>’ message to Supplicant. Alternatively, Supplicant can send ‘</a:t>
            </a:r>
            <a:r>
              <a:rPr lang="en-US" sz="2200" b="1" i="1" u="none" strike="noStrike">
                <a:solidFill>
                  <a:schemeClr val="dk1"/>
                </a:solidFill>
                <a:effectLst/>
                <a:uFillTx/>
                <a:latin typeface="Arial"/>
              </a:rPr>
              <a:t>EAPoL-Start</a:t>
            </a:r>
            <a:r>
              <a:rPr lang="en-US" sz="2200" b="0" u="none" strike="noStrike">
                <a:solidFill>
                  <a:schemeClr val="dk1"/>
                </a:solidFill>
                <a:effectLst/>
                <a:uFillTx/>
                <a:latin typeface="Arial"/>
              </a:rPr>
              <a:t>’ message to Authenticator.</a:t>
            </a:r>
            <a:endParaRPr lang="en-AU" sz="2200" b="0" u="none" strike="noStrik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Step 2: </a:t>
            </a:r>
            <a:r>
              <a:rPr lang="en-US" sz="2200" b="0" u="none" strike="noStrike">
                <a:solidFill>
                  <a:schemeClr val="dk1"/>
                </a:solidFill>
                <a:effectLst/>
                <a:uFillTx/>
                <a:latin typeface="Arial"/>
              </a:rPr>
              <a:t>Authenticator then relays the EAP message to the Authentication Server (ISE) by extracting from EAPoL frame ‘</a:t>
            </a:r>
            <a:r>
              <a:rPr lang="en-US" sz="2200" b="1" i="1" u="none" strike="noStrike">
                <a:solidFill>
                  <a:schemeClr val="dk1"/>
                </a:solidFill>
                <a:effectLst/>
                <a:uFillTx/>
                <a:latin typeface="Arial"/>
              </a:rPr>
              <a:t>EAP-Response</a:t>
            </a:r>
            <a:r>
              <a:rPr lang="en-US" sz="2200" b="0" u="none" strike="noStrike">
                <a:solidFill>
                  <a:schemeClr val="dk1"/>
                </a:solidFill>
                <a:effectLst/>
                <a:uFillTx/>
                <a:latin typeface="Arial"/>
              </a:rPr>
              <a:t>’ and encoding into RADIUS ‘</a:t>
            </a:r>
            <a:r>
              <a:rPr lang="en-US" sz="2200" b="1" i="1" u="none" strike="noStrike">
                <a:solidFill>
                  <a:schemeClr val="dk1"/>
                </a:solidFill>
                <a:effectLst/>
                <a:uFillTx/>
                <a:latin typeface="Arial"/>
              </a:rPr>
              <a:t>Access-Request</a:t>
            </a:r>
            <a:r>
              <a:rPr lang="en-US" sz="2200" b="0" u="none" strike="noStrike">
                <a:solidFill>
                  <a:schemeClr val="dk1"/>
                </a:solidFill>
                <a:effectLst/>
                <a:uFillTx/>
                <a:latin typeface="Arial"/>
              </a:rPr>
              <a:t>’ Attribute-Value Pair (AVP) until an EAP method is selected by exchanging RADIUS ‘</a:t>
            </a:r>
            <a:r>
              <a:rPr lang="en-US" sz="2200" b="1" i="1" u="none" strike="noStrike">
                <a:solidFill>
                  <a:schemeClr val="dk1"/>
                </a:solidFill>
                <a:effectLst/>
                <a:uFillTx/>
                <a:latin typeface="Arial"/>
              </a:rPr>
              <a:t>Access-Challenge</a:t>
            </a:r>
            <a:r>
              <a:rPr lang="en-US" sz="2200" b="0" u="none" strike="noStrike">
                <a:solidFill>
                  <a:schemeClr val="dk1"/>
                </a:solidFill>
                <a:effectLst/>
                <a:uFillTx/>
                <a:latin typeface="Arial"/>
              </a:rPr>
              <a:t>’ and ‘</a:t>
            </a:r>
            <a:r>
              <a:rPr lang="en-US" sz="2200" b="1" i="1" u="none" strike="noStrike">
                <a:solidFill>
                  <a:schemeClr val="dk1"/>
                </a:solidFill>
                <a:effectLst/>
                <a:uFillTx/>
                <a:latin typeface="Arial"/>
              </a:rPr>
              <a:t>Access-Request</a:t>
            </a:r>
            <a:r>
              <a:rPr lang="en-US" sz="2200" b="0" u="none" strike="noStrike">
                <a:solidFill>
                  <a:schemeClr val="dk1"/>
                </a:solidFill>
                <a:effectLst/>
                <a:uFillTx/>
                <a:latin typeface="Arial"/>
              </a:rPr>
              <a:t>’ messages. Supplicant then authenticates using the selected EAP method with the ISE.</a:t>
            </a:r>
            <a:endParaRPr lang="en-AU" sz="2200" b="0" u="none" strike="noStrike">
              <a:solidFill>
                <a:srgbClr val="000000"/>
              </a:solidFill>
              <a:effectLst/>
              <a:uFillTx/>
              <a:latin typeface="Arial"/>
            </a:endParaRPr>
          </a:p>
          <a:p>
            <a:pPr marL="228600" indent="-228600" defTabSz="914400">
              <a:lnSpc>
                <a:spcPct val="90000"/>
              </a:lnSpc>
              <a:spcBef>
                <a:spcPts val="1001"/>
              </a:spcBef>
              <a:buClr>
                <a:srgbClr val="000000"/>
              </a:buClr>
              <a:buFont typeface="Arial"/>
              <a:buChar char="•"/>
            </a:pPr>
            <a:r>
              <a:rPr lang="en-US" sz="2200" b="1" u="none" strike="noStrike">
                <a:solidFill>
                  <a:schemeClr val="dk1"/>
                </a:solidFill>
                <a:effectLst/>
                <a:uFillTx/>
                <a:latin typeface="Arial"/>
              </a:rPr>
              <a:t>Step3: </a:t>
            </a:r>
            <a:r>
              <a:rPr lang="en-US" sz="2200" b="0" u="none" strike="noStrike">
                <a:solidFill>
                  <a:schemeClr val="dk1"/>
                </a:solidFill>
                <a:effectLst/>
                <a:uFillTx/>
                <a:latin typeface="Arial"/>
              </a:rPr>
              <a:t>If authentication is successful, RADIUS ‘</a:t>
            </a:r>
            <a:r>
              <a:rPr lang="en-US" sz="2200" b="1" i="1" u="none" strike="noStrike">
                <a:solidFill>
                  <a:schemeClr val="dk1"/>
                </a:solidFill>
                <a:effectLst/>
                <a:uFillTx/>
                <a:latin typeface="Arial"/>
              </a:rPr>
              <a:t>Access-Accept</a:t>
            </a:r>
            <a:r>
              <a:rPr lang="en-US" sz="2200" b="0" u="none" strike="noStrike">
                <a:solidFill>
                  <a:schemeClr val="dk1"/>
                </a:solidFill>
                <a:effectLst/>
                <a:uFillTx/>
                <a:latin typeface="Arial"/>
              </a:rPr>
              <a:t>’ message is sent from ISE to the supplicant along with other Authorization parameters such as downloadable ACL (dACL), dynamic VLAN(dVLAN) and Security Group Tags (SGT).Authenticator then opens the controlled port for data communication.</a:t>
            </a:r>
            <a:endParaRPr lang="en-AU"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2" name="PlaceHolder 1"/>
          <p:cNvSpPr>
            <a:spLocks noGrp="1"/>
          </p:cNvSpPr>
          <p:nvPr>
            <p:ph/>
          </p:nvPr>
        </p:nvSpPr>
        <p:spPr>
          <a:xfrm>
            <a:off x="4320000" y="180000"/>
            <a:ext cx="7739280" cy="6479280"/>
          </a:xfrm>
          <a:prstGeom prst="rect">
            <a:avLst/>
          </a:prstGeom>
          <a:noFill/>
          <a:ln w="0">
            <a:noFill/>
          </a:ln>
        </p:spPr>
        <p:txBody>
          <a:bodyPr lIns="91440" tIns="45720" rIns="91440" bIns="45720" anchor="t">
            <a:normAutofit lnSpcReduction="9999"/>
          </a:bodyPr>
          <a:p>
            <a:pPr marL="216000" indent="-216000" algn="l" defTabSz="914400">
              <a:lnSpc>
                <a:spcPct val="90000"/>
              </a:lnSpc>
              <a:spcBef>
                <a:spcPts val="1001"/>
              </a:spcBef>
              <a:buClr>
                <a:srgbClr val="000000"/>
              </a:buClr>
              <a:buFont typeface="Arial"/>
              <a:buAutoNum type="arabicPeriod"/>
            </a:pPr>
            <a:r>
              <a:rPr lang="en-US" sz="2000" b="1" u="none" strike="noStrike">
                <a:solidFill>
                  <a:schemeClr val="dk1"/>
                </a:solidFill>
                <a:effectLst/>
                <a:uFillTx/>
                <a:latin typeface="Arial"/>
              </a:rPr>
              <a:t>EAP Challenge-based Auth</a:t>
            </a:r>
            <a:r>
              <a:rPr lang="en-US" sz="2000" b="0" u="none" strike="noStrike">
                <a:solidFill>
                  <a:schemeClr val="dk1"/>
                </a:solidFill>
                <a:effectLst/>
                <a:uFillTx/>
                <a:latin typeface="Arial"/>
              </a:rPr>
              <a:t> : </a:t>
            </a:r>
            <a:endParaRPr lang="en-US" sz="2000" b="0" u="none" strike="noStrike">
              <a:solidFill>
                <a:schemeClr val="dk1"/>
              </a:solidFill>
              <a:effectLst/>
              <a:uFillTx/>
              <a:latin typeface="Aptos"/>
            </a:endParaRPr>
          </a:p>
          <a:p>
            <a:pPr marL="216000" indent="0" algn="l" defTabSz="914400">
              <a:lnSpc>
                <a:spcPct val="90000"/>
              </a:lnSpc>
              <a:spcBef>
                <a:spcPts val="1001"/>
              </a:spcBef>
              <a:buNone/>
              <a:tabLst>
                <a:tab pos="0" algn="l"/>
              </a:tabLst>
            </a:pPr>
            <a:r>
              <a:rPr lang="en-US" sz="2000" b="0" u="none" strike="noStrike">
                <a:solidFill>
                  <a:schemeClr val="dk1"/>
                </a:solidFill>
                <a:effectLst/>
                <a:uFillTx/>
                <a:latin typeface="Arial"/>
              </a:rPr>
              <a:t>EAP-MD5 : Supplicant shares MD5 hash of username/password with ISE to authenticate itself. There is no mutual authentication as supplicant can’t validate ISE.</a:t>
            </a:r>
            <a:endParaRPr lang="en-US" sz="2000" b="0" u="none" strike="noStrike">
              <a:solidFill>
                <a:schemeClr val="dk1"/>
              </a:solidFill>
              <a:effectLst/>
              <a:uFillTx/>
              <a:latin typeface="Aptos"/>
            </a:endParaRPr>
          </a:p>
          <a:p>
            <a:pPr marL="216000" indent="-216000" algn="l" defTabSz="914400">
              <a:lnSpc>
                <a:spcPct val="90000"/>
              </a:lnSpc>
              <a:spcBef>
                <a:spcPts val="1001"/>
              </a:spcBef>
              <a:buClr>
                <a:srgbClr val="000000"/>
              </a:buClr>
              <a:buFont typeface="Arial"/>
              <a:buAutoNum type="arabicPeriod"/>
              <a:tabLst>
                <a:tab pos="0" algn="l"/>
              </a:tabLst>
            </a:pPr>
            <a:r>
              <a:rPr lang="en-US" sz="2000" b="1" u="none" strike="noStrike">
                <a:solidFill>
                  <a:schemeClr val="dk1"/>
                </a:solidFill>
                <a:effectLst/>
                <a:uFillTx/>
                <a:latin typeface="Arial"/>
              </a:rPr>
              <a:t>EAP TLS: </a:t>
            </a:r>
            <a:r>
              <a:rPr lang="en-US" sz="2000" b="0" u="none" strike="noStrike">
                <a:solidFill>
                  <a:schemeClr val="dk1"/>
                </a:solidFill>
                <a:effectLst/>
                <a:uFillTx/>
                <a:latin typeface="Arial"/>
              </a:rPr>
              <a:t>Provides mutual authentication with TLS Public Key Infrastructure (PKI). Certificates need to be generated for every supplicant and installed out-of band. Administratively burdensome to implement.</a:t>
            </a:r>
            <a:endParaRPr lang="en-US" sz="2000" b="0" u="none" strike="noStrike">
              <a:solidFill>
                <a:schemeClr val="dk1"/>
              </a:solidFill>
              <a:effectLst/>
              <a:uFillTx/>
              <a:latin typeface="Aptos"/>
            </a:endParaRPr>
          </a:p>
          <a:p>
            <a:pPr marL="216000" indent="-216000" algn="l" defTabSz="914400">
              <a:lnSpc>
                <a:spcPct val="90000"/>
              </a:lnSpc>
              <a:spcBef>
                <a:spcPts val="1001"/>
              </a:spcBef>
              <a:buClr>
                <a:srgbClr val="000000"/>
              </a:buClr>
              <a:buFont typeface="Arial"/>
              <a:buAutoNum type="arabicPeriod"/>
              <a:tabLst>
                <a:tab pos="0" algn="l"/>
              </a:tabLst>
            </a:pPr>
            <a:r>
              <a:rPr lang="en-US" sz="2000" b="1" u="none" strike="noStrike">
                <a:solidFill>
                  <a:schemeClr val="dk1"/>
                </a:solidFill>
                <a:effectLst/>
                <a:uFillTx/>
                <a:latin typeface="Arial"/>
              </a:rPr>
              <a:t>EAP TTLS (Outer) Auth</a:t>
            </a:r>
            <a:r>
              <a:rPr lang="en-US" sz="2000" b="0" u="none" strike="noStrike">
                <a:solidFill>
                  <a:schemeClr val="dk1"/>
                </a:solidFill>
                <a:effectLst/>
                <a:uFillTx/>
                <a:latin typeface="Arial"/>
              </a:rPr>
              <a:t>: Create an outer TLS tunnel between supplicant and ISE.</a:t>
            </a:r>
            <a:endParaRPr lang="en-US" sz="2000" b="0" u="none" strike="noStrike">
              <a:solidFill>
                <a:schemeClr val="dk1"/>
              </a:solidFill>
              <a:effectLst/>
              <a:uFillTx/>
              <a:latin typeface="Aptos"/>
            </a:endParaRPr>
          </a:p>
          <a:p>
            <a:pPr marL="360000" indent="-216000" algn="l" defTabSz="914400">
              <a:lnSpc>
                <a:spcPct val="90000"/>
              </a:lnSpc>
              <a:spcBef>
                <a:spcPts val="1001"/>
              </a:spcBef>
              <a:buClr>
                <a:srgbClr val="000000"/>
              </a:buClr>
              <a:buFont typeface="Arial"/>
              <a:buChar char="•"/>
              <a:tabLst>
                <a:tab pos="0" algn="l"/>
              </a:tabLst>
            </a:pPr>
            <a:r>
              <a:rPr lang="en-US" sz="2000" b="0" u="none" strike="noStrike">
                <a:solidFill>
                  <a:schemeClr val="dk1"/>
                </a:solidFill>
                <a:effectLst/>
                <a:uFillTx/>
                <a:latin typeface="Arial"/>
              </a:rPr>
              <a:t>EAP-FAST (EAP Flexible Authentication via Secure Tunneling)</a:t>
            </a:r>
            <a:endParaRPr lang="en-US" sz="2000" b="0" u="none" strike="noStrike">
              <a:solidFill>
                <a:schemeClr val="dk1"/>
              </a:solidFill>
              <a:effectLst/>
              <a:uFillTx/>
              <a:latin typeface="Aptos"/>
            </a:endParaRPr>
          </a:p>
          <a:p>
            <a:pPr marL="360000" indent="-216000" algn="l" defTabSz="914400">
              <a:lnSpc>
                <a:spcPct val="90000"/>
              </a:lnSpc>
              <a:spcBef>
                <a:spcPts val="1001"/>
              </a:spcBef>
              <a:buClr>
                <a:srgbClr val="000000"/>
              </a:buClr>
              <a:buFont typeface="Arial"/>
              <a:buChar char="•"/>
              <a:tabLst>
                <a:tab pos="0" algn="l"/>
              </a:tabLst>
            </a:pPr>
            <a:r>
              <a:rPr lang="en-US" sz="2000" b="0" u="none" strike="noStrike">
                <a:solidFill>
                  <a:schemeClr val="dk1"/>
                </a:solidFill>
                <a:effectLst/>
                <a:uFillTx/>
                <a:latin typeface="Arial"/>
              </a:rPr>
              <a:t>EAP-TTLS (EAP Tunneled TLS)</a:t>
            </a:r>
            <a:endParaRPr lang="en-US" sz="2000" b="0" u="none" strike="noStrike">
              <a:solidFill>
                <a:schemeClr val="dk1"/>
              </a:solidFill>
              <a:effectLst/>
              <a:uFillTx/>
              <a:latin typeface="Aptos"/>
            </a:endParaRPr>
          </a:p>
          <a:p>
            <a:pPr marL="360000" indent="-216000" algn="l" defTabSz="914400">
              <a:lnSpc>
                <a:spcPct val="90000"/>
              </a:lnSpc>
              <a:spcBef>
                <a:spcPts val="1001"/>
              </a:spcBef>
              <a:buClr>
                <a:srgbClr val="000000"/>
              </a:buClr>
              <a:buFont typeface="Arial"/>
              <a:buChar char="•"/>
              <a:tabLst>
                <a:tab pos="0" algn="l"/>
              </a:tabLst>
            </a:pPr>
            <a:r>
              <a:rPr lang="en-US" sz="2000" b="0" u="none" strike="noStrike">
                <a:solidFill>
                  <a:schemeClr val="dk1"/>
                </a:solidFill>
                <a:effectLst/>
                <a:uFillTx/>
                <a:latin typeface="Arial"/>
              </a:rPr>
              <a:t>PEAP (Protected Extensible Authentication Protocol): Also known as EAP in EAP and is mostly used.</a:t>
            </a:r>
            <a:endParaRPr lang="en-US" sz="2000" b="0" u="none" strike="noStrike">
              <a:solidFill>
                <a:schemeClr val="dk1"/>
              </a:solidFill>
              <a:effectLst/>
              <a:uFillTx/>
              <a:latin typeface="Aptos"/>
            </a:endParaRPr>
          </a:p>
          <a:p>
            <a:pPr marL="216000" indent="-216000" algn="l" defTabSz="914400">
              <a:lnSpc>
                <a:spcPct val="90000"/>
              </a:lnSpc>
              <a:spcBef>
                <a:spcPts val="1001"/>
              </a:spcBef>
              <a:buClr>
                <a:srgbClr val="000000"/>
              </a:buClr>
              <a:buFont typeface="Arial"/>
              <a:buAutoNum type="arabicPeriod" startAt="4"/>
              <a:tabLst>
                <a:tab pos="0" algn="l"/>
              </a:tabLst>
            </a:pPr>
            <a:r>
              <a:rPr lang="en-US" sz="2000" b="1" u="none" strike="noStrike">
                <a:solidFill>
                  <a:schemeClr val="dk1"/>
                </a:solidFill>
                <a:effectLst/>
                <a:uFillTx/>
                <a:latin typeface="Arial"/>
              </a:rPr>
              <a:t>EAP Inner Auth</a:t>
            </a:r>
            <a:r>
              <a:rPr lang="en-US" sz="2000" b="0" u="none" strike="noStrike">
                <a:solidFill>
                  <a:schemeClr val="dk1"/>
                </a:solidFill>
                <a:effectLst/>
                <a:uFillTx/>
                <a:latin typeface="Arial"/>
              </a:rPr>
              <a:t>: This methods exchange authentication data over an outer methods listed above.</a:t>
            </a:r>
            <a:endParaRPr lang="en-US" sz="2000" b="0" u="none" strike="noStrike">
              <a:solidFill>
                <a:schemeClr val="dk1"/>
              </a:solidFill>
              <a:effectLst/>
              <a:uFillTx/>
              <a:latin typeface="Aptos"/>
            </a:endParaRPr>
          </a:p>
          <a:p>
            <a:pPr marL="360000" indent="-216000" algn="l" defTabSz="914400">
              <a:lnSpc>
                <a:spcPct val="90000"/>
              </a:lnSpc>
              <a:spcBef>
                <a:spcPts val="1001"/>
              </a:spcBef>
              <a:buClr>
                <a:srgbClr val="000000"/>
              </a:buClr>
              <a:buFont typeface="Arial"/>
              <a:buChar char="•"/>
              <a:tabLst>
                <a:tab pos="0" algn="l"/>
              </a:tabLst>
            </a:pPr>
            <a:r>
              <a:rPr lang="en-US" sz="2000" b="0" u="none" strike="noStrike">
                <a:solidFill>
                  <a:schemeClr val="dk1"/>
                </a:solidFill>
                <a:effectLst/>
                <a:uFillTx/>
                <a:latin typeface="Arial"/>
              </a:rPr>
              <a:t>EAP-GTC (EAP Generic Token Card)</a:t>
            </a:r>
            <a:endParaRPr lang="en-US" sz="2000" b="0" u="none" strike="noStrike">
              <a:solidFill>
                <a:schemeClr val="dk1"/>
              </a:solidFill>
              <a:effectLst/>
              <a:uFillTx/>
              <a:latin typeface="Aptos"/>
            </a:endParaRPr>
          </a:p>
          <a:p>
            <a:pPr marL="360000" indent="-216000" algn="l" defTabSz="914400">
              <a:lnSpc>
                <a:spcPct val="90000"/>
              </a:lnSpc>
              <a:spcBef>
                <a:spcPts val="1001"/>
              </a:spcBef>
              <a:buClr>
                <a:srgbClr val="000000"/>
              </a:buClr>
              <a:buFont typeface="Arial"/>
              <a:buChar char="•"/>
              <a:tabLst>
                <a:tab pos="0" algn="l"/>
              </a:tabLst>
            </a:pPr>
            <a:r>
              <a:rPr lang="en-US" sz="2000" b="0" u="none" strike="noStrike">
                <a:solidFill>
                  <a:schemeClr val="dk1"/>
                </a:solidFill>
                <a:effectLst/>
                <a:uFillTx/>
                <a:latin typeface="Arial"/>
              </a:rPr>
              <a:t>MSCHAPv2 (Microsoft Challenge Authentication Protocol)</a:t>
            </a:r>
            <a:endParaRPr lang="en-US" sz="2000" b="0" u="none" strike="noStrike">
              <a:solidFill>
                <a:schemeClr val="dk1"/>
              </a:solidFill>
              <a:effectLst/>
              <a:uFillTx/>
              <a:latin typeface="Aptos"/>
            </a:endParaRPr>
          </a:p>
          <a:p>
            <a:pPr marL="360000" indent="-216000" algn="l" defTabSz="914400">
              <a:lnSpc>
                <a:spcPct val="90000"/>
              </a:lnSpc>
              <a:spcBef>
                <a:spcPts val="1001"/>
              </a:spcBef>
              <a:buClr>
                <a:srgbClr val="000000"/>
              </a:buClr>
              <a:buFont typeface="Arial"/>
              <a:buChar char="•"/>
              <a:tabLst>
                <a:tab pos="0" algn="l"/>
              </a:tabLst>
            </a:pPr>
            <a:r>
              <a:rPr lang="en-US" sz="2000" b="0" u="none" strike="noStrike">
                <a:solidFill>
                  <a:schemeClr val="dk1"/>
                </a:solidFill>
                <a:effectLst/>
                <a:uFillTx/>
                <a:latin typeface="Arial"/>
              </a:rPr>
              <a:t>EAP-TLS</a:t>
            </a:r>
            <a:endParaRPr lang="en-US" sz="2000" b="0" u="none" strike="noStrike">
              <a:solidFill>
                <a:schemeClr val="dk1"/>
              </a:solidFill>
              <a:effectLst/>
              <a:uFillTx/>
              <a:latin typeface="Aptos"/>
            </a:endParaRPr>
          </a:p>
        </p:txBody>
      </p:sp>
      <p:sp>
        <p:nvSpPr>
          <p:cNvPr id="113" name="Rectangle 1">
            <a:extLst>
              <a:ext uri="{C183D7F6-B498-43B3-948B-1728B52AA6E4}">
                <adec:decorative xmlns:adec="http://schemas.microsoft.com/office/drawing/2017/decorative" val="1"/>
              </a:ext>
            </a:extLst>
          </p:cNvPr>
          <p:cNvSpPr/>
          <p:nvPr/>
        </p:nvSpPr>
        <p:spPr>
          <a:xfrm>
            <a:off x="1800" y="0"/>
            <a:ext cx="4138200" cy="143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p>
            <a:pPr defTabSz="914400">
              <a:lnSpc>
                <a:spcPct val="90000"/>
              </a:lnSpc>
              <a:tabLst>
                <a:tab pos="0" algn="l"/>
              </a:tabLst>
            </a:pPr>
            <a:r>
              <a:rPr lang="en-US" sz="4400" b="1" u="none" strike="noStrike">
                <a:solidFill>
                  <a:schemeClr val="lt1"/>
                </a:solidFill>
                <a:effectLst/>
                <a:uFillTx/>
                <a:latin typeface="Arial"/>
              </a:rPr>
              <a:t>3. NAC: </a:t>
            </a:r>
            <a:r>
              <a:rPr lang="en-US" sz="4400" b="1" u="none" strike="noStrike">
                <a:solidFill>
                  <a:schemeClr val="dk1"/>
                </a:solidFill>
                <a:effectLst/>
                <a:uFillTx/>
                <a:latin typeface="Arial"/>
              </a:rPr>
              <a:t>EAP Methods</a:t>
            </a:r>
            <a:endParaRPr lang="en-AU" sz="4400" b="0" u="none" strike="noStrike">
              <a:solidFill>
                <a:srgbClr val="FFFFFF"/>
              </a:solidFill>
              <a:effectLst/>
              <a:uFillTx/>
              <a:latin typeface="Arial"/>
            </a:endParaRPr>
          </a:p>
        </p:txBody>
      </p:sp>
      <p:sp>
        <p:nvSpPr>
          <p:cNvPr id="114" name=""/>
          <p:cNvSpPr/>
          <p:nvPr/>
        </p:nvSpPr>
        <p:spPr>
          <a:xfrm>
            <a:off x="180000" y="2340000"/>
            <a:ext cx="3959280" cy="3779280"/>
          </a:xfrm>
          <a:prstGeom prst="rect">
            <a:avLst/>
          </a:prstGeom>
          <a:noFill/>
          <a:ln w="0">
            <a:noFill/>
          </a:ln>
        </p:spPr>
        <p:style>
          <a:lnRef idx="0"/>
          <a:fillRef idx="0"/>
          <a:effectRef idx="0"/>
          <a:fontRef idx="minor"/>
        </p:style>
        <p:txBody>
          <a:bodyPr lIns="90000" tIns="45000" rIns="90000" bIns="45000" anchor="t">
            <a:spAutoFit/>
          </a:bodyPr>
          <a:p>
            <a:pPr>
              <a:lnSpc>
                <a:spcPct val="100000"/>
              </a:lnSpc>
              <a:spcBef>
                <a:spcPts val="283"/>
              </a:spcBef>
              <a:spcAft>
                <a:spcPts val="283"/>
              </a:spcAft>
            </a:pPr>
            <a:r>
              <a:rPr lang="en-AU" sz="1800" b="1" u="none" strike="noStrike">
                <a:solidFill>
                  <a:srgbClr val="000000"/>
                </a:solidFill>
                <a:effectLst/>
                <a:uFillTx/>
                <a:latin typeface="Arial"/>
              </a:rPr>
              <a:t>EAP Chaining:</a:t>
            </a:r>
            <a:r>
              <a:rPr lang="en-AU" sz="1800" b="0" u="none" strike="noStrike">
                <a:solidFill>
                  <a:srgbClr val="000000"/>
                </a:solidFill>
                <a:effectLst/>
                <a:uFillTx/>
                <a:latin typeface="Arial"/>
              </a:rPr>
              <a:t> It’s a method that supports machine and user authentication in a single outer TLS tunnel.</a:t>
            </a:r>
            <a:endParaRPr lang="en-AU" sz="1800" b="0" u="none" strike="noStrike">
              <a:solidFill>
                <a:srgbClr val="000000"/>
              </a:solidFill>
              <a:effectLst/>
              <a:uFillTx/>
              <a:latin typeface="Arial"/>
            </a:endParaRPr>
          </a:p>
          <a:p>
            <a:pPr>
              <a:lnSpc>
                <a:spcPct val="100000"/>
              </a:lnSpc>
              <a:spcBef>
                <a:spcPts val="283"/>
              </a:spcBef>
              <a:spcAft>
                <a:spcPts val="283"/>
              </a:spcAft>
            </a:pPr>
            <a:r>
              <a:rPr lang="en-AU" sz="1800" b="0" u="none" strike="noStrike">
                <a:solidFill>
                  <a:srgbClr val="000000"/>
                </a:solidFill>
                <a:effectLst/>
                <a:uFillTx/>
                <a:latin typeface="Arial"/>
              </a:rPr>
              <a:t>EAP-FAST supports EAP chaining.</a:t>
            </a:r>
            <a:endParaRPr lang="en-AU" sz="1800" b="0" u="none" strike="noStrike">
              <a:solidFill>
                <a:srgbClr val="000000"/>
              </a:solidFill>
              <a:effectLst/>
              <a:uFillTx/>
              <a:latin typeface="Arial"/>
            </a:endParaRPr>
          </a:p>
          <a:p>
            <a:pPr>
              <a:lnSpc>
                <a:spcPct val="100000"/>
              </a:lnSpc>
              <a:spcBef>
                <a:spcPts val="283"/>
              </a:spcBef>
              <a:spcAft>
                <a:spcPts val="283"/>
              </a:spcAft>
            </a:pPr>
            <a:r>
              <a:rPr lang="en-AU" sz="1800" b="0" u="none" strike="noStrike">
                <a:solidFill>
                  <a:srgbClr val="000000"/>
                </a:solidFill>
                <a:effectLst/>
                <a:uFillTx/>
                <a:latin typeface="Arial"/>
              </a:rPr>
              <a:t>This allows users authenticating with corporate managed devices to be assigned with greater privileges and security posture assessment.</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useBgFill="1">
        <p:nvSpPr>
          <p:cNvPr id="115" name="Rectangle 23">
            <a:extLst>
              <a:ext uri="{C183D7F6-B498-43B3-948B-1728B52AA6E4}">
                <adec:decorative xmlns:adec="http://schemas.microsoft.com/office/drawing/2017/decorative" val="1"/>
              </a:ext>
            </a:extLst>
          </p:cNvPr>
          <p:cNvSpPr/>
          <p:nvPr/>
        </p:nvSpPr>
        <p:spPr>
          <a:xfrm>
            <a:off x="2880" y="4320"/>
            <a:ext cx="12187440" cy="6856560"/>
          </a:xfrm>
          <a:prstGeom prst="rect">
            <a:avLst/>
          </a:prstGeom>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endParaRPr lang="en-US" sz="1800" b="0" u="none" strike="noStrike">
              <a:solidFill>
                <a:schemeClr val="lt1"/>
              </a:solidFill>
              <a:effectLst/>
              <a:uFillTx/>
              <a:latin typeface="Aptos"/>
            </a:endParaRPr>
          </a:p>
        </p:txBody>
      </p:sp>
      <p:sp>
        <p:nvSpPr>
          <p:cNvPr id="116" name="Rectangle 24">
            <a:extLst>
              <a:ext uri="{C183D7F6-B498-43B3-948B-1728B52AA6E4}">
                <adec:decorative xmlns:adec="http://schemas.microsoft.com/office/drawing/2017/decorative" val="1"/>
              </a:ext>
            </a:extLst>
          </p:cNvPr>
          <p:cNvSpPr/>
          <p:nvPr/>
        </p:nvSpPr>
        <p:spPr>
          <a:xfrm>
            <a:off x="0" y="0"/>
            <a:ext cx="4165920" cy="143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3.NAC: </a:t>
            </a:r>
            <a:r>
              <a:rPr lang="en-US" sz="4400" b="1" u="none" strike="noStrike">
                <a:solidFill>
                  <a:schemeClr val="dk1"/>
                </a:solidFill>
                <a:effectLst/>
                <a:uFillTx/>
                <a:latin typeface="Arial"/>
              </a:rPr>
              <a:t> MAB</a:t>
            </a:r>
            <a:endParaRPr lang="en-AU" sz="4400" b="0" u="none" strike="noStrike">
              <a:solidFill>
                <a:srgbClr val="FFFFFF"/>
              </a:solidFill>
              <a:effectLst/>
              <a:uFillTx/>
              <a:latin typeface="Arial"/>
            </a:endParaRPr>
          </a:p>
        </p:txBody>
      </p:sp>
      <p:sp>
        <p:nvSpPr>
          <p:cNvPr id="117" name="PlaceHolder 1"/>
          <p:cNvSpPr>
            <a:spLocks noGrp="1"/>
          </p:cNvSpPr>
          <p:nvPr>
            <p:ph/>
          </p:nvPr>
        </p:nvSpPr>
        <p:spPr>
          <a:xfrm>
            <a:off x="4320000" y="540000"/>
            <a:ext cx="7739280" cy="5579280"/>
          </a:xfrm>
          <a:prstGeom prst="rect">
            <a:avLst/>
          </a:prstGeom>
          <a:noFill/>
          <a:ln w="0">
            <a:noFill/>
          </a:ln>
        </p:spPr>
        <p:txBody>
          <a:bodyPr lIns="91440" tIns="45720" rIns="91440" bIns="45720" anchor="t">
            <a:normAutofit/>
          </a:bodyPr>
          <a:p>
            <a:pPr indent="0" algn="l" defTabSz="914400">
              <a:lnSpc>
                <a:spcPct val="90000"/>
              </a:lnSpc>
              <a:spcBef>
                <a:spcPts val="1001"/>
              </a:spcBef>
              <a:buNone/>
              <a:tabLst>
                <a:tab pos="0" algn="l"/>
              </a:tabLst>
            </a:pPr>
            <a:r>
              <a:rPr lang="en-US" sz="2000" b="1" u="none" strike="noStrike">
                <a:solidFill>
                  <a:schemeClr val="dk1"/>
                </a:solidFill>
                <a:effectLst/>
                <a:uFillTx/>
                <a:latin typeface="Arial"/>
              </a:rPr>
              <a:t>MAC Authentication Bypass (MAB): </a:t>
            </a:r>
            <a:endParaRPr lang="en-US" sz="20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000" b="0" u="none" strike="noStrike">
                <a:solidFill>
                  <a:schemeClr val="dk1"/>
                </a:solidFill>
                <a:effectLst/>
                <a:uFillTx/>
                <a:latin typeface="Arial"/>
              </a:rPr>
              <a:t>Fallback mechanism to 802.1x, MAB enabled port can be enabled or disabled based on the MAC address of the device that connects to it.</a:t>
            </a:r>
            <a:endParaRPr lang="en-US" sz="20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000" b="1" u="none" strike="noStrike">
                <a:solidFill>
                  <a:schemeClr val="dk1"/>
                </a:solidFill>
                <a:effectLst/>
                <a:uFillTx/>
                <a:latin typeface="Arial"/>
              </a:rPr>
              <a:t>Step 1: </a:t>
            </a:r>
            <a:r>
              <a:rPr lang="en-US" sz="2000" b="0" u="none" strike="noStrike">
                <a:solidFill>
                  <a:schemeClr val="dk1"/>
                </a:solidFill>
                <a:effectLst/>
                <a:uFillTx/>
                <a:latin typeface="Arial"/>
              </a:rPr>
              <a:t>As in EAP, a switch sends ‘</a:t>
            </a:r>
            <a:r>
              <a:rPr lang="en-US" sz="2000" b="1" i="1" u="none" strike="noStrike">
                <a:solidFill>
                  <a:schemeClr val="dk1"/>
                </a:solidFill>
                <a:effectLst/>
                <a:uFillTx/>
                <a:latin typeface="Arial"/>
              </a:rPr>
              <a:t>EAP Request-Identity</a:t>
            </a:r>
            <a:r>
              <a:rPr lang="en-US" sz="2000" b="0" u="none" strike="noStrike">
                <a:solidFill>
                  <a:schemeClr val="dk1"/>
                </a:solidFill>
                <a:effectLst/>
                <a:uFillTx/>
                <a:latin typeface="Arial"/>
              </a:rPr>
              <a:t>’ message every 30 seconds. If no reply(timeout) after 3 messages (90 secs), the switch assumes the device does not have supplicant and proceeds to authenticate it using MAB.</a:t>
            </a:r>
            <a:endParaRPr lang="en-US" sz="20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000" b="1" u="none" strike="noStrike">
                <a:solidFill>
                  <a:schemeClr val="dk1"/>
                </a:solidFill>
                <a:effectLst/>
                <a:uFillTx/>
                <a:latin typeface="Arial"/>
              </a:rPr>
              <a:t>Step 2: </a:t>
            </a:r>
            <a:r>
              <a:rPr lang="en-US" sz="2000" b="0" u="none" strike="noStrike">
                <a:solidFill>
                  <a:schemeClr val="dk1"/>
                </a:solidFill>
                <a:effectLst/>
                <a:uFillTx/>
                <a:latin typeface="Arial"/>
              </a:rPr>
              <a:t>Switch begins MAB by accepting a packet to learn MAC address of the device. The switch discards the packet after learning the MAC address, which it uses as identity to encapsulate into RADIUS ‘</a:t>
            </a:r>
            <a:r>
              <a:rPr lang="en-US" sz="2000" b="1" i="1" u="none" strike="noStrike">
                <a:solidFill>
                  <a:schemeClr val="dk1"/>
                </a:solidFill>
                <a:effectLst/>
                <a:uFillTx/>
                <a:latin typeface="Arial"/>
              </a:rPr>
              <a:t>Access-Request</a:t>
            </a:r>
            <a:r>
              <a:rPr lang="en-US" sz="2000" b="0" u="none" strike="noStrike">
                <a:solidFill>
                  <a:schemeClr val="dk1"/>
                </a:solidFill>
                <a:effectLst/>
                <a:uFillTx/>
                <a:latin typeface="Arial"/>
              </a:rPr>
              <a:t>’ message.</a:t>
            </a:r>
            <a:endParaRPr lang="en-US" sz="2000" b="0" u="none" strike="noStrike">
              <a:solidFill>
                <a:schemeClr val="dk1"/>
              </a:solidFill>
              <a:effectLst/>
              <a:uFillTx/>
              <a:latin typeface="Aptos"/>
            </a:endParaRPr>
          </a:p>
          <a:p>
            <a:pPr indent="0" algn="l" defTabSz="914400">
              <a:lnSpc>
                <a:spcPct val="90000"/>
              </a:lnSpc>
              <a:spcBef>
                <a:spcPts val="1001"/>
              </a:spcBef>
              <a:buNone/>
              <a:tabLst>
                <a:tab pos="0" algn="l"/>
              </a:tabLst>
            </a:pPr>
            <a:r>
              <a:rPr lang="en-US" sz="2000" b="1" u="none" strike="noStrike">
                <a:solidFill>
                  <a:schemeClr val="dk1"/>
                </a:solidFill>
                <a:effectLst/>
                <a:uFillTx/>
                <a:latin typeface="Arial"/>
              </a:rPr>
              <a:t>Step 3: </a:t>
            </a:r>
            <a:r>
              <a:rPr lang="en-US" sz="2000" b="0" u="none" strike="noStrike">
                <a:solidFill>
                  <a:schemeClr val="dk1"/>
                </a:solidFill>
                <a:effectLst/>
                <a:uFillTx/>
                <a:latin typeface="Arial"/>
              </a:rPr>
              <a:t>The</a:t>
            </a:r>
            <a:r>
              <a:rPr lang="en-US" sz="2000" b="1" u="none" strike="noStrike">
                <a:solidFill>
                  <a:schemeClr val="dk1"/>
                </a:solidFill>
                <a:effectLst/>
                <a:uFillTx/>
                <a:latin typeface="Arial"/>
              </a:rPr>
              <a:t> </a:t>
            </a:r>
            <a:r>
              <a:rPr lang="en-US" sz="2000" b="0" u="none" strike="noStrike">
                <a:solidFill>
                  <a:schemeClr val="dk1"/>
                </a:solidFill>
                <a:effectLst/>
                <a:uFillTx/>
                <a:latin typeface="Arial"/>
              </a:rPr>
              <a:t>RADIUS server determines if the endpoint should be granted access and the authorization level. It sends RADIUS ‘</a:t>
            </a:r>
            <a:r>
              <a:rPr lang="en-US" sz="2000" b="1" i="1" u="none" strike="noStrike">
                <a:solidFill>
                  <a:schemeClr val="dk1"/>
                </a:solidFill>
                <a:effectLst/>
                <a:uFillTx/>
                <a:latin typeface="Arial"/>
              </a:rPr>
              <a:t>Access-Accep</a:t>
            </a:r>
            <a:r>
              <a:rPr lang="en-US" sz="2000" b="0" u="none" strike="noStrike">
                <a:solidFill>
                  <a:schemeClr val="dk1"/>
                </a:solidFill>
                <a:effectLst/>
                <a:uFillTx/>
                <a:latin typeface="Arial"/>
              </a:rPr>
              <a:t>t’ message along with dACL, dVLAN and SGT tags.</a:t>
            </a:r>
            <a:r>
              <a:rPr lang="en-US" sz="2800" b="1" u="none" strike="noStrike">
                <a:solidFill>
                  <a:schemeClr val="dk1"/>
                </a:solidFill>
                <a:effectLst/>
                <a:uFillTx/>
                <a:latin typeface="Arial"/>
              </a:rPr>
              <a:t> </a:t>
            </a:r>
            <a:endParaRPr lang="en-US" sz="2800" b="0" u="none" strike="noStrike">
              <a:solidFill>
                <a:schemeClr val="dk1"/>
              </a:solidFill>
              <a:effectLst/>
              <a:uFillTx/>
              <a:latin typeface="Aptos"/>
            </a:endParaRPr>
          </a:p>
          <a:p>
            <a:pPr marL="914400" indent="0" algn="l" defTabSz="914400">
              <a:lnSpc>
                <a:spcPct val="90000"/>
              </a:lnSpc>
              <a:spcBef>
                <a:spcPts val="499"/>
              </a:spcBef>
              <a:buNone/>
              <a:tabLst>
                <a:tab pos="0" algn="l"/>
              </a:tabLst>
            </a:pPr>
            <a:endParaRPr lang="en-US" sz="2000" b="0" u="none" strike="noStrike">
              <a:solidFill>
                <a:schemeClr val="dk1"/>
              </a:solidFill>
              <a:effectLst/>
              <a:uFillTx/>
              <a:latin typeface="Aptos"/>
            </a:endParaRPr>
          </a:p>
          <a:p>
            <a:pPr marL="457200" indent="0" algn="l" defTabSz="914400">
              <a:lnSpc>
                <a:spcPct val="90000"/>
              </a:lnSpc>
              <a:spcBef>
                <a:spcPts val="499"/>
              </a:spcBef>
              <a:buNone/>
              <a:tabLst>
                <a:tab pos="0" algn="l"/>
              </a:tabLst>
            </a:pPr>
            <a:endParaRPr lang="en-US" sz="2400" b="0" u="none" strike="noStrike">
              <a:solidFill>
                <a:schemeClr val="dk1"/>
              </a:solidFill>
              <a:effectLst/>
              <a:uFillTx/>
              <a:latin typeface="Aptos"/>
            </a:endParaRPr>
          </a:p>
        </p:txBody>
      </p:sp>
      <p:pic>
        <p:nvPicPr>
          <p:cNvPr id="118" name="Picture 4"/>
          <p:cNvPicPr/>
          <p:nvPr/>
        </p:nvPicPr>
        <p:blipFill>
          <a:blip r:embed="rId1"/>
          <a:stretch/>
        </p:blipFill>
        <p:spPr>
          <a:xfrm>
            <a:off x="180000" y="2340000"/>
            <a:ext cx="3959280" cy="25192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19" name="Rectangle 24">
            <a:extLst>
              <a:ext uri="{C183D7F6-B498-43B3-948B-1728B52AA6E4}">
                <adec:decorative xmlns:adec="http://schemas.microsoft.com/office/drawing/2017/decorative" val="1"/>
              </a:ext>
            </a:extLst>
          </p:cNvPr>
          <p:cNvSpPr/>
          <p:nvPr/>
        </p:nvSpPr>
        <p:spPr>
          <a:xfrm>
            <a:off x="0" y="0"/>
            <a:ext cx="4165920" cy="161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3.NAC: </a:t>
            </a:r>
            <a:r>
              <a:rPr lang="en-US" sz="4400" b="1" u="none" strike="noStrike">
                <a:solidFill>
                  <a:schemeClr val="dk1"/>
                </a:solidFill>
                <a:effectLst/>
                <a:uFillTx/>
                <a:latin typeface="Arial"/>
              </a:rPr>
              <a:t> WebAuth</a:t>
            </a:r>
            <a:endParaRPr lang="en-AU" sz="4400" b="0" u="none" strike="noStrike">
              <a:solidFill>
                <a:srgbClr val="FFFFFF"/>
              </a:solidFill>
              <a:effectLst/>
              <a:uFillTx/>
              <a:latin typeface="Arial"/>
            </a:endParaRPr>
          </a:p>
        </p:txBody>
      </p:sp>
      <p:sp>
        <p:nvSpPr>
          <p:cNvPr id="120" name="PlaceHolder 1"/>
          <p:cNvSpPr>
            <a:spLocks noGrp="1"/>
          </p:cNvSpPr>
          <p:nvPr>
            <p:ph/>
          </p:nvPr>
        </p:nvSpPr>
        <p:spPr>
          <a:xfrm>
            <a:off x="4284000" y="252000"/>
            <a:ext cx="7871400" cy="6479280"/>
          </a:xfrm>
          <a:prstGeom prst="rect">
            <a:avLst/>
          </a:prstGeom>
          <a:noFill/>
          <a:ln w="0">
            <a:noFill/>
          </a:ln>
        </p:spPr>
        <p:txBody>
          <a:bodyPr lIns="91440" tIns="45720" rIns="91440" bIns="45720" anchor="t">
            <a:normAutofit lnSpcReduction="9999"/>
          </a:bodyPr>
          <a:p>
            <a:pPr indent="0" algn="l" defTabSz="914400">
              <a:lnSpc>
                <a:spcPct val="90000"/>
              </a:lnSpc>
              <a:spcBef>
                <a:spcPts val="1001"/>
              </a:spcBef>
              <a:buNone/>
              <a:tabLst>
                <a:tab pos="0" algn="l"/>
              </a:tabLst>
            </a:pPr>
            <a:r>
              <a:rPr lang="en-US" sz="2000" b="1" u="none" strike="noStrike">
                <a:solidFill>
                  <a:schemeClr val="dk1"/>
                </a:solidFill>
                <a:effectLst/>
                <a:uFillTx/>
                <a:latin typeface="Arial"/>
              </a:rPr>
              <a:t>Web Authentication (WebAuth)</a:t>
            </a:r>
            <a:endParaRPr lang="en-US" sz="2000" b="0" u="none" strike="noStrike">
              <a:solidFill>
                <a:schemeClr val="dk1"/>
              </a:solidFill>
              <a:effectLst/>
              <a:uFillTx/>
              <a:latin typeface="Aptos"/>
            </a:endParaRPr>
          </a:p>
          <a:p>
            <a:pPr marL="360000" indent="-324000" algn="l" defTabSz="914400">
              <a:lnSpc>
                <a:spcPct val="90000"/>
              </a:lnSpc>
              <a:spcBef>
                <a:spcPts val="1001"/>
              </a:spcBef>
              <a:buClr>
                <a:srgbClr val="000000"/>
              </a:buClr>
              <a:buFont typeface="Arial"/>
              <a:buChar char="•"/>
              <a:tabLst>
                <a:tab pos="0" algn="l"/>
              </a:tabLst>
            </a:pPr>
            <a:r>
              <a:rPr lang="en-US" sz="2000" b="0" u="none" strike="noStrike">
                <a:solidFill>
                  <a:schemeClr val="dk1"/>
                </a:solidFill>
                <a:effectLst/>
                <a:uFillTx/>
                <a:latin typeface="Arial"/>
              </a:rPr>
              <a:t>Unknown devices can be either assigned to guest VLAN or can be authenticated using WebAuth.</a:t>
            </a:r>
            <a:endParaRPr lang="en-US" sz="2000" b="0" u="none" strike="noStrike">
              <a:solidFill>
                <a:schemeClr val="dk1"/>
              </a:solidFill>
              <a:effectLst/>
              <a:uFillTx/>
              <a:latin typeface="Aptos"/>
            </a:endParaRPr>
          </a:p>
          <a:p>
            <a:pPr marL="360000" indent="-324000" algn="l" defTabSz="914400">
              <a:lnSpc>
                <a:spcPct val="90000"/>
              </a:lnSpc>
              <a:spcBef>
                <a:spcPts val="1001"/>
              </a:spcBef>
              <a:buClr>
                <a:srgbClr val="000000"/>
              </a:buClr>
              <a:buFont typeface="Arial"/>
              <a:buChar char="•"/>
              <a:tabLst>
                <a:tab pos="0" algn="l"/>
              </a:tabLst>
            </a:pPr>
            <a:r>
              <a:rPr lang="en-US" sz="2000" b="0" u="none" strike="noStrike">
                <a:solidFill>
                  <a:schemeClr val="dk1"/>
                </a:solidFill>
                <a:effectLst/>
                <a:uFillTx/>
                <a:latin typeface="Arial"/>
              </a:rPr>
              <a:t>Web Authentication can be used as fallback for guests or devices that cannot perform 802.1x or MAB. </a:t>
            </a:r>
            <a:endParaRPr lang="en-US" sz="2000" b="0" u="none" strike="noStrike">
              <a:solidFill>
                <a:schemeClr val="dk1"/>
              </a:solidFill>
              <a:effectLst/>
              <a:uFillTx/>
              <a:latin typeface="Aptos"/>
            </a:endParaRPr>
          </a:p>
          <a:p>
            <a:pPr marL="360000" indent="-324000" algn="l" defTabSz="914400">
              <a:lnSpc>
                <a:spcPct val="90000"/>
              </a:lnSpc>
              <a:spcBef>
                <a:spcPts val="1001"/>
              </a:spcBef>
              <a:buClr>
                <a:srgbClr val="000000"/>
              </a:buClr>
              <a:buFont typeface="Arial"/>
              <a:buChar char="•"/>
              <a:tabLst>
                <a:tab pos="0" algn="l"/>
              </a:tabLst>
            </a:pPr>
            <a:r>
              <a:rPr lang="en-US" sz="2000" b="0" u="none" strike="noStrike">
                <a:solidFill>
                  <a:schemeClr val="dk1"/>
                </a:solidFill>
                <a:effectLst/>
                <a:uFillTx/>
                <a:latin typeface="Arial"/>
              </a:rPr>
              <a:t>If both MAB and WebAuth are enabled as fallback to dot1x, then it performs MAB first, if not successful then it performs WebAuth.</a:t>
            </a:r>
            <a:endParaRPr lang="en-US" sz="2000" b="0" u="none" strike="noStrike">
              <a:solidFill>
                <a:schemeClr val="dk1"/>
              </a:solidFill>
              <a:effectLst/>
              <a:uFillTx/>
              <a:latin typeface="Aptos"/>
            </a:endParaRPr>
          </a:p>
          <a:p>
            <a:pPr marL="360000" indent="-324000" algn="l" defTabSz="914400">
              <a:lnSpc>
                <a:spcPct val="90000"/>
              </a:lnSpc>
              <a:spcBef>
                <a:spcPts val="1001"/>
              </a:spcBef>
              <a:buClr>
                <a:srgbClr val="000000"/>
              </a:buClr>
              <a:buFont typeface="Arial"/>
              <a:buChar char="•"/>
              <a:tabLst>
                <a:tab pos="0" algn="l"/>
              </a:tabLst>
            </a:pPr>
            <a:r>
              <a:rPr lang="en-US" sz="2000" b="0" u="none" strike="noStrike">
                <a:solidFill>
                  <a:schemeClr val="dk1"/>
                </a:solidFill>
                <a:effectLst/>
                <a:uFillTx/>
                <a:latin typeface="Arial"/>
              </a:rPr>
              <a:t>Unlike MAB, WebAuth is only for users and is not supported to authenticate devices.</a:t>
            </a:r>
            <a:endParaRPr lang="en-US" sz="2000" b="0" u="none" strike="noStrike">
              <a:solidFill>
                <a:schemeClr val="dk1"/>
              </a:solidFill>
              <a:effectLst/>
              <a:uFillTx/>
              <a:latin typeface="Aptos"/>
            </a:endParaRPr>
          </a:p>
          <a:p>
            <a:pPr marL="360000" indent="-324000" algn="l" defTabSz="914400">
              <a:lnSpc>
                <a:spcPct val="90000"/>
              </a:lnSpc>
              <a:spcBef>
                <a:spcPts val="1001"/>
              </a:spcBef>
              <a:buClr>
                <a:srgbClr val="000000"/>
              </a:buClr>
              <a:buFont typeface="Arial"/>
              <a:buChar char="•"/>
              <a:tabLst>
                <a:tab pos="0" algn="l"/>
              </a:tabLst>
            </a:pPr>
            <a:r>
              <a:rPr lang="en-AU" sz="2000" b="0" u="none" strike="noStrike">
                <a:solidFill>
                  <a:schemeClr val="dk1"/>
                </a:solidFill>
                <a:effectLst/>
                <a:uFillTx/>
                <a:latin typeface="Arial"/>
              </a:rPr>
              <a:t>Two Types of WebAuth : </a:t>
            </a:r>
            <a:endParaRPr lang="en-US" sz="2000" b="0" u="none" strike="noStrike">
              <a:solidFill>
                <a:schemeClr val="dk1"/>
              </a:solidFill>
              <a:effectLst/>
              <a:uFillTx/>
              <a:latin typeface="Aptos"/>
            </a:endParaRPr>
          </a:p>
          <a:p>
            <a:pPr marL="720000" indent="-324000" algn="l" defTabSz="914400">
              <a:lnSpc>
                <a:spcPct val="90000"/>
              </a:lnSpc>
              <a:spcBef>
                <a:spcPts val="1001"/>
              </a:spcBef>
              <a:buClr>
                <a:srgbClr val="000000"/>
              </a:buClr>
              <a:buFont typeface="Arial"/>
              <a:buAutoNum type="arabicPeriod"/>
              <a:tabLst>
                <a:tab pos="0" algn="l"/>
              </a:tabLst>
            </a:pPr>
            <a:r>
              <a:rPr lang="en-AU" sz="2000" b="1" u="none" strike="noStrike">
                <a:solidFill>
                  <a:schemeClr val="dk1"/>
                </a:solidFill>
                <a:effectLst/>
                <a:uFillTx/>
                <a:latin typeface="Arial"/>
              </a:rPr>
              <a:t>Local WebAuth (LWA)</a:t>
            </a:r>
            <a:endParaRPr lang="en-US" sz="2000" b="0" u="none" strike="noStrike">
              <a:solidFill>
                <a:schemeClr val="dk1"/>
              </a:solidFill>
              <a:effectLst/>
              <a:uFillTx/>
              <a:latin typeface="Aptos"/>
            </a:endParaRPr>
          </a:p>
          <a:p>
            <a:pPr marL="1080000" indent="-324000" algn="l" defTabSz="914400">
              <a:lnSpc>
                <a:spcPct val="90000"/>
              </a:lnSpc>
              <a:spcBef>
                <a:spcPts val="1001"/>
              </a:spcBef>
              <a:buClr>
                <a:srgbClr val="000000"/>
              </a:buClr>
              <a:buSzPct val="45000"/>
              <a:buFont typeface="Wingdings" charset="2"/>
              <a:buChar char=""/>
              <a:tabLst>
                <a:tab pos="0" algn="l"/>
              </a:tabLst>
            </a:pPr>
            <a:r>
              <a:rPr lang="en-AU" sz="2000" b="0" u="none" strike="noStrike">
                <a:solidFill>
                  <a:schemeClr val="dk1"/>
                </a:solidFill>
                <a:effectLst/>
                <a:uFillTx/>
                <a:latin typeface="Arial"/>
              </a:rPr>
              <a:t>Authenticator (Switch or WLC) hosts the web portal.</a:t>
            </a:r>
            <a:endParaRPr lang="en-US" sz="2000" b="0" u="none" strike="noStrike">
              <a:solidFill>
                <a:schemeClr val="dk1"/>
              </a:solidFill>
              <a:effectLst/>
              <a:uFillTx/>
              <a:latin typeface="Aptos"/>
            </a:endParaRPr>
          </a:p>
          <a:p>
            <a:pPr marL="1080000" indent="-324000" algn="l" defTabSz="914400">
              <a:lnSpc>
                <a:spcPct val="90000"/>
              </a:lnSpc>
              <a:spcBef>
                <a:spcPts val="1001"/>
              </a:spcBef>
              <a:buClr>
                <a:srgbClr val="000000"/>
              </a:buClr>
              <a:buSzPct val="45000"/>
              <a:buFont typeface="Wingdings" charset="2"/>
              <a:buChar char=""/>
              <a:tabLst>
                <a:tab pos="0" algn="l"/>
              </a:tabLst>
            </a:pPr>
            <a:r>
              <a:rPr lang="en-AU" sz="2000" b="0" u="none" strike="noStrike">
                <a:solidFill>
                  <a:schemeClr val="dk1"/>
                </a:solidFill>
                <a:effectLst/>
                <a:uFillTx/>
                <a:latin typeface="Arial"/>
              </a:rPr>
              <a:t>Once the user provides username and password, authenticator sends a RADIUS ‘</a:t>
            </a:r>
            <a:r>
              <a:rPr lang="en-AU" sz="2000" b="1" i="1" u="none" strike="noStrike">
                <a:solidFill>
                  <a:schemeClr val="dk1"/>
                </a:solidFill>
                <a:effectLst/>
                <a:uFillTx/>
                <a:latin typeface="Arial"/>
              </a:rPr>
              <a:t>Access-Request</a:t>
            </a:r>
            <a:r>
              <a:rPr lang="en-AU" sz="2000" b="0" u="none" strike="noStrike">
                <a:solidFill>
                  <a:schemeClr val="dk1"/>
                </a:solidFill>
                <a:effectLst/>
                <a:uFillTx/>
                <a:latin typeface="Arial"/>
              </a:rPr>
              <a:t>’ message to ISE.</a:t>
            </a:r>
            <a:endParaRPr lang="en-US" sz="2000" b="0" u="none" strike="noStrike">
              <a:solidFill>
                <a:schemeClr val="dk1"/>
              </a:solidFill>
              <a:effectLst/>
              <a:uFillTx/>
              <a:latin typeface="Aptos"/>
            </a:endParaRPr>
          </a:p>
          <a:p>
            <a:pPr marL="1080000" indent="-324000" algn="l" defTabSz="914400">
              <a:lnSpc>
                <a:spcPct val="90000"/>
              </a:lnSpc>
              <a:spcBef>
                <a:spcPts val="1001"/>
              </a:spcBef>
              <a:buClr>
                <a:srgbClr val="000000"/>
              </a:buClr>
              <a:buSzPct val="45000"/>
              <a:buFont typeface="Wingdings" charset="2"/>
              <a:buChar char=""/>
              <a:tabLst>
                <a:tab pos="0" algn="l"/>
              </a:tabLst>
            </a:pPr>
            <a:r>
              <a:rPr lang="en-AU" sz="2000" b="0" u="none" strike="noStrike">
                <a:solidFill>
                  <a:schemeClr val="dk1"/>
                </a:solidFill>
                <a:effectLst/>
                <a:uFillTx/>
                <a:latin typeface="Arial"/>
              </a:rPr>
              <a:t>The web portal hosted by authenticator is not customizable such as acceptance of End User License Agreement (EULA) page.</a:t>
            </a:r>
            <a:endParaRPr lang="en-US" sz="2000" b="0" u="none" strike="noStrike">
              <a:solidFill>
                <a:schemeClr val="dk1"/>
              </a:solidFill>
              <a:effectLst/>
              <a:uFillTx/>
              <a:latin typeface="Aptos"/>
            </a:endParaRPr>
          </a:p>
          <a:p>
            <a:pPr marL="1080000" indent="-324000" algn="l" defTabSz="914400">
              <a:lnSpc>
                <a:spcPct val="90000"/>
              </a:lnSpc>
              <a:spcBef>
                <a:spcPts val="1001"/>
              </a:spcBef>
              <a:buClr>
                <a:srgbClr val="000000"/>
              </a:buClr>
              <a:buSzPct val="45000"/>
              <a:buFont typeface="Wingdings" charset="2"/>
              <a:buChar char=""/>
              <a:tabLst>
                <a:tab pos="0" algn="l"/>
              </a:tabLst>
            </a:pPr>
            <a:r>
              <a:rPr lang="en-AU" sz="2000" b="0" u="none" strike="noStrike">
                <a:solidFill>
                  <a:schemeClr val="dk1"/>
                </a:solidFill>
                <a:effectLst/>
                <a:uFillTx/>
                <a:latin typeface="Arial"/>
              </a:rPr>
              <a:t>LWA only supports ACL assignment and does not support Change of Authorization (CoA) or VLAN assignment.</a:t>
            </a:r>
            <a:endParaRPr lang="en-US" sz="2000" b="0" u="none" strike="noStrike">
              <a:solidFill>
                <a:schemeClr val="dk1"/>
              </a:solidFill>
              <a:effectLst/>
              <a:uFillTx/>
              <a:latin typeface="Aptos"/>
            </a:endParaRPr>
          </a:p>
        </p:txBody>
      </p:sp>
      <p:sp>
        <p:nvSpPr>
          <p:cNvPr id="121" name=""/>
          <p:cNvSpPr/>
          <p:nvPr/>
        </p:nvSpPr>
        <p:spPr>
          <a:xfrm>
            <a:off x="180000" y="1800000"/>
            <a:ext cx="4139280" cy="4859280"/>
          </a:xfrm>
          <a:prstGeom prst="rect">
            <a:avLst/>
          </a:prstGeom>
          <a:noFill/>
          <a:ln w="0">
            <a:noFill/>
          </a:ln>
        </p:spPr>
        <p:style>
          <a:lnRef idx="0"/>
          <a:fillRef idx="0"/>
          <a:effectRef idx="0"/>
          <a:fontRef idx="minor"/>
        </p:style>
        <p:txBody>
          <a:bodyPr lIns="90000" tIns="45000" rIns="90000" bIns="45000" anchor="t">
            <a:spAutoFit/>
          </a:bodyPr>
          <a:p>
            <a:pPr marL="216000" indent="-216000">
              <a:lnSpc>
                <a:spcPct val="100000"/>
              </a:lnSpc>
              <a:buClr>
                <a:srgbClr val="000000"/>
              </a:buClr>
              <a:buFont typeface="OpenSymbol"/>
              <a:buAutoNum type="arabicPeriod" startAt="2"/>
            </a:pPr>
            <a:r>
              <a:rPr lang="en-AU" sz="2000" b="1" u="none" strike="noStrike">
                <a:solidFill>
                  <a:srgbClr val="000000"/>
                </a:solidFill>
                <a:effectLst/>
                <a:uFillTx/>
                <a:latin typeface="Arial"/>
              </a:rPr>
              <a:t>Centralised WebAuth (CWA) with ISE</a:t>
            </a:r>
            <a:endParaRPr lang="en-AU" sz="20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2000" b="0" u="none" strike="noStrike">
                <a:solidFill>
                  <a:srgbClr val="000000"/>
                </a:solidFill>
                <a:effectLst/>
                <a:uFillTx/>
                <a:latin typeface="Arial"/>
              </a:rPr>
              <a:t>Supports CoA for posture profiling, dACL and VLAN authorization options.</a:t>
            </a:r>
            <a:endParaRPr lang="en-AU" sz="20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2000" b="0" u="none" strike="noStrike">
                <a:solidFill>
                  <a:srgbClr val="000000"/>
                </a:solidFill>
                <a:effectLst/>
                <a:uFillTx/>
                <a:latin typeface="Arial"/>
              </a:rPr>
              <a:t>Supports advanced options such as client provisioning, posture assessments, acceptable use policies, password changing, self-registration and device registration.</a:t>
            </a:r>
            <a:endParaRPr lang="en-AU" sz="2000" b="0" u="none" strike="noStrike">
              <a:solidFill>
                <a:srgbClr val="000000"/>
              </a:solidFill>
              <a:effectLst/>
              <a:uFillTx/>
              <a:latin typeface="Arial"/>
            </a:endParaRPr>
          </a:p>
          <a:p>
            <a:pPr marL="216000" indent="-216000">
              <a:lnSpc>
                <a:spcPct val="100000"/>
              </a:lnSpc>
              <a:spcBef>
                <a:spcPts val="283"/>
              </a:spcBef>
              <a:spcAft>
                <a:spcPts val="283"/>
              </a:spcAft>
              <a:buClr>
                <a:srgbClr val="000000"/>
              </a:buClr>
              <a:buSzPct val="45000"/>
              <a:buFont typeface="Wingdings" charset="2"/>
              <a:buChar char=""/>
            </a:pPr>
            <a:r>
              <a:rPr lang="en-AU" sz="2000" b="0" u="none" strike="noStrike">
                <a:solidFill>
                  <a:srgbClr val="000000"/>
                </a:solidFill>
                <a:effectLst/>
                <a:uFillTx/>
                <a:latin typeface="Arial"/>
              </a:rPr>
              <a:t>CWA follows different steps than LWA.</a:t>
            </a:r>
            <a:endParaRPr lang="en-AU" sz="20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rPr>
              <a:t> </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2" name="Rectangle 2">
            <a:extLst>
              <a:ext uri="{C183D7F6-B498-43B3-948B-1728B52AA6E4}">
                <adec:decorative xmlns:adec="http://schemas.microsoft.com/office/drawing/2017/decorative" val="1"/>
              </a:ext>
            </a:extLst>
          </p:cNvPr>
          <p:cNvSpPr/>
          <p:nvPr/>
        </p:nvSpPr>
        <p:spPr>
          <a:xfrm>
            <a:off x="0" y="0"/>
            <a:ext cx="4499280" cy="161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3.NAC: </a:t>
            </a:r>
            <a:r>
              <a:rPr lang="en-US" sz="4400" b="1" u="none" strike="noStrike">
                <a:solidFill>
                  <a:schemeClr val="dk1"/>
                </a:solidFill>
                <a:effectLst/>
                <a:uFillTx/>
                <a:latin typeface="Arial"/>
              </a:rPr>
              <a:t> WebAuth</a:t>
            </a:r>
            <a:endParaRPr lang="en-AU" sz="4400" b="0" u="none" strike="noStrike">
              <a:solidFill>
                <a:srgbClr val="FFFFFF"/>
              </a:solidFill>
              <a:effectLst/>
              <a:uFillTx/>
              <a:latin typeface="Arial"/>
            </a:endParaRPr>
          </a:p>
        </p:txBody>
      </p:sp>
      <p:sp>
        <p:nvSpPr>
          <p:cNvPr id="123" name="PlaceHolder 1"/>
          <p:cNvSpPr>
            <a:spLocks noGrp="1"/>
          </p:cNvSpPr>
          <p:nvPr>
            <p:ph/>
          </p:nvPr>
        </p:nvSpPr>
        <p:spPr>
          <a:xfrm>
            <a:off x="4680000" y="432000"/>
            <a:ext cx="7019280" cy="5939280"/>
          </a:xfrm>
          <a:prstGeom prst="rect">
            <a:avLst/>
          </a:prstGeom>
          <a:noFill/>
          <a:ln w="0">
            <a:noFill/>
          </a:ln>
        </p:spPr>
        <p:txBody>
          <a:bodyPr lIns="91440" tIns="45720" rIns="91440" bIns="45720" anchor="t">
            <a:normAutofit fontScale="92500" lnSpcReduction="9999"/>
          </a:bodyPr>
          <a:p>
            <a:pPr indent="0" algn="l" defTabSz="914400">
              <a:lnSpc>
                <a:spcPct val="100000"/>
              </a:lnSpc>
              <a:spcBef>
                <a:spcPts val="1001"/>
              </a:spcBef>
              <a:buNone/>
              <a:tabLst>
                <a:tab pos="0" algn="l"/>
              </a:tabLst>
            </a:pPr>
            <a:r>
              <a:rPr lang="en-US" sz="2000" b="1" u="none" strike="noStrike">
                <a:solidFill>
                  <a:schemeClr val="dk1"/>
                </a:solidFill>
                <a:effectLst/>
                <a:uFillTx/>
                <a:latin typeface="Arial"/>
              </a:rPr>
              <a:t>CWA follows below steps:</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AutoNum type="arabicPeriod"/>
              <a:tabLst>
                <a:tab pos="0" algn="l"/>
              </a:tabLst>
            </a:pPr>
            <a:r>
              <a:rPr lang="en-US" sz="2000" b="0" u="none" strike="noStrike">
                <a:solidFill>
                  <a:srgbClr val="000000"/>
                </a:solidFill>
                <a:effectLst/>
                <a:uFillTx/>
                <a:latin typeface="Arial"/>
                <a:ea typeface="Microsoft YaHei"/>
              </a:rPr>
              <a:t>Device with missing or misconfigured supplicant enters the network.</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AutoNum type="arabicPeriod"/>
              <a:tabLst>
                <a:tab pos="0" algn="l"/>
              </a:tabLst>
            </a:pPr>
            <a:r>
              <a:rPr lang="en-US" sz="2000" b="0" u="none" strike="noStrike">
                <a:solidFill>
                  <a:srgbClr val="000000"/>
                </a:solidFill>
                <a:effectLst/>
                <a:uFillTx/>
                <a:latin typeface="Arial"/>
                <a:ea typeface="Microsoft YaHei"/>
              </a:rPr>
              <a:t>Switch performs MAB by sending RADIUS ‘</a:t>
            </a:r>
            <a:r>
              <a:rPr lang="en-US" sz="2000" b="1" i="1" u="none" strike="noStrike">
                <a:solidFill>
                  <a:srgbClr val="000000"/>
                </a:solidFill>
                <a:effectLst/>
                <a:uFillTx/>
                <a:latin typeface="Arial"/>
                <a:ea typeface="Microsoft YaHei"/>
              </a:rPr>
              <a:t>Access-Request</a:t>
            </a:r>
            <a:r>
              <a:rPr lang="en-US" sz="2000" b="0" u="none" strike="noStrike">
                <a:solidFill>
                  <a:srgbClr val="000000"/>
                </a:solidFill>
                <a:effectLst/>
                <a:uFillTx/>
                <a:latin typeface="Arial"/>
                <a:ea typeface="Microsoft YaHei"/>
              </a:rPr>
              <a:t>’ message to ISE.</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AutoNum type="arabicPeriod"/>
              <a:tabLst>
                <a:tab pos="0" algn="l"/>
              </a:tabLst>
            </a:pPr>
            <a:r>
              <a:rPr lang="en-US" sz="2000" b="0" u="none" strike="noStrike">
                <a:solidFill>
                  <a:srgbClr val="000000"/>
                </a:solidFill>
                <a:effectLst/>
                <a:uFillTx/>
                <a:latin typeface="Arial"/>
                <a:ea typeface="Microsoft YaHei"/>
              </a:rPr>
              <a:t>ISE sends RADIUS result with URL redirection to centralised web-portal hosted on itself.</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AutoNum type="arabicPeriod"/>
              <a:tabLst>
                <a:tab pos="0" algn="l"/>
              </a:tabLst>
            </a:pPr>
            <a:r>
              <a:rPr lang="en-US" sz="2000" b="0" u="none" strike="noStrike">
                <a:solidFill>
                  <a:schemeClr val="dk1"/>
                </a:solidFill>
                <a:effectLst/>
                <a:uFillTx/>
                <a:latin typeface="Arial"/>
                <a:ea typeface="Microsoft YaHei"/>
              </a:rPr>
              <a:t>Endpoint is assigned an IP address, default gateway and DNS server using DHCP.</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AutoNum type="arabicPeriod"/>
              <a:tabLst>
                <a:tab pos="0" algn="l"/>
              </a:tabLst>
            </a:pPr>
            <a:r>
              <a:rPr lang="en-US" sz="2000" b="0" u="none" strike="noStrike">
                <a:solidFill>
                  <a:schemeClr val="dk1"/>
                </a:solidFill>
                <a:effectLst/>
                <a:uFillTx/>
                <a:latin typeface="Arial"/>
                <a:ea typeface="Microsoft YaHei"/>
              </a:rPr>
              <a:t>End user sends credentials using the web-portal, ISE stores the credentials mapped with MAB request sent from the switch.</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AutoNum type="arabicPeriod"/>
              <a:tabLst>
                <a:tab pos="0" algn="l"/>
              </a:tabLst>
            </a:pPr>
            <a:r>
              <a:rPr lang="en-US" sz="2000" b="0" u="none" strike="noStrike">
                <a:solidFill>
                  <a:schemeClr val="dk1"/>
                </a:solidFill>
                <a:effectLst/>
                <a:uFillTx/>
                <a:latin typeface="Arial"/>
                <a:ea typeface="Microsoft YaHei"/>
              </a:rPr>
              <a:t>ISE sends a re-authentication (CoA re-auth) to the switch.</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AutoNum type="arabicPeriod"/>
              <a:tabLst>
                <a:tab pos="0" algn="l"/>
              </a:tabLst>
            </a:pPr>
            <a:r>
              <a:rPr lang="en-US" sz="2000" b="0" u="none" strike="noStrike">
                <a:solidFill>
                  <a:schemeClr val="dk1"/>
                </a:solidFill>
                <a:effectLst/>
                <a:uFillTx/>
                <a:latin typeface="Arial"/>
                <a:ea typeface="Microsoft YaHei"/>
              </a:rPr>
              <a:t>Switch sends new MAB request with same session ID to ISE.</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AutoNum type="arabicPeriod"/>
              <a:tabLst>
                <a:tab pos="0" algn="l"/>
              </a:tabLst>
            </a:pPr>
            <a:r>
              <a:rPr lang="en-US" sz="2000" b="0" u="none" strike="noStrike">
                <a:solidFill>
                  <a:schemeClr val="dk1"/>
                </a:solidFill>
                <a:effectLst/>
                <a:uFillTx/>
                <a:latin typeface="Arial"/>
                <a:ea typeface="Microsoft YaHei"/>
              </a:rPr>
              <a:t>ISE sends final authorization result with relevant access policies such as dACL, dVLAN and SGTs.</a:t>
            </a:r>
            <a:endParaRPr lang="en-US" sz="20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pic>
        <p:nvPicPr>
          <p:cNvPr id="124" name=""/>
          <p:cNvPicPr/>
          <p:nvPr/>
        </p:nvPicPr>
        <p:blipFill>
          <a:blip r:embed="rId1"/>
          <a:stretch/>
        </p:blipFill>
        <p:spPr>
          <a:xfrm>
            <a:off x="16920" y="1845360"/>
            <a:ext cx="4482360" cy="3373920"/>
          </a:xfrm>
          <a:prstGeom prst="rect">
            <a:avLst/>
          </a:prstGeom>
          <a:noFill/>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5" name="Rectangle 3">
            <a:extLst>
              <a:ext uri="{C183D7F6-B498-43B3-948B-1728B52AA6E4}">
                <adec:decorative xmlns:adec="http://schemas.microsoft.com/office/drawing/2017/decorative" val="1"/>
              </a:ext>
            </a:extLst>
          </p:cNvPr>
          <p:cNvSpPr/>
          <p:nvPr/>
        </p:nvSpPr>
        <p:spPr>
          <a:xfrm>
            <a:off x="0" y="0"/>
            <a:ext cx="3239280" cy="683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3.NAC: </a:t>
            </a:r>
            <a:r>
              <a:rPr lang="en-US" sz="4400" b="1" u="none" strike="noStrike">
                <a:solidFill>
                  <a:srgbClr val="000000"/>
                </a:solidFill>
                <a:effectLst/>
                <a:uFillTx/>
                <a:latin typeface="Arial"/>
              </a:rPr>
              <a:t>FlexAuth</a:t>
            </a:r>
            <a:endParaRPr lang="en-AU" sz="4400" b="0" u="none" strike="noStrike">
              <a:solidFill>
                <a:srgbClr val="FFFFFF"/>
              </a:solidFill>
              <a:effectLst/>
              <a:uFillTx/>
              <a:latin typeface="Arial"/>
            </a:endParaRPr>
          </a:p>
        </p:txBody>
      </p:sp>
      <p:sp>
        <p:nvSpPr>
          <p:cNvPr id="126" name="PlaceHolder 1"/>
          <p:cNvSpPr>
            <a:spLocks noGrp="1"/>
          </p:cNvSpPr>
          <p:nvPr>
            <p:ph/>
          </p:nvPr>
        </p:nvSpPr>
        <p:spPr>
          <a:xfrm>
            <a:off x="4140000" y="540000"/>
            <a:ext cx="7379280" cy="5759280"/>
          </a:xfrm>
          <a:prstGeom prst="rect">
            <a:avLst/>
          </a:prstGeom>
          <a:noFill/>
          <a:ln w="0">
            <a:noFill/>
          </a:ln>
        </p:spPr>
        <p:txBody>
          <a:bodyPr lIns="91440" tIns="45720" rIns="91440" bIns="45720" anchor="t">
            <a:normAutofit fontScale="92500" lnSpcReduction="9999"/>
          </a:bodyPr>
          <a:p>
            <a:pPr indent="0" algn="l" defTabSz="914400">
              <a:lnSpc>
                <a:spcPct val="100000"/>
              </a:lnSpc>
              <a:spcBef>
                <a:spcPts val="1001"/>
              </a:spcBef>
              <a:buNone/>
              <a:tabLst>
                <a:tab pos="0" algn="l"/>
              </a:tabLst>
            </a:pPr>
            <a:r>
              <a:rPr lang="en-US" sz="2000" b="1" u="none" strike="noStrike">
                <a:solidFill>
                  <a:schemeClr val="dk1"/>
                </a:solidFill>
                <a:effectLst/>
                <a:uFillTx/>
                <a:latin typeface="Arial"/>
              </a:rPr>
              <a:t>Enhanced Flexible Authentication (FlexAuth):</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chemeClr val="dk1"/>
                </a:solidFill>
                <a:effectLst/>
                <a:uFillTx/>
                <a:latin typeface="Arial"/>
              </a:rPr>
              <a:t>A 802.1x enabled authenticator device will by default perform 802.1x first then MAB and then WebAuth.</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rgbClr val="000000"/>
                </a:solidFill>
                <a:effectLst/>
                <a:uFillTx/>
                <a:latin typeface="Arial"/>
                <a:ea typeface="Microsoft YaHei"/>
              </a:rPr>
              <a:t>Because of this a user trying to authenticate using WebAuth will have to wait a considerable amount of time.</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rgbClr val="000000"/>
                </a:solidFill>
                <a:effectLst/>
                <a:uFillTx/>
                <a:latin typeface="Arial"/>
                <a:ea typeface="Microsoft YaHei"/>
              </a:rPr>
              <a:t>FlexAuth also known as Access Session Manager is the solution that allows endpoint to try multiple authentication mechanism concurrently.</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rgbClr val="000000"/>
                </a:solidFill>
                <a:effectLst/>
                <a:uFillTx/>
                <a:latin typeface="Arial"/>
                <a:ea typeface="Microsoft YaHei"/>
              </a:rPr>
              <a:t>FlexAuth is a component of Cisco’s integrated access control solution IBNS.</a:t>
            </a:r>
            <a:endParaRPr lang="en-US" sz="2000" b="0" u="none" strike="noStrike">
              <a:solidFill>
                <a:schemeClr val="dk1"/>
              </a:solidFill>
              <a:effectLst/>
              <a:uFillTx/>
              <a:latin typeface="Aptos"/>
            </a:endParaRPr>
          </a:p>
          <a:p>
            <a:pPr indent="0" algn="l" defTabSz="914400">
              <a:lnSpc>
                <a:spcPct val="100000"/>
              </a:lnSpc>
              <a:spcBef>
                <a:spcPts val="1001"/>
              </a:spcBef>
              <a:buNone/>
              <a:tabLst>
                <a:tab pos="0" algn="l"/>
              </a:tabLst>
            </a:pPr>
            <a:r>
              <a:rPr lang="en-US" sz="2000" b="1" u="none" strike="noStrike">
                <a:solidFill>
                  <a:srgbClr val="000000"/>
                </a:solidFill>
                <a:effectLst/>
                <a:uFillTx/>
                <a:latin typeface="Arial"/>
                <a:ea typeface="Microsoft YaHei"/>
              </a:rPr>
              <a:t>Cisco Identity-Based Network Services (IBNS) 2.0</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rgbClr val="000000"/>
                </a:solidFill>
                <a:effectLst/>
                <a:uFillTx/>
                <a:latin typeface="Arial"/>
                <a:ea typeface="Microsoft YaHei"/>
              </a:rPr>
              <a:t>Integrated end-to-end solution that offers authentication, access control and user policy enforcement. </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rgbClr val="000000"/>
                </a:solidFill>
                <a:effectLst/>
                <a:uFillTx/>
                <a:latin typeface="Arial"/>
                <a:ea typeface="Microsoft YaHei"/>
              </a:rPr>
              <a:t>Combination of below existing solutions:</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Font typeface="Arial"/>
              <a:buAutoNum type="arabicPeriod"/>
              <a:tabLst>
                <a:tab pos="0" algn="l"/>
              </a:tabLst>
            </a:pPr>
            <a:r>
              <a:rPr lang="en-US" sz="2000" b="0" u="none" strike="noStrike">
                <a:solidFill>
                  <a:srgbClr val="000000"/>
                </a:solidFill>
                <a:effectLst/>
                <a:uFillTx/>
                <a:latin typeface="Arial"/>
                <a:ea typeface="Microsoft YaHei"/>
              </a:rPr>
              <a:t>Enhanced FlexAuth (Session Manager)</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Font typeface="Arial"/>
              <a:buAutoNum type="arabicPeriod"/>
              <a:tabLst>
                <a:tab pos="0" algn="l"/>
              </a:tabLst>
            </a:pPr>
            <a:r>
              <a:rPr lang="en-US" sz="2000" b="0" u="none" strike="noStrike">
                <a:solidFill>
                  <a:srgbClr val="000000"/>
                </a:solidFill>
                <a:effectLst/>
                <a:uFillTx/>
                <a:latin typeface="Arial"/>
                <a:ea typeface="Microsoft YaHei"/>
              </a:rPr>
              <a:t>Cisco Common Classification Policy Language (C3PL)</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Font typeface="Arial"/>
              <a:buAutoNum type="arabicPeriod"/>
              <a:tabLst>
                <a:tab pos="0" algn="l"/>
              </a:tabLst>
            </a:pPr>
            <a:r>
              <a:rPr lang="en-US" sz="2000" b="0" u="none" strike="noStrike">
                <a:solidFill>
                  <a:srgbClr val="000000"/>
                </a:solidFill>
                <a:effectLst/>
                <a:uFillTx/>
                <a:latin typeface="Arial"/>
                <a:ea typeface="Microsoft YaHei"/>
              </a:rPr>
              <a:t>Cisco Identity Services Engine (ISE)</a:t>
            </a:r>
            <a:endParaRPr lang="en-US" sz="20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27" name="Rectangle 4">
            <a:extLst>
              <a:ext uri="{C183D7F6-B498-43B3-948B-1728B52AA6E4}">
                <adec:decorative xmlns:adec="http://schemas.microsoft.com/office/drawing/2017/decorative" val="1"/>
              </a:ext>
            </a:extLst>
          </p:cNvPr>
          <p:cNvSpPr/>
          <p:nvPr/>
        </p:nvSpPr>
        <p:spPr>
          <a:xfrm>
            <a:off x="0" y="0"/>
            <a:ext cx="4319280" cy="143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3.NAC: </a:t>
            </a:r>
            <a:r>
              <a:rPr lang="en-US" sz="4400" b="1" u="none" strike="noStrike">
                <a:solidFill>
                  <a:srgbClr val="000000"/>
                </a:solidFill>
                <a:effectLst/>
                <a:uFillTx/>
                <a:latin typeface="Arial"/>
              </a:rPr>
              <a:t>TrustSec</a:t>
            </a:r>
            <a:endParaRPr lang="en-AU" sz="4400" b="0" u="none" strike="noStrike">
              <a:solidFill>
                <a:srgbClr val="FFFFFF"/>
              </a:solidFill>
              <a:effectLst/>
              <a:uFillTx/>
              <a:latin typeface="Arial"/>
            </a:endParaRPr>
          </a:p>
        </p:txBody>
      </p:sp>
      <p:sp>
        <p:nvSpPr>
          <p:cNvPr id="128" name="PlaceHolder 1"/>
          <p:cNvSpPr>
            <a:spLocks noGrp="1"/>
          </p:cNvSpPr>
          <p:nvPr>
            <p:ph/>
          </p:nvPr>
        </p:nvSpPr>
        <p:spPr>
          <a:xfrm>
            <a:off x="4320000" y="180000"/>
            <a:ext cx="7559280" cy="6479280"/>
          </a:xfrm>
          <a:prstGeom prst="rect">
            <a:avLst/>
          </a:prstGeom>
          <a:noFill/>
          <a:ln w="0">
            <a:noFill/>
          </a:ln>
        </p:spPr>
        <p:txBody>
          <a:bodyPr lIns="91440" tIns="45720" rIns="91440" bIns="45720" anchor="t">
            <a:normAutofit fontScale="85000" lnSpcReduction="9999"/>
          </a:bodyPr>
          <a:p>
            <a:pPr indent="0" algn="l" defTabSz="914400">
              <a:lnSpc>
                <a:spcPct val="100000"/>
              </a:lnSpc>
              <a:spcBef>
                <a:spcPts val="1001"/>
              </a:spcBef>
              <a:buNone/>
              <a:tabLst>
                <a:tab pos="0" algn="l"/>
              </a:tabLst>
            </a:pPr>
            <a:r>
              <a:rPr lang="en-US" sz="2000" b="1" u="none" strike="noStrike">
                <a:solidFill>
                  <a:schemeClr val="dk1"/>
                </a:solidFill>
                <a:effectLst/>
                <a:uFillTx/>
                <a:latin typeface="Arial"/>
              </a:rPr>
              <a:t>TrustSec</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rgbClr val="000000"/>
                </a:solidFill>
                <a:effectLst/>
                <a:uFillTx/>
                <a:latin typeface="Arial"/>
                <a:ea typeface="Microsoft YaHei"/>
              </a:rPr>
              <a:t>Next generation access control solution that uses Security Group Tag (SGT) tags instead of ACLs and firewall rules.</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rgbClr val="000000"/>
                </a:solidFill>
                <a:effectLst/>
                <a:uFillTx/>
                <a:latin typeface="Arial"/>
                <a:ea typeface="Microsoft YaHei"/>
              </a:rPr>
              <a:t>Unlike ACLs and firewall policies, TrustSec does not ties access policy to the topology (such as permit src ip to dst ip) .</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rgbClr val="000000"/>
                </a:solidFill>
                <a:effectLst/>
                <a:uFillTx/>
                <a:latin typeface="Arial"/>
                <a:ea typeface="Microsoft YaHei"/>
              </a:rPr>
              <a:t>Access policy with TrustSec is based on User group and roles no matter which part of the network the user connects from and what ip address the user is assigned.</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rgbClr val="000000"/>
                </a:solidFill>
                <a:effectLst/>
                <a:uFillTx/>
                <a:latin typeface="Arial"/>
                <a:ea typeface="Microsoft YaHei"/>
              </a:rPr>
              <a:t>Once the user/device is successfully authenticated and authorized through 802.1x, MAB or WebAuth, ISE assigns SGT tags to the endpoint.</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rgbClr val="000000"/>
                </a:solidFill>
                <a:effectLst/>
                <a:uFillTx/>
                <a:latin typeface="Arial"/>
                <a:ea typeface="Microsoft YaHei"/>
              </a:rPr>
              <a:t>Each SGT has name for readability, and has dec/hex value that is actually inserted into frames to identify the SGT. </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rgbClr val="000000"/>
                </a:solidFill>
                <a:effectLst/>
                <a:uFillTx/>
                <a:latin typeface="Arial"/>
                <a:ea typeface="Microsoft YaHei"/>
              </a:rPr>
              <a:t>TrustSec environment performs ingress tagging and egress filtering based on traffic SGT to enforce access policies.</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tabLst>
                <a:tab pos="0" algn="l"/>
              </a:tabLst>
            </a:pPr>
            <a:r>
              <a:rPr lang="en-US" sz="2000" b="0" u="none" strike="noStrike">
                <a:solidFill>
                  <a:srgbClr val="000000"/>
                </a:solidFill>
                <a:effectLst/>
                <a:uFillTx/>
                <a:latin typeface="Arial"/>
                <a:ea typeface="Microsoft YaHei"/>
              </a:rPr>
              <a:t>TrustSec environment consists of following components:</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SzPct val="45000"/>
              <a:buFont typeface="OpenSymbol"/>
              <a:buChar char="❒"/>
              <a:tabLst>
                <a:tab pos="0" algn="l"/>
              </a:tabLst>
            </a:pPr>
            <a:r>
              <a:rPr lang="en-US" sz="2000" b="0" u="none" strike="noStrike">
                <a:solidFill>
                  <a:srgbClr val="000000"/>
                </a:solidFill>
                <a:effectLst/>
                <a:uFillTx/>
                <a:latin typeface="Arial"/>
                <a:ea typeface="Microsoft YaHei"/>
              </a:rPr>
              <a:t>Ingress Classification : Assign SGT tags to users, devices or resources at ingress of TrustSec network.</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SzPct val="45000"/>
              <a:buFont typeface="OpenSymbol"/>
              <a:buChar char="❒"/>
              <a:tabLst>
                <a:tab pos="0" algn="l"/>
              </a:tabLst>
            </a:pPr>
            <a:r>
              <a:rPr lang="en-US" sz="2000" b="0" u="none" strike="noStrike">
                <a:solidFill>
                  <a:srgbClr val="000000"/>
                </a:solidFill>
                <a:effectLst/>
                <a:uFillTx/>
                <a:latin typeface="Arial"/>
                <a:ea typeface="Microsoft YaHei"/>
              </a:rPr>
              <a:t>Propagation: Propagation of assigned tags from source to destination TrustSec devices.</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SzPct val="45000"/>
              <a:buFont typeface="OpenSymbol"/>
              <a:buChar char="❒"/>
              <a:tabLst>
                <a:tab pos="0" algn="l"/>
              </a:tabLst>
            </a:pPr>
            <a:r>
              <a:rPr lang="en-US" sz="2000" b="0" u="none" strike="noStrike">
                <a:solidFill>
                  <a:srgbClr val="000000"/>
                </a:solidFill>
                <a:effectLst/>
                <a:uFillTx/>
                <a:latin typeface="Arial"/>
                <a:ea typeface="Microsoft YaHei"/>
              </a:rPr>
              <a:t>Egress Enforcement: Enforcing policies to user traffic as per the SGT policy at egress.</a:t>
            </a:r>
            <a:endParaRPr lang="en-US" sz="2000" b="0" u="none" strike="noStrike">
              <a:solidFill>
                <a:schemeClr val="dk1"/>
              </a:solidFill>
              <a:effectLst/>
              <a:uFillTx/>
              <a:latin typeface="Aptos"/>
            </a:endParaRPr>
          </a:p>
        </p:txBody>
      </p:sp>
      <p:pic>
        <p:nvPicPr>
          <p:cNvPr id="129" name=""/>
          <p:cNvPicPr/>
          <p:nvPr/>
        </p:nvPicPr>
        <p:blipFill>
          <a:blip r:embed="rId1"/>
          <a:stretch/>
        </p:blipFill>
        <p:spPr>
          <a:xfrm>
            <a:off x="119520" y="1599480"/>
            <a:ext cx="4199760" cy="289980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0" name="Rectangle 5">
            <a:extLst>
              <a:ext uri="{C183D7F6-B498-43B3-948B-1728B52AA6E4}">
                <adec:decorative xmlns:adec="http://schemas.microsoft.com/office/drawing/2017/decorative" val="1"/>
              </a:ext>
            </a:extLst>
          </p:cNvPr>
          <p:cNvSpPr/>
          <p:nvPr/>
        </p:nvSpPr>
        <p:spPr>
          <a:xfrm>
            <a:off x="0" y="0"/>
            <a:ext cx="5399280" cy="143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3.NAC: </a:t>
            </a:r>
            <a:r>
              <a:rPr lang="en-US" sz="4400" b="1" u="none" strike="noStrike">
                <a:solidFill>
                  <a:srgbClr val="000000"/>
                </a:solidFill>
                <a:effectLst/>
                <a:uFillTx/>
                <a:latin typeface="Arial"/>
              </a:rPr>
              <a:t>TrustSec</a:t>
            </a:r>
            <a:endParaRPr lang="en-AU" sz="4400" b="0" u="none" strike="noStrike">
              <a:solidFill>
                <a:srgbClr val="FFFFFF"/>
              </a:solidFill>
              <a:effectLst/>
              <a:uFillTx/>
              <a:latin typeface="Arial"/>
            </a:endParaRPr>
          </a:p>
        </p:txBody>
      </p:sp>
      <p:sp>
        <p:nvSpPr>
          <p:cNvPr id="131" name="PlaceHolder 1"/>
          <p:cNvSpPr>
            <a:spLocks noGrp="1"/>
          </p:cNvSpPr>
          <p:nvPr>
            <p:ph/>
          </p:nvPr>
        </p:nvSpPr>
        <p:spPr>
          <a:xfrm>
            <a:off x="5580000" y="108000"/>
            <a:ext cx="6371280" cy="6479280"/>
          </a:xfrm>
          <a:prstGeom prst="rect">
            <a:avLst/>
          </a:prstGeom>
          <a:noFill/>
          <a:ln w="0">
            <a:noFill/>
          </a:ln>
        </p:spPr>
        <p:txBody>
          <a:bodyPr lIns="91440" tIns="45720" rIns="91440" bIns="45720" anchor="t">
            <a:normAutofit fontScale="85000" lnSpcReduction="9999"/>
          </a:bodyPr>
          <a:p>
            <a:pPr indent="0" algn="l" defTabSz="914400">
              <a:lnSpc>
                <a:spcPct val="100000"/>
              </a:lnSpc>
              <a:spcBef>
                <a:spcPts val="1001"/>
              </a:spcBef>
              <a:buNone/>
              <a:tabLst>
                <a:tab pos="0" algn="l"/>
              </a:tabLst>
            </a:pPr>
            <a:r>
              <a:rPr lang="en-US" sz="2000" b="1" u="none" strike="noStrike">
                <a:solidFill>
                  <a:srgbClr val="000000"/>
                </a:solidFill>
                <a:effectLst/>
                <a:uFillTx/>
                <a:latin typeface="Arial"/>
                <a:ea typeface="Microsoft YaHei"/>
              </a:rPr>
              <a:t>Ingress Classification :</a:t>
            </a:r>
            <a:r>
              <a:rPr lang="en-US" sz="2000" b="0" u="none" strike="noStrike">
                <a:solidFill>
                  <a:srgbClr val="000000"/>
                </a:solidFill>
                <a:effectLst/>
                <a:uFillTx/>
                <a:latin typeface="Arial"/>
                <a:ea typeface="Microsoft YaHei"/>
              </a:rPr>
              <a:t> Can be done in one of two ways</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AutoNum type="arabicPeriod"/>
              <a:tabLst>
                <a:tab pos="0" algn="l"/>
              </a:tabLst>
            </a:pPr>
            <a:r>
              <a:rPr lang="en-US" sz="2000" b="1" u="none" strike="noStrike">
                <a:solidFill>
                  <a:srgbClr val="000000"/>
                </a:solidFill>
                <a:effectLst/>
                <a:uFillTx/>
                <a:latin typeface="Arial"/>
                <a:ea typeface="Microsoft YaHei"/>
              </a:rPr>
              <a:t>Dynamic Assignment:</a:t>
            </a:r>
            <a:r>
              <a:rPr lang="en-US" sz="2000" b="0" u="none" strike="noStrike">
                <a:solidFill>
                  <a:srgbClr val="000000"/>
                </a:solidFill>
                <a:effectLst/>
                <a:uFillTx/>
                <a:latin typeface="Arial"/>
                <a:ea typeface="Microsoft YaHei"/>
              </a:rPr>
              <a:t> Assign dynamically and is downloaded as an authorization option during 802.1x, MAB or WebAuth.   </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AutoNum type="arabicPeriod"/>
              <a:tabLst>
                <a:tab pos="0" algn="l"/>
              </a:tabLst>
            </a:pPr>
            <a:r>
              <a:rPr lang="en-US" sz="2000" b="1" u="none" strike="noStrike">
                <a:solidFill>
                  <a:srgbClr val="000000"/>
                </a:solidFill>
                <a:effectLst/>
                <a:uFillTx/>
                <a:latin typeface="Arial"/>
                <a:ea typeface="Microsoft YaHei"/>
              </a:rPr>
              <a:t>Static Assignment:</a:t>
            </a:r>
            <a:r>
              <a:rPr lang="en-US" sz="2000" b="0" u="none" strike="noStrike">
                <a:solidFill>
                  <a:srgbClr val="000000"/>
                </a:solidFill>
                <a:effectLst/>
                <a:uFillTx/>
                <a:latin typeface="Arial"/>
                <a:ea typeface="Microsoft YaHei"/>
              </a:rPr>
              <a:t> In environments where 802.1x,MAB or WebAuth is not used dynamic assignment is not possible.</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SzPct val="45000"/>
              <a:buFont typeface="Wingdings" charset="2"/>
              <a:buChar char=""/>
              <a:tabLst>
                <a:tab pos="0" algn="l"/>
              </a:tabLst>
            </a:pPr>
            <a:r>
              <a:rPr lang="en-US" sz="2000" b="0" u="none" strike="noStrike">
                <a:solidFill>
                  <a:srgbClr val="000000"/>
                </a:solidFill>
                <a:effectLst/>
                <a:uFillTx/>
                <a:latin typeface="Arial"/>
                <a:ea typeface="Microsoft YaHei"/>
              </a:rPr>
              <a:t>In such cases SGT tags are statically mapped on SGT capable network devices.</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SzPct val="45000"/>
              <a:buFont typeface="Wingdings" charset="2"/>
              <a:buChar char=""/>
              <a:tabLst>
                <a:tab pos="0" algn="l"/>
              </a:tabLst>
            </a:pPr>
            <a:r>
              <a:rPr lang="en-US" sz="2000" b="0" u="none" strike="noStrike">
                <a:solidFill>
                  <a:srgbClr val="000000"/>
                </a:solidFill>
                <a:effectLst/>
                <a:uFillTx/>
                <a:latin typeface="Arial"/>
                <a:ea typeface="Microsoft YaHei"/>
              </a:rPr>
              <a:t>Alternatively, ISE can be configured with database of IP to SGT tag that can be downloaded by SGT capable network devices.</a:t>
            </a:r>
            <a:endParaRPr lang="en-US" sz="2000" b="0" u="none" strike="noStrike">
              <a:solidFill>
                <a:schemeClr val="dk1"/>
              </a:solidFill>
              <a:effectLst/>
              <a:uFillTx/>
              <a:latin typeface="Aptos"/>
            </a:endParaRPr>
          </a:p>
          <a:p>
            <a:pPr marL="360000" indent="0" algn="l" defTabSz="914400">
              <a:lnSpc>
                <a:spcPct val="100000"/>
              </a:lnSpc>
              <a:spcBef>
                <a:spcPts val="1001"/>
              </a:spcBef>
              <a:buNone/>
              <a:tabLst>
                <a:tab pos="0" algn="l"/>
              </a:tabLst>
            </a:pPr>
            <a:r>
              <a:rPr lang="en-US" sz="2000" b="1" u="none" strike="noStrike">
                <a:solidFill>
                  <a:srgbClr val="000000"/>
                </a:solidFill>
                <a:effectLst/>
                <a:uFillTx/>
                <a:latin typeface="Arial"/>
                <a:ea typeface="Microsoft YaHei"/>
              </a:rPr>
              <a:t>Static mapping of SGT tags can be one of the following:</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SzPct val="45000"/>
              <a:buFont typeface="OpenSymbol"/>
              <a:buChar char="-"/>
              <a:tabLst>
                <a:tab pos="0" algn="l"/>
              </a:tabLst>
            </a:pPr>
            <a:r>
              <a:rPr lang="en-US" sz="2000" b="0" u="none" strike="noStrike">
                <a:solidFill>
                  <a:srgbClr val="000000"/>
                </a:solidFill>
                <a:effectLst/>
                <a:uFillTx/>
                <a:latin typeface="Arial"/>
                <a:ea typeface="Microsoft YaHei"/>
              </a:rPr>
              <a:t>IP to SGT tag</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SzPct val="45000"/>
              <a:buFont typeface="OpenSymbol"/>
              <a:buChar char="-"/>
              <a:tabLst>
                <a:tab pos="0" algn="l"/>
              </a:tabLst>
            </a:pPr>
            <a:r>
              <a:rPr lang="en-US" sz="2000" b="0" u="none" strike="noStrike">
                <a:solidFill>
                  <a:srgbClr val="000000"/>
                </a:solidFill>
                <a:effectLst/>
                <a:uFillTx/>
                <a:latin typeface="Arial"/>
                <a:ea typeface="Microsoft YaHei"/>
              </a:rPr>
              <a:t>Subnet to SGT tag</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SzPct val="45000"/>
              <a:buFont typeface="OpenSymbol"/>
              <a:buChar char="-"/>
              <a:tabLst>
                <a:tab pos="0" algn="l"/>
              </a:tabLst>
            </a:pPr>
            <a:r>
              <a:rPr lang="en-US" sz="2000" b="0" u="none" strike="noStrike">
                <a:solidFill>
                  <a:srgbClr val="000000"/>
                </a:solidFill>
                <a:effectLst/>
                <a:uFillTx/>
                <a:latin typeface="Arial"/>
                <a:ea typeface="Microsoft YaHei"/>
              </a:rPr>
              <a:t>VLAN to SGT tag</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SzPct val="45000"/>
              <a:buFont typeface="OpenSymbol"/>
              <a:buChar char="-"/>
              <a:tabLst>
                <a:tab pos="0" algn="l"/>
              </a:tabLst>
            </a:pPr>
            <a:r>
              <a:rPr lang="en-US" sz="2000" b="0" u="none" strike="noStrike">
                <a:solidFill>
                  <a:srgbClr val="000000"/>
                </a:solidFill>
                <a:effectLst/>
                <a:uFillTx/>
                <a:latin typeface="Arial"/>
                <a:ea typeface="Microsoft YaHei"/>
              </a:rPr>
              <a:t>Layer 2 interface to SGT tag</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SzPct val="45000"/>
              <a:buFont typeface="OpenSymbol"/>
              <a:buChar char="-"/>
              <a:tabLst>
                <a:tab pos="0" algn="l"/>
              </a:tabLst>
            </a:pPr>
            <a:r>
              <a:rPr lang="en-US" sz="2000" b="0" u="none" strike="noStrike">
                <a:solidFill>
                  <a:srgbClr val="000000"/>
                </a:solidFill>
                <a:effectLst/>
                <a:uFillTx/>
                <a:latin typeface="Arial"/>
                <a:ea typeface="Microsoft YaHei"/>
              </a:rPr>
              <a:t>Layer 3 interface to SGT tag</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SzPct val="45000"/>
              <a:buFont typeface="OpenSymbol"/>
              <a:buChar char="-"/>
              <a:tabLst>
                <a:tab pos="0" algn="l"/>
              </a:tabLst>
            </a:pPr>
            <a:r>
              <a:rPr lang="en-US" sz="2000" b="0" u="none" strike="noStrike">
                <a:solidFill>
                  <a:srgbClr val="000000"/>
                </a:solidFill>
                <a:effectLst/>
                <a:uFillTx/>
                <a:latin typeface="Arial"/>
                <a:ea typeface="Microsoft YaHei"/>
              </a:rPr>
              <a:t>Port to SGT tag</a:t>
            </a:r>
            <a:endParaRPr lang="en-US" sz="2000" b="0" u="none" strike="noStrike">
              <a:solidFill>
                <a:schemeClr val="dk1"/>
              </a:solidFill>
              <a:effectLst/>
              <a:uFillTx/>
              <a:latin typeface="Aptos"/>
            </a:endParaRPr>
          </a:p>
          <a:p>
            <a:pPr marL="720000" indent="-324000" algn="l" defTabSz="914400">
              <a:lnSpc>
                <a:spcPct val="100000"/>
              </a:lnSpc>
              <a:spcBef>
                <a:spcPts val="1001"/>
              </a:spcBef>
              <a:buClr>
                <a:srgbClr val="000000"/>
              </a:buClr>
              <a:buSzPct val="45000"/>
              <a:buFont typeface="OpenSymbol"/>
              <a:buChar char="-"/>
              <a:tabLst>
                <a:tab pos="0" algn="l"/>
              </a:tabLst>
            </a:pPr>
            <a:r>
              <a:rPr lang="en-US" sz="2000" b="0" u="none" strike="noStrike">
                <a:solidFill>
                  <a:srgbClr val="000000"/>
                </a:solidFill>
                <a:effectLst/>
                <a:uFillTx/>
                <a:latin typeface="Arial"/>
                <a:ea typeface="Microsoft YaHei"/>
              </a:rPr>
              <a:t>Port profile to SGT tag.</a:t>
            </a:r>
            <a:endParaRPr lang="en-US" sz="2000" b="0" u="none" strike="noStrike">
              <a:solidFill>
                <a:schemeClr val="dk1"/>
              </a:solidFill>
              <a:effectLst/>
              <a:uFillTx/>
              <a:latin typeface="Aptos"/>
            </a:endParaRPr>
          </a:p>
        </p:txBody>
      </p:sp>
      <p:sp>
        <p:nvSpPr>
          <p:cNvPr id="132" name=""/>
          <p:cNvSpPr/>
          <p:nvPr/>
        </p:nvSpPr>
        <p:spPr>
          <a:xfrm>
            <a:off x="72000" y="1620000"/>
            <a:ext cx="5219280" cy="55760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800" b="1" u="none" strike="noStrike">
                <a:solidFill>
                  <a:srgbClr val="000000"/>
                </a:solidFill>
                <a:effectLst/>
                <a:uFillTx/>
                <a:latin typeface="Arial"/>
              </a:rPr>
              <a:t>Propagation: Can be done in one of two ways</a:t>
            </a:r>
            <a:endParaRPr lang="en-AU" sz="1800" b="0" u="none" strike="noStrike">
              <a:solidFill>
                <a:srgbClr val="000000"/>
              </a:solidFill>
              <a:effectLst/>
              <a:uFillTx/>
              <a:latin typeface="Arial"/>
            </a:endParaRPr>
          </a:p>
          <a:p>
            <a:pPr marL="324000" indent="-324000">
              <a:lnSpc>
                <a:spcPct val="100000"/>
              </a:lnSpc>
              <a:buClr>
                <a:srgbClr val="000000"/>
              </a:buClr>
              <a:buFont typeface="OpenSymbol"/>
              <a:buAutoNum type="arabicPeriod"/>
            </a:pPr>
            <a:r>
              <a:rPr lang="en-AU" sz="1800" b="1" u="none" strike="noStrike">
                <a:solidFill>
                  <a:srgbClr val="000000"/>
                </a:solidFill>
                <a:effectLst/>
                <a:uFillTx/>
                <a:latin typeface="Arial"/>
              </a:rPr>
              <a:t>Inline (Native) Tagging: </a:t>
            </a:r>
            <a:r>
              <a:rPr lang="en-AU" sz="1800" b="0" u="none" strike="noStrike">
                <a:solidFill>
                  <a:srgbClr val="000000"/>
                </a:solidFill>
                <a:effectLst/>
                <a:uFillTx/>
                <a:latin typeface="Arial"/>
              </a:rPr>
              <a:t>Tag propagation happens in data plane where tags are transmitted along with frames.</a:t>
            </a:r>
            <a:endParaRPr lang="en-AU" sz="1800" b="0" u="none" strike="noStrike">
              <a:solidFill>
                <a:srgbClr val="000000"/>
              </a:solidFill>
              <a:effectLst/>
              <a:uFillTx/>
              <a:latin typeface="Arial"/>
            </a:endParaRPr>
          </a:p>
          <a:p>
            <a:pPr marL="324000" indent="-324000">
              <a:lnSpc>
                <a:spcPct val="100000"/>
              </a:lnSpc>
              <a:buClr>
                <a:srgbClr val="000000"/>
              </a:buClr>
              <a:buFont typeface="OpenSymbol"/>
              <a:buAutoNum type="arabicPeriod"/>
            </a:pPr>
            <a:r>
              <a:rPr lang="en-AU" sz="1800" b="0" u="none" strike="noStrike">
                <a:solidFill>
                  <a:srgbClr val="000000"/>
                </a:solidFill>
                <a:effectLst/>
                <a:uFillTx/>
                <a:latin typeface="Arial"/>
              </a:rPr>
              <a:t>As tags are inserted into the frame, it is layer 3 independent and not impacted by any routing or firewall policy. </a:t>
            </a:r>
            <a:endParaRPr lang="en-AU" sz="1800" b="0" u="none" strike="noStrike">
              <a:solidFill>
                <a:srgbClr val="000000"/>
              </a:solidFill>
              <a:effectLst/>
              <a:uFillTx/>
              <a:latin typeface="Arial"/>
            </a:endParaRPr>
          </a:p>
          <a:p>
            <a:pPr marL="324000" indent="-324000">
              <a:lnSpc>
                <a:spcPct val="100000"/>
              </a:lnSpc>
              <a:buClr>
                <a:srgbClr val="000000"/>
              </a:buClr>
              <a:buFont typeface="OpenSymbol"/>
              <a:buAutoNum type="arabicPeriod"/>
            </a:pPr>
            <a:r>
              <a:rPr lang="en-AU" sz="1800" b="0" u="none" strike="noStrike">
                <a:solidFill>
                  <a:srgbClr val="000000"/>
                </a:solidFill>
                <a:effectLst/>
                <a:uFillTx/>
                <a:latin typeface="Arial"/>
              </a:rPr>
              <a:t>Network devices that do not have ASIC support for TrustSec drops the SGT inserted frame.</a:t>
            </a:r>
            <a:endParaRPr lang="en-AU" sz="1800" b="0" u="none" strike="noStrike">
              <a:solidFill>
                <a:srgbClr val="000000"/>
              </a:solidFill>
              <a:effectLst/>
              <a:uFillTx/>
              <a:latin typeface="Arial"/>
            </a:endParaRPr>
          </a:p>
          <a:p>
            <a:pPr marL="324000" indent="-324000">
              <a:lnSpc>
                <a:spcPct val="100000"/>
              </a:lnSpc>
              <a:buClr>
                <a:srgbClr val="000000"/>
              </a:buClr>
              <a:buFont typeface="OpenSymbol"/>
              <a:buAutoNum type="arabicPeriod"/>
            </a:pPr>
            <a:r>
              <a:rPr lang="en-AU" sz="1800" b="0" u="none" strike="noStrike">
                <a:solidFill>
                  <a:srgbClr val="000000"/>
                </a:solidFill>
                <a:effectLst/>
                <a:uFillTx/>
                <a:latin typeface="Arial"/>
              </a:rPr>
              <a:t>In such cases, SGT Exchange Protocol (SXP) is required to propagate the SGT tags.</a:t>
            </a: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p:txBody>
      </p:sp>
      <p:pic>
        <p:nvPicPr>
          <p:cNvPr id="133" name=""/>
          <p:cNvPicPr/>
          <p:nvPr/>
        </p:nvPicPr>
        <p:blipFill>
          <a:blip r:embed="rId1"/>
          <a:stretch/>
        </p:blipFill>
        <p:spPr>
          <a:xfrm>
            <a:off x="180000" y="5040000"/>
            <a:ext cx="4770360" cy="169668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4" name="Rectangle 6">
            <a:extLst>
              <a:ext uri="{C183D7F6-B498-43B3-948B-1728B52AA6E4}">
                <adec:decorative xmlns:adec="http://schemas.microsoft.com/office/drawing/2017/decorative" val="1"/>
              </a:ext>
            </a:extLst>
          </p:cNvPr>
          <p:cNvSpPr/>
          <p:nvPr/>
        </p:nvSpPr>
        <p:spPr>
          <a:xfrm>
            <a:off x="0" y="0"/>
            <a:ext cx="5399280" cy="143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3.NAC: </a:t>
            </a:r>
            <a:r>
              <a:rPr lang="en-US" sz="4400" b="1" u="none" strike="noStrike">
                <a:solidFill>
                  <a:srgbClr val="000000"/>
                </a:solidFill>
                <a:effectLst/>
                <a:uFillTx/>
                <a:latin typeface="Arial"/>
              </a:rPr>
              <a:t>TrustSec</a:t>
            </a:r>
            <a:endParaRPr lang="en-AU" sz="4400" b="0" u="none" strike="noStrike">
              <a:solidFill>
                <a:srgbClr val="FFFFFF"/>
              </a:solidFill>
              <a:effectLst/>
              <a:uFillTx/>
              <a:latin typeface="Arial"/>
            </a:endParaRPr>
          </a:p>
        </p:txBody>
      </p:sp>
      <p:sp>
        <p:nvSpPr>
          <p:cNvPr id="135" name="PlaceHolder 1"/>
          <p:cNvSpPr>
            <a:spLocks noGrp="1"/>
          </p:cNvSpPr>
          <p:nvPr>
            <p:ph/>
          </p:nvPr>
        </p:nvSpPr>
        <p:spPr>
          <a:xfrm>
            <a:off x="5580000" y="108000"/>
            <a:ext cx="6371280" cy="3311640"/>
          </a:xfrm>
          <a:prstGeom prst="rect">
            <a:avLst/>
          </a:prstGeom>
          <a:noFill/>
          <a:ln w="0">
            <a:noFill/>
          </a:ln>
        </p:spPr>
        <p:txBody>
          <a:bodyPr lIns="91440" tIns="45720" rIns="91440" bIns="45720" anchor="t">
            <a:normAutofit fontScale="92500" lnSpcReduction="9999"/>
          </a:bodyPr>
          <a:p>
            <a:pPr marL="324000" indent="-324000" algn="l" defTabSz="914400">
              <a:lnSpc>
                <a:spcPct val="100000"/>
              </a:lnSpc>
              <a:spcBef>
                <a:spcPts val="1001"/>
              </a:spcBef>
              <a:buClr>
                <a:srgbClr val="000000"/>
              </a:buClr>
              <a:buFont typeface="Arial"/>
              <a:buAutoNum type="arabicPeriod" startAt="2"/>
            </a:pPr>
            <a:r>
              <a:rPr lang="en-US" sz="2000" b="1" u="none" strike="noStrike">
                <a:solidFill>
                  <a:srgbClr val="000000"/>
                </a:solidFill>
                <a:effectLst/>
                <a:uFillTx/>
                <a:latin typeface="Arial"/>
                <a:ea typeface="Microsoft YaHei"/>
              </a:rPr>
              <a:t>SGT Exchange Protocol (SXP): </a:t>
            </a:r>
            <a:endParaRPr lang="en-US" sz="2000" b="0" u="none" strike="noStrike">
              <a:solidFill>
                <a:schemeClr val="dk1"/>
              </a:solidFill>
              <a:effectLst/>
              <a:uFillTx/>
              <a:latin typeface="Aptos"/>
            </a:endParaRPr>
          </a:p>
          <a:p>
            <a:pPr marL="324000" indent="-324000" algn="l" defTabSz="914400">
              <a:lnSpc>
                <a:spcPct val="100000"/>
              </a:lnSpc>
              <a:spcBef>
                <a:spcPts val="434"/>
              </a:spcBef>
              <a:buClr>
                <a:srgbClr val="000000"/>
              </a:buClr>
              <a:buSzPct val="45000"/>
              <a:buFont typeface="Wingdings" charset="2"/>
              <a:buChar char=""/>
            </a:pPr>
            <a:r>
              <a:rPr lang="en-US" sz="2000" b="0" u="none" strike="noStrike">
                <a:solidFill>
                  <a:srgbClr val="000000"/>
                </a:solidFill>
                <a:effectLst/>
                <a:uFillTx/>
                <a:latin typeface="Arial"/>
                <a:ea typeface="Microsoft YaHei"/>
              </a:rPr>
              <a:t>TCP based peer-to-peer protocol</a:t>
            </a:r>
            <a:endParaRPr lang="en-US" sz="2000" b="0" u="none" strike="noStrike">
              <a:solidFill>
                <a:schemeClr val="dk1"/>
              </a:solidFill>
              <a:effectLst/>
              <a:uFillTx/>
              <a:latin typeface="Aptos"/>
            </a:endParaRPr>
          </a:p>
          <a:p>
            <a:pPr marL="324000" indent="-324000" algn="l" defTabSz="914400">
              <a:lnSpc>
                <a:spcPct val="100000"/>
              </a:lnSpc>
              <a:spcBef>
                <a:spcPts val="434"/>
              </a:spcBef>
              <a:buClr>
                <a:srgbClr val="000000"/>
              </a:buClr>
              <a:buSzPct val="45000"/>
              <a:buFont typeface="Wingdings" charset="2"/>
              <a:buChar char=""/>
            </a:pPr>
            <a:r>
              <a:rPr lang="en-US" sz="2000" b="0" u="none" strike="noStrike">
                <a:solidFill>
                  <a:srgbClr val="000000"/>
                </a:solidFill>
                <a:effectLst/>
                <a:uFillTx/>
                <a:latin typeface="Arial"/>
                <a:ea typeface="Microsoft YaHei"/>
              </a:rPr>
              <a:t>Using SXP connection IP-to-SGT mapping is shared between non-inline tagging switches and other network devices. </a:t>
            </a:r>
            <a:endParaRPr lang="en-US" sz="2000" b="0" u="none" strike="noStrike">
              <a:solidFill>
                <a:schemeClr val="dk1"/>
              </a:solidFill>
              <a:effectLst/>
              <a:uFillTx/>
              <a:latin typeface="Aptos"/>
            </a:endParaRPr>
          </a:p>
          <a:p>
            <a:pPr marL="324000" indent="-324000" algn="l" defTabSz="914400">
              <a:lnSpc>
                <a:spcPct val="100000"/>
              </a:lnSpc>
              <a:spcBef>
                <a:spcPts val="434"/>
              </a:spcBef>
              <a:buClr>
                <a:srgbClr val="000000"/>
              </a:buClr>
              <a:buSzPct val="45000"/>
              <a:buFont typeface="Wingdings" charset="2"/>
              <a:buChar char=""/>
            </a:pPr>
            <a:r>
              <a:rPr lang="en-US" sz="2000" b="0" u="none" strike="noStrike">
                <a:solidFill>
                  <a:srgbClr val="000000"/>
                </a:solidFill>
                <a:effectLst/>
                <a:uFillTx/>
                <a:latin typeface="Arial"/>
                <a:ea typeface="Microsoft YaHei"/>
              </a:rPr>
              <a:t>Non-inline tagging switches enable with SXP has SGT database to enforce policy.</a:t>
            </a:r>
            <a:endParaRPr lang="en-US" sz="2000" b="0" u="none" strike="noStrike">
              <a:solidFill>
                <a:schemeClr val="dk1"/>
              </a:solidFill>
              <a:effectLst/>
              <a:uFillTx/>
              <a:latin typeface="Aptos"/>
            </a:endParaRPr>
          </a:p>
          <a:p>
            <a:pPr marL="324000" indent="-324000" algn="l" defTabSz="914400">
              <a:lnSpc>
                <a:spcPct val="100000"/>
              </a:lnSpc>
              <a:spcBef>
                <a:spcPts val="434"/>
              </a:spcBef>
              <a:buClr>
                <a:srgbClr val="000000"/>
              </a:buClr>
              <a:buSzPct val="45000"/>
              <a:buFont typeface="Wingdings" charset="2"/>
              <a:buChar char=""/>
            </a:pPr>
            <a:r>
              <a:rPr lang="en-US" sz="2000" b="0" u="none" strike="noStrike">
                <a:solidFill>
                  <a:srgbClr val="000000"/>
                </a:solidFill>
                <a:effectLst/>
                <a:uFillTx/>
                <a:latin typeface="Arial"/>
                <a:ea typeface="Microsoft YaHei"/>
              </a:rPr>
              <a:t>Network device that sends IP-to-SGT binding is called Speaker and one receiving is called Listener.</a:t>
            </a:r>
            <a:endParaRPr lang="en-US" sz="2000" b="0" u="none" strike="noStrike">
              <a:solidFill>
                <a:schemeClr val="dk1"/>
              </a:solidFill>
              <a:effectLst/>
              <a:uFillTx/>
              <a:latin typeface="Aptos"/>
            </a:endParaRPr>
          </a:p>
          <a:p>
            <a:pPr marL="324000" indent="-324000" algn="l" defTabSz="914400">
              <a:lnSpc>
                <a:spcPct val="100000"/>
              </a:lnSpc>
              <a:spcBef>
                <a:spcPts val="434"/>
              </a:spcBef>
              <a:buClr>
                <a:srgbClr val="000000"/>
              </a:buClr>
              <a:buSzPct val="45000"/>
              <a:buFont typeface="Wingdings" charset="2"/>
              <a:buChar char=""/>
            </a:pPr>
            <a:r>
              <a:rPr lang="en-US" sz="2000" b="0" u="none" strike="noStrike">
                <a:solidFill>
                  <a:srgbClr val="000000"/>
                </a:solidFill>
                <a:effectLst/>
                <a:uFillTx/>
                <a:latin typeface="Arial"/>
                <a:ea typeface="Microsoft YaHei"/>
              </a:rPr>
              <a:t>SXP connection can be single hop or multi-hop as below:</a:t>
            </a:r>
            <a:endParaRPr lang="en-US" sz="2000" b="0" u="none" strike="noStrike">
              <a:solidFill>
                <a:schemeClr val="dk1"/>
              </a:solidFill>
              <a:effectLst/>
              <a:uFillTx/>
              <a:latin typeface="Aptos"/>
            </a:endParaRPr>
          </a:p>
          <a:p>
            <a:pPr marL="324000"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marL="324000"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136" name=""/>
          <p:cNvSpPr/>
          <p:nvPr/>
        </p:nvSpPr>
        <p:spPr>
          <a:xfrm>
            <a:off x="72000" y="1620000"/>
            <a:ext cx="5219280" cy="475308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800" b="0" u="none" strike="noStrike">
                <a:solidFill>
                  <a:srgbClr val="000000"/>
                </a:solidFill>
                <a:effectLst/>
                <a:uFillTx/>
                <a:latin typeface="Arial"/>
              </a:rPr>
              <a:t>Below diagram shows a switch that do not support inline (native) tagging but is enabled with SXP and another switch that supports native tagging.</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rPr>
              <a:t>SXP Speaker switch forwards the data packet normally and shares IP-SGT binding to next-hop over an SXP connection.</a:t>
            </a:r>
            <a:endParaRPr lang="en-AU" sz="1800" b="0" u="none" strike="noStrike">
              <a:solidFill>
                <a:srgbClr val="000000"/>
              </a:solidFill>
              <a:effectLst/>
              <a:uFillTx/>
              <a:latin typeface="Arial"/>
            </a:endParaRPr>
          </a:p>
          <a:p>
            <a:pPr marL="216000" indent="-216000">
              <a:lnSpc>
                <a:spcPct val="100000"/>
              </a:lnSpc>
              <a:buClr>
                <a:srgbClr val="000000"/>
              </a:buClr>
              <a:buSzPct val="45000"/>
              <a:buFont typeface="Wingdings" charset="2"/>
              <a:buChar char=""/>
            </a:pPr>
            <a:r>
              <a:rPr lang="en-AU" sz="1800" b="0" u="none" strike="noStrike">
                <a:solidFill>
                  <a:srgbClr val="000000"/>
                </a:solidFill>
                <a:effectLst/>
                <a:uFillTx/>
                <a:latin typeface="Arial"/>
              </a:rPr>
              <a:t>SGT capable switch forwards the packet with SGT inserted natively into the frame.</a:t>
            </a: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p:txBody>
      </p:sp>
      <p:pic>
        <p:nvPicPr>
          <p:cNvPr id="137" name=""/>
          <p:cNvPicPr/>
          <p:nvPr/>
        </p:nvPicPr>
        <p:blipFill>
          <a:blip r:embed="rId1"/>
          <a:stretch/>
        </p:blipFill>
        <p:spPr>
          <a:xfrm>
            <a:off x="180000" y="4320000"/>
            <a:ext cx="5724720" cy="2396160"/>
          </a:xfrm>
          <a:prstGeom prst="rect">
            <a:avLst/>
          </a:prstGeom>
          <a:noFill/>
          <a:ln w="0">
            <a:noFill/>
          </a:ln>
        </p:spPr>
      </p:pic>
      <p:pic>
        <p:nvPicPr>
          <p:cNvPr id="138" name=""/>
          <p:cNvPicPr/>
          <p:nvPr/>
        </p:nvPicPr>
        <p:blipFill>
          <a:blip r:embed="rId2"/>
          <a:stretch/>
        </p:blipFill>
        <p:spPr>
          <a:xfrm>
            <a:off x="6480000" y="3240000"/>
            <a:ext cx="5219640" cy="353268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39" name="Rectangle 8">
            <a:extLst>
              <a:ext uri="{C183D7F6-B498-43B3-948B-1728B52AA6E4}">
                <adec:decorative xmlns:adec="http://schemas.microsoft.com/office/drawing/2017/decorative" val="1"/>
              </a:ext>
            </a:extLst>
          </p:cNvPr>
          <p:cNvSpPr/>
          <p:nvPr/>
        </p:nvSpPr>
        <p:spPr>
          <a:xfrm>
            <a:off x="0" y="0"/>
            <a:ext cx="5399280" cy="143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3.NAC: </a:t>
            </a:r>
            <a:r>
              <a:rPr lang="en-US" sz="4400" b="1" u="none" strike="noStrike">
                <a:solidFill>
                  <a:srgbClr val="000000"/>
                </a:solidFill>
                <a:effectLst/>
                <a:uFillTx/>
                <a:latin typeface="Arial"/>
              </a:rPr>
              <a:t>TrustSec</a:t>
            </a:r>
            <a:endParaRPr lang="en-AU" sz="4400" b="0" u="none" strike="noStrike">
              <a:solidFill>
                <a:srgbClr val="FFFFFF"/>
              </a:solidFill>
              <a:effectLst/>
              <a:uFillTx/>
              <a:latin typeface="Arial"/>
            </a:endParaRPr>
          </a:p>
        </p:txBody>
      </p:sp>
      <p:sp>
        <p:nvSpPr>
          <p:cNvPr id="140" name="PlaceHolder 1"/>
          <p:cNvSpPr>
            <a:spLocks noGrp="1"/>
          </p:cNvSpPr>
          <p:nvPr>
            <p:ph/>
          </p:nvPr>
        </p:nvSpPr>
        <p:spPr>
          <a:xfrm>
            <a:off x="5580000" y="108000"/>
            <a:ext cx="6371280" cy="1691640"/>
          </a:xfrm>
          <a:prstGeom prst="rect">
            <a:avLst/>
          </a:prstGeom>
          <a:noFill/>
          <a:ln w="0">
            <a:noFill/>
          </a:ln>
        </p:spPr>
        <p:txBody>
          <a:bodyPr lIns="91440" tIns="45720" rIns="91440" bIns="45720" anchor="t">
            <a:normAutofit lnSpcReduction="9999"/>
          </a:bodyPr>
          <a:p>
            <a:pPr marL="324000" indent="-324000" algn="l" defTabSz="914400">
              <a:lnSpc>
                <a:spcPct val="100000"/>
              </a:lnSpc>
              <a:spcBef>
                <a:spcPts val="1001"/>
              </a:spcBef>
              <a:buClr>
                <a:srgbClr val="000000"/>
              </a:buClr>
              <a:buSzPct val="45000"/>
              <a:buFont typeface="Wingdings" charset="2"/>
              <a:buChar char=""/>
            </a:pPr>
            <a:r>
              <a:rPr lang="en-US" sz="2000" b="0" u="none" strike="noStrike">
                <a:solidFill>
                  <a:srgbClr val="000000"/>
                </a:solidFill>
                <a:effectLst/>
                <a:uFillTx/>
                <a:latin typeface="Arial"/>
                <a:ea typeface="Microsoft YaHei"/>
              </a:rPr>
              <a:t>A network device that does not support inline tagging or SXP, forwards traffic normally.</a:t>
            </a:r>
            <a:endParaRPr lang="en-US" sz="2000" b="0" u="none" strike="noStrike">
              <a:solidFill>
                <a:schemeClr val="dk1"/>
              </a:solidFill>
              <a:effectLst/>
              <a:uFillTx/>
              <a:latin typeface="Aptos"/>
            </a:endParaRPr>
          </a:p>
          <a:p>
            <a:pPr marL="324000" indent="-324000" algn="l" defTabSz="914400">
              <a:lnSpc>
                <a:spcPct val="100000"/>
              </a:lnSpc>
              <a:spcBef>
                <a:spcPts val="1001"/>
              </a:spcBef>
              <a:buClr>
                <a:srgbClr val="000000"/>
              </a:buClr>
              <a:buSzPct val="45000"/>
              <a:buFont typeface="Wingdings" charset="2"/>
              <a:buChar char=""/>
            </a:pPr>
            <a:r>
              <a:rPr lang="en-US" sz="2000" b="0" u="none" strike="noStrike">
                <a:solidFill>
                  <a:srgbClr val="000000"/>
                </a:solidFill>
                <a:effectLst/>
                <a:uFillTx/>
                <a:latin typeface="Arial"/>
                <a:ea typeface="Microsoft YaHei"/>
              </a:rPr>
              <a:t>The IP-to-SGT binding is propagated to upstream device through SXP connection between ISE and upstream SGT capable HW.</a:t>
            </a:r>
            <a:endParaRPr lang="en-US" sz="2000" b="0" u="none" strike="noStrike">
              <a:solidFill>
                <a:schemeClr val="dk1"/>
              </a:solidFill>
              <a:effectLst/>
              <a:uFillTx/>
              <a:latin typeface="Aptos"/>
            </a:endParaRPr>
          </a:p>
          <a:p>
            <a:pPr marL="324000"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marL="324000"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141" name=""/>
          <p:cNvSpPr/>
          <p:nvPr/>
        </p:nvSpPr>
        <p:spPr>
          <a:xfrm>
            <a:off x="72000" y="1620000"/>
            <a:ext cx="5219280" cy="3107160"/>
          </a:xfrm>
          <a:prstGeom prst="rect">
            <a:avLst/>
          </a:prstGeom>
          <a:noFill/>
          <a:ln w="0">
            <a:noFill/>
          </a:ln>
        </p:spPr>
        <p:style>
          <a:lnRef idx="0"/>
          <a:fillRef idx="0"/>
          <a:effectRef idx="0"/>
          <a:fontRef idx="minor"/>
        </p:style>
        <p:txBody>
          <a:bodyPr lIns="90000" tIns="45000" rIns="90000" bIns="45000" anchor="t">
            <a:spAutoFit/>
          </a:bodyPr>
          <a:p>
            <a:pPr marL="162000" indent="-162000">
              <a:lnSpc>
                <a:spcPct val="100000"/>
              </a:lnSpc>
              <a:buClr>
                <a:srgbClr val="000000"/>
              </a:buClr>
              <a:buSzPct val="45000"/>
              <a:buFont typeface="Wingdings" charset="2"/>
              <a:buChar char=""/>
            </a:pPr>
            <a:r>
              <a:rPr lang="en-AU" sz="1800" b="1" u="none" strike="noStrike">
                <a:solidFill>
                  <a:srgbClr val="000000"/>
                </a:solidFill>
                <a:effectLst/>
                <a:uFillTx/>
                <a:latin typeface="Arial"/>
              </a:rPr>
              <a:t>Security Group ACL (SGACL)</a:t>
            </a:r>
            <a:r>
              <a:rPr lang="en-AU" sz="1800" b="0" u="none" strike="noStrike">
                <a:solidFill>
                  <a:srgbClr val="000000"/>
                </a:solidFill>
                <a:effectLst/>
                <a:uFillTx/>
                <a:latin typeface="Arial"/>
              </a:rPr>
              <a:t> : ACL provides filtering based on source and destination SGT.</a:t>
            </a: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p:txBody>
      </p:sp>
      <p:pic>
        <p:nvPicPr>
          <p:cNvPr id="142" name=""/>
          <p:cNvPicPr/>
          <p:nvPr/>
        </p:nvPicPr>
        <p:blipFill>
          <a:blip r:embed="rId1"/>
          <a:stretch/>
        </p:blipFill>
        <p:spPr>
          <a:xfrm>
            <a:off x="104760" y="2463480"/>
            <a:ext cx="5294880" cy="2216160"/>
          </a:xfrm>
          <a:prstGeom prst="rect">
            <a:avLst/>
          </a:prstGeom>
          <a:noFill/>
          <a:ln w="0">
            <a:noFill/>
          </a:ln>
        </p:spPr>
      </p:pic>
      <p:pic>
        <p:nvPicPr>
          <p:cNvPr id="143" name=""/>
          <p:cNvPicPr/>
          <p:nvPr/>
        </p:nvPicPr>
        <p:blipFill>
          <a:blip r:embed="rId2"/>
          <a:stretch/>
        </p:blipFill>
        <p:spPr>
          <a:xfrm>
            <a:off x="6120000" y="1710000"/>
            <a:ext cx="5219640" cy="2609640"/>
          </a:xfrm>
          <a:prstGeom prst="rect">
            <a:avLst/>
          </a:prstGeom>
          <a:noFill/>
          <a:ln w="0">
            <a:noFill/>
          </a:ln>
        </p:spPr>
      </p:pic>
      <p:sp>
        <p:nvSpPr>
          <p:cNvPr id="144" name=""/>
          <p:cNvSpPr/>
          <p:nvPr/>
        </p:nvSpPr>
        <p:spPr>
          <a:xfrm>
            <a:off x="5940000" y="4860000"/>
            <a:ext cx="6119640" cy="2137680"/>
          </a:xfrm>
          <a:prstGeom prst="rect">
            <a:avLst/>
          </a:prstGeom>
          <a:noFill/>
          <a:ln w="0">
            <a:noFill/>
          </a:ln>
        </p:spPr>
        <p:style>
          <a:lnRef idx="0"/>
          <a:fillRef idx="0"/>
          <a:effectRef idx="0"/>
          <a:fontRef idx="minor"/>
        </p:style>
        <p:txBody>
          <a:bodyPr lIns="90000" tIns="45000" rIns="90000" bIns="45000" anchor="t">
            <a:spAutoFit/>
          </a:bodyPr>
          <a:p>
            <a:pPr marL="162000" indent="-162000">
              <a:lnSpc>
                <a:spcPct val="100000"/>
              </a:lnSpc>
              <a:buClr>
                <a:srgbClr val="000000"/>
              </a:buClr>
              <a:buFont typeface="OpenSymbol"/>
              <a:buAutoNum type="arabicPeriod" startAt="3"/>
            </a:pPr>
            <a:r>
              <a:rPr lang="en-AU" sz="1800" b="1" u="none" strike="noStrike">
                <a:solidFill>
                  <a:srgbClr val="000000"/>
                </a:solidFill>
                <a:effectLst/>
                <a:uFillTx/>
                <a:latin typeface="Arial"/>
              </a:rPr>
              <a:t>Egress Enforcement</a:t>
            </a:r>
            <a:endParaRPr lang="en-AU" sz="1800" b="0" u="none" strike="noStrike">
              <a:solidFill>
                <a:srgbClr val="000000"/>
              </a:solidFill>
              <a:effectLst/>
              <a:uFillTx/>
              <a:latin typeface="Arial"/>
            </a:endParaRPr>
          </a:p>
          <a:p>
            <a:pPr marL="162000" indent="-162000">
              <a:lnSpc>
                <a:spcPct val="100000"/>
              </a:lnSpc>
              <a:buClr>
                <a:srgbClr val="000000"/>
              </a:buClr>
              <a:buFont typeface="OpenSymbol"/>
              <a:buAutoNum type="arabicPeriod" startAt="3"/>
            </a:pPr>
            <a:r>
              <a:rPr lang="en-AU" sz="1800" b="0" u="none" strike="noStrike">
                <a:solidFill>
                  <a:srgbClr val="000000"/>
                </a:solidFill>
                <a:effectLst/>
                <a:uFillTx/>
                <a:latin typeface="Arial"/>
              </a:rPr>
              <a:t>Enforcing of access policy based on SGT is applied at egress TrustSec device in two ways:</a:t>
            </a:r>
            <a:endParaRPr lang="en-AU" sz="1800" b="0" u="none" strike="noStrike">
              <a:solidFill>
                <a:srgbClr val="000000"/>
              </a:solidFill>
              <a:effectLst/>
              <a:uFillTx/>
              <a:latin typeface="Arial"/>
            </a:endParaRPr>
          </a:p>
          <a:p>
            <a:pPr marL="360000" indent="-162000">
              <a:lnSpc>
                <a:spcPct val="100000"/>
              </a:lnSpc>
              <a:buClr>
                <a:srgbClr val="000000"/>
              </a:buClr>
              <a:buSzPct val="45000"/>
              <a:buFont typeface="Wingdings" charset="2"/>
              <a:buChar char=""/>
            </a:pPr>
            <a:r>
              <a:rPr lang="en-AU" sz="1800" b="1" u="none" strike="noStrike">
                <a:solidFill>
                  <a:srgbClr val="000000"/>
                </a:solidFill>
                <a:effectLst/>
                <a:uFillTx/>
                <a:latin typeface="Arial"/>
              </a:rPr>
              <a:t>Security Group Firewall (SGFW)</a:t>
            </a:r>
            <a:r>
              <a:rPr lang="en-AU" sz="1800" b="0" u="none" strike="noStrike">
                <a:solidFill>
                  <a:srgbClr val="000000"/>
                </a:solidFill>
                <a:effectLst/>
                <a:uFillTx/>
                <a:latin typeface="Arial"/>
              </a:rPr>
              <a:t> : Cisco Firewalls such as ASA and NGFW configured with SGT based policy to enforce access policy.</a:t>
            </a: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p:txBody>
      </p:sp>
      <p:sp>
        <p:nvSpPr>
          <p:cNvPr id="145" name=""/>
          <p:cNvSpPr/>
          <p:nvPr/>
        </p:nvSpPr>
        <p:spPr>
          <a:xfrm>
            <a:off x="0" y="4860000"/>
            <a:ext cx="5579640" cy="11138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800" b="0" u="none" strike="noStrike">
                <a:solidFill>
                  <a:srgbClr val="000000"/>
                </a:solidFill>
                <a:effectLst/>
                <a:uFillTx/>
                <a:latin typeface="Arial"/>
              </a:rPr>
              <a:t>A SGACL production matrix comprises of source groups and destination groups as rows and columns with permit, deny or a more granular access policy such as permit ftp only as a matrix values.</a:t>
            </a:r>
            <a:endParaRPr lang="en-AU"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6" name="Rectangle 10">
            <a:extLst>
              <a:ext uri="{C183D7F6-B498-43B3-948B-1728B52AA6E4}">
                <adec:decorative xmlns:adec="http://schemas.microsoft.com/office/drawing/2017/decorative" val="1"/>
              </a:ext>
            </a:extLst>
          </p:cNvPr>
          <p:cNvSpPr/>
          <p:nvPr/>
        </p:nvSpPr>
        <p:spPr>
          <a:xfrm>
            <a:off x="0" y="0"/>
            <a:ext cx="5399280" cy="143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3.NAC: </a:t>
            </a:r>
            <a:r>
              <a:rPr lang="en-US" sz="4400" b="1" u="none" strike="noStrike">
                <a:solidFill>
                  <a:srgbClr val="000000"/>
                </a:solidFill>
                <a:effectLst/>
                <a:uFillTx/>
                <a:latin typeface="Arial"/>
              </a:rPr>
              <a:t>TrustSec</a:t>
            </a:r>
            <a:endParaRPr lang="en-AU" sz="4400" b="0" u="none" strike="noStrike">
              <a:solidFill>
                <a:srgbClr val="FFFFFF"/>
              </a:solidFill>
              <a:effectLst/>
              <a:uFillTx/>
              <a:latin typeface="Arial"/>
            </a:endParaRPr>
          </a:p>
        </p:txBody>
      </p:sp>
      <p:sp>
        <p:nvSpPr>
          <p:cNvPr id="147" name="PlaceHolder 1"/>
          <p:cNvSpPr>
            <a:spLocks noGrp="1"/>
          </p:cNvSpPr>
          <p:nvPr>
            <p:ph/>
          </p:nvPr>
        </p:nvSpPr>
        <p:spPr>
          <a:xfrm>
            <a:off x="5580000" y="144000"/>
            <a:ext cx="6371280" cy="1871640"/>
          </a:xfrm>
          <a:prstGeom prst="rect">
            <a:avLst/>
          </a:prstGeom>
          <a:noFill/>
          <a:ln w="0">
            <a:noFill/>
          </a:ln>
        </p:spPr>
        <p:txBody>
          <a:bodyPr lIns="91440" tIns="45720" rIns="91440" bIns="45720" anchor="t">
            <a:normAutofit lnSpcReduction="9999"/>
          </a:bodyPr>
          <a:p>
            <a:pPr marL="324000" indent="-324000" algn="l" defTabSz="914400">
              <a:lnSpc>
                <a:spcPct val="100000"/>
              </a:lnSpc>
              <a:spcBef>
                <a:spcPts val="1001"/>
              </a:spcBef>
              <a:buClr>
                <a:srgbClr val="000000"/>
              </a:buClr>
              <a:buSzPct val="45000"/>
              <a:buFont typeface="Wingdings" charset="2"/>
              <a:buChar char=""/>
            </a:pPr>
            <a:r>
              <a:rPr lang="en-US" sz="2000" b="0" u="none" strike="noStrike">
                <a:solidFill>
                  <a:srgbClr val="000000"/>
                </a:solidFill>
                <a:effectLst/>
                <a:uFillTx/>
                <a:latin typeface="Arial"/>
                <a:ea typeface="Microsoft YaHei"/>
              </a:rPr>
              <a:t>Below picture shows a SGACL production matrix on ISE.</a:t>
            </a:r>
            <a:endParaRPr lang="en-US" sz="2000" b="0" u="none" strike="noStrike">
              <a:solidFill>
                <a:schemeClr val="dk1"/>
              </a:solidFill>
              <a:effectLst/>
              <a:uFillTx/>
              <a:latin typeface="Aptos"/>
            </a:endParaRPr>
          </a:p>
          <a:p>
            <a:pPr marL="324000" indent="-324000" algn="l" defTabSz="914400">
              <a:lnSpc>
                <a:spcPct val="100000"/>
              </a:lnSpc>
              <a:spcBef>
                <a:spcPts val="1001"/>
              </a:spcBef>
              <a:buClr>
                <a:srgbClr val="000000"/>
              </a:buClr>
              <a:buSzPct val="45000"/>
              <a:buFont typeface="Wingdings" charset="2"/>
              <a:buChar char=""/>
            </a:pPr>
            <a:r>
              <a:rPr lang="en-US" sz="2000" b="0" u="none" strike="noStrike">
                <a:solidFill>
                  <a:srgbClr val="000000"/>
                </a:solidFill>
                <a:effectLst/>
                <a:uFillTx/>
                <a:latin typeface="Arial"/>
                <a:ea typeface="Microsoft YaHei"/>
              </a:rPr>
              <a:t>Green/Permit IP is equivalent to permit all, Red/Deny IP is equivalent to deny all, blue is permit FTP only SGACL applied and other light green is default policy that is set in ISE. </a:t>
            </a:r>
            <a:endParaRPr lang="en-US" sz="2000" b="0" u="none" strike="noStrike">
              <a:solidFill>
                <a:schemeClr val="dk1"/>
              </a:solidFill>
              <a:effectLst/>
              <a:uFillTx/>
              <a:latin typeface="Aptos"/>
            </a:endParaRPr>
          </a:p>
          <a:p>
            <a:pPr marL="324000"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marL="324000"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148" name=""/>
          <p:cNvSpPr/>
          <p:nvPr/>
        </p:nvSpPr>
        <p:spPr>
          <a:xfrm>
            <a:off x="79920" y="1568160"/>
            <a:ext cx="5219280" cy="4752360"/>
          </a:xfrm>
          <a:prstGeom prst="rect">
            <a:avLst/>
          </a:prstGeom>
          <a:noFill/>
          <a:ln w="0">
            <a:noFill/>
          </a:ln>
        </p:spPr>
        <p:style>
          <a:lnRef idx="0"/>
          <a:fillRef idx="0"/>
          <a:effectRef idx="0"/>
          <a:fontRef idx="minor"/>
        </p:style>
        <p:txBody>
          <a:bodyPr lIns="90000" tIns="45000" rIns="90000" bIns="45000" anchor="t">
            <a:spAutoFit/>
          </a:bodyPr>
          <a:p>
            <a:pPr marL="162000" indent="-162000">
              <a:lnSpc>
                <a:spcPct val="100000"/>
              </a:lnSpc>
              <a:buClr>
                <a:srgbClr val="000000"/>
              </a:buClr>
              <a:buSzPct val="45000"/>
              <a:buFont typeface="Wingdings" charset="2"/>
              <a:buChar char=""/>
            </a:pPr>
            <a:r>
              <a:rPr lang="en-AU" sz="1800" b="0" u="none" strike="noStrike">
                <a:solidFill>
                  <a:srgbClr val="000000"/>
                </a:solidFill>
                <a:effectLst/>
                <a:uFillTx/>
                <a:latin typeface="Arial"/>
              </a:rPr>
              <a:t>Below picture shows a SGACL enforcement.</a:t>
            </a:r>
            <a:endParaRPr lang="en-AU" sz="18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800" b="0" u="none" strike="noStrike">
                <a:solidFill>
                  <a:srgbClr val="000000"/>
                </a:solidFill>
                <a:effectLst/>
                <a:uFillTx/>
                <a:latin typeface="Arial"/>
              </a:rPr>
              <a:t>The matrix shows that only Developer SGT is allowed to Development Servers.</a:t>
            </a:r>
            <a:endParaRPr lang="en-AU" sz="18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800" b="0" u="none" strike="noStrike">
                <a:solidFill>
                  <a:srgbClr val="000000"/>
                </a:solidFill>
                <a:effectLst/>
                <a:uFillTx/>
                <a:latin typeface="Arial"/>
              </a:rPr>
              <a:t>Employee SGT is Blocked to Development Servers.</a:t>
            </a:r>
            <a:endParaRPr lang="en-AU" sz="18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800" b="0" u="none" strike="noStrike">
                <a:solidFill>
                  <a:srgbClr val="000000"/>
                </a:solidFill>
                <a:effectLst/>
                <a:uFillTx/>
                <a:latin typeface="Arial"/>
              </a:rPr>
              <a:t>Employee SGT to Employee SGT is Allowed only FTP traffic and non-FTP is Blocked.</a:t>
            </a: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p:txBody>
      </p:sp>
      <p:pic>
        <p:nvPicPr>
          <p:cNvPr id="149" name=""/>
          <p:cNvPicPr/>
          <p:nvPr/>
        </p:nvPicPr>
        <p:blipFill>
          <a:blip r:embed="rId1"/>
          <a:stretch/>
        </p:blipFill>
        <p:spPr>
          <a:xfrm>
            <a:off x="79920" y="3780000"/>
            <a:ext cx="5114880" cy="2890440"/>
          </a:xfrm>
          <a:prstGeom prst="rect">
            <a:avLst/>
          </a:prstGeom>
          <a:noFill/>
          <a:ln w="0">
            <a:noFill/>
          </a:ln>
        </p:spPr>
      </p:pic>
      <p:pic>
        <p:nvPicPr>
          <p:cNvPr id="150" name=""/>
          <p:cNvPicPr/>
          <p:nvPr/>
        </p:nvPicPr>
        <p:blipFill>
          <a:blip r:embed="rId2"/>
          <a:stretch/>
        </p:blipFill>
        <p:spPr>
          <a:xfrm>
            <a:off x="5760000" y="2340000"/>
            <a:ext cx="6299640" cy="314964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1" name="Rectangle 11">
            <a:extLst>
              <a:ext uri="{C183D7F6-B498-43B3-948B-1728B52AA6E4}">
                <adec:decorative xmlns:adec="http://schemas.microsoft.com/office/drawing/2017/decorative" val="1"/>
              </a:ext>
            </a:extLst>
          </p:cNvPr>
          <p:cNvSpPr/>
          <p:nvPr/>
        </p:nvSpPr>
        <p:spPr>
          <a:xfrm>
            <a:off x="0" y="0"/>
            <a:ext cx="5399280" cy="143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3.NAC: </a:t>
            </a:r>
            <a:r>
              <a:rPr lang="en-US" sz="4400" b="1" u="none" strike="noStrike">
                <a:solidFill>
                  <a:srgbClr val="000000"/>
                </a:solidFill>
                <a:effectLst/>
                <a:uFillTx/>
                <a:latin typeface="Arial"/>
              </a:rPr>
              <a:t>MACSec</a:t>
            </a:r>
            <a:endParaRPr lang="en-AU" sz="4400" b="0" u="none" strike="noStrike">
              <a:solidFill>
                <a:srgbClr val="FFFFFF"/>
              </a:solidFill>
              <a:effectLst/>
              <a:uFillTx/>
              <a:latin typeface="Arial"/>
            </a:endParaRPr>
          </a:p>
        </p:txBody>
      </p:sp>
      <p:sp>
        <p:nvSpPr>
          <p:cNvPr id="152" name="PlaceHolder 1"/>
          <p:cNvSpPr>
            <a:spLocks noGrp="1"/>
          </p:cNvSpPr>
          <p:nvPr>
            <p:ph/>
          </p:nvPr>
        </p:nvSpPr>
        <p:spPr>
          <a:xfrm>
            <a:off x="5580000" y="144000"/>
            <a:ext cx="6371280" cy="3995640"/>
          </a:xfrm>
          <a:prstGeom prst="rect">
            <a:avLst/>
          </a:prstGeom>
          <a:noFill/>
          <a:ln w="0">
            <a:noFill/>
          </a:ln>
        </p:spPr>
        <p:txBody>
          <a:bodyPr lIns="91440" tIns="45720" rIns="91440" bIns="45720" anchor="t">
            <a:normAutofit fontScale="92500" lnSpcReduction="9999"/>
          </a:bodyPr>
          <a:p>
            <a:pPr marL="360000" indent="-324000" algn="l" defTabSz="914400">
              <a:lnSpc>
                <a:spcPct val="100000"/>
              </a:lnSpc>
              <a:spcBef>
                <a:spcPts val="1001"/>
              </a:spcBef>
              <a:buClr>
                <a:srgbClr val="000000"/>
              </a:buClr>
              <a:buFont typeface="Arial"/>
              <a:buChar char="•"/>
            </a:pPr>
            <a:r>
              <a:rPr lang="en-US" sz="2000" b="0" u="none" strike="noStrike">
                <a:solidFill>
                  <a:srgbClr val="000000"/>
                </a:solidFill>
                <a:effectLst/>
                <a:uFillTx/>
                <a:latin typeface="Arial"/>
                <a:ea typeface="Microsoft YaHei"/>
              </a:rPr>
              <a:t>IEEE 802.1AE standards-based layer 2 hop by hop encryption method.</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pPr>
            <a:r>
              <a:rPr lang="en-US" sz="2000" b="0" u="none" strike="noStrike">
                <a:solidFill>
                  <a:srgbClr val="000000"/>
                </a:solidFill>
                <a:effectLst/>
                <a:uFillTx/>
                <a:latin typeface="Arial"/>
                <a:ea typeface="Microsoft YaHei"/>
              </a:rPr>
              <a:t>Once the user/device is authenticated and applied SGT, MACSec is used to encrypt frames between two adjacent switches interface to interface.</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pPr>
            <a:r>
              <a:rPr lang="en-US" sz="2000" b="0" u="none" strike="noStrike">
                <a:solidFill>
                  <a:srgbClr val="000000"/>
                </a:solidFill>
                <a:effectLst/>
                <a:uFillTx/>
                <a:latin typeface="Arial"/>
                <a:ea typeface="Microsoft YaHei"/>
              </a:rPr>
              <a:t>Encryption and decryption of the frames is done by onboard ASICs rather than crypto engine.</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pPr>
            <a:r>
              <a:rPr lang="en-US" sz="2000" b="0" u="none" strike="noStrike">
                <a:solidFill>
                  <a:srgbClr val="000000"/>
                </a:solidFill>
                <a:effectLst/>
                <a:uFillTx/>
                <a:latin typeface="Arial"/>
                <a:ea typeface="Microsoft YaHei"/>
              </a:rPr>
              <a:t>Encryption and decryption is performed by each switch on the path to process the frame and inspect SGT and QoS tags.</a:t>
            </a:r>
            <a:endParaRPr lang="en-US" sz="2000" b="0" u="none" strike="noStrike">
              <a:solidFill>
                <a:schemeClr val="dk1"/>
              </a:solidFill>
              <a:effectLst/>
              <a:uFillTx/>
              <a:latin typeface="Aptos"/>
            </a:endParaRPr>
          </a:p>
          <a:p>
            <a:pPr marL="360000" indent="-324000" algn="l" defTabSz="914400">
              <a:lnSpc>
                <a:spcPct val="100000"/>
              </a:lnSpc>
              <a:spcBef>
                <a:spcPts val="1001"/>
              </a:spcBef>
              <a:buClr>
                <a:srgbClr val="000000"/>
              </a:buClr>
              <a:buFont typeface="Arial"/>
              <a:buChar char="•"/>
            </a:pPr>
            <a:r>
              <a:rPr lang="en-US" sz="2000" b="0" u="none" strike="noStrike">
                <a:solidFill>
                  <a:srgbClr val="000000"/>
                </a:solidFill>
                <a:effectLst/>
                <a:uFillTx/>
                <a:latin typeface="Arial"/>
                <a:ea typeface="Microsoft YaHei"/>
              </a:rPr>
              <a:t>16-bytes MACSec (802.1AE header) and 16-bytes Integrity Check Value (ICV) is added to ethernet frame that has TrustSec SGT inserted.</a:t>
            </a:r>
            <a:endParaRPr lang="en-US" sz="20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marL="324000"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marL="324000"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153" name=""/>
          <p:cNvSpPr/>
          <p:nvPr/>
        </p:nvSpPr>
        <p:spPr>
          <a:xfrm>
            <a:off x="79920" y="1568160"/>
            <a:ext cx="5219280" cy="694764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AU" sz="1800" b="1" u="none" strike="noStrike">
                <a:solidFill>
                  <a:srgbClr val="000000"/>
                </a:solidFill>
                <a:effectLst/>
                <a:uFillTx/>
                <a:latin typeface="Arial"/>
              </a:rPr>
              <a:t>The 802.1AE (MACsec) header fields are:</a:t>
            </a:r>
            <a:endParaRPr lang="en-AU" sz="18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800" b="0" u="none" strike="noStrike">
                <a:solidFill>
                  <a:srgbClr val="000000"/>
                </a:solidFill>
                <a:effectLst/>
                <a:uFillTx/>
                <a:latin typeface="Arial"/>
              </a:rPr>
              <a:t>MACSec Ether Type (first 2 octets) : set to 0x88e5 to identify the frame as MACSec.</a:t>
            </a:r>
            <a:endParaRPr lang="en-AU" sz="18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800" b="0" u="none" strike="noStrike">
                <a:solidFill>
                  <a:srgbClr val="000000"/>
                </a:solidFill>
                <a:effectLst/>
                <a:uFillTx/>
                <a:latin typeface="Arial"/>
              </a:rPr>
              <a:t>TCI/AN(3</a:t>
            </a:r>
            <a:r>
              <a:rPr lang="en-AU" sz="1800" b="0" u="none" strike="noStrike" baseline="33000">
                <a:solidFill>
                  <a:srgbClr val="000000"/>
                </a:solidFill>
                <a:effectLst/>
                <a:uFillTx/>
                <a:latin typeface="Arial"/>
              </a:rPr>
              <a:t>rd</a:t>
            </a:r>
            <a:r>
              <a:rPr lang="en-AU" sz="1800" b="0" u="none" strike="noStrike">
                <a:solidFill>
                  <a:srgbClr val="000000"/>
                </a:solidFill>
                <a:effectLst/>
                <a:uFillTx/>
                <a:latin typeface="Arial"/>
              </a:rPr>
              <a:t> octet) :Tag Control Information / Association Number field </a:t>
            </a:r>
            <a:endParaRPr lang="en-AU" sz="18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800" b="0" u="none" strike="noStrike">
                <a:solidFill>
                  <a:srgbClr val="000000"/>
                </a:solidFill>
                <a:effectLst/>
                <a:uFillTx/>
                <a:latin typeface="Arial"/>
              </a:rPr>
              <a:t>SL(4</a:t>
            </a:r>
            <a:r>
              <a:rPr lang="en-AU" sz="1800" b="0" u="none" strike="noStrike" baseline="33000">
                <a:solidFill>
                  <a:srgbClr val="000000"/>
                </a:solidFill>
                <a:effectLst/>
                <a:uFillTx/>
                <a:latin typeface="Arial"/>
              </a:rPr>
              <a:t>th</a:t>
            </a:r>
            <a:r>
              <a:rPr lang="en-AU" sz="1800" b="0" u="none" strike="noStrike">
                <a:solidFill>
                  <a:srgbClr val="000000"/>
                </a:solidFill>
                <a:effectLst/>
                <a:uFillTx/>
                <a:latin typeface="Arial"/>
              </a:rPr>
              <a:t> Octet) : Short Length field, designating the length of encrypted data</a:t>
            </a:r>
            <a:endParaRPr lang="en-AU" sz="18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800" b="0" u="none" strike="noStrike">
                <a:solidFill>
                  <a:srgbClr val="000000"/>
                </a:solidFill>
                <a:effectLst/>
                <a:uFillTx/>
                <a:latin typeface="Arial"/>
              </a:rPr>
              <a:t>Packet Number (5</a:t>
            </a:r>
            <a:r>
              <a:rPr lang="en-AU" sz="1800" b="0" u="none" strike="noStrike" baseline="33000">
                <a:solidFill>
                  <a:srgbClr val="000000"/>
                </a:solidFill>
                <a:effectLst/>
                <a:uFillTx/>
                <a:latin typeface="Arial"/>
              </a:rPr>
              <a:t>th</a:t>
            </a:r>
            <a:r>
              <a:rPr lang="en-AU" sz="1800" b="0" u="none" strike="noStrike">
                <a:solidFill>
                  <a:srgbClr val="000000"/>
                </a:solidFill>
                <a:effectLst/>
                <a:uFillTx/>
                <a:latin typeface="Arial"/>
              </a:rPr>
              <a:t> - 8</a:t>
            </a:r>
            <a:r>
              <a:rPr lang="en-AU" sz="1800" b="0" u="none" strike="noStrike" baseline="33000">
                <a:solidFill>
                  <a:srgbClr val="000000"/>
                </a:solidFill>
                <a:effectLst/>
                <a:uFillTx/>
                <a:latin typeface="Arial"/>
              </a:rPr>
              <a:t>th</a:t>
            </a:r>
            <a:r>
              <a:rPr lang="en-AU" sz="1800" b="0" u="none" strike="noStrike">
                <a:solidFill>
                  <a:srgbClr val="000000"/>
                </a:solidFill>
                <a:effectLst/>
                <a:uFillTx/>
                <a:latin typeface="Arial"/>
              </a:rPr>
              <a:t> octets) : Packet numbers to protect replay attacks and to use as  initialisation vector (IV)</a:t>
            </a:r>
            <a:endParaRPr lang="en-AU" sz="1800" b="0" u="none" strike="noStrike">
              <a:solidFill>
                <a:srgbClr val="000000"/>
              </a:solidFill>
              <a:effectLst/>
              <a:uFillTx/>
              <a:latin typeface="Arial"/>
            </a:endParaRPr>
          </a:p>
          <a:p>
            <a:pPr marL="162000" indent="-162000">
              <a:lnSpc>
                <a:spcPct val="100000"/>
              </a:lnSpc>
              <a:buClr>
                <a:srgbClr val="000000"/>
              </a:buClr>
              <a:buSzPct val="45000"/>
              <a:buFont typeface="Wingdings" charset="2"/>
              <a:buChar char=""/>
            </a:pPr>
            <a:r>
              <a:rPr lang="en-AU" sz="1800" b="0" u="none" strike="noStrike">
                <a:solidFill>
                  <a:srgbClr val="000000"/>
                </a:solidFill>
                <a:effectLst/>
                <a:uFillTx/>
                <a:latin typeface="Arial"/>
              </a:rPr>
              <a:t>SCI (9</a:t>
            </a:r>
            <a:r>
              <a:rPr lang="en-AU" sz="1800" b="0" u="none" strike="noStrike" baseline="33000">
                <a:solidFill>
                  <a:srgbClr val="000000"/>
                </a:solidFill>
                <a:effectLst/>
                <a:uFillTx/>
                <a:latin typeface="Arial"/>
              </a:rPr>
              <a:t>th</a:t>
            </a:r>
            <a:r>
              <a:rPr lang="en-AU" sz="1800" b="0" u="none" strike="noStrike">
                <a:solidFill>
                  <a:srgbClr val="000000"/>
                </a:solidFill>
                <a:effectLst/>
                <a:uFillTx/>
                <a:latin typeface="Arial"/>
              </a:rPr>
              <a:t> - 16</a:t>
            </a:r>
            <a:r>
              <a:rPr lang="en-AU" sz="1800" b="0" u="none" strike="noStrike" baseline="33000">
                <a:solidFill>
                  <a:srgbClr val="000000"/>
                </a:solidFill>
                <a:effectLst/>
                <a:uFillTx/>
                <a:latin typeface="Arial"/>
              </a:rPr>
              <a:t>th</a:t>
            </a:r>
            <a:r>
              <a:rPr lang="en-AU" sz="1800" b="0" u="none" strike="noStrike">
                <a:solidFill>
                  <a:srgbClr val="000000"/>
                </a:solidFill>
                <a:effectLst/>
                <a:uFillTx/>
                <a:latin typeface="Arial"/>
              </a:rPr>
              <a:t> octets) : Secure Channel Identifier</a:t>
            </a: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r>
              <a:rPr lang="en-AU" sz="1800" b="0" u="none" strike="noStrike">
                <a:solidFill>
                  <a:srgbClr val="000000"/>
                </a:solidFill>
                <a:effectLst/>
                <a:uFillTx/>
                <a:latin typeface="Arial"/>
              </a:rPr>
              <a:t>MACsec provide authentication with Galios Method Authentication Code (GMAC) or authenticated encryption with Galios/Counter Mode Advanced Encryption Standard (AES-GCM)</a:t>
            </a: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a:p>
            <a:pPr>
              <a:lnSpc>
                <a:spcPct val="100000"/>
              </a:lnSpc>
            </a:pPr>
            <a:endParaRPr lang="en-AU" sz="1800" b="0" u="none" strike="noStrike">
              <a:solidFill>
                <a:srgbClr val="000000"/>
              </a:solidFill>
              <a:effectLst/>
              <a:uFillTx/>
              <a:latin typeface="Arial"/>
            </a:endParaRPr>
          </a:p>
        </p:txBody>
      </p:sp>
      <p:pic>
        <p:nvPicPr>
          <p:cNvPr id="154" name=""/>
          <p:cNvPicPr/>
          <p:nvPr/>
        </p:nvPicPr>
        <p:blipFill>
          <a:blip r:embed="rId1"/>
          <a:stretch/>
        </p:blipFill>
        <p:spPr>
          <a:xfrm>
            <a:off x="5940000" y="4320000"/>
            <a:ext cx="6119640" cy="220752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55" name="Rectangle 12">
            <a:extLst>
              <a:ext uri="{C183D7F6-B498-43B3-948B-1728B52AA6E4}">
                <adec:decorative xmlns:adec="http://schemas.microsoft.com/office/drawing/2017/decorative" val="1"/>
              </a:ext>
            </a:extLst>
          </p:cNvPr>
          <p:cNvSpPr/>
          <p:nvPr/>
        </p:nvSpPr>
        <p:spPr>
          <a:xfrm>
            <a:off x="0" y="0"/>
            <a:ext cx="4679640" cy="143928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defTabSz="914400">
              <a:lnSpc>
                <a:spcPct val="90000"/>
              </a:lnSpc>
              <a:tabLst>
                <a:tab pos="0" algn="l"/>
              </a:tabLst>
            </a:pPr>
            <a:r>
              <a:rPr lang="en-US" sz="4400" b="1" u="none" strike="noStrike">
                <a:solidFill>
                  <a:schemeClr val="lt1"/>
                </a:solidFill>
                <a:effectLst/>
                <a:uFillTx/>
                <a:latin typeface="Arial"/>
              </a:rPr>
              <a:t>3.NAC: </a:t>
            </a:r>
            <a:r>
              <a:rPr lang="en-US" sz="4400" b="1" u="none" strike="noStrike">
                <a:solidFill>
                  <a:srgbClr val="000000"/>
                </a:solidFill>
                <a:effectLst/>
                <a:uFillTx/>
                <a:latin typeface="Arial"/>
              </a:rPr>
              <a:t>MACSec</a:t>
            </a:r>
            <a:endParaRPr lang="en-AU" sz="4400" b="0" u="none" strike="noStrike">
              <a:solidFill>
                <a:srgbClr val="FFFFFF"/>
              </a:solidFill>
              <a:effectLst/>
              <a:uFillTx/>
              <a:latin typeface="Arial"/>
            </a:endParaRPr>
          </a:p>
        </p:txBody>
      </p:sp>
      <p:sp>
        <p:nvSpPr>
          <p:cNvPr id="156" name="PlaceHolder 1"/>
          <p:cNvSpPr>
            <a:spLocks noGrp="1"/>
          </p:cNvSpPr>
          <p:nvPr>
            <p:ph/>
          </p:nvPr>
        </p:nvSpPr>
        <p:spPr>
          <a:xfrm>
            <a:off x="4860000" y="144000"/>
            <a:ext cx="7091280" cy="6515640"/>
          </a:xfrm>
          <a:prstGeom prst="rect">
            <a:avLst/>
          </a:prstGeom>
          <a:noFill/>
          <a:ln w="0">
            <a:noFill/>
          </a:ln>
        </p:spPr>
        <p:txBody>
          <a:bodyPr lIns="91440" tIns="45720" rIns="91440" bIns="45720" anchor="t">
            <a:normAutofit/>
          </a:bodyPr>
          <a:p>
            <a:pPr indent="0" algn="l" defTabSz="914400">
              <a:lnSpc>
                <a:spcPct val="100000"/>
              </a:lnSpc>
              <a:spcBef>
                <a:spcPts val="150"/>
              </a:spcBef>
              <a:buNone/>
              <a:tabLst>
                <a:tab pos="0" algn="l"/>
              </a:tabLst>
            </a:pPr>
            <a:r>
              <a:rPr lang="en-US" sz="2000" b="0" u="none" strike="noStrike">
                <a:solidFill>
                  <a:srgbClr val="000000"/>
                </a:solidFill>
                <a:effectLst/>
                <a:uFillTx/>
                <a:latin typeface="Arial"/>
                <a:ea typeface="Microsoft YaHei"/>
              </a:rPr>
              <a:t>Two MACsec keying mechanism are available:</a:t>
            </a:r>
            <a:endParaRPr lang="en-US" sz="2000" b="0" u="none" strike="noStrike">
              <a:solidFill>
                <a:schemeClr val="dk1"/>
              </a:solidFill>
              <a:effectLst/>
              <a:uFillTx/>
              <a:latin typeface="Aptos"/>
            </a:endParaRPr>
          </a:p>
          <a:p>
            <a:pPr marL="360000" indent="-324000" algn="l" defTabSz="914400">
              <a:lnSpc>
                <a:spcPct val="100000"/>
              </a:lnSpc>
              <a:spcBef>
                <a:spcPts val="150"/>
              </a:spcBef>
              <a:buClr>
                <a:srgbClr val="000000"/>
              </a:buClr>
              <a:buFont typeface="Arial"/>
              <a:buAutoNum type="arabicPeriod"/>
              <a:tabLst>
                <a:tab pos="0" algn="l"/>
              </a:tabLst>
            </a:pPr>
            <a:r>
              <a:rPr lang="en-US" sz="2000" b="1" u="none" strike="noStrike">
                <a:solidFill>
                  <a:srgbClr val="000000"/>
                </a:solidFill>
                <a:effectLst/>
                <a:uFillTx/>
                <a:latin typeface="Arial"/>
                <a:ea typeface="Microsoft YaHei"/>
              </a:rPr>
              <a:t>Security Association Protocol (SAP) :</a:t>
            </a:r>
            <a:r>
              <a:rPr lang="en-US" sz="2000" b="0" u="none" strike="noStrike">
                <a:solidFill>
                  <a:srgbClr val="000000"/>
                </a:solidFill>
                <a:effectLst/>
                <a:uFillTx/>
                <a:latin typeface="Arial"/>
                <a:ea typeface="Microsoft YaHei"/>
              </a:rPr>
              <a:t> Cisco proprietary keying protocol used between Cisco switches.</a:t>
            </a:r>
            <a:endParaRPr lang="en-US" sz="2000" b="0" u="none" strike="noStrike">
              <a:solidFill>
                <a:schemeClr val="dk1"/>
              </a:solidFill>
              <a:effectLst/>
              <a:uFillTx/>
              <a:latin typeface="Aptos"/>
            </a:endParaRPr>
          </a:p>
          <a:p>
            <a:pPr marL="360000" indent="-324000" algn="l" defTabSz="914400">
              <a:lnSpc>
                <a:spcPct val="100000"/>
              </a:lnSpc>
              <a:spcBef>
                <a:spcPts val="150"/>
              </a:spcBef>
              <a:buClr>
                <a:srgbClr val="000000"/>
              </a:buClr>
              <a:buFont typeface="Arial"/>
              <a:buAutoNum type="arabicPeriod"/>
              <a:tabLst>
                <a:tab pos="0" algn="l"/>
              </a:tabLst>
            </a:pPr>
            <a:r>
              <a:rPr lang="en-US" sz="2000" b="1" u="none" strike="noStrike">
                <a:solidFill>
                  <a:srgbClr val="000000"/>
                </a:solidFill>
                <a:effectLst/>
                <a:uFillTx/>
                <a:latin typeface="Arial"/>
                <a:ea typeface="Microsoft YaHei"/>
              </a:rPr>
              <a:t>MACsec Key Agreement (MKA) Protocol</a:t>
            </a:r>
            <a:r>
              <a:rPr lang="en-US" sz="2000" b="0" u="none" strike="noStrike">
                <a:solidFill>
                  <a:srgbClr val="000000"/>
                </a:solidFill>
                <a:effectLst/>
                <a:uFillTx/>
                <a:latin typeface="Arial"/>
                <a:ea typeface="Microsoft YaHei"/>
              </a:rPr>
              <a:t> : Provides required session keys and manages encryption keys. MACsec encryption with MKA is supported between endpoint and switch as well as between switches.</a:t>
            </a:r>
            <a:endParaRPr lang="en-US" sz="2000" b="0" u="none" strike="noStrike">
              <a:solidFill>
                <a:schemeClr val="dk1"/>
              </a:solidFill>
              <a:effectLst/>
              <a:uFillTx/>
              <a:latin typeface="Aptos"/>
            </a:endParaRPr>
          </a:p>
          <a:p>
            <a:pPr indent="0" algn="l" defTabSz="914400">
              <a:lnSpc>
                <a:spcPct val="100000"/>
              </a:lnSpc>
              <a:spcBef>
                <a:spcPts val="434"/>
              </a:spcBef>
              <a:buNone/>
              <a:tabLst>
                <a:tab pos="0" algn="l"/>
              </a:tabLst>
            </a:pPr>
            <a:r>
              <a:rPr lang="en-US" sz="2000" b="1" u="none" strike="noStrike">
                <a:solidFill>
                  <a:srgbClr val="000000"/>
                </a:solidFill>
                <a:effectLst/>
                <a:uFillTx/>
                <a:latin typeface="Arial"/>
                <a:ea typeface="Microsoft YaHei"/>
              </a:rPr>
              <a:t>Downlink MACsec</a:t>
            </a:r>
            <a:endParaRPr lang="en-US" sz="2000" b="0" u="none" strike="noStrike">
              <a:solidFill>
                <a:schemeClr val="dk1"/>
              </a:solidFill>
              <a:effectLst/>
              <a:uFillTx/>
              <a:latin typeface="Aptos"/>
            </a:endParaRPr>
          </a:p>
          <a:p>
            <a:pPr marL="360000" indent="-324000" algn="l" defTabSz="914400">
              <a:lnSpc>
                <a:spcPct val="100000"/>
              </a:lnSpc>
              <a:spcBef>
                <a:spcPts val="434"/>
              </a:spcBef>
              <a:buClr>
                <a:srgbClr val="000000"/>
              </a:buClr>
              <a:buFont typeface="Arial"/>
              <a:buChar char="•"/>
              <a:tabLst>
                <a:tab pos="0" algn="l"/>
              </a:tabLst>
            </a:pPr>
            <a:r>
              <a:rPr lang="en-US" sz="2000" b="0" u="none" strike="noStrike">
                <a:solidFill>
                  <a:srgbClr val="000000"/>
                </a:solidFill>
                <a:effectLst/>
                <a:uFillTx/>
                <a:latin typeface="Arial"/>
                <a:ea typeface="Microsoft YaHei"/>
              </a:rPr>
              <a:t>Encrypted link between Cisco switch and endpoint is known as downlink MACsec. </a:t>
            </a:r>
            <a:endParaRPr lang="en-US" sz="2000" b="0" u="none" strike="noStrike">
              <a:solidFill>
                <a:schemeClr val="dk1"/>
              </a:solidFill>
              <a:effectLst/>
              <a:uFillTx/>
              <a:latin typeface="Aptos"/>
            </a:endParaRPr>
          </a:p>
          <a:p>
            <a:pPr marL="360000" indent="-324000" algn="l" defTabSz="914400">
              <a:lnSpc>
                <a:spcPct val="100000"/>
              </a:lnSpc>
              <a:spcBef>
                <a:spcPts val="434"/>
              </a:spcBef>
              <a:buClr>
                <a:srgbClr val="000000"/>
              </a:buClr>
              <a:buFont typeface="Arial"/>
              <a:buChar char="•"/>
              <a:tabLst>
                <a:tab pos="0" algn="l"/>
              </a:tabLst>
            </a:pPr>
            <a:r>
              <a:rPr lang="en-US" sz="2000" b="0" u="none" strike="noStrike">
                <a:solidFill>
                  <a:srgbClr val="000000"/>
                </a:solidFill>
                <a:effectLst/>
                <a:uFillTx/>
                <a:latin typeface="Arial"/>
                <a:ea typeface="Microsoft YaHei"/>
              </a:rPr>
              <a:t>This requires MACsec capable switch and endpoint.</a:t>
            </a:r>
            <a:endParaRPr lang="en-US" sz="2000" b="0" u="none" strike="noStrike">
              <a:solidFill>
                <a:schemeClr val="dk1"/>
              </a:solidFill>
              <a:effectLst/>
              <a:uFillTx/>
              <a:latin typeface="Aptos"/>
            </a:endParaRPr>
          </a:p>
          <a:p>
            <a:pPr marL="360000" indent="-324000" algn="l" defTabSz="914400">
              <a:lnSpc>
                <a:spcPct val="100000"/>
              </a:lnSpc>
              <a:spcBef>
                <a:spcPts val="434"/>
              </a:spcBef>
              <a:buClr>
                <a:srgbClr val="000000"/>
              </a:buClr>
              <a:buFont typeface="Arial"/>
              <a:buChar char="•"/>
              <a:tabLst>
                <a:tab pos="0" algn="l"/>
              </a:tabLst>
            </a:pPr>
            <a:r>
              <a:rPr lang="en-US" sz="2000" b="0" u="none" strike="noStrike">
                <a:solidFill>
                  <a:srgbClr val="000000"/>
                </a:solidFill>
                <a:effectLst/>
                <a:uFillTx/>
                <a:latin typeface="Arial"/>
                <a:ea typeface="Microsoft YaHei"/>
              </a:rPr>
              <a:t>Encryption on endpoint can be handled by hardware if available or can be done by software such as Cisco AnyConnect using endpoint CPU.</a:t>
            </a:r>
            <a:endParaRPr lang="en-US" sz="2000" b="0" u="none" strike="noStrike">
              <a:solidFill>
                <a:schemeClr val="dk1"/>
              </a:solidFill>
              <a:effectLst/>
              <a:uFillTx/>
              <a:latin typeface="Aptos"/>
            </a:endParaRPr>
          </a:p>
          <a:p>
            <a:pPr marL="360000" indent="-324000" algn="l" defTabSz="914400">
              <a:lnSpc>
                <a:spcPct val="100000"/>
              </a:lnSpc>
              <a:spcBef>
                <a:spcPts val="434"/>
              </a:spcBef>
              <a:buClr>
                <a:srgbClr val="000000"/>
              </a:buClr>
              <a:buFont typeface="Arial"/>
              <a:buChar char="•"/>
              <a:tabLst>
                <a:tab pos="0" algn="l"/>
              </a:tabLst>
            </a:pPr>
            <a:r>
              <a:rPr lang="en-US" sz="2000" b="0" u="none" strike="noStrike">
                <a:solidFill>
                  <a:srgbClr val="000000"/>
                </a:solidFill>
                <a:effectLst/>
                <a:uFillTx/>
                <a:latin typeface="Arial"/>
                <a:ea typeface="Microsoft YaHei"/>
              </a:rPr>
              <a:t>The encryption on endpoint can be forced, optional or no-encryption by switch through manual port configuration or set by ISE dynamically as authorization option.</a:t>
            </a:r>
            <a:endParaRPr lang="en-US" sz="2000" b="0" u="none" strike="noStrike">
              <a:solidFill>
                <a:schemeClr val="dk1"/>
              </a:solidFill>
              <a:effectLst/>
              <a:uFillTx/>
              <a:latin typeface="Aptos"/>
            </a:endParaRPr>
          </a:p>
          <a:p>
            <a:pPr marL="360000" indent="-324000" algn="l" defTabSz="914400">
              <a:lnSpc>
                <a:spcPct val="100000"/>
              </a:lnSpc>
              <a:spcBef>
                <a:spcPts val="434"/>
              </a:spcBef>
              <a:buClr>
                <a:srgbClr val="000000"/>
              </a:buClr>
              <a:buFont typeface="Arial"/>
              <a:buChar char="•"/>
              <a:tabLst>
                <a:tab pos="0" algn="l"/>
              </a:tabLst>
            </a:pPr>
            <a:r>
              <a:rPr lang="en-US" sz="2000" b="0" u="none" strike="noStrike">
                <a:solidFill>
                  <a:srgbClr val="000000"/>
                </a:solidFill>
                <a:effectLst/>
                <a:uFillTx/>
                <a:latin typeface="Arial"/>
                <a:ea typeface="Microsoft YaHei"/>
              </a:rPr>
              <a:t>ISE authorization option for MACsec on endpoint takes preference over manual switchport configuration.</a:t>
            </a:r>
            <a:endParaRPr lang="en-US" sz="20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marL="324000"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a:p>
            <a:pPr marL="324000" indent="0" algn="l" defTabSz="914400">
              <a:lnSpc>
                <a:spcPct val="100000"/>
              </a:lnSpc>
              <a:spcBef>
                <a:spcPts val="1001"/>
              </a:spcBef>
              <a:buNone/>
              <a:tabLst>
                <a:tab pos="0" algn="l"/>
              </a:tabLst>
            </a:pPr>
            <a:endParaRPr lang="en-US" sz="2000" b="0" u="none" strike="noStrike">
              <a:solidFill>
                <a:schemeClr val="dk1"/>
              </a:solidFill>
              <a:effectLst/>
              <a:uFillTx/>
              <a:latin typeface="Aptos"/>
            </a:endParaRPr>
          </a:p>
        </p:txBody>
      </p:sp>
      <p:sp>
        <p:nvSpPr>
          <p:cNvPr id="157" name=""/>
          <p:cNvSpPr/>
          <p:nvPr/>
        </p:nvSpPr>
        <p:spPr>
          <a:xfrm>
            <a:off x="79920" y="1568160"/>
            <a:ext cx="4599720" cy="46116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001"/>
              </a:spcBef>
            </a:pPr>
            <a:r>
              <a:rPr lang="en-US" sz="2000" b="1" u="none" strike="noStrike">
                <a:solidFill>
                  <a:schemeClr val="dk1"/>
                </a:solidFill>
                <a:effectLst/>
                <a:uFillTx/>
                <a:latin typeface="Arial"/>
                <a:ea typeface="Microsoft YaHei"/>
              </a:rPr>
              <a:t>Uplink MACsec</a:t>
            </a:r>
            <a:endParaRPr lang="en-AU" sz="2000" b="0" u="none" strike="noStrike">
              <a:solidFill>
                <a:srgbClr val="000000"/>
              </a:solidFill>
              <a:effectLst/>
              <a:uFillTx/>
              <a:latin typeface="Arial"/>
            </a:endParaRPr>
          </a:p>
          <a:p>
            <a:pPr marL="162000" indent="-162000" defTabSz="914400">
              <a:lnSpc>
                <a:spcPct val="100000"/>
              </a:lnSpc>
              <a:spcBef>
                <a:spcPts val="1001"/>
              </a:spcBef>
              <a:buClr>
                <a:srgbClr val="000000"/>
              </a:buClr>
              <a:buSzPct val="45000"/>
              <a:buFont typeface="Wingdings" charset="2"/>
              <a:buChar char=""/>
            </a:pPr>
            <a:r>
              <a:rPr lang="en-US" sz="2000" b="0" u="none" strike="noStrike">
                <a:solidFill>
                  <a:schemeClr val="dk1"/>
                </a:solidFill>
                <a:effectLst/>
                <a:uFillTx/>
                <a:latin typeface="Arial"/>
                <a:ea typeface="Microsoft YaHei"/>
              </a:rPr>
              <a:t>Encrypted link between two switches is known as uplink MACsec</a:t>
            </a:r>
            <a:endParaRPr lang="en-AU" sz="2000" b="0" u="none" strike="noStrike">
              <a:solidFill>
                <a:srgbClr val="000000"/>
              </a:solidFill>
              <a:effectLst/>
              <a:uFillTx/>
              <a:latin typeface="Arial"/>
            </a:endParaRPr>
          </a:p>
          <a:p>
            <a:pPr marL="162000" indent="-162000" defTabSz="914400">
              <a:lnSpc>
                <a:spcPct val="100000"/>
              </a:lnSpc>
              <a:spcBef>
                <a:spcPts val="1001"/>
              </a:spcBef>
              <a:buClr>
                <a:srgbClr val="000000"/>
              </a:buClr>
              <a:buSzPct val="45000"/>
              <a:buFont typeface="Wingdings" charset="2"/>
              <a:buChar char=""/>
            </a:pPr>
            <a:r>
              <a:rPr lang="en-US" sz="2000" b="0" u="none" strike="noStrike">
                <a:solidFill>
                  <a:schemeClr val="dk1"/>
                </a:solidFill>
                <a:effectLst/>
                <a:uFillTx/>
                <a:latin typeface="Arial"/>
                <a:ea typeface="Microsoft YaHei"/>
              </a:rPr>
              <a:t>By default uplink MACsec uses SAP for encryption</a:t>
            </a:r>
            <a:endParaRPr lang="en-AU" sz="20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a:p>
            <a:pPr defTabSz="914400">
              <a:lnSpc>
                <a:spcPct val="100000"/>
              </a:lnSpc>
            </a:pPr>
            <a:endParaRPr lang="en-AU" sz="1800" b="0" u="none" strike="noStrike">
              <a:solidFill>
                <a:srgbClr val="000000"/>
              </a:solidFill>
              <a:effectLst/>
              <a:uFillTx/>
              <a:latin typeface="Arial"/>
            </a:endParaRPr>
          </a:p>
        </p:txBody>
      </p:sp>
      <p:pic>
        <p:nvPicPr>
          <p:cNvPr id="158" name=""/>
          <p:cNvPicPr/>
          <p:nvPr/>
        </p:nvPicPr>
        <p:blipFill>
          <a:blip r:embed="rId1"/>
          <a:stretch/>
        </p:blipFill>
        <p:spPr>
          <a:xfrm>
            <a:off x="122760" y="3985560"/>
            <a:ext cx="4499640" cy="23396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3498</TotalTime>
  <Application>LibreOffice/26.2.5.2$Windows_X86_64 LibreOffice_project/cd7284b4cbbfeb507e630c1aac019f4157393acb</Application>
  <AppVersion>15.0000</AppVersion>
  <Words>1799</Words>
  <Paragraphs>129</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2024-08-22T04:22:08Z</dcterms:created>
  <dc:creator>Toran Shahi</dc:creator>
  <dc:description/>
  <dc:language>en-AU</dc:language>
  <cp:lastModifiedBy/>
  <dcterms:modified xsi:type="dcterms:W3CDTF">2026-08-24T18:43:18Z</dcterms:modified>
  <cp:revision>29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vt:i4>
  </property>
  <property fmtid="{D5CDD505-2E9C-101B-9397-08002B2CF9AE}" pid="3" name="PresentationFormat">
    <vt:lpwstr>Widescreen</vt:lpwstr>
  </property>
  <property fmtid="{D5CDD505-2E9C-101B-9397-08002B2CF9AE}" pid="4" name="Slides">
    <vt:i4>21</vt:i4>
  </property>
</Properties>
</file>