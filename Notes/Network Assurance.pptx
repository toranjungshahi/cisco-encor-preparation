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>
              <a:lnSpc>
                <a:spcPct val="90000"/>
              </a:lnSpc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move the slide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C6110A9-1E4D-4763-8343-DCBBBFD10EF8}" type="slidenum"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hyperlink" Target="https://linux.die.net/man/8/ping" TargetMode="External"/><Relationship Id="rId2" Type="http://schemas.openxmlformats.org/officeDocument/2006/relationships/slide" Target="../slides/slide2.xml"/><Relationship Id="rId3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hyperlink" Target="https://linux.die.net/man/8/traceroute" TargetMode="External"/><Relationship Id="rId2" Type="http://schemas.openxmlformats.org/officeDocument/2006/relationships/slide" Target="../slides/slide4.xml"/><Relationship Id="rId3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hyperlink" Target="https://onedrive.live.com/personal/9e80e87edecd0726/_layouts/15/Doc.aspx?sourcedoc=%7B3ce19d72-a61a-44e8-92a3-b87e5d616d30%7D&amp;action=edit&amp;wdPid=4956212d" TargetMode="External"/><Relationship Id="rId2" Type="http://schemas.openxmlformats.org/officeDocument/2006/relationships/slide" Target="../slides/slide7.xml"/><Relationship Id="rId3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hyperlink" Target="https://onedrive.live.com/personal/9e80e87edecd0726/_layouts/15/Doc.aspx?sourcedoc=%7B3ce19d72-a61a-44e8-92a3-b87e5d616d30%7D&amp;action=edit&amp;wdPid=4956212d" TargetMode="External"/><Relationship Id="rId2" Type="http://schemas.openxmlformats.org/officeDocument/2006/relationships/slide" Target="../slides/slide8.xml"/><Relationship Id="rId3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hyperlink" Target="https://onedrive.live.com/personal/9e80e87edecd0726/_layouts/15/Doc.aspx?sourcedoc=%7B3ce19d72-a61a-44e8-92a3-b87e5d616d30%7D&amp;action=edit&amp;wdPid=4956212d" TargetMode="External"/><Relationship Id="rId2" Type="http://schemas.openxmlformats.org/officeDocument/2006/relationships/slide" Target="../slides/slide9.xml"/><Relationship Id="rId3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hyperlink" Target="https://onedrive.live.com/personal/9e80e87edecd0726/_layouts/15/Doc.aspx?sourcedoc=%7B3ce19d72-a61a-44e8-92a3-b87e5d616d30%7D&amp;action=edit&amp;wdPid=4956212d" TargetMode="External"/><Relationship Id="rId2" Type="http://schemas.openxmlformats.org/officeDocument/2006/relationships/slide" Target="../slides/slide10.xml"/><Relationship Id="rId3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hyperlink" Target="https://onedrive.live.com/personal/9e80e87edecd0726/_layouts/15/Doc.aspx?sourcedoc=%7B3ce19d72-a61a-44e8-92a3-b87e5d616d30%7D&amp;action=edit&amp;wdPid=4956212d" TargetMode="External"/><Relationship Id="rId2" Type="http://schemas.openxmlformats.org/officeDocument/2006/relationships/slide" Target="../slides/slide11.xml"/><Relationship Id="rId3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hyperlink" Target="https://onedrive.live.com/personal/9e80e87edecd0726/_layouts/15/Doc.aspx?sourcedoc=%7B3ce19d72-a61a-44e8-92a3-b87e5d616d30%7D&amp;action=edit&amp;wdPid=4956212d" TargetMode="External"/><Relationship Id="rId2" Type="http://schemas.openxmlformats.org/officeDocument/2006/relationships/slide" Target="../slides/slide12.xml"/><Relationship Id="rId3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hyperlink" Target="https://onedrive.live.com/personal/9e80e87edecd0726/_layouts/15/Doc.aspx?sourcedoc=%7B3ce19d72-a61a-44e8-92a3-b87e5d616d30%7D&amp;action=edit&amp;wdPid=4956212d" TargetMode="External"/><Relationship Id="rId2" Type="http://schemas.openxmlformats.org/officeDocument/2006/relationships/slide" Target="../slides/slide13.xml"/><Relationship Id="rId3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hyperlink" Target="https://onedrive.live.com/personal/9e80e87edecd0726/_layouts/15/Doc.aspx?sourcedoc=%7B3ce19d72-a61a-44e8-92a3-b87e5d616d30%7D&amp;action=edit&amp;wdPid=4956212d" TargetMode="External"/><Relationship Id="rId2" Type="http://schemas.openxmlformats.org/officeDocument/2006/relationships/slide" Target="../slides/slide14.xml"/><Relationship Id="rId3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hyperlink" Target="https://onedrive.live.com/personal/9e80e87edecd0726/_layouts/15/Doc.aspx?sourcedoc=%7B3ce19d72-a61a-44e8-92a3-b87e5d616d30%7D&amp;action=edit&amp;wdPid=4956212d" TargetMode="External"/><Relationship Id="rId2" Type="http://schemas.openxmlformats.org/officeDocument/2006/relationships/slide" Target="../slides/slide15.xml"/><Relationship Id="rId3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  <a:hlinkClick r:id="rId1"/>
              </a:rPr>
              <a:t>Linux Ping man page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 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4E90D8F-2E0D-4C0F-9F8D-246C040298E1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8772FB5-AA82-4067-9BE5-FA99A79BFF8E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  <a:hlinkClick r:id="rId1"/>
              </a:rPr>
              <a:t>Linux Traceroute man page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 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ABA9923-B526-43C8-99D6-1B419A15526E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1334818-29CC-4202-86D2-0D253363E73F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Debugging OSPF lab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53FC44F-C7A2-4124-ABE4-56410C53A895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  <a:hlinkClick r:id="rId1"/>
              </a:rPr>
              <a:t>SNMP_SNMPv3_Syslog_Netflow_lab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5269D84-D425-4447-9410-258F1C65041B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SNMP_SNMPv3_Syslog_Netflow_lab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AEA359B-7C80-4F58-B4B1-19F7E03D888F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SNMP_SNMPv3_Syslog_Netflow_lab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8246BA7-FDB0-4019-A353-1095D84C8163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SNMP_SNMPv3_Syslog_Netflow_lab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1F1BBBF-D8CD-4252-B1F7-64407C08F975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SNMP_SNMPv3_Syslog_Netflow_lab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79A95D9-C0BE-4FEF-8CE2-EC5F0ACAEFD8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SNMP_SNMPv3_Syslog_Netflow_lab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A004C38-5430-4BC3-A349-72A4DC939647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SNMP_SNMPv3_Syslog_Netflow_lab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A9020FC-0728-4EBA-A629-765BECFD0E72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SNMP_SNMPv3_Syslog_Netflow_lab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FC72675-B7F5-483E-8CD2-FC18A9295711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SNMP_SNMPv3_Syslog_Netflow_lab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9B9E8A9-9BD1-465A-A72B-881068366B02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EVE-NG Switching SPAN-RSPAN Lab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913BC2E-FAE1-4DFD-9C04-FC906198AD98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+mn-lt"/>
              </a:rPr>
              <a:t>{ }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: Mandatory options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 ,  </a:t>
            </a:r>
            <a:r>
              <a:rPr lang="en-US" sz="2000" b="0" u="none" strike="noStrike">
                <a:solidFill>
                  <a:srgbClr val="00B050"/>
                </a:solidFill>
                <a:effectLst/>
                <a:uFillTx/>
                <a:latin typeface="Arial"/>
                <a:ea typeface="Calibri"/>
              </a:rPr>
              <a:t>[ ]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 : Optional options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3E12EE-A6A3-44E0-8D89-2EE098C16E9B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{ }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Mandatory options , </a:t>
            </a:r>
            <a:r>
              <a:rPr lang="en-US" sz="2000" b="0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[ ]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 : Optional options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65DEBB8-9B22-4CA4-A468-12700BC7C2F9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9D51522-4943-4B55-B393-C3FD633989DA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{ }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Mandatory options , </a:t>
            </a:r>
            <a:r>
              <a:rPr lang="en-US" sz="2000" b="0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[ ]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 : Optional options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No lab, only certain images support ERSPAN (Network Advantage or DNA Centre license required)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6C36291-55D4-4C46-8DF4-456DFD85D6D3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{ }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Mandatory options , </a:t>
            </a:r>
            <a:r>
              <a:rPr lang="en-US" sz="2000" b="0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[ ]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 : Optional options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05F1FD1-9B56-43F3-9B49-F152DC80126F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{ }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Mandatory options , </a:t>
            </a:r>
            <a:r>
              <a:rPr lang="en-US" sz="2000" b="0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[ ]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 : Optional options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ECE3A31-86F6-488B-AF68-34E0F5E026CF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D0BF6A6-2954-4541-B2E8-811F8C3CBCB9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192F1C-5C9A-4E21-BDEB-457DDA602968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12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017554-4751-4818-8D46-F0B6384F5E0F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9D5ED0-8561-4B81-90FB-95FAB0366AC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1BD998-F46D-498F-9E61-922E18CB8985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6E0D74-D535-48CF-AC25-27A49ED5D735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3B9263-655E-4489-B019-EFB73AC8BAAD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2E63D1-10A9-4CE3-98C2-B8D64AB508D4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C04353-EE28-4176-9C7B-9BFCEB93C496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A527B5-B88D-4BD2-BAC3-6544D3C0A3E4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F9340C-9C75-4492-82B8-6631D1974FAA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icon to add picture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54A167-B65A-4BE3-91F2-5675C9725D8B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hyperlink" Target="http://192.168.1.7" TargetMode="External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267840" y="1455840"/>
            <a:ext cx="3541680" cy="3667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5400" b="0" u="none" strike="noStrike">
                <a:solidFill>
                  <a:srgbClr val="C00000"/>
                </a:solidFill>
                <a:effectLst/>
                <a:uFillTx/>
                <a:latin typeface="Aptos Display"/>
              </a:rPr>
              <a:t>Network Assurance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4024080" y="127080"/>
            <a:ext cx="7887600" cy="633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A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8584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,Sans-Serif"/>
              <a:buChar char="•"/>
              <a:tabLst>
                <a:tab pos="0" algn="l"/>
              </a:tabLst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Learning Outcomes:</a:t>
            </a:r>
            <a:endParaRPr lang="en-A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4EA72E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800" b="1" u="none" strike="noStrike">
                <a:solidFill>
                  <a:schemeClr val="accent6"/>
                </a:solidFill>
                <a:effectLst/>
                <a:uFillTx/>
                <a:latin typeface="Aptos"/>
              </a:rPr>
              <a:t>Network Diagnostic tools: ping, traceroute, syslog and SNMP</a:t>
            </a:r>
            <a:endParaRPr lang="en-A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4EA72E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800" b="1" u="none" strike="noStrike">
                <a:solidFill>
                  <a:schemeClr val="accent6"/>
                </a:solidFill>
                <a:effectLst/>
                <a:uFillTx/>
                <a:latin typeface="Aptos"/>
              </a:rPr>
              <a:t>Debugging</a:t>
            </a:r>
            <a:endParaRPr lang="en-A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4EA72E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800" b="1" u="none" strike="noStrike">
                <a:solidFill>
                  <a:schemeClr val="accent6"/>
                </a:solidFill>
                <a:effectLst/>
                <a:uFillTx/>
                <a:latin typeface="Aptos"/>
              </a:rPr>
              <a:t>NetFlow and Flexible NetFlow</a:t>
            </a:r>
            <a:endParaRPr lang="en-A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4EA72E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800" b="1" u="none" strike="noStrike">
                <a:solidFill>
                  <a:schemeClr val="accent6"/>
                </a:solidFill>
                <a:effectLst/>
                <a:uFillTx/>
                <a:latin typeface="Aptos"/>
              </a:rPr>
              <a:t>Switched Port Analyzer (SPAN) : SPAN, RSPAN and ERSPAN</a:t>
            </a:r>
            <a:endParaRPr lang="en-A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4EA72E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800" b="1" u="none" strike="noStrike">
                <a:solidFill>
                  <a:schemeClr val="accent6"/>
                </a:solidFill>
                <a:effectLst/>
                <a:uFillTx/>
                <a:latin typeface="Aptos"/>
              </a:rPr>
              <a:t>IP SLA</a:t>
            </a:r>
            <a:endParaRPr lang="en-A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4EA72E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800" b="1" u="none" strike="noStrike">
                <a:solidFill>
                  <a:schemeClr val="accent6"/>
                </a:solidFill>
                <a:effectLst/>
                <a:uFillTx/>
                <a:latin typeface="Aptos"/>
              </a:rPr>
              <a:t>Cisco DNA Centre Assurance</a:t>
            </a:r>
            <a:endParaRPr lang="en-A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74304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A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A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74304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A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4103640" cy="68576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1. Network Diagnostic Tools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448520" y="239400"/>
            <a:ext cx="7412760" cy="630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Ping 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One of the most underrated tool in network engineering.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Steps to follow when troubleshooting network reachability issues: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Gather the facts. Such as IP address of the remote site router that cannot reach headquarter.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Test reachability by using ping command.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Record the outcome of the command and move on to next step. 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If ping is successful, its not the basic reachabiltiy issue.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If unsuccessful then the issue could be related to interface issue, routing issue, ACL or intermediate firewalls.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4103640" cy="16254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1. Network Diagnostic Tools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448520" y="239400"/>
            <a:ext cx="7412760" cy="44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Extended Ping 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Customize ping to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 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overrule common network issues. 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Validating if a change in network resolves the network issue can be done by sending continuous or long ping using '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repeat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' and checking the reachability.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Different sizes of packets can be sent using '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size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' to test path MTU with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df-bit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set.It can also be used to test QoS policies.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Source of ping packets should be set appropriately using '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source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' to test reachability between two specific interfaces of routers.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Below is an example ping with all these fields set.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72" name="Picture 3" descr="A screenshot of a computer&#10;&#10;AI-generated content may be incorrect."/>
          <p:cNvPicPr/>
          <p:nvPr/>
        </p:nvPicPr>
        <p:blipFill>
          <a:blip r:embed="rId1"/>
          <a:stretch/>
        </p:blipFill>
        <p:spPr>
          <a:xfrm>
            <a:off x="126000" y="1965600"/>
            <a:ext cx="3971160" cy="270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Picture 4" descr="A screen shot of a computer&#10;&#10;AI-generated content may be incorrect."/>
          <p:cNvPicPr/>
          <p:nvPr/>
        </p:nvPicPr>
        <p:blipFill>
          <a:blip r:embed="rId2"/>
          <a:stretch/>
        </p:blipFill>
        <p:spPr>
          <a:xfrm>
            <a:off x="4451760" y="5070960"/>
            <a:ext cx="6190920" cy="1447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4103640" cy="16254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1. Network Diagnostic Tools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470480" y="239400"/>
            <a:ext cx="7550640" cy="499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Traceroute 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It is used to find out how far the packet travels and the path it takes.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Default traceroute settings maximum TTL/hops 30, 3 probes per hop,5 seconds timeout, UDP protocol and port 33434.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Most common unsuccessful traceroute reason is missing route or interface down.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Traceroute sends 'destination host unreachable' message with !H means that there is route to the destination network but specific ip is not available.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Traceroute also offers extended options like ping.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Default protocol and port can be changed to bypass firewalls/ACLs blocking ICMP.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76" name="Picture 3" descr="A screenshot of a computer&#10;&#10;AI-generated content may be incorrect."/>
          <p:cNvPicPr/>
          <p:nvPr/>
        </p:nvPicPr>
        <p:blipFill>
          <a:blip r:embed="rId1"/>
          <a:stretch/>
        </p:blipFill>
        <p:spPr>
          <a:xfrm>
            <a:off x="145080" y="1963800"/>
            <a:ext cx="3962160" cy="273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Picture 4" descr="A close-up of a computer code&#10;&#10;AI-generated content may be incorrect."/>
          <p:cNvPicPr/>
          <p:nvPr/>
        </p:nvPicPr>
        <p:blipFill>
          <a:blip r:embed="rId2"/>
          <a:stretch/>
        </p:blipFill>
        <p:spPr>
          <a:xfrm>
            <a:off x="204840" y="5090760"/>
            <a:ext cx="7797600" cy="143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3653640" cy="685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2. Debugging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3962520" y="195840"/>
            <a:ext cx="8058600" cy="6411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Debugging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Live debugging is helpful but resource intensive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Thus, test in lab before turning on debugging on production environment.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Turn off live debugging using 'undebug all' command.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Conditional Debugging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 : 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Conditional debugging can be used to limit the number of messages that appear on screen.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Thus, it also helps to minimize the resource usage while debugging.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Conditional debugging helps to limit the scope of messages and debug issues in turn.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3653640" cy="685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2. Debugging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3831840" y="195840"/>
            <a:ext cx="8189280" cy="6411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Conditional Debugging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 : Common method of conditional debugging is to create ACL to filter traffic first and then apply the ACL during debug command.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Example: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ptos"/>
              </a:rPr>
              <a:t>access-list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Aptos"/>
                <a:ea typeface="Aptos"/>
              </a:rPr>
              <a:t>100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4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ptos"/>
              </a:rPr>
              <a:t>permit ip </a:t>
            </a: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Aptos"/>
                <a:ea typeface="Aptos"/>
              </a:rPr>
              <a:t>any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Aptos"/>
                <a:ea typeface="Aptos"/>
              </a:rPr>
              <a:t>192.168.14.0 0.0.0.255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ptos"/>
              </a:rPr>
              <a:t>access-list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Aptos"/>
                <a:ea typeface="Aptos"/>
              </a:rPr>
              <a:t>100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4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ptos"/>
              </a:rPr>
              <a:t>permit ip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Aptos"/>
                <a:ea typeface="Aptos"/>
              </a:rPr>
              <a:t>192.168.14.0 0.0.0.255 any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ptos"/>
              </a:rPr>
              <a:t>debug ip packet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Aptos"/>
                <a:ea typeface="Aptos"/>
              </a:rPr>
              <a:t>100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This debugs/shows all the ip packets destined to and originated from 192.168.14.0/24 network.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Another common method of conditional debugging is to debug interface. Which is applied as inner condition to debug commands.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Example: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ptos"/>
              </a:rPr>
              <a:t>debug interface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Aptos"/>
                <a:ea typeface="Aptos"/>
              </a:rPr>
              <a:t>loopback0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ptos"/>
              </a:rPr>
              <a:t>debug ip packet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Aptos"/>
                <a:ea typeface="Aptos"/>
              </a:rPr>
              <a:t>100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This shows packets from ACL 100 AND any packets to and from loopback0 interface.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To remove interface debugging as condition, it needs to be explicitly removed with 'undebug interface loopback0'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'Undebug all' does not remove debugging from interface.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 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3653640" cy="68576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1. SNMP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3831840" y="195840"/>
            <a:ext cx="7565040" cy="23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Simple Network Management Protocol(SNMP)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SNMP sends unsolicited messages of network events from network device(agent) to SNMP collector or Network Management System (NMS) (server).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The events for which the messages are sent is defined in Management Information Base (MIB).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SNMP version comparison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aphicFrame>
        <p:nvGraphicFramePr>
          <p:cNvPr id="84" name="Table 3"/>
          <p:cNvGraphicFramePr/>
          <p:nvPr/>
        </p:nvGraphicFramePr>
        <p:xfrm>
          <a:off x="3802680" y="2540160"/>
          <a:ext cx="8163360" cy="4242600"/>
        </p:xfrm>
        <a:graphic>
          <a:graphicData uri="http://schemas.openxmlformats.org/drawingml/2006/table">
            <a:tbl>
              <a:tblPr/>
              <a:tblGrid>
                <a:gridCol w="1182960"/>
                <a:gridCol w="1476360"/>
                <a:gridCol w="1427400"/>
                <a:gridCol w="1193760"/>
                <a:gridCol w="2882160"/>
              </a:tblGrid>
              <a:tr h="5882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Version</a:t>
                      </a:r>
                      <a:endParaRPr lang="en-AU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Level</a:t>
                      </a:r>
                      <a:endParaRPr lang="en-AU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Authentication Type</a:t>
                      </a:r>
                      <a:endParaRPr lang="en-AU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Encryption</a:t>
                      </a:r>
                      <a:endParaRPr lang="en-AU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Result</a:t>
                      </a:r>
                      <a:endParaRPr lang="en-AU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882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SNMPv1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NoAuthNoPriv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Community string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No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Uses community string match 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882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SNMPv2c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NoAuthNoPriv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Community string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No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Uses community string match 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66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SNMPv3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NoAuthNoPriv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Username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No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Uses username match to authenticate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882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SNMPv3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AuthNoPriv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MD5 or SHA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No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Uses HMAC-MD5 or HMAC-SHA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0803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SNMPv3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AuthPriv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(crypto engine)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MD5 or SHA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DES or AES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Allows for User-based Security Model (USM) for combination of HMAC authentication and encryption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3653640" cy="14292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1. SNMP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143960" y="195840"/>
            <a:ext cx="7739280" cy="306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SNMPv1 and SNMPv2 uses ACL and community string/password to control which SNMP Manager can talk to Agents.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Community strings can be read-only (RO) allowing polling of devices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Read/Write (RW) allows polling and pushing information or configuration to devices.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Below table shows operations for SNMPv2c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aphicFrame>
        <p:nvGraphicFramePr>
          <p:cNvPr id="87" name="Table 3"/>
          <p:cNvGraphicFramePr/>
          <p:nvPr/>
        </p:nvGraphicFramePr>
        <p:xfrm>
          <a:off x="4368960" y="3265560"/>
          <a:ext cx="7625520" cy="3853080"/>
        </p:xfrm>
        <a:graphic>
          <a:graphicData uri="http://schemas.openxmlformats.org/drawingml/2006/table">
            <a:tbl>
              <a:tblPr/>
              <a:tblGrid>
                <a:gridCol w="1390320"/>
                <a:gridCol w="6234840"/>
              </a:tblGrid>
              <a:tr h="3776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Operation</a:t>
                      </a:r>
                      <a:endParaRPr lang="en-AU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Description</a:t>
                      </a:r>
                      <a:endParaRPr lang="en-AU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409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get-request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Retrieves value from a specific variable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409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get-next-request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Retrieves value for a variable within a table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619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get-bulk-request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Retrieves large block of data, such as multiple rows of a table, that would otherwise require many smaller blocks.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409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get-response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Replies to get-request, get-next-request and set-request sent by NMS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409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set-request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Stores a value in particular variable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619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trap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Sends unsolicited message from Agent to Manager when an event occurs.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88" name="Picture 5" descr="A white box with black text&#10;&#10;AI-generated content may be incorrect."/>
          <p:cNvPicPr/>
          <p:nvPr/>
        </p:nvPicPr>
        <p:blipFill>
          <a:blip r:embed="rId1"/>
          <a:stretch/>
        </p:blipFill>
        <p:spPr>
          <a:xfrm>
            <a:off x="-2520" y="2908080"/>
            <a:ext cx="4010400" cy="1912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4190760" cy="14292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1. SNMP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354200" y="195840"/>
            <a:ext cx="7529040" cy="628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For a device to be polled and send traps, below should be configured: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Define SNMP host or NMS to send traps to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Create access-list to restrict access via SNMP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Define RO community string/password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Define RW community string/password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Define SNMP location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Define SNMP contact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For network device to send traps, it must be enabled on the device with command '</a:t>
            </a:r>
            <a:r>
              <a:rPr lang="en-US" sz="2800" b="0" u="none" strike="noStrike">
                <a:solidFill>
                  <a:srgbClr val="C00000"/>
                </a:solidFill>
                <a:effectLst/>
                <a:uFillTx/>
                <a:latin typeface="Aptos"/>
              </a:rPr>
              <a:t>snmp-server enable traps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'.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This enables all traps including unnecessary to network admins.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Types of traps that can be enabled can be viewed with context-sensitive help command.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C00000"/>
                </a:solidFill>
                <a:effectLst/>
                <a:uFillTx/>
                <a:latin typeface="Aptos"/>
              </a:rPr>
              <a:t>snmp-server enable traps ?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91" name="Picture 4"/>
          <p:cNvPicPr/>
          <p:nvPr/>
        </p:nvPicPr>
        <p:blipFill>
          <a:blip r:embed="rId1"/>
          <a:stretch/>
        </p:blipFill>
        <p:spPr>
          <a:xfrm>
            <a:off x="87840" y="2469240"/>
            <a:ext cx="4105440" cy="2296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3653640" cy="14292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marL="743040" indent="-743040" algn="ctr" defTabSz="914400">
              <a:lnSpc>
                <a:spcPct val="90000"/>
              </a:lnSpc>
              <a:buClr>
                <a:srgbClr val="FFFFFF"/>
              </a:buClr>
              <a:buFont typeface="OpenSymbol"/>
              <a:buAutoNum type="arabicPeriod"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Syslog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390560" y="195840"/>
            <a:ext cx="7492680" cy="403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System logs (Syslog) are the event driven messages generated by OS.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These messages can be directed to console (default), logging buffer or off-box collector.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Different types of messages can be sent to different file (console, logging buffer, off-box collector) simultaneously.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For syslog messages to be relevant, system time must be synchronized (NTP/PTP).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Below is the syslog messages severity levels: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94" name="Picture 3" descr="A table with text on it&#10;&#10;AI-generated content may be incorrect."/>
          <p:cNvPicPr/>
          <p:nvPr/>
        </p:nvPicPr>
        <p:blipFill>
          <a:blip r:embed="rId1"/>
          <a:stretch/>
        </p:blipFill>
        <p:spPr>
          <a:xfrm>
            <a:off x="4811760" y="4347720"/>
            <a:ext cx="7074720" cy="242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Picture 4" descr="A screenshot of a computer program&#10;&#10;AI-generated content may be incorrect."/>
          <p:cNvPicPr/>
          <p:nvPr/>
        </p:nvPicPr>
        <p:blipFill>
          <a:blip r:embed="rId2"/>
          <a:stretch/>
        </p:blipFill>
        <p:spPr>
          <a:xfrm>
            <a:off x="62280" y="3997440"/>
            <a:ext cx="4251600" cy="270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Box 5"/>
          <p:cNvSpPr/>
          <p:nvPr/>
        </p:nvSpPr>
        <p:spPr>
          <a:xfrm>
            <a:off x="0" y="1569240"/>
            <a:ext cx="4088880" cy="23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To log syslog messages to logging buffer follow below steps: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Enable logging to the buffer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Set syslog traps severity level 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Increase logging buffer size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Cisco IOS logging buffered context-sensitive help menu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3653640" cy="14292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marL="743040" indent="-743040" algn="ctr" defTabSz="914400">
              <a:lnSpc>
                <a:spcPct val="90000"/>
              </a:lnSpc>
              <a:buClr>
                <a:srgbClr val="FFFFFF"/>
              </a:buClr>
              <a:buFont typeface="OpenSymbol"/>
              <a:buAutoNum type="arabicPeriod"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Syslog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3947760" y="195840"/>
            <a:ext cx="7935480" cy="443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Example : Send annoying debug messages to logging buffer instead of console.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R1(config)#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logging buffered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2000" b="0" u="none" strike="noStrike">
                <a:solidFill>
                  <a:schemeClr val="accent1"/>
                </a:solidFill>
                <a:effectLst/>
                <a:uFillTx/>
                <a:latin typeface="Aptos"/>
                <a:ea typeface="Aptos"/>
              </a:rPr>
              <a:t>debugging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R1(config)#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logging buffered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 </a:t>
            </a:r>
            <a:r>
              <a:rPr lang="en-US" sz="2100" b="0" u="none" strike="noStrike">
                <a:solidFill>
                  <a:schemeClr val="accent1"/>
                </a:solidFill>
                <a:effectLst/>
                <a:uFillTx/>
                <a:latin typeface="Aptos"/>
                <a:ea typeface="Aptos"/>
              </a:rPr>
              <a:t>100000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R1(config)#</a:t>
            </a:r>
            <a:r>
              <a:rPr lang="en-US" sz="21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no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 </a:t>
            </a:r>
            <a:r>
              <a:rPr lang="en-US" sz="21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logging console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R1#</a:t>
            </a:r>
            <a:r>
              <a:rPr lang="en-US" sz="21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debug ip ospf hello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R1#</a:t>
            </a:r>
            <a:r>
              <a:rPr lang="en-US" sz="21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show logging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R1#</a:t>
            </a:r>
            <a:r>
              <a:rPr lang="en-US" sz="21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 undebug all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To log to off-box collector, follow below steps: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Enable logging to host (ip address of host)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R1(config)#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logging host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000" b="0" u="none" strike="noStrike">
                <a:solidFill>
                  <a:schemeClr val="accent1"/>
                </a:solidFill>
                <a:effectLst/>
                <a:uFillTx/>
                <a:latin typeface="Aptos"/>
                <a:ea typeface="Aptos"/>
              </a:rPr>
              <a:t>192.168.14.100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Set severity level of syslog messages to send to host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R1(config)#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logging trap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000" b="0" u="none" strike="noStrike">
                <a:solidFill>
                  <a:schemeClr val="accent1"/>
                </a:solidFill>
                <a:effectLst/>
                <a:uFillTx/>
                <a:latin typeface="Aptos"/>
                <a:ea typeface="Aptos"/>
              </a:rPr>
              <a:t>7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Off-box logging uses UDP port 514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3653640" cy="14292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4. NetFlow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3824640" y="188640"/>
            <a:ext cx="8058600" cy="635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NetFlow Components: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NetFlow Data Capture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: Captures traffic statistics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Traffic statistics are captured in device memory cache.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NetFlow Data Exporter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: Exports to collector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NetFlow captures traffic on ingress and egress.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Traffic is collected/captured based on flow.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 flow is a unidirectional traffic stream that contains combination of following key fields(7 tuples):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028880" lvl="2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Destination IP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028880" lvl="2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Source IP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028880" lvl="2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Destination Port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028880" lvl="2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Source Port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028880" lvl="2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Type of Service (ToS)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028880" lvl="2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Layer 3 protocol type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028880" lvl="2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Input logical interface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01" name="Picture 3"/>
          <p:cNvPicPr/>
          <p:nvPr/>
        </p:nvPicPr>
        <p:blipFill>
          <a:blip r:embed="rId1"/>
          <a:stretch/>
        </p:blipFill>
        <p:spPr>
          <a:xfrm>
            <a:off x="171360" y="1716120"/>
            <a:ext cx="3488400" cy="3476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3653640" cy="14292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4. Flexible NetFlow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3824640" y="188640"/>
            <a:ext cx="8058600" cy="635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Similar to NetFlow but modularity in configuration using 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Flow Records: Matches key and non-key fields to record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Flow Monitors: Applied to the interface to perform traffic monitoring.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Flow Exporters: Exports NetFlow version 9 data from Flow Monitor cache to a host or flow collector.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Flow Samplers: Sample only particular traffic.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Custom flow records can be created by using match and collect command.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Match command is used to match key field and collect command to match non-key field.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Show run flow record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shows custom flow records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Show flow record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2800" b="0" u="none" strike="noStrike">
                <a:solidFill>
                  <a:schemeClr val="accent4"/>
                </a:solidFill>
                <a:effectLst/>
                <a:uFillTx/>
                <a:latin typeface="Aptos"/>
              </a:rPr>
              <a:t>record-name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shows 'record-name' flow record.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Show flow record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shows all pre-defined and custom flow records.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115200" y="1586520"/>
            <a:ext cx="3423960" cy="23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Steps to create custom flow record: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Define flow record name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Set useful description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Set match criteria for key field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Define non-key fields to be collected.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Picture 4"/>
          <p:cNvPicPr/>
          <p:nvPr/>
        </p:nvPicPr>
        <p:blipFill>
          <a:blip r:embed="rId1"/>
          <a:stretch/>
        </p:blipFill>
        <p:spPr>
          <a:xfrm>
            <a:off x="-1080" y="4032720"/>
            <a:ext cx="3833280" cy="2645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3653640" cy="68432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4. Flexible NetFlow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3824640" y="188640"/>
            <a:ext cx="8058600" cy="635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Create Flow Exporter: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Define the flow exporter name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Set a useful description of the flow exporter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Specify the destination of the flow exporter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Specify NetFlow version to be exported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Specify the UDP port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R1#sh run flow exporter 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Current configuration: 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! 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flow exporter NETLAB-EXPORTER 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description Export to Linux NMS 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collector destination 192.168.1.7 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source Loopback0 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transport udp 9996 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template data timeout 60 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3653640" cy="14292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4. Flexible NetFlow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049640" y="188640"/>
            <a:ext cx="7833600" cy="635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Create Flow Monitor: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Each flow monitor needs a flow record to be assigned to it.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Each flow monitor has it's own cache as per the flow record.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Steps to create flow monitor: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Define flow record name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Set useful description (map back to flow record)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Specify flow record to be used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Set flow monitor cache time out for active connections (export every 60 seconds)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Specify flow exporter to be used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Show run flow monitor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and </a:t>
            </a: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show flow monitor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28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monitor-name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shows flow monitor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Final step to use Flexible NetFlow is to apply to interfaces.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It can be applied ingress, egress or both.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10" name="Picture 3"/>
          <p:cNvPicPr/>
          <p:nvPr/>
        </p:nvPicPr>
        <p:blipFill>
          <a:blip r:embed="rId1"/>
          <a:stretch/>
        </p:blipFill>
        <p:spPr>
          <a:xfrm>
            <a:off x="1080" y="1990080"/>
            <a:ext cx="3756600" cy="3429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3653640" cy="68576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4. SPAN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049640" y="188640"/>
            <a:ext cx="7833600" cy="635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Traffic mirroring techniques: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Using splitter in fibre optics to split traffic from actual destination to traffic analyzer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Configure network devices to mirror data  plane traffic to send to local or remote host.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Inserting switch in traffic path to mirror traffic and send to traffic analyzer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Switched Port Analyzer : SPAN does above 2 and 3 with below variety: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Local SPAN: Send mirrored traffic to host attached to local port.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Remote SPAN (RSPAN): Mirror traffic on remote switch and forward it to local switch port that has traffic analyzer attached to it (Layer 2 forwarding(Switching)).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Encapsulated RSPAN (ERSPAN): Mirror traffic on remote switch and forward it to local switch port that has traffic analyzer attached to it (Forwarding in layer 3(Routing)).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4285080" cy="14292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4. SPAN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4404960" y="188640"/>
            <a:ext cx="7478280" cy="635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marL="514440" indent="-51444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Local SPAN: All configuration occur in single switch. Destination of mirrored traffic can be one or more ports. Source can be only one of the below: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One or more switch ports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 port channel (EtherChannel)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 VLAN, traffic received for a specific VLAN, not included SVI (such as VLAN 10 only on trunk port).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Consideration for Local SPAN: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Most switches support at least two SPAN sessions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Destination ports cannot be shared between two SPAN sessions, whereas source port can be reused.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Source can be switched or routed port.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Destination port can be saturated if source port bandwidth is much higher than the destination port.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5" name="TextBox 3"/>
          <p:cNvSpPr/>
          <p:nvPr/>
        </p:nvSpPr>
        <p:spPr>
          <a:xfrm>
            <a:off x="207000" y="1718640"/>
            <a:ext cx="4205880" cy="452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Specifying Source ports: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Global configuration command :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monitor session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session-id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source</a:t>
            </a:r>
            <a:r>
              <a:rPr lang="en-US" sz="18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 {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interface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8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interface-id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8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|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vlan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8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vlan-id</a:t>
            </a:r>
            <a:r>
              <a:rPr lang="en-US" sz="18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} [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rx</a:t>
            </a:r>
            <a:r>
              <a:rPr lang="en-US" sz="18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 |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tx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8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|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both</a:t>
            </a:r>
            <a:r>
              <a:rPr lang="en-US" sz="18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]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Session-id is used to corelate source port and destination port of a session.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One or more interfaces or VLANS can be specified with delimiting characters (, or -).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Default traffic direction is both, can be rx or tx only.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VLANs can be filtered on the capture with the command: 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monitor session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8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session-id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filter vlan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8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vlan-range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3276360" cy="68576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4. SPAN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3686760" y="188640"/>
            <a:ext cx="8196480" cy="635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Specifying destination port: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4572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Global configuration command: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monitor session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session-id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destination interface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interface-id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[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encapsulation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{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dot1q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[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ingress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{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dot1q vlan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vlan-id</a:t>
            </a:r>
            <a:r>
              <a:rPr lang="en-US" sz="18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 |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untagged vlan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vlan-id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|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vlan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vlan-id</a:t>
            </a:r>
            <a:r>
              <a:rPr lang="en-US" sz="18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}|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replicate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[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ingress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{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dot1q vlan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vlan-id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|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untagged vlan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vlan-id</a:t>
            </a:r>
            <a:r>
              <a:rPr lang="en-US" sz="18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]}} |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ingress</a:t>
            </a:r>
            <a:r>
              <a:rPr lang="en-US" sz="18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]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Default behavior of SPAN on destination port is to mirror traffic without including dot1q tags or other layer 2 protocols (STP, VTP,DTP etc.)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Using encapsulation replicate option of above command copies all those information.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monitor session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session-id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destination interface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interface-id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[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encapsulation replicate</a:t>
            </a:r>
            <a:r>
              <a:rPr lang="en-US" sz="18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]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457200" algn="l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SPAN destination port only receives SPAN traffic and drops ingress traffic.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457200" algn="l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Ingress traffic are packets send to and from attached host other than SPAN traffic (such as RDP or SSH).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monitor session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session-id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destination interface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interface-id 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ingress </a:t>
            </a:r>
            <a:r>
              <a:rPr lang="en-US" sz="18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{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dot1q vlan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vlan-id</a:t>
            </a:r>
            <a:r>
              <a:rPr lang="en-US" sz="18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 |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untagged vlan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vlan-id</a:t>
            </a:r>
            <a:r>
              <a:rPr lang="en-US" sz="18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}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457200" algn="l" defTabSz="914400">
              <a:lnSpc>
                <a:spcPct val="100000"/>
              </a:lnSpc>
              <a:spcBef>
                <a:spcPts val="1001"/>
              </a:spcBef>
              <a:buClr>
                <a:srgbClr val="FF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dot1q vlan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vlan-id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 tags with vlan-id and 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untagged vlan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8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vlan-id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 assigns ingress traffic to vlan-id.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45720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3421440" cy="685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4. RSPAN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3679200" y="188640"/>
            <a:ext cx="8203680" cy="644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457200" indent="-4572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RSPAN: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Source port and destination port are in different location (Switches).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4572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Recommended to create a separate RSPAN vlan  for SPAN traffic only.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4572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MAC addresses are not learned on any switchport associated to RSPAN vlan.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4572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All trunk ports in between source and destination switchport should allow RSPAN vlan.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4572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Example configuration: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On both source and destination switch: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vlan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0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99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name</a:t>
            </a:r>
            <a:r>
              <a:rPr lang="en-US" sz="20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 RSPAN-VLAN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remote-span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On source switch: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monitor session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0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1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source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interface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0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Gi0/3 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monitor session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1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1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destination remote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0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vlan 99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On destination switch: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1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monitor session</a:t>
            </a: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1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1</a:t>
            </a: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1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source</a:t>
            </a: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 </a:t>
            </a:r>
            <a:r>
              <a:rPr lang="en-US" sz="21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remote</a:t>
            </a: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 </a:t>
            </a:r>
            <a:r>
              <a:rPr lang="en-US" sz="21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vlan 99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monitor session</a:t>
            </a: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1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1</a:t>
            </a: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1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destination </a:t>
            </a:r>
            <a:r>
              <a:rPr lang="en-US" sz="21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Gi1/0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4572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To verify :</a:t>
            </a:r>
            <a:r>
              <a:rPr lang="en-US" sz="21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 Show monitor session remote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45720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3769560" cy="1378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4. ERSPAN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5247000" y="188640"/>
            <a:ext cx="6636240" cy="644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marL="228600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ERSPAN provides ability to monitor traffic at one area of the network and send it to the traffic analyzer at another area over a layer 3 network.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Not supported on all platform.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Specifying source and destination ports: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Global config mode: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monitor session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 </a:t>
            </a:r>
            <a:r>
              <a:rPr lang="en-US" sz="20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span-session-number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type erspan-source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description 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description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source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{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interface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 type number 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|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vlan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 vlan-ID 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} [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,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|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-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|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both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|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rx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|</a:t>
            </a: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 tx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 ]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filter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 { </a:t>
            </a: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ip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 { 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standard-access-list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 | 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expanded-access-list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 | 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acl-name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 } | </a:t>
            </a: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ipv6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 { </a:t>
            </a: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access-group 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acl-name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 } | </a:t>
            </a: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vlan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vlan-ID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</a:rPr>
              <a:t> }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no shutdown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destination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ip address</a:t>
            </a:r>
            <a:r>
              <a:rPr lang="en-US" sz="14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 ip-address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erspan-id </a:t>
            </a:r>
            <a:r>
              <a:rPr lang="en-US" sz="14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 erspan-id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origin</a:t>
            </a:r>
            <a:r>
              <a:rPr lang="en-US" sz="14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 </a:t>
            </a:r>
            <a:r>
              <a:rPr lang="en-US" sz="14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ip address</a:t>
            </a:r>
            <a:r>
              <a:rPr lang="en-US" sz="14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 ip-address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Exit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erspan</a:t>
            </a:r>
            <a:r>
              <a:rPr lang="en-US" sz="20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{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tos</a:t>
            </a:r>
            <a:r>
              <a:rPr lang="en-US" sz="20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000" b="0" u="none" strike="noStrike">
                <a:solidFill>
                  <a:srgbClr val="0070C0"/>
                </a:solidFill>
                <a:effectLst/>
                <a:uFillTx/>
                <a:latin typeface="Aptos"/>
                <a:ea typeface="Aptos"/>
              </a:rPr>
              <a:t>tos-value</a:t>
            </a:r>
            <a:r>
              <a:rPr lang="en-US" sz="20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 |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ttl</a:t>
            </a:r>
            <a:r>
              <a:rPr lang="en-US" sz="20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0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ttl-value</a:t>
            </a:r>
            <a:r>
              <a:rPr lang="en-US" sz="20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 }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Verify using: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show monitor session erspan-source session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45720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2" name="TextBox 3"/>
          <p:cNvSpPr/>
          <p:nvPr/>
        </p:nvSpPr>
        <p:spPr>
          <a:xfrm>
            <a:off x="-2520" y="1503360"/>
            <a:ext cx="4886640" cy="535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SW4(config)# 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monitor session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1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type erspan-source 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SW4(config-mon-erspan-src)# 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description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SOURCE-PC-D-TRAFFIC 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SW4(config-mon-erspan-src)# 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source interface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GigabitEthernet 1/0/4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rx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SW4(config-mon-erspan-src)# 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filter vlan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34 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SW4(config-mon-erspan-src)# 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no shutdown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SW4(config-mon-erspan-src)# 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destination 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SW4(config-mon-erspan-src-dst)#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 ip address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10.123.1.100 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SW4(config-mon-erspan-src-dst)# 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erspan-id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2 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SW4(config-mon-erspan-src-dst)# 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origin ip address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10.34.1.4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SW4(config-mon-erspan-src)# 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exit 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SW4(config)# 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erspan ttl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rgbClr val="00B0F0"/>
                </a:solidFill>
                <a:effectLst/>
                <a:uFillTx/>
                <a:latin typeface="Aptos"/>
              </a:rPr>
              <a:t>32 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SW4(config)#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 end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SW4# 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show monitor session erspan-source session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3" name="Table 4"/>
          <p:cNvGraphicFramePr/>
          <p:nvPr/>
        </p:nvGraphicFramePr>
        <p:xfrm>
          <a:off x="44280" y="1329120"/>
          <a:ext cx="4979160" cy="5318640"/>
        </p:xfrm>
        <a:graphic>
          <a:graphicData uri="http://schemas.openxmlformats.org/drawingml/2006/table">
            <a:tbl>
              <a:tblPr/>
              <a:tblGrid>
                <a:gridCol w="4979160"/>
              </a:tblGrid>
              <a:tr h="5310360">
                <a:tc>
                  <a:txBody>
                    <a:bodyPr anchor="t">
                      <a:noAutofit/>
                    </a:bodyPr>
                    <a:p>
                      <a:endParaRPr lang="en-US" sz="1800" b="1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3769560" cy="1378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5. IP SLA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4332600" y="188640"/>
            <a:ext cx="7550640" cy="644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p>
            <a:pPr marL="228600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IP Service Level Agreement (IP SLA)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Tool to continuously monitor various aspects of the network.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Following can be monitored with IP SLA: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Delay (both round-trip and one way)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Jitter (directional)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Packet loss (directional)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Packet sequencing (ordering)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Path (Per hop)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Connectivity (directional)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Server or website download time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Voice quality scores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IP SLA configuration steps: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Specify IP SLA operation number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ip sla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operation-number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Specify what is being monitored, command varies based on monitored object.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icmp-echo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 {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destination-ip-address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 |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destination-hostname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} [</a:t>
            </a: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source-ip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 {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ip-address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 |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hostname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} |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source-interface 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interface-name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]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Specify the frequency of IP SLA operation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frequency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seconds 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Schedule the IP SLA operation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ip sla schedule 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operation-number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[</a:t>
            </a: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life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 {</a:t>
            </a: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forever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 | 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seconds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}] [</a:t>
            </a: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start-time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 {[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hh:mm:ss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] [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month day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 | 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day month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] | </a:t>
            </a: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pending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 | </a:t>
            </a: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now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 | </a:t>
            </a: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after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hh:mm:ss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}] [</a:t>
            </a: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ageout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6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seconds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] [</a:t>
            </a: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recurring</a:t>
            </a:r>
            <a:r>
              <a:rPr lang="en-US" sz="16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]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Verify using: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show ip sla configuration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0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operation-number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show ip sla statistics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1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operation-number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45720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26" name="Picture 3"/>
          <p:cNvPicPr/>
          <p:nvPr/>
        </p:nvPicPr>
        <p:blipFill>
          <a:blip r:embed="rId1"/>
          <a:stretch/>
        </p:blipFill>
        <p:spPr>
          <a:xfrm>
            <a:off x="-720" y="2237400"/>
            <a:ext cx="4217400" cy="3224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3769560" cy="1378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5. IP SLA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4332600" y="188640"/>
            <a:ext cx="7550640" cy="644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marL="228600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IP SLA ICMP-echo monitoring: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R1(config)#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 ip sla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0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R1(config-ip-sla)#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icmp-echo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0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192.168.14.100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source-interface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0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Loopback0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R1(config-ip-sla-echo)#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frequency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0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300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R1(config-ip-sla-echo)#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end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R1(config)#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ip sla schedule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0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1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 life forever start-time now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R1#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 show ip sla configuration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0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4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IP SLA HTTP GET destination monitoring: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4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HTTP GET Probe: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http</a:t>
            </a:r>
            <a:r>
              <a:rPr lang="en-US" sz="20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 {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get</a:t>
            </a:r>
            <a:r>
              <a:rPr lang="en-US" sz="20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 |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raw</a:t>
            </a:r>
            <a:r>
              <a:rPr lang="en-US" sz="20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}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url</a:t>
            </a:r>
            <a:r>
              <a:rPr lang="en-US" sz="20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 [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name-server</a:t>
            </a:r>
            <a:r>
              <a:rPr lang="en-US" sz="20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0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ip-address</a:t>
            </a:r>
            <a:r>
              <a:rPr lang="en-US" sz="20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] [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version</a:t>
            </a:r>
            <a:r>
              <a:rPr lang="en-US" sz="20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0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version-number</a:t>
            </a:r>
            <a:r>
              <a:rPr lang="en-US" sz="20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] [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source-ip</a:t>
            </a:r>
            <a:r>
              <a:rPr lang="en-US" sz="20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 {</a:t>
            </a:r>
            <a:r>
              <a:rPr lang="en-US" sz="20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ip-address</a:t>
            </a:r>
            <a:r>
              <a:rPr lang="en-US" sz="20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 | </a:t>
            </a:r>
            <a:r>
              <a:rPr lang="en-US" sz="20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hostname</a:t>
            </a:r>
            <a:r>
              <a:rPr lang="en-US" sz="20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}] [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source-port</a:t>
            </a:r>
            <a:r>
              <a:rPr lang="en-US" sz="20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0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port-number</a:t>
            </a:r>
            <a:r>
              <a:rPr lang="en-US" sz="20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] [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cache</a:t>
            </a:r>
            <a:r>
              <a:rPr lang="en-US" sz="20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 {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enable</a:t>
            </a:r>
            <a:r>
              <a:rPr lang="en-US" sz="20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 |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disable</a:t>
            </a:r>
            <a:r>
              <a:rPr lang="en-US" sz="20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}] [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proxy</a:t>
            </a:r>
            <a:r>
              <a:rPr lang="en-US" sz="20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0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proxy-url</a:t>
            </a:r>
            <a:r>
              <a:rPr lang="en-US" sz="2000" b="0" u="none" strike="noStrike">
                <a:solidFill>
                  <a:srgbClr val="00B050"/>
                </a:solidFill>
                <a:effectLst/>
                <a:uFillTx/>
                <a:latin typeface="Aptos"/>
                <a:ea typeface="Aptos"/>
              </a:rPr>
              <a:t>]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R1(config)# </a:t>
            </a:r>
            <a:r>
              <a:rPr lang="en-US" sz="21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ip sla</a:t>
            </a: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1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R1(config-ip-sla)# </a:t>
            </a:r>
            <a:r>
              <a:rPr lang="en-US" sz="21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http get </a:t>
            </a:r>
            <a:r>
              <a:rPr lang="en-US" sz="2100" b="0" u="sng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  <a:hlinkClick r:id="rId1"/>
              </a:rPr>
              <a:t>http://192.168.1.7</a:t>
            </a:r>
            <a:r>
              <a:rPr lang="en-US" sz="21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 : 8080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R1(config-ip-sla-http)# </a:t>
            </a:r>
            <a:r>
              <a:rPr lang="en-US" sz="21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frequency</a:t>
            </a: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1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90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R1(config-ip-sla-http)# </a:t>
            </a:r>
            <a:r>
              <a:rPr lang="en-US" sz="21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end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R1(config)# </a:t>
            </a:r>
            <a:r>
              <a:rPr lang="en-US" sz="21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ip sla schedule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1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2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1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start-time now life forever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29" name="Picture 3"/>
          <p:cNvPicPr/>
          <p:nvPr/>
        </p:nvPicPr>
        <p:blipFill>
          <a:blip r:embed="rId2"/>
          <a:stretch/>
        </p:blipFill>
        <p:spPr>
          <a:xfrm>
            <a:off x="-720" y="1898280"/>
            <a:ext cx="4217400" cy="1370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4292280" cy="1378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5. IP SLA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4586400" y="188640"/>
            <a:ext cx="7296840" cy="644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To run IP SLA HTTP GET to a Ubuntu host: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Start a test http server with python3 on ubuntu host: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indent="-2286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sudo python3 –m http.server 8080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R2#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sh ip sla stat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400" b="0" u="none" strike="noStrike">
                <a:solidFill>
                  <a:srgbClr val="00B0F0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IPSLAs Latest Operation Statistics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IPSLA operation id: 2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       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Latest RTT: 14 milliseconds 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(NoConnection/Busy/Timout if not successful)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Latest operation start time: 13:12:00 UTC Wed Jul 8 2026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Latest operation return code: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OK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(No connection if not successful)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Latest DNS RTT: 0 ms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Latest TCP Connection RTT: 7 ms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Latest HTTP Transaction RTT: 7 ms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Number of successes: 1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Number of failures: 2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Operation time to live: Forever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32" name="Picture 3"/>
          <p:cNvPicPr/>
          <p:nvPr/>
        </p:nvPicPr>
        <p:blipFill>
          <a:blip r:embed="rId1"/>
          <a:stretch/>
        </p:blipFill>
        <p:spPr>
          <a:xfrm>
            <a:off x="-2160" y="1717560"/>
            <a:ext cx="4307040" cy="4438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332</TotalTime>
  <Application>LibreOffice/26.2.5.2$Windows_X86_64 LibreOffice_project/cd7284b4cbbfeb507e630c1aac019f4157393acb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2013-07-15T20:26:40Z</dcterms:created>
  <dc:creator/>
  <dc:description/>
  <dc:language>en-AU</dc:language>
  <cp:lastModifiedBy/>
  <dcterms:modified xsi:type="dcterms:W3CDTF">2026-08-23T21:14:55Z</dcterms:modified>
  <cp:revision>2263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22</vt:i4>
  </property>
  <property fmtid="{D5CDD505-2E9C-101B-9397-08002B2CF9AE}" pid="3" name="PresentationFormat">
    <vt:lpwstr>Widescreen</vt:lpwstr>
  </property>
  <property fmtid="{D5CDD505-2E9C-101B-9397-08002B2CF9AE}" pid="4" name="Slides">
    <vt:i4>23</vt:i4>
  </property>
</Properties>
</file>