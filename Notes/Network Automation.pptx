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4.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3"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692640" y="244800"/>
            <a:ext cx="8690400" cy="120708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Aptos Display"/>
            </a:endParaRPr>
          </a:p>
        </p:txBody>
      </p:sp>
      <p:sp>
        <p:nvSpPr>
          <p:cNvPr id="8" name="PlaceHolder 2"/>
          <p:cNvSpPr>
            <a:spLocks noGrp="1"/>
          </p:cNvSpPr>
          <p:nvPr>
            <p:ph/>
          </p:nvPr>
        </p:nvSpPr>
        <p:spPr>
          <a:xfrm>
            <a:off x="692640" y="1509120"/>
            <a:ext cx="8690400" cy="3594240"/>
          </a:xfrm>
          <a:prstGeom prst="rect">
            <a:avLst/>
          </a:prstGeom>
          <a:noFill/>
          <a:ln w="0">
            <a:noFill/>
          </a:ln>
        </p:spPr>
        <p:txBody>
          <a:bodyPr lIns="0" tIns="0" rIns="0" bIns="0" anchor="t">
            <a:normAutofit/>
          </a:bodyPr>
          <a:p>
            <a:pPr indent="0" algn="l" defTabSz="914400">
              <a:lnSpc>
                <a:spcPct val="90000"/>
              </a:lnSpc>
              <a:spcBef>
                <a:spcPts val="1001"/>
              </a:spcBef>
              <a:buNone/>
            </a:pPr>
            <a:endParaRPr lang="en-US" sz="2800" b="0" u="none" strike="noStrike">
              <a:solidFill>
                <a:schemeClr val="dk1"/>
              </a:solidFill>
              <a:effectLst/>
              <a:uFillTx/>
              <a:latin typeface="Aptos"/>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BB6E16C-7066-4C4B-95CA-98C8D77DC81E}" type="slidenum">
              <a:t>&lt;#&gt;</a:t>
            </a:fld>
          </a:p>
        </p:txBody>
      </p:sp>
      <p:sp>
        <p:nvSpPr>
          <p:cNvPr id="6" name="PlaceHolder 5"/>
          <p:cNvSpPr>
            <a:spLocks noGrp="1"/>
          </p:cNvSpPr>
          <p:nvPr>
            <p:ph type="dt" idx="3"/>
          </p:nvPr>
        </p:nvSpPr>
        <p:spPr/>
        <p:txBody>
          <a:bodyPr/>
          <a:p>
            <a:r>
              <a:rPr lang="en-AU"/>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692640" y="25200"/>
            <a:ext cx="8690400" cy="164628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6000" b="0" u="none" strike="noStrike">
                <a:solidFill>
                  <a:schemeClr val="dk1"/>
                </a:solidFill>
                <a:effectLst/>
                <a:uFillTx/>
                <a:latin typeface="Aptos Display"/>
              </a:defRPr>
            </a:lvl1pPr>
          </a:lstStyle>
          <a:p>
            <a:pPr indent="0" algn="l" defTabSz="914400">
              <a:lnSpc>
                <a:spcPct val="90000"/>
              </a:lnSpc>
              <a:buNone/>
              <a:tabLst>
                <a:tab pos="0" algn="l"/>
              </a:tabLst>
            </a:pPr>
            <a:r>
              <a:rPr lang="en-US" sz="6000" b="0" u="none" strike="noStrike">
                <a:solidFill>
                  <a:schemeClr val="dk1"/>
                </a:solidFill>
                <a:effectLst/>
                <a:uFillTx/>
                <a:latin typeface="Aptos Display"/>
              </a:rPr>
              <a:t>Click to edit the title text format</a:t>
            </a:r>
            <a:endParaRPr lang="en-US" sz="6000" b="0" u="none" strike="noStrike">
              <a:solidFill>
                <a:schemeClr val="dk1"/>
              </a:solidFill>
              <a:effectLst/>
              <a:uFillTx/>
              <a:latin typeface="Aptos Display"/>
            </a:endParaRPr>
          </a:p>
        </p:txBody>
      </p:sp>
      <p:sp>
        <p:nvSpPr>
          <p:cNvPr id="10" name="PlaceHolder 2"/>
          <p:cNvSpPr>
            <a:spLocks noGrp="1"/>
          </p:cNvSpPr>
          <p:nvPr>
            <p:ph type="ftr" idx="4"/>
          </p:nvPr>
        </p:nvSpPr>
        <p:spPr>
          <a:xfrm>
            <a:off x="4038120" y="6355440"/>
            <a:ext cx="4110840" cy="3614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11" name="PlaceHolder 3"/>
          <p:cNvSpPr>
            <a:spLocks noGrp="1"/>
          </p:cNvSpPr>
          <p:nvPr>
            <p:ph type="sldNum" idx="5"/>
          </p:nvPr>
        </p:nvSpPr>
        <p:spPr>
          <a:xfrm>
            <a:off x="8609760" y="6355440"/>
            <a:ext cx="2739240" cy="3614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C03D558B-845F-471C-B35A-492B479995E3}" type="slidenum">
              <a:rPr lang="en-AU" sz="1200" b="0" u="none" strike="noStrike">
                <a:solidFill>
                  <a:schemeClr val="dk1">
                    <a:tint val="82000"/>
                  </a:schemeClr>
                </a:solidFill>
                <a:effectLst/>
                <a:uFillTx/>
                <a:latin typeface="Aptos"/>
              </a:rPr>
              <a:t>1</a:t>
            </a:fld>
            <a:endParaRPr lang="en-AU" sz="1200" b="0" u="none" strike="noStrike">
              <a:solidFill>
                <a:srgbClr val="000000"/>
              </a:solidFill>
              <a:effectLst/>
              <a:uFillTx/>
              <a:latin typeface="Times New Roman"/>
            </a:endParaRPr>
          </a:p>
        </p:txBody>
      </p:sp>
      <p:sp>
        <p:nvSpPr>
          <p:cNvPr id="12" name="PlaceHolder 4"/>
          <p:cNvSpPr>
            <a:spLocks noGrp="1"/>
          </p:cNvSpPr>
          <p:nvPr>
            <p:ph type="dt" idx="6"/>
          </p:nvPr>
        </p:nvSpPr>
        <p:spPr>
          <a:xfrm>
            <a:off x="837720" y="6355440"/>
            <a:ext cx="2739240" cy="36144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AU" sz="1400" b="0" u="none" strike="noStrike">
                <a:solidFill>
                  <a:srgbClr val="000000"/>
                </a:solidFill>
                <a:effectLst/>
                <a:uFillTx/>
                <a:latin typeface="Times New Roman"/>
              </a:defRPr>
            </a:lvl1pPr>
          </a:lstStyle>
          <a:p>
            <a:pPr indent="0" algn="l">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13" name="PlaceHolder 5"/>
          <p:cNvSpPr>
            <a:spLocks noGrp="1"/>
          </p:cNvSpPr>
          <p:nvPr>
            <p:ph type="body"/>
          </p:nvPr>
        </p:nvSpPr>
        <p:spPr>
          <a:xfrm>
            <a:off x="504000" y="1326600"/>
            <a:ext cx="9071640" cy="328824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692640" y="25200"/>
            <a:ext cx="8690400" cy="164628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6000" b="0" u="none" strike="noStrike">
                <a:solidFill>
                  <a:schemeClr val="dk1"/>
                </a:solidFill>
                <a:effectLst/>
                <a:uFillTx/>
                <a:latin typeface="Aptos Display"/>
              </a:defRPr>
            </a:lvl1pPr>
          </a:lstStyle>
          <a:p>
            <a:pPr indent="0" algn="l" defTabSz="914400">
              <a:lnSpc>
                <a:spcPct val="90000"/>
              </a:lnSpc>
              <a:buNone/>
              <a:tabLst>
                <a:tab pos="0" algn="l"/>
              </a:tabLst>
            </a:pPr>
            <a:r>
              <a:rPr lang="en-US" sz="6000" b="0" u="none" strike="noStrike">
                <a:solidFill>
                  <a:schemeClr val="dk1"/>
                </a:solidFill>
                <a:effectLst/>
                <a:uFillTx/>
                <a:latin typeface="Aptos Display"/>
              </a:rPr>
              <a:t>Click to edit the title text format</a:t>
            </a:r>
            <a:endParaRPr lang="en-US" sz="6000" b="0" u="none" strike="noStrike">
              <a:solidFill>
                <a:schemeClr val="dk1"/>
              </a:solidFill>
              <a:effectLst/>
              <a:uFillTx/>
              <a:latin typeface="Aptos Display"/>
            </a:endParaRPr>
          </a:p>
        </p:txBody>
      </p:sp>
      <p:sp>
        <p:nvSpPr>
          <p:cNvPr id="15" name="PlaceHolder 2"/>
          <p:cNvSpPr>
            <a:spLocks noGrp="1"/>
          </p:cNvSpPr>
          <p:nvPr>
            <p:ph type="body"/>
          </p:nvPr>
        </p:nvSpPr>
        <p:spPr>
          <a:xfrm>
            <a:off x="692640" y="1509120"/>
            <a:ext cx="8690400" cy="359424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8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2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2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8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800" b="0" u="none" strike="noStrike">
                <a:solidFill>
                  <a:schemeClr val="dk1"/>
                </a:solidFill>
                <a:effectLst/>
                <a:uFillTx/>
                <a:latin typeface="Aptos"/>
              </a:defRPr>
            </a:lvl7pPr>
          </a:lstStyle>
          <a:p>
            <a:pPr marL="432000" indent="-3240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800" b="0" u="none" strike="noStrike">
                <a:solidFill>
                  <a:schemeClr val="dk1"/>
                </a:solidFill>
                <a:effectLst/>
                <a:uFillTx/>
                <a:latin typeface="Aptos"/>
              </a:rPr>
              <a:t>Second Outline Level</a:t>
            </a:r>
            <a:endParaRPr lang="en-US" sz="28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800" b="0" u="none" strike="noStrike">
                <a:solidFill>
                  <a:schemeClr val="dk1"/>
                </a:solidFill>
                <a:effectLst/>
                <a:uFillTx/>
                <a:latin typeface="Aptos"/>
              </a:rPr>
              <a:t>Third Outline Level</a:t>
            </a:r>
            <a:endParaRPr lang="en-US" sz="28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2800" b="0" u="none" strike="noStrike">
                <a:solidFill>
                  <a:schemeClr val="dk1"/>
                </a:solidFill>
                <a:effectLst/>
                <a:uFillTx/>
                <a:latin typeface="Aptos"/>
              </a:rPr>
              <a:t>Fourth Outline Level</a:t>
            </a:r>
            <a:endParaRPr lang="en-US" sz="2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2800" b="0" u="none" strike="noStrike">
                <a:solidFill>
                  <a:schemeClr val="dk1"/>
                </a:solidFill>
                <a:effectLst/>
                <a:uFillTx/>
                <a:latin typeface="Aptos"/>
              </a:rPr>
              <a:t>Fifth Outline Level</a:t>
            </a:r>
            <a:endParaRPr lang="en-US" sz="2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ptos"/>
              </a:rPr>
              <a:t>Sixth Outline Level</a:t>
            </a:r>
            <a:endParaRPr lang="en-US" sz="28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ptos"/>
              </a:rPr>
              <a:t>Seventh Outline Level</a:t>
            </a:r>
            <a:endParaRPr lang="en-US" sz="2800" b="0" u="none" strike="noStrike">
              <a:solidFill>
                <a:schemeClr val="dk1"/>
              </a:solidFill>
              <a:effectLst/>
              <a:uFillTx/>
              <a:latin typeface="Aptos"/>
            </a:endParaRPr>
          </a:p>
        </p:txBody>
      </p:sp>
      <p:sp>
        <p:nvSpPr>
          <p:cNvPr id="16" name="PlaceHolder 3"/>
          <p:cNvSpPr>
            <a:spLocks noGrp="1"/>
          </p:cNvSpPr>
          <p:nvPr>
            <p:ph type="ftr" idx="7"/>
          </p:nvPr>
        </p:nvSpPr>
        <p:spPr>
          <a:xfrm>
            <a:off x="4038120" y="6355440"/>
            <a:ext cx="4110840" cy="3614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17" name="PlaceHolder 4"/>
          <p:cNvSpPr>
            <a:spLocks noGrp="1"/>
          </p:cNvSpPr>
          <p:nvPr>
            <p:ph type="sldNum" idx="8"/>
          </p:nvPr>
        </p:nvSpPr>
        <p:spPr>
          <a:xfrm>
            <a:off x="8609760" y="6355440"/>
            <a:ext cx="2739240" cy="3614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6D207DBF-22F2-4D34-B71B-C81AE31EC0A3}" type="slidenum">
              <a:rPr lang="en-AU"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18" name="PlaceHolder 5"/>
          <p:cNvSpPr>
            <a:spLocks noGrp="1"/>
          </p:cNvSpPr>
          <p:nvPr>
            <p:ph type="dt" idx="9"/>
          </p:nvPr>
        </p:nvSpPr>
        <p:spPr>
          <a:xfrm>
            <a:off x="837720" y="6355440"/>
            <a:ext cx="2739240" cy="36144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AU" sz="1400" b="0" u="none" strike="noStrike">
                <a:solidFill>
                  <a:srgbClr val="000000"/>
                </a:solidFill>
                <a:effectLst/>
                <a:uFillTx/>
                <a:latin typeface="Times New Roman"/>
              </a:defRPr>
            </a:lvl1pPr>
          </a:lstStyle>
          <a:p>
            <a:pPr indent="0" algn="l">
              <a:lnSpc>
                <a:spcPct val="100000"/>
              </a:lnSpc>
              <a:buNone/>
              <a:tabLst>
                <a:tab pos="0" algn="l"/>
              </a:tabLst>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92640" y="244800"/>
            <a:ext cx="8690400" cy="120708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the title text format</a:t>
            </a:r>
            <a:endParaRPr lang="en-US" sz="4400" b="0" u="none" strike="noStrike">
              <a:solidFill>
                <a:schemeClr val="dk1"/>
              </a:solidFill>
              <a:effectLst/>
              <a:uFillTx/>
              <a:latin typeface="Aptos Display"/>
            </a:endParaRPr>
          </a:p>
        </p:txBody>
      </p:sp>
      <p:sp>
        <p:nvSpPr>
          <p:cNvPr id="20" name="PlaceHolder 2"/>
          <p:cNvSpPr>
            <a:spLocks noGrp="1"/>
          </p:cNvSpPr>
          <p:nvPr>
            <p:ph type="body"/>
          </p:nvPr>
        </p:nvSpPr>
        <p:spPr>
          <a:xfrm>
            <a:off x="692640" y="1509120"/>
            <a:ext cx="8690400" cy="359424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8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2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2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8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800" b="0" u="none" strike="noStrike">
                <a:solidFill>
                  <a:schemeClr val="dk1"/>
                </a:solidFill>
                <a:effectLst/>
                <a:uFillTx/>
                <a:latin typeface="Aptos"/>
              </a:defRPr>
            </a:lvl7pPr>
          </a:lstStyle>
          <a:p>
            <a:pPr indent="-3240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800" b="0" u="none" strike="noStrike">
                <a:solidFill>
                  <a:schemeClr val="dk1"/>
                </a:solidFill>
                <a:effectLst/>
                <a:uFillTx/>
                <a:latin typeface="Aptos"/>
              </a:rPr>
              <a:t>Second Outline Level</a:t>
            </a:r>
            <a:endParaRPr lang="en-US" sz="28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800" b="0" u="none" strike="noStrike">
                <a:solidFill>
                  <a:schemeClr val="dk1"/>
                </a:solidFill>
                <a:effectLst/>
                <a:uFillTx/>
                <a:latin typeface="Aptos"/>
              </a:rPr>
              <a:t>Third Outline Level</a:t>
            </a:r>
            <a:endParaRPr lang="en-US" sz="28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2800" b="0" u="none" strike="noStrike">
                <a:solidFill>
                  <a:schemeClr val="dk1"/>
                </a:solidFill>
                <a:effectLst/>
                <a:uFillTx/>
                <a:latin typeface="Aptos"/>
              </a:rPr>
              <a:t>Fourth Outline Level</a:t>
            </a:r>
            <a:endParaRPr lang="en-US" sz="2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2800" b="0" u="none" strike="noStrike">
                <a:solidFill>
                  <a:schemeClr val="dk1"/>
                </a:solidFill>
                <a:effectLst/>
                <a:uFillTx/>
                <a:latin typeface="Aptos"/>
              </a:rPr>
              <a:t>Fifth Outline Level</a:t>
            </a:r>
            <a:endParaRPr lang="en-US" sz="2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ptos"/>
              </a:rPr>
              <a:t>Sixth Outline Level</a:t>
            </a:r>
            <a:endParaRPr lang="en-US" sz="28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ptos"/>
              </a:rPr>
              <a:t>Seventh Outline Level</a:t>
            </a:r>
            <a:endParaRPr lang="en-US" sz="2800" b="0" u="none" strike="noStrike">
              <a:solidFill>
                <a:schemeClr val="dk1"/>
              </a:solidFill>
              <a:effectLst/>
              <a:uFillTx/>
              <a:latin typeface="Aptos"/>
            </a:endParaRPr>
          </a:p>
        </p:txBody>
      </p:sp>
      <p:sp>
        <p:nvSpPr>
          <p:cNvPr id="21" name="PlaceHolder 3"/>
          <p:cNvSpPr>
            <a:spLocks noGrp="1"/>
          </p:cNvSpPr>
          <p:nvPr>
            <p:ph type="ftr" idx="10"/>
          </p:nvPr>
        </p:nvSpPr>
        <p:spPr>
          <a:xfrm>
            <a:off x="3338640" y="5255280"/>
            <a:ext cx="3398400" cy="2984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2" name="PlaceHolder 4"/>
          <p:cNvSpPr>
            <a:spLocks noGrp="1"/>
          </p:cNvSpPr>
          <p:nvPr>
            <p:ph type="sldNum" idx="11"/>
          </p:nvPr>
        </p:nvSpPr>
        <p:spPr>
          <a:xfrm>
            <a:off x="7118640" y="5255280"/>
            <a:ext cx="2264400" cy="2984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26618E4-95F4-4064-9E1A-4BD112A1EA9E}" type="slidenum">
              <a:rPr lang="en-AU"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23" name="PlaceHolder 5"/>
          <p:cNvSpPr>
            <a:spLocks noGrp="1"/>
          </p:cNvSpPr>
          <p:nvPr>
            <p:ph type="dt" idx="12"/>
          </p:nvPr>
        </p:nvSpPr>
        <p:spPr>
          <a:xfrm>
            <a:off x="692640" y="5255280"/>
            <a:ext cx="2264400" cy="298440"/>
          </a:xfrm>
          <a:prstGeom prst="rect">
            <a:avLst/>
          </a:prstGeom>
          <a:noFill/>
          <a:ln w="0">
            <a:noFill/>
          </a:ln>
        </p:spPr>
        <p:txBody>
          <a:bodyPr lIns="91440" tIns="45720" rIns="91440" bIns="45720" anchor="ctr">
            <a:noAutofit/>
          </a:bodyPr>
          <a:lstStyle>
            <a:lvl1pPr indent="0" algn="l">
              <a:buNone/>
              <a:defRPr lang="en-AU" sz="1400" b="0" u="none" strike="noStrike">
                <a:solidFill>
                  <a:srgbClr val="000000"/>
                </a:solidFill>
                <a:effectLst/>
                <a:uFillTx/>
                <a:latin typeface="Times New Roman"/>
              </a:defRPr>
            </a:lvl1pPr>
          </a:lstStyle>
          <a:p>
            <a:pPr indent="0" algn="l">
              <a:buNone/>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692640" y="244800"/>
            <a:ext cx="8690400" cy="120708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the title text format</a:t>
            </a:r>
            <a:endParaRPr lang="en-US" sz="4400" b="0" u="none" strike="noStrike">
              <a:solidFill>
                <a:schemeClr val="dk1"/>
              </a:solidFill>
              <a:effectLst/>
              <a:uFillTx/>
              <a:latin typeface="Aptos Display"/>
            </a:endParaRPr>
          </a:p>
        </p:txBody>
      </p:sp>
      <p:sp>
        <p:nvSpPr>
          <p:cNvPr id="25" name="PlaceHolder 2"/>
          <p:cNvSpPr>
            <a:spLocks noGrp="1"/>
          </p:cNvSpPr>
          <p:nvPr>
            <p:ph type="body"/>
          </p:nvPr>
        </p:nvSpPr>
        <p:spPr>
          <a:xfrm>
            <a:off x="692640" y="1509120"/>
            <a:ext cx="8690400" cy="359424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8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2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2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8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800" b="0" u="none" strike="noStrike">
                <a:solidFill>
                  <a:schemeClr val="dk1"/>
                </a:solidFill>
                <a:effectLst/>
                <a:uFillTx/>
                <a:latin typeface="Aptos"/>
              </a:defRPr>
            </a:lvl7pPr>
          </a:lstStyle>
          <a:p>
            <a:pPr indent="-3240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800" b="0" u="none" strike="noStrike">
                <a:solidFill>
                  <a:schemeClr val="dk1"/>
                </a:solidFill>
                <a:effectLst/>
                <a:uFillTx/>
                <a:latin typeface="Aptos"/>
              </a:rPr>
              <a:t>Second Outline Level</a:t>
            </a:r>
            <a:endParaRPr lang="en-US" sz="28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800" b="0" u="none" strike="noStrike">
                <a:solidFill>
                  <a:schemeClr val="dk1"/>
                </a:solidFill>
                <a:effectLst/>
                <a:uFillTx/>
                <a:latin typeface="Aptos"/>
              </a:rPr>
              <a:t>Third Outline Level</a:t>
            </a:r>
            <a:endParaRPr lang="en-US" sz="28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2800" b="0" u="none" strike="noStrike">
                <a:solidFill>
                  <a:schemeClr val="dk1"/>
                </a:solidFill>
                <a:effectLst/>
                <a:uFillTx/>
                <a:latin typeface="Aptos"/>
              </a:rPr>
              <a:t>Fourth Outline Level</a:t>
            </a:r>
            <a:endParaRPr lang="en-US" sz="2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2800" b="0" u="none" strike="noStrike">
                <a:solidFill>
                  <a:schemeClr val="dk1"/>
                </a:solidFill>
                <a:effectLst/>
                <a:uFillTx/>
                <a:latin typeface="Aptos"/>
              </a:rPr>
              <a:t>Fifth Outline Level</a:t>
            </a:r>
            <a:endParaRPr lang="en-US" sz="2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ptos"/>
              </a:rPr>
              <a:t>Sixth Outline Level</a:t>
            </a:r>
            <a:endParaRPr lang="en-US" sz="28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ptos"/>
              </a:rPr>
              <a:t>Seventh Outline Level</a:t>
            </a:r>
            <a:endParaRPr lang="en-US" sz="2800" b="0" u="none" strike="noStrike">
              <a:solidFill>
                <a:schemeClr val="dk1"/>
              </a:solidFill>
              <a:effectLst/>
              <a:uFillTx/>
              <a:latin typeface="Aptos"/>
            </a:endParaRPr>
          </a:p>
        </p:txBody>
      </p:sp>
      <p:sp>
        <p:nvSpPr>
          <p:cNvPr id="26" name="PlaceHolder 3"/>
          <p:cNvSpPr>
            <a:spLocks noGrp="1"/>
          </p:cNvSpPr>
          <p:nvPr>
            <p:ph type="ftr" idx="13"/>
          </p:nvPr>
        </p:nvSpPr>
        <p:spPr>
          <a:xfrm>
            <a:off x="3338640" y="5255280"/>
            <a:ext cx="3398400" cy="2984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7" name="PlaceHolder 4"/>
          <p:cNvSpPr>
            <a:spLocks noGrp="1"/>
          </p:cNvSpPr>
          <p:nvPr>
            <p:ph type="sldNum" idx="14"/>
          </p:nvPr>
        </p:nvSpPr>
        <p:spPr>
          <a:xfrm>
            <a:off x="7118640" y="5255280"/>
            <a:ext cx="2264400" cy="2984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30023098-511A-4C0D-9ACD-6F98B0491BB5}" type="slidenum">
              <a:rPr lang="en-AU"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28" name="PlaceHolder 5"/>
          <p:cNvSpPr>
            <a:spLocks noGrp="1"/>
          </p:cNvSpPr>
          <p:nvPr>
            <p:ph type="dt" idx="15"/>
          </p:nvPr>
        </p:nvSpPr>
        <p:spPr>
          <a:xfrm>
            <a:off x="692640" y="5255280"/>
            <a:ext cx="2264400" cy="298440"/>
          </a:xfrm>
          <a:prstGeom prst="rect">
            <a:avLst/>
          </a:prstGeom>
          <a:noFill/>
          <a:ln w="0">
            <a:noFill/>
          </a:ln>
        </p:spPr>
        <p:txBody>
          <a:bodyPr lIns="91440" tIns="45720" rIns="91440" bIns="45720" anchor="ctr">
            <a:noAutofit/>
          </a:bodyPr>
          <a:lstStyle>
            <a:lvl1pPr indent="0" algn="l">
              <a:buNone/>
              <a:defRPr lang="en-AU" sz="1400" b="0" u="none" strike="noStrike">
                <a:solidFill>
                  <a:srgbClr val="000000"/>
                </a:solidFill>
                <a:effectLst/>
                <a:uFillTx/>
                <a:latin typeface="Times New Roman"/>
              </a:defRPr>
            </a:lvl1pPr>
          </a:lstStyle>
          <a:p>
            <a:pPr indent="0" algn="l">
              <a:buNone/>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692640" y="244800"/>
            <a:ext cx="8690400" cy="120708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the title text format</a:t>
            </a:r>
            <a:endParaRPr lang="en-US" sz="4400" b="0" u="none" strike="noStrike">
              <a:solidFill>
                <a:schemeClr val="dk1"/>
              </a:solidFill>
              <a:effectLst/>
              <a:uFillTx/>
              <a:latin typeface="Aptos Display"/>
            </a:endParaRPr>
          </a:p>
        </p:txBody>
      </p:sp>
      <p:sp>
        <p:nvSpPr>
          <p:cNvPr id="30" name="PlaceHolder 2"/>
          <p:cNvSpPr>
            <a:spLocks noGrp="1"/>
          </p:cNvSpPr>
          <p:nvPr>
            <p:ph type="body"/>
          </p:nvPr>
        </p:nvSpPr>
        <p:spPr>
          <a:xfrm>
            <a:off x="692640" y="1509120"/>
            <a:ext cx="8690400" cy="359424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8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2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2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8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800" b="0" u="none" strike="noStrike">
                <a:solidFill>
                  <a:schemeClr val="dk1"/>
                </a:solidFill>
                <a:effectLst/>
                <a:uFillTx/>
                <a:latin typeface="Aptos"/>
              </a:defRPr>
            </a:lvl7pPr>
          </a:lstStyle>
          <a:p>
            <a:pPr indent="-3240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800" b="0" u="none" strike="noStrike">
                <a:solidFill>
                  <a:schemeClr val="dk1"/>
                </a:solidFill>
                <a:effectLst/>
                <a:uFillTx/>
                <a:latin typeface="Aptos"/>
              </a:rPr>
              <a:t>Second Outline Level</a:t>
            </a:r>
            <a:endParaRPr lang="en-US" sz="28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800" b="0" u="none" strike="noStrike">
                <a:solidFill>
                  <a:schemeClr val="dk1"/>
                </a:solidFill>
                <a:effectLst/>
                <a:uFillTx/>
                <a:latin typeface="Aptos"/>
              </a:rPr>
              <a:t>Third Outline Level</a:t>
            </a:r>
            <a:endParaRPr lang="en-US" sz="28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2800" b="0" u="none" strike="noStrike">
                <a:solidFill>
                  <a:schemeClr val="dk1"/>
                </a:solidFill>
                <a:effectLst/>
                <a:uFillTx/>
                <a:latin typeface="Aptos"/>
              </a:rPr>
              <a:t>Fourth Outline Level</a:t>
            </a:r>
            <a:endParaRPr lang="en-US" sz="2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2800" b="0" u="none" strike="noStrike">
                <a:solidFill>
                  <a:schemeClr val="dk1"/>
                </a:solidFill>
                <a:effectLst/>
                <a:uFillTx/>
                <a:latin typeface="Aptos"/>
              </a:rPr>
              <a:t>Fifth Outline Level</a:t>
            </a:r>
            <a:endParaRPr lang="en-US" sz="2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ptos"/>
              </a:rPr>
              <a:t>Sixth Outline Level</a:t>
            </a:r>
            <a:endParaRPr lang="en-US" sz="28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ptos"/>
              </a:rPr>
              <a:t>Seventh Outline Level</a:t>
            </a:r>
            <a:endParaRPr lang="en-US" sz="2800" b="0" u="none" strike="noStrike">
              <a:solidFill>
                <a:schemeClr val="dk1"/>
              </a:solidFill>
              <a:effectLst/>
              <a:uFillTx/>
              <a:latin typeface="Aptos"/>
            </a:endParaRPr>
          </a:p>
        </p:txBody>
      </p:sp>
      <p:sp>
        <p:nvSpPr>
          <p:cNvPr id="31" name="PlaceHolder 3"/>
          <p:cNvSpPr>
            <a:spLocks noGrp="1"/>
          </p:cNvSpPr>
          <p:nvPr>
            <p:ph type="ftr" idx="16"/>
          </p:nvPr>
        </p:nvSpPr>
        <p:spPr>
          <a:xfrm>
            <a:off x="3338640" y="5255280"/>
            <a:ext cx="3398400" cy="2984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32" name="PlaceHolder 4"/>
          <p:cNvSpPr>
            <a:spLocks noGrp="1"/>
          </p:cNvSpPr>
          <p:nvPr>
            <p:ph type="sldNum" idx="17"/>
          </p:nvPr>
        </p:nvSpPr>
        <p:spPr>
          <a:xfrm>
            <a:off x="7118640" y="5255280"/>
            <a:ext cx="2264400" cy="2984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8737D31-1CF4-4FE1-8DFB-8C58C66EA95B}" type="slidenum">
              <a:rPr lang="en-AU"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33" name="PlaceHolder 5"/>
          <p:cNvSpPr>
            <a:spLocks noGrp="1"/>
          </p:cNvSpPr>
          <p:nvPr>
            <p:ph type="dt" idx="18"/>
          </p:nvPr>
        </p:nvSpPr>
        <p:spPr>
          <a:xfrm>
            <a:off x="692640" y="5255280"/>
            <a:ext cx="2264400" cy="298440"/>
          </a:xfrm>
          <a:prstGeom prst="rect">
            <a:avLst/>
          </a:prstGeom>
          <a:noFill/>
          <a:ln w="0">
            <a:noFill/>
          </a:ln>
        </p:spPr>
        <p:txBody>
          <a:bodyPr lIns="91440" tIns="45720" rIns="91440" bIns="45720" anchor="ctr">
            <a:noAutofit/>
          </a:bodyPr>
          <a:lstStyle>
            <a:lvl1pPr indent="0" algn="l">
              <a:buNone/>
              <a:defRPr lang="en-AU" sz="1400" b="0" u="none" strike="noStrike">
                <a:solidFill>
                  <a:srgbClr val="000000"/>
                </a:solidFill>
                <a:effectLst/>
                <a:uFillTx/>
                <a:latin typeface="Times New Roman"/>
              </a:defRPr>
            </a:lvl1pPr>
          </a:lstStyle>
          <a:p>
            <a:pPr indent="0" algn="l">
              <a:buNone/>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692640" y="512640"/>
            <a:ext cx="8690400" cy="670680"/>
          </a:xfrm>
          <a:prstGeom prst="rect">
            <a:avLst/>
          </a:prstGeom>
          <a:noFill/>
          <a:ln w="0">
            <a:noFill/>
          </a:ln>
        </p:spPr>
        <p:txBody>
          <a:bodyPr lIns="0" tIns="0" rIns="0" bIns="0" anchor="ctr">
            <a:spAutoFit/>
          </a:bodyPr>
          <a:lstStyle>
            <a:lvl1pPr indent="0" algn="l">
              <a:buNone/>
              <a:tabLst>
                <a:tab pos="0" algn="l"/>
              </a:tabLst>
              <a:defRPr lang="en-AU" sz="4400" b="0" u="none" strike="noStrike">
                <a:solidFill>
                  <a:srgbClr val="000000"/>
                </a:solidFill>
                <a:effectLst/>
                <a:uFillTx/>
                <a:latin typeface="Arial"/>
              </a:defRPr>
            </a:lvl1pPr>
          </a:lstStyle>
          <a:p>
            <a:pPr indent="0" algn="l">
              <a:buNone/>
              <a:tabLst>
                <a:tab pos="0" algn="l"/>
              </a:tabLst>
            </a:pPr>
            <a:r>
              <a:rPr lang="en-AU" sz="4400" b="0" u="none" strike="noStrike">
                <a:solidFill>
                  <a:srgbClr val="000000"/>
                </a:solidFill>
                <a:effectLst/>
                <a:uFillTx/>
                <a:latin typeface="Arial"/>
              </a:rPr>
              <a:t>Click to edit the title text format</a:t>
            </a:r>
            <a:endParaRPr lang="en-AU" sz="4400" b="0" u="none" strike="noStrike">
              <a:solidFill>
                <a:srgbClr val="000000"/>
              </a:solidFill>
              <a:effectLst/>
              <a:uFillTx/>
              <a:latin typeface="Arial"/>
            </a:endParaRPr>
          </a:p>
        </p:txBody>
      </p:sp>
      <p:sp>
        <p:nvSpPr>
          <p:cNvPr id="3" name="PlaceHolder 2"/>
          <p:cNvSpPr>
            <a:spLocks noGrp="1"/>
          </p:cNvSpPr>
          <p:nvPr>
            <p:ph type="body"/>
          </p:nvPr>
        </p:nvSpPr>
        <p:spPr>
          <a:xfrm>
            <a:off x="692640" y="1509120"/>
            <a:ext cx="8690400" cy="3594240"/>
          </a:xfrm>
          <a:prstGeom prst="rect">
            <a:avLst/>
          </a:prstGeom>
          <a:noFill/>
          <a:ln w="0">
            <a:noFill/>
          </a:ln>
        </p:spPr>
        <p:txBody>
          <a:bodyPr lIns="0" tIns="0" rIns="0" bIns="0" anchor="t">
            <a:normAutofit lnSpcReduction="9999"/>
          </a:bodyPr>
          <a:lstStyle>
            <a:lvl1pPr algn="l">
              <a:spcBef>
                <a:spcPts val="1417"/>
              </a:spcBef>
              <a:buClr>
                <a:srgbClr val="000000"/>
              </a:buClr>
              <a:buSzPct val="45000"/>
              <a:buFont typeface="Wingdings" charset="2"/>
              <a:buChar char=""/>
              <a:defRPr lang="en-AU"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AU" sz="32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AU" sz="32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AU" sz="32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AU" sz="32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AU" sz="32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AU" sz="3200" b="0" u="none" strike="noStrike">
                <a:solidFill>
                  <a:srgbClr val="000000"/>
                </a:solidFill>
                <a:effectLst/>
                <a:uFillTx/>
                <a:latin typeface="Arial"/>
              </a:defRPr>
            </a:lvl7pPr>
          </a:lstStyle>
          <a:p>
            <a:pPr indent="-324000" algn="l">
              <a:spcBef>
                <a:spcPts val="1417"/>
              </a:spcBef>
              <a:buClr>
                <a:srgbClr val="000000"/>
              </a:buClr>
              <a:buSzPct val="45000"/>
              <a:buFont typeface="Wingdings" charset="2"/>
              <a:buChar char=""/>
            </a:pPr>
            <a:r>
              <a:rPr lang="en-AU" sz="3200" b="0" u="none" strike="noStrike">
                <a:solidFill>
                  <a:srgbClr val="000000"/>
                </a:solidFill>
                <a:effectLst/>
                <a:uFillTx/>
                <a:latin typeface="Arial"/>
              </a:rPr>
              <a:t>Click to edit the outline text format</a:t>
            </a:r>
            <a:endParaRPr lang="en-AU"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AU" sz="3200" b="0" u="none" strike="noStrike">
                <a:solidFill>
                  <a:srgbClr val="000000"/>
                </a:solidFill>
                <a:effectLst/>
                <a:uFillTx/>
                <a:latin typeface="Arial"/>
              </a:rPr>
              <a:t>Second Outline Level</a:t>
            </a:r>
            <a:endParaRPr lang="en-AU" sz="32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AU" sz="3200" b="0" u="none" strike="noStrike">
                <a:solidFill>
                  <a:srgbClr val="000000"/>
                </a:solidFill>
                <a:effectLst/>
                <a:uFillTx/>
                <a:latin typeface="Arial"/>
              </a:rPr>
              <a:t>Third Outline Level</a:t>
            </a:r>
            <a:endParaRPr lang="en-AU" sz="32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AU" sz="3200" b="0" u="none" strike="noStrike">
                <a:solidFill>
                  <a:srgbClr val="000000"/>
                </a:solidFill>
                <a:effectLst/>
                <a:uFillTx/>
                <a:latin typeface="Arial"/>
              </a:rPr>
              <a:t>Fourth Outline Level</a:t>
            </a:r>
            <a:endParaRPr lang="en-AU" sz="32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AU" sz="3200" b="0" u="none" strike="noStrike">
                <a:solidFill>
                  <a:srgbClr val="000000"/>
                </a:solidFill>
                <a:effectLst/>
                <a:uFillTx/>
                <a:latin typeface="Arial"/>
              </a:rPr>
              <a:t>Fifth Outline Level</a:t>
            </a:r>
            <a:endParaRPr lang="en-AU" sz="32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AU" sz="3200" b="0" u="none" strike="noStrike">
                <a:solidFill>
                  <a:srgbClr val="000000"/>
                </a:solidFill>
                <a:effectLst/>
                <a:uFillTx/>
                <a:latin typeface="Arial"/>
              </a:rPr>
              <a:t>Sixth Outline Level</a:t>
            </a:r>
            <a:endParaRPr lang="en-AU" sz="32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AU" sz="3200" b="0" u="none" strike="noStrike">
                <a:solidFill>
                  <a:srgbClr val="000000"/>
                </a:solidFill>
                <a:effectLst/>
                <a:uFillTx/>
                <a:latin typeface="Arial"/>
              </a:rPr>
              <a:t>Seventh Outline Level</a:t>
            </a:r>
            <a:endParaRPr lang="en-AU" sz="3200" b="0" u="none" strike="noStrike">
              <a:solidFill>
                <a:srgbClr val="000000"/>
              </a:solidFill>
              <a:effectLst/>
              <a:uFillTx/>
              <a:latin typeface="Arial"/>
            </a:endParaRPr>
          </a:p>
        </p:txBody>
      </p:sp>
      <p:sp>
        <p:nvSpPr>
          <p:cNvPr id="4" name="PlaceHolder 3"/>
          <p:cNvSpPr>
            <a:spLocks noGrp="1"/>
          </p:cNvSpPr>
          <p:nvPr>
            <p:ph type="ftr" idx="1"/>
          </p:nvPr>
        </p:nvSpPr>
        <p:spPr>
          <a:xfrm>
            <a:off x="3447360" y="5165280"/>
            <a:ext cx="3194280" cy="389880"/>
          </a:xfrm>
          <a:prstGeom prst="rect">
            <a:avLst/>
          </a:prstGeom>
          <a:noFill/>
          <a:ln w="0">
            <a:noFill/>
          </a:ln>
        </p:spPr>
        <p:txBody>
          <a:bodyPr lIns="0" tIns="0" rIns="0" bIns="0" anchor="t">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 name="PlaceHolder 4"/>
          <p:cNvSpPr>
            <a:spLocks noGrp="1"/>
          </p:cNvSpPr>
          <p:nvPr>
            <p:ph type="sldNum" idx="2"/>
          </p:nvPr>
        </p:nvSpPr>
        <p:spPr>
          <a:xfrm>
            <a:off x="7227360" y="5165280"/>
            <a:ext cx="2347560" cy="389880"/>
          </a:xfrm>
          <a:prstGeom prst="rect">
            <a:avLst/>
          </a:prstGeom>
          <a:noFill/>
          <a:ln w="0">
            <a:noFill/>
          </a:ln>
        </p:spPr>
        <p:txBody>
          <a:bodyPr lIns="0" tIns="0" rIns="0" bIns="0" anchor="t">
            <a:noAutofit/>
          </a:bodyPr>
          <a:lstStyle>
            <a:lvl1pPr indent="0" algn="r">
              <a:lnSpc>
                <a:spcPct val="100000"/>
              </a:lnSpc>
              <a:buNone/>
              <a:tabLst>
                <a:tab pos="0" algn="l"/>
              </a:tabLst>
              <a:defRPr lang="en-AU" sz="1400" b="0" u="none" strike="noStrike">
                <a:solidFill>
                  <a:srgbClr val="000000"/>
                </a:solidFill>
                <a:effectLst/>
                <a:uFillTx/>
                <a:latin typeface="Times New Roman"/>
              </a:defRPr>
            </a:lvl1pPr>
          </a:lstStyle>
          <a:p>
            <a:pPr indent="0" algn="r">
              <a:lnSpc>
                <a:spcPct val="100000"/>
              </a:lnSpc>
              <a:buNone/>
              <a:tabLst>
                <a:tab pos="0" algn="l"/>
              </a:tabLst>
            </a:pPr>
            <a:fld id="{37A37091-E029-4300-9AA7-B278C608BC39}" type="slidenum">
              <a:rPr lang="en-AU" sz="1400" b="0" u="none" strike="noStrike">
                <a:solidFill>
                  <a:srgbClr val="000000"/>
                </a:solidFill>
                <a:effectLst/>
                <a:uFillTx/>
                <a:latin typeface="Times New Roman"/>
              </a:rPr>
              <a:t>&lt;number&gt;</a:t>
            </a:fld>
            <a:endParaRPr lang="en-AU" sz="1400" b="0" u="none" strike="noStrike">
              <a:solidFill>
                <a:srgbClr val="000000"/>
              </a:solidFill>
              <a:effectLst/>
              <a:uFillTx/>
              <a:latin typeface="Times New Roman"/>
            </a:endParaRPr>
          </a:p>
        </p:txBody>
      </p:sp>
      <p:sp>
        <p:nvSpPr>
          <p:cNvPr id="6" name="PlaceHolder 5"/>
          <p:cNvSpPr>
            <a:spLocks noGrp="1"/>
          </p:cNvSpPr>
          <p:nvPr>
            <p:ph type="dt" idx="3"/>
          </p:nvPr>
        </p:nvSpPr>
        <p:spPr>
          <a:xfrm>
            <a:off x="504000" y="5165280"/>
            <a:ext cx="2347560" cy="389880"/>
          </a:xfrm>
          <a:prstGeom prst="rect">
            <a:avLst/>
          </a:prstGeom>
          <a:noFill/>
          <a:ln w="0">
            <a:noFill/>
          </a:ln>
        </p:spPr>
        <p:txBody>
          <a:bodyPr lIns="0" tIns="0" rIns="0" bIns="0" anchor="t">
            <a:noAutofit/>
          </a:bodyPr>
          <a:lstStyle>
            <a:lvl1pPr indent="0" algn="l">
              <a:buNone/>
              <a:defRPr lang="en-AU" sz="1400" b="0" u="none" strike="noStrike">
                <a:solidFill>
                  <a:srgbClr val="000000"/>
                </a:solidFill>
                <a:effectLst/>
                <a:uFillTx/>
                <a:latin typeface="Times New Roman"/>
              </a:defRPr>
            </a:lvl1pPr>
          </a:lstStyle>
          <a:p>
            <a:pPr indent="0" algn="l">
              <a:buNone/>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2"/>
    <p:sldLayoutId id="2147483655" r:id="rId3"/>
    <p:sldLayoutId id="2147483656"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hyperlink" Target="https://forge.puppet.com/" TargetMode="External"/><Relationship Id="rId2" Type="http://schemas.openxmlformats.org/officeDocument/2006/relationships/image" Target="../media/image6.png"/><Relationship Id="rId3"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hyperlink" Target="https://github.com/chef" TargetMode="External"/><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hyperlink" Target="https://www.yamllint.com/" TargetMode="External"/><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34" name="Rectangle 20">
            <a:extLst>
              <a:ext uri="{C183D7F6-B498-43B3-948B-1728B52AA6E4}">
                <adec:decorative xmlns:adec="http://schemas.microsoft.com/office/drawing/2017/decorative" val="1"/>
              </a:ext>
            </a:extLst>
          </p:cNvPr>
          <p:cNvSpPr/>
          <p:nvPr/>
        </p:nvSpPr>
        <p:spPr>
          <a:xfrm>
            <a:off x="0" y="0"/>
            <a:ext cx="12184560" cy="6853680"/>
          </a:xfrm>
          <a:prstGeom prst="rect">
            <a:avLst/>
          </a:prstGeom>
          <a:ln w="190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35" name="PlaceHolder 1"/>
          <p:cNvSpPr>
            <a:spLocks noGrp="1"/>
          </p:cNvSpPr>
          <p:nvPr>
            <p:ph type="title"/>
          </p:nvPr>
        </p:nvSpPr>
        <p:spPr>
          <a:xfrm>
            <a:off x="35640" y="179640"/>
            <a:ext cx="4282560" cy="542736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4400" b="0" u="none" strike="noStrike">
                <a:solidFill>
                  <a:schemeClr val="dk1"/>
                </a:solidFill>
                <a:effectLst/>
                <a:uFillTx/>
                <a:latin typeface="Arial"/>
              </a:rPr>
              <a:t>Automation Tools</a:t>
            </a:r>
            <a:endParaRPr lang="en-US" sz="4400" b="0" u="none" strike="noStrike">
              <a:solidFill>
                <a:schemeClr val="dk1"/>
              </a:solidFill>
              <a:effectLst/>
              <a:uFillTx/>
              <a:latin typeface="Aptos Display"/>
            </a:endParaRPr>
          </a:p>
        </p:txBody>
      </p:sp>
      <p:sp>
        <p:nvSpPr>
          <p:cNvPr id="36" name="sketch line 2">
            <a:extLst>
              <a:ext uri="{C183D7F6-B498-43B3-948B-1728B52AA6E4}">
                <adec:decorative xmlns:adec="http://schemas.microsoft.com/office/drawing/2017/decorative" val="1"/>
              </a:ext>
            </a:extLst>
          </p:cNvPr>
          <p:cNvSpPr/>
          <p:nvPr/>
        </p:nvSpPr>
        <p:spPr>
          <a:xfrm rot="5400000">
            <a:off x="2547360" y="3257640"/>
            <a:ext cx="4476240" cy="14760"/>
          </a:xfrm>
          <a:custGeom>
            <a:avLst/>
            <a:gdLst>
              <a:gd name="textAreaLeft" fmla="*/ 0 w 4476240"/>
              <a:gd name="textAreaRight" fmla="*/ 4479480 w 4476240"/>
              <a:gd name="textAreaTop" fmla="*/ 0 h 14760"/>
              <a:gd name="textAreaBottom" fmla="*/ 18360 h 14760"/>
              <a:gd name="GluePoint1X" fmla="*/ 0 w 4480560"/>
              <a:gd name="GluePoint1Y" fmla="*/ 0 h 18288"/>
              <a:gd name="GluePoint2X" fmla="*/ 595274 w 4480560"/>
              <a:gd name="GluePoint2Y" fmla="*/ 0 h 18288"/>
              <a:gd name="GluePoint3X" fmla="*/ 1100938 w 4480560"/>
              <a:gd name="GluePoint3Y" fmla="*/ 0 h 18288"/>
              <a:gd name="GluePoint4X" fmla="*/ 1651406 w 4480560"/>
              <a:gd name="GluePoint4Y" fmla="*/ 0 h 18288"/>
              <a:gd name="GluePoint5X" fmla="*/ 2336292 w 4480560"/>
              <a:gd name="GluePoint5Y" fmla="*/ 0 h 18288"/>
              <a:gd name="GluePoint6X" fmla="*/ 2931566 w 4480560"/>
              <a:gd name="GluePoint6Y" fmla="*/ 0 h 18288"/>
              <a:gd name="GluePoint7X" fmla="*/ 3482035 w 4480560"/>
              <a:gd name="GluePoint7Y" fmla="*/ 0 h 18288"/>
              <a:gd name="GluePoint8X" fmla="*/ 4480560 w 4480560"/>
              <a:gd name="GluePoint8Y" fmla="*/ 0 h 18288"/>
              <a:gd name="GluePoint9X" fmla="*/ 4480560 w 4480560"/>
              <a:gd name="GluePoint9Y" fmla="*/ 18288 h 18288"/>
              <a:gd name="GluePoint10X" fmla="*/ 3840480 w 4480560"/>
              <a:gd name="GluePoint10Y" fmla="*/ 18288 h 18288"/>
              <a:gd name="GluePoint11X" fmla="*/ 3290011 w 4480560"/>
              <a:gd name="GluePoint11Y" fmla="*/ 18288 h 18288"/>
              <a:gd name="GluePoint12X" fmla="*/ 2560320 w 4480560"/>
              <a:gd name="GluePoint12Y" fmla="*/ 18288 h 18288"/>
              <a:gd name="GluePoint13X" fmla="*/ 1965046 w 4480560"/>
              <a:gd name="GluePoint13Y" fmla="*/ 18288 h 18288"/>
              <a:gd name="GluePoint14X" fmla="*/ 1459382 w 4480560"/>
              <a:gd name="GluePoint14Y" fmla="*/ 18288 h 18288"/>
              <a:gd name="GluePoint15X" fmla="*/ 774497 w 4480560"/>
              <a:gd name="GluePoint15Y" fmla="*/ 18288 h 18288"/>
              <a:gd name="GluePoint16X" fmla="*/ 0 w 4480560"/>
              <a:gd name="GluePoint16Y" fmla="*/ 18288 h 18288"/>
              <a:gd name="GluePoint17X" fmla="*/ 0 w 4480560"/>
              <a:gd name="GluePoint17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Lst>
            <a:rect l="textAreaLeft" t="textAreaTop" r="textAreaRight" b="textAreaBottom"/>
            <a:pathLst>
              <a:path fill="none" w="4480560" h="18288">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stroke="0" w="4480560" h="18288">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cap="rnd" w="41400">
            <a:solidFill>
              <a:srgbClr val="E97132"/>
            </a:solidFill>
            <a:round/>
          </a:ln>
        </p:spPr>
        <p:style>
          <a:lnRef idx="0"/>
          <a:fillRef idx="0"/>
          <a:effectRef idx="0"/>
          <a:fontRef idx="minor"/>
        </p:style>
        <p:txBody>
          <a:bodyPr lIns="90000" tIns="-26640" rIns="90000" bIns="-26640" anchor="ctr">
            <a:noAutofit/>
          </a:bodyPr>
          <a:p>
            <a:endParaRPr lang="en-US" sz="1800" b="0" u="none" strike="noStrike">
              <a:solidFill>
                <a:schemeClr val="lt1"/>
              </a:solidFill>
              <a:effectLst/>
              <a:uFillTx/>
              <a:latin typeface="Aptos"/>
            </a:endParaRPr>
          </a:p>
        </p:txBody>
      </p:sp>
      <p:sp>
        <p:nvSpPr>
          <p:cNvPr id="37" name="PlaceHolder 2"/>
          <p:cNvSpPr>
            <a:spLocks noGrp="1"/>
          </p:cNvSpPr>
          <p:nvPr>
            <p:ph type="subTitle"/>
          </p:nvPr>
        </p:nvSpPr>
        <p:spPr>
          <a:xfrm>
            <a:off x="4757040" y="264960"/>
            <a:ext cx="7121880" cy="6276600"/>
          </a:xfrm>
          <a:prstGeom prst="rect">
            <a:avLst/>
          </a:prstGeom>
          <a:noFill/>
          <a:ln w="0">
            <a:noFill/>
          </a:ln>
        </p:spPr>
        <p:txBody>
          <a:bodyPr lIns="91440" tIns="45720" rIns="91440" bIns="45720" anchor="ctr">
            <a:noAutofit/>
          </a:bodyPr>
          <a:p>
            <a:pPr indent="0" algn="l" defTabSz="914400">
              <a:lnSpc>
                <a:spcPct val="90000"/>
              </a:lnSpc>
              <a:spcBef>
                <a:spcPts val="1001"/>
              </a:spcBef>
              <a:buNone/>
              <a:tabLst>
                <a:tab pos="0" algn="l"/>
              </a:tabLst>
            </a:pPr>
            <a:r>
              <a:rPr lang="en-US" sz="2400" b="1" u="none" strike="noStrike">
                <a:solidFill>
                  <a:schemeClr val="dk1"/>
                </a:solidFill>
                <a:effectLst/>
                <a:uFillTx/>
                <a:latin typeface="Arial"/>
              </a:rPr>
              <a:t>Learning Outcomes:</a:t>
            </a:r>
            <a:endParaRPr lang="en-AU" sz="2400" b="0" u="none" strike="noStrike">
              <a:solidFill>
                <a:srgbClr val="000000"/>
              </a:solidFill>
              <a:effectLst/>
              <a:uFillTx/>
              <a:latin typeface="Arial"/>
            </a:endParaRPr>
          </a:p>
          <a:p>
            <a:pPr marL="216000" indent="-228600" algn="l" defTabSz="914400">
              <a:lnSpc>
                <a:spcPct val="90000"/>
              </a:lnSpc>
              <a:spcBef>
                <a:spcPts val="1001"/>
              </a:spcBef>
              <a:buClr>
                <a:srgbClr val="000000"/>
              </a:buClr>
              <a:buFont typeface="OpenSymbol"/>
              <a:buAutoNum type="arabicPeriod"/>
              <a:tabLst>
                <a:tab pos="0" algn="l"/>
              </a:tabLst>
            </a:pPr>
            <a:r>
              <a:rPr lang="en-US" sz="2400" b="1" u="none" strike="noStrike">
                <a:solidFill>
                  <a:schemeClr val="accent6"/>
                </a:solidFill>
                <a:effectLst/>
                <a:uFillTx/>
                <a:latin typeface="Arial"/>
              </a:rPr>
              <a:t>Embedded Event Manager (EEM)</a:t>
            </a:r>
            <a:endParaRPr lang="en-AU" sz="2400" b="0" u="none" strike="noStrike">
              <a:solidFill>
                <a:srgbClr val="000000"/>
              </a:solidFill>
              <a:effectLst/>
              <a:uFillTx/>
              <a:latin typeface="Arial"/>
            </a:endParaRPr>
          </a:p>
          <a:p>
            <a:pPr marL="216000" indent="-228600" algn="l" defTabSz="914400">
              <a:lnSpc>
                <a:spcPct val="90000"/>
              </a:lnSpc>
              <a:spcBef>
                <a:spcPts val="499"/>
              </a:spcBef>
              <a:buClr>
                <a:srgbClr val="000000"/>
              </a:buClr>
              <a:buFont typeface="OpenSymbol"/>
              <a:buAutoNum type="arabicPeriod"/>
              <a:tabLst>
                <a:tab pos="0" algn="l"/>
              </a:tabLst>
            </a:pPr>
            <a:r>
              <a:rPr lang="en-US" sz="2400" b="1" u="none" strike="noStrike">
                <a:solidFill>
                  <a:schemeClr val="accent6"/>
                </a:solidFill>
                <a:effectLst/>
                <a:uFillTx/>
                <a:latin typeface="Arial"/>
              </a:rPr>
              <a:t>Agent Based Automation Tools</a:t>
            </a:r>
            <a:endParaRPr lang="en-AU" sz="2400" b="0" u="none" strike="noStrike">
              <a:solidFill>
                <a:srgbClr val="000000"/>
              </a:solidFill>
              <a:effectLst/>
              <a:uFillTx/>
              <a:latin typeface="Arial"/>
            </a:endParaRPr>
          </a:p>
          <a:p>
            <a:pPr marL="216000" indent="-228600" algn="l" defTabSz="914400">
              <a:lnSpc>
                <a:spcPct val="90000"/>
              </a:lnSpc>
              <a:spcBef>
                <a:spcPts val="499"/>
              </a:spcBef>
              <a:buClr>
                <a:srgbClr val="000000"/>
              </a:buClr>
              <a:buFont typeface="OpenSymbol"/>
              <a:buAutoNum type="arabicPeriod"/>
              <a:tabLst>
                <a:tab pos="0" algn="l"/>
              </a:tabLst>
            </a:pPr>
            <a:r>
              <a:rPr lang="en-US" sz="2400" b="1" u="none" strike="noStrike">
                <a:solidFill>
                  <a:schemeClr val="accent6"/>
                </a:solidFill>
                <a:effectLst/>
                <a:uFillTx/>
                <a:latin typeface="Arial"/>
              </a:rPr>
              <a:t>Agentless Automation Tools</a:t>
            </a:r>
            <a:endParaRPr lang="en-AU" sz="2400" b="0" u="none" strike="noStrike">
              <a:solidFill>
                <a:srgbClr val="000000"/>
              </a:solidFill>
              <a:effectLst/>
              <a:uFillTx/>
              <a:latin typeface="Arial"/>
            </a:endParaRPr>
          </a:p>
          <a:p>
            <a:pPr marL="216000" indent="0" algn="l" defTabSz="914400">
              <a:lnSpc>
                <a:spcPct val="90000"/>
              </a:lnSpc>
              <a:spcBef>
                <a:spcPts val="499"/>
              </a:spcBef>
              <a:buNone/>
              <a:tabLst>
                <a:tab pos="0" algn="l"/>
              </a:tabLst>
            </a:pPr>
            <a:endParaRPr lang="en-AU"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Rectangle 4">
            <a:extLst>
              <a:ext uri="{C183D7F6-B498-43B3-948B-1728B52AA6E4}">
                <adec:decorative xmlns:adec="http://schemas.microsoft.com/office/drawing/2017/decorative" val="1"/>
              </a:ext>
            </a:extLst>
          </p:cNvPr>
          <p:cNvSpPr/>
          <p:nvPr/>
        </p:nvSpPr>
        <p:spPr>
          <a:xfrm>
            <a:off x="360" y="360"/>
            <a:ext cx="3957480" cy="10774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1.EEM</a:t>
            </a:r>
            <a:endParaRPr lang="en-AU" sz="4400" b="0" u="none" strike="noStrike">
              <a:solidFill>
                <a:srgbClr val="FFFFFF"/>
              </a:solidFill>
              <a:effectLst/>
              <a:uFillTx/>
              <a:latin typeface="Arial"/>
            </a:endParaRPr>
          </a:p>
        </p:txBody>
      </p:sp>
      <p:sp>
        <p:nvSpPr>
          <p:cNvPr id="39" name="PlaceHolder 1"/>
          <p:cNvSpPr>
            <a:spLocks noGrp="1"/>
          </p:cNvSpPr>
          <p:nvPr>
            <p:ph/>
          </p:nvPr>
        </p:nvSpPr>
        <p:spPr>
          <a:xfrm>
            <a:off x="4068000" y="76680"/>
            <a:ext cx="5831280" cy="5502600"/>
          </a:xfrm>
          <a:prstGeom prst="rect">
            <a:avLst/>
          </a:prstGeom>
          <a:noFill/>
          <a:ln w="0">
            <a:noFill/>
          </a:ln>
        </p:spPr>
        <p:txBody>
          <a:bodyPr lIns="91440" tIns="45720" rIns="91440" bIns="45720" anchor="t">
            <a:normAutofit fontScale="92500" lnSpcReduction="9999"/>
          </a:bodyPr>
          <a:p>
            <a:pPr indent="0" algn="l" defTabSz="914400">
              <a:lnSpc>
                <a:spcPct val="100000"/>
              </a:lnSpc>
              <a:spcBef>
                <a:spcPts val="717"/>
              </a:spcBef>
              <a:spcAft>
                <a:spcPts val="283"/>
              </a:spcAft>
              <a:buNone/>
              <a:tabLst>
                <a:tab pos="0" algn="l"/>
              </a:tabLst>
            </a:pPr>
            <a:r>
              <a:rPr lang="en-US" sz="1600" b="1" u="none" strike="noStrike">
                <a:solidFill>
                  <a:schemeClr val="dk1"/>
                </a:solidFill>
                <a:effectLst/>
                <a:uFillTx/>
                <a:latin typeface="Arial"/>
                <a:ea typeface="Microsoft YaHei"/>
              </a:rPr>
              <a:t>EEM: </a:t>
            </a:r>
            <a:r>
              <a:rPr lang="en-US" sz="1600" b="0" u="none" strike="noStrike">
                <a:solidFill>
                  <a:schemeClr val="dk1"/>
                </a:solidFill>
                <a:effectLst/>
                <a:uFillTx/>
                <a:latin typeface="Arial"/>
                <a:ea typeface="Microsoft YaHei"/>
              </a:rPr>
              <a:t>Event based action execution tool embedded into IOS</a:t>
            </a:r>
            <a:endParaRPr lang="en-US" sz="1600" b="0" u="none" strike="noStrike">
              <a:solidFill>
                <a:schemeClr val="dk1"/>
              </a:solidFill>
              <a:effectLst/>
              <a:uFillTx/>
              <a:latin typeface="Aptos"/>
            </a:endParaRPr>
          </a:p>
          <a:p>
            <a:pPr indent="0" algn="l" defTabSz="914400">
              <a:lnSpc>
                <a:spcPct val="100000"/>
              </a:lnSpc>
              <a:spcBef>
                <a:spcPts val="717"/>
              </a:spcBef>
              <a:spcAft>
                <a:spcPts val="283"/>
              </a:spcAft>
              <a:buNone/>
              <a:tabLst>
                <a:tab pos="0" algn="l"/>
              </a:tabLst>
            </a:pPr>
            <a:r>
              <a:rPr lang="en-US" sz="1600" b="0" u="none" strike="noStrike">
                <a:solidFill>
                  <a:schemeClr val="dk1"/>
                </a:solidFill>
                <a:effectLst/>
                <a:uFillTx/>
                <a:latin typeface="Arial"/>
                <a:ea typeface="Microsoft YaHei"/>
              </a:rPr>
              <a:t>Can be used to build custom scripts using Tcl.</a:t>
            </a:r>
            <a:endParaRPr lang="en-US" sz="1600" b="0" u="none" strike="noStrike">
              <a:solidFill>
                <a:schemeClr val="dk1"/>
              </a:solidFill>
              <a:effectLst/>
              <a:uFillTx/>
              <a:latin typeface="Aptos"/>
            </a:endParaRPr>
          </a:p>
          <a:p>
            <a:pPr indent="0" algn="l" defTabSz="914400">
              <a:lnSpc>
                <a:spcPct val="100000"/>
              </a:lnSpc>
              <a:spcBef>
                <a:spcPts val="717"/>
              </a:spcBef>
              <a:spcAft>
                <a:spcPts val="283"/>
              </a:spcAft>
              <a:buNone/>
              <a:tabLst>
                <a:tab pos="0" algn="l"/>
              </a:tabLst>
            </a:pPr>
            <a:r>
              <a:rPr lang="en-US" sz="1600" b="0" u="none" strike="noStrike">
                <a:solidFill>
                  <a:schemeClr val="dk1"/>
                </a:solidFill>
                <a:effectLst/>
                <a:uFillTx/>
                <a:latin typeface="Arial"/>
                <a:ea typeface="Microsoft YaHei"/>
              </a:rPr>
              <a:t>Contained in local device without any required connection to remote/external scripting and monitoring engine.</a:t>
            </a:r>
            <a:endParaRPr lang="en-US" sz="1600" b="0" u="none" strike="noStrike">
              <a:solidFill>
                <a:schemeClr val="dk1"/>
              </a:solidFill>
              <a:effectLst/>
              <a:uFillTx/>
              <a:latin typeface="Aptos"/>
            </a:endParaRPr>
          </a:p>
          <a:p>
            <a:pPr indent="0" algn="l" defTabSz="914400">
              <a:lnSpc>
                <a:spcPct val="100000"/>
              </a:lnSpc>
              <a:spcBef>
                <a:spcPts val="717"/>
              </a:spcBef>
              <a:spcAft>
                <a:spcPts val="283"/>
              </a:spcAft>
              <a:buNone/>
              <a:tabLst>
                <a:tab pos="0" algn="l"/>
              </a:tabLst>
            </a:pPr>
            <a:r>
              <a:rPr lang="en-US" sz="1600" b="0" u="none" strike="noStrike">
                <a:solidFill>
                  <a:schemeClr val="dk1"/>
                </a:solidFill>
                <a:effectLst/>
                <a:uFillTx/>
                <a:latin typeface="Arial"/>
                <a:ea typeface="Microsoft YaHei"/>
              </a:rPr>
              <a:t>The picture shows EEM event detectors and their interaction with IOS.</a:t>
            </a:r>
            <a:endParaRPr lang="en-US" sz="1600" b="0" u="none" strike="noStrike">
              <a:solidFill>
                <a:schemeClr val="dk1"/>
              </a:solidFill>
              <a:effectLst/>
              <a:uFillTx/>
              <a:latin typeface="Aptos"/>
            </a:endParaRPr>
          </a:p>
          <a:p>
            <a:pPr indent="0" algn="l" defTabSz="914400">
              <a:lnSpc>
                <a:spcPct val="100000"/>
              </a:lnSpc>
              <a:spcBef>
                <a:spcPts val="717"/>
              </a:spcBef>
              <a:spcAft>
                <a:spcPts val="283"/>
              </a:spcAft>
              <a:buNone/>
              <a:tabLst>
                <a:tab pos="0" algn="l"/>
              </a:tabLst>
            </a:pPr>
            <a:r>
              <a:rPr lang="en-US" sz="1600" b="1" u="none" strike="noStrike">
                <a:solidFill>
                  <a:schemeClr val="dk1"/>
                </a:solidFill>
                <a:effectLst/>
                <a:uFillTx/>
                <a:latin typeface="Arial"/>
                <a:ea typeface="Microsoft YaHei"/>
              </a:rPr>
              <a:t>EEM Applets:</a:t>
            </a:r>
            <a:r>
              <a:rPr lang="en-US" sz="1600" b="0" u="none" strike="noStrike">
                <a:solidFill>
                  <a:schemeClr val="dk1"/>
                </a:solidFill>
                <a:effectLst/>
                <a:uFillTx/>
                <a:latin typeface="Arial"/>
                <a:ea typeface="Microsoft YaHei"/>
              </a:rPr>
              <a:t> Based on building blocks, they follow similar logic to if-then.</a:t>
            </a:r>
            <a:endParaRPr lang="en-US" sz="1600" b="0" u="none" strike="noStrike">
              <a:solidFill>
                <a:schemeClr val="dk1"/>
              </a:solidFill>
              <a:effectLst/>
              <a:uFillTx/>
              <a:latin typeface="Aptos"/>
            </a:endParaRPr>
          </a:p>
          <a:p>
            <a:pPr indent="0" algn="l" defTabSz="914400">
              <a:lnSpc>
                <a:spcPct val="100000"/>
              </a:lnSpc>
              <a:spcBef>
                <a:spcPts val="717"/>
              </a:spcBef>
              <a:spcAft>
                <a:spcPts val="283"/>
              </a:spcAft>
              <a:buNone/>
              <a:tabLst>
                <a:tab pos="0" algn="l"/>
              </a:tabLst>
            </a:pPr>
            <a:r>
              <a:rPr lang="en-US" sz="1600" b="0" u="none" strike="noStrike">
                <a:solidFill>
                  <a:schemeClr val="dk1"/>
                </a:solidFill>
                <a:effectLst/>
                <a:uFillTx/>
                <a:latin typeface="Arial"/>
                <a:ea typeface="Microsoft YaHei"/>
              </a:rPr>
              <a:t>Two of the main building blocks are event and action. Only one event per applet is allowed and should have at least one event defined in an applet.</a:t>
            </a:r>
            <a:endParaRPr lang="en-US" sz="1600" b="0" u="none" strike="noStrike">
              <a:solidFill>
                <a:schemeClr val="dk1"/>
              </a:solidFill>
              <a:effectLst/>
              <a:uFillTx/>
              <a:latin typeface="Aptos"/>
            </a:endParaRPr>
          </a:p>
          <a:p>
            <a:pPr indent="0" algn="l" defTabSz="914400">
              <a:lnSpc>
                <a:spcPct val="100000"/>
              </a:lnSpc>
              <a:spcBef>
                <a:spcPts val="717"/>
              </a:spcBef>
              <a:spcAft>
                <a:spcPts val="283"/>
              </a:spcAft>
              <a:buNone/>
              <a:tabLst>
                <a:tab pos="0" algn="l"/>
              </a:tabLst>
            </a:pPr>
            <a:r>
              <a:rPr lang="en-US" sz="1600" b="0" u="none" strike="noStrike">
                <a:solidFill>
                  <a:schemeClr val="dk1"/>
                </a:solidFill>
                <a:effectLst/>
                <a:uFillTx/>
                <a:latin typeface="Arial"/>
                <a:ea typeface="Microsoft YaHei"/>
              </a:rPr>
              <a:t>For example, an EEM applet to look for interface (loopback0) up/down message can be matched(event) in syslog message using regular expression and one of the following actions can be taken:</a:t>
            </a:r>
            <a:endParaRPr lang="en-US" sz="1600" b="0" u="none" strike="noStrike">
              <a:solidFill>
                <a:schemeClr val="dk1"/>
              </a:solidFill>
              <a:effectLst/>
              <a:uFillTx/>
              <a:latin typeface="Aptos"/>
            </a:endParaRPr>
          </a:p>
          <a:p>
            <a:pPr marL="162000" indent="-162000" algn="l" defTabSz="914400">
              <a:lnSpc>
                <a:spcPct val="100000"/>
              </a:lnSpc>
              <a:spcBef>
                <a:spcPts val="717"/>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Loopback0 interface will be shutdown and brought back up (no shutdown).</a:t>
            </a:r>
            <a:endParaRPr lang="en-US" sz="1600" b="0" u="none" strike="noStrike">
              <a:solidFill>
                <a:schemeClr val="dk1"/>
              </a:solidFill>
              <a:effectLst/>
              <a:uFillTx/>
              <a:latin typeface="Aptos"/>
            </a:endParaRPr>
          </a:p>
          <a:p>
            <a:pPr marL="162000" indent="-162000" algn="l" defTabSz="914400">
              <a:lnSpc>
                <a:spcPct val="100000"/>
              </a:lnSpc>
              <a:spcBef>
                <a:spcPts val="717"/>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Router will generate message that says “I’ve fallen and I can’t get up”.</a:t>
            </a:r>
            <a:endParaRPr lang="en-US" sz="1600" b="0" u="none" strike="noStrike">
              <a:solidFill>
                <a:schemeClr val="dk1"/>
              </a:solidFill>
              <a:effectLst/>
              <a:uFillTx/>
              <a:latin typeface="Aptos"/>
            </a:endParaRPr>
          </a:p>
          <a:p>
            <a:pPr marL="162000" indent="-162000" algn="l" defTabSz="914400">
              <a:lnSpc>
                <a:spcPct val="100000"/>
              </a:lnSpc>
              <a:spcBef>
                <a:spcPts val="717"/>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An email message of ‘show interface loopback0’  command output will be sent to network administrator.</a:t>
            </a: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pic>
        <p:nvPicPr>
          <p:cNvPr id="40" name=""/>
          <p:cNvPicPr/>
          <p:nvPr/>
        </p:nvPicPr>
        <p:blipFill>
          <a:blip r:embed="rId1"/>
          <a:stretch/>
        </p:blipFill>
        <p:spPr>
          <a:xfrm>
            <a:off x="72000" y="1116000"/>
            <a:ext cx="3347280" cy="2411280"/>
          </a:xfrm>
          <a:prstGeom prst="rect">
            <a:avLst/>
          </a:prstGeom>
          <a:noFill/>
          <a:ln w="0">
            <a:noFill/>
          </a:ln>
        </p:spPr>
      </p:pic>
      <p:sp>
        <p:nvSpPr>
          <p:cNvPr id="41" name=""/>
          <p:cNvSpPr/>
          <p:nvPr/>
        </p:nvSpPr>
        <p:spPr>
          <a:xfrm>
            <a:off x="0" y="3564000"/>
            <a:ext cx="3779280" cy="212112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ea typeface="DejaVu Sans"/>
              </a:rPr>
              <a:t>Figure above shows different types of event detectors. Most commonly used are syslog, SNMP, CLI, Interface and None.</a:t>
            </a:r>
            <a:endParaRPr lang="en-AU" sz="1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ea typeface="DejaVu Sans"/>
              </a:rPr>
              <a:t>None event detector is used to manually run the EEM applet.</a:t>
            </a:r>
            <a:endParaRPr lang="en-AU" sz="1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ea typeface="DejaVu Sans"/>
              </a:rPr>
              <a:t>Two types of policy can be defined, one for EEM applet and another for Tcl scripts.</a:t>
            </a: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Rectangle 1">
            <a:extLst>
              <a:ext uri="{C183D7F6-B498-43B3-948B-1728B52AA6E4}">
                <adec:decorative xmlns:adec="http://schemas.microsoft.com/office/drawing/2017/decorative" val="1"/>
              </a:ext>
            </a:extLst>
          </p:cNvPr>
          <p:cNvSpPr/>
          <p:nvPr/>
        </p:nvSpPr>
        <p:spPr>
          <a:xfrm>
            <a:off x="360" y="360"/>
            <a:ext cx="3957480" cy="10774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1.EEM</a:t>
            </a:r>
            <a:endParaRPr lang="en-AU" sz="4400" b="0" u="none" strike="noStrike">
              <a:solidFill>
                <a:srgbClr val="FFFFFF"/>
              </a:solidFill>
              <a:effectLst/>
              <a:uFillTx/>
              <a:latin typeface="Arial"/>
            </a:endParaRPr>
          </a:p>
        </p:txBody>
      </p:sp>
      <p:sp>
        <p:nvSpPr>
          <p:cNvPr id="43" name="PlaceHolder 1"/>
          <p:cNvSpPr>
            <a:spLocks noGrp="1"/>
          </p:cNvSpPr>
          <p:nvPr>
            <p:ph/>
          </p:nvPr>
        </p:nvSpPr>
        <p:spPr>
          <a:xfrm>
            <a:off x="4068000" y="76680"/>
            <a:ext cx="5831280" cy="5502600"/>
          </a:xfrm>
          <a:prstGeom prst="rect">
            <a:avLst/>
          </a:prstGeom>
          <a:noFill/>
          <a:ln w="0">
            <a:noFill/>
          </a:ln>
        </p:spPr>
        <p:txBody>
          <a:bodyPr lIns="91440" tIns="45720" rIns="91440" bIns="45720" anchor="t">
            <a:normAutofit fontScale="85000" lnSpcReduction="19999"/>
          </a:bodyPr>
          <a:p>
            <a:pPr indent="0" algn="l" defTabSz="914400">
              <a:lnSpc>
                <a:spcPct val="100000"/>
              </a:lnSpc>
              <a:spcBef>
                <a:spcPts val="1001"/>
              </a:spcBef>
              <a:buNone/>
              <a:tabLst>
                <a:tab pos="0" algn="l"/>
              </a:tabLst>
            </a:pPr>
            <a:r>
              <a:rPr lang="en-US" sz="1600" b="1" u="none" strike="noStrike">
                <a:solidFill>
                  <a:srgbClr val="000000"/>
                </a:solidFill>
                <a:effectLst/>
                <a:uFillTx/>
                <a:latin typeface="Arial"/>
                <a:ea typeface="Microsoft YaHei"/>
              </a:rPr>
              <a:t>General EEM applet construct flow:</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Register the applet with EEM using command </a:t>
            </a:r>
            <a:r>
              <a:rPr lang="en-US" sz="1400" b="1" u="none" strike="noStrike">
                <a:solidFill>
                  <a:srgbClr val="000000"/>
                </a:solidFill>
                <a:effectLst/>
                <a:uFillTx/>
                <a:latin typeface="Arial"/>
                <a:ea typeface="Microsoft YaHei"/>
              </a:rPr>
              <a:t>event manager applet </a:t>
            </a:r>
            <a:r>
              <a:rPr lang="en-US" sz="1400" b="0" i="1" u="none" strike="noStrike">
                <a:solidFill>
                  <a:srgbClr val="000000"/>
                </a:solidFill>
                <a:effectLst/>
                <a:uFillTx/>
                <a:latin typeface="Arial"/>
                <a:ea typeface="Microsoft YaHei"/>
              </a:rPr>
              <a:t>even-manager-name </a:t>
            </a:r>
            <a:endParaRPr lang="en-US" sz="1400" b="0" u="none" strike="noStrike">
              <a:solidFill>
                <a:schemeClr val="dk1"/>
              </a:solidFill>
              <a:effectLst/>
              <a:uFillTx/>
              <a:latin typeface="Aptos"/>
            </a:endParaRPr>
          </a:p>
          <a:p>
            <a:pPr marL="72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event manager applet LOOP0</a:t>
            </a:r>
            <a:endParaRPr lang="en-US" sz="1200" b="0" u="none" strike="noStrike">
              <a:solidFill>
                <a:schemeClr val="dk1"/>
              </a:solidFill>
              <a:effectLst/>
              <a:uFillTx/>
              <a:latin typeface="Aptos"/>
            </a:endParaRPr>
          </a:p>
          <a:p>
            <a:pPr marL="162000" indent="-162000" algn="l" defTabSz="914400">
              <a:lnSpc>
                <a:spcPct val="100000"/>
              </a:lnSpc>
              <a:spcBef>
                <a:spcPts val="283"/>
              </a:spcBef>
              <a:spcAft>
                <a:spcPts val="283"/>
              </a:spcAft>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Define event criteria that will cause applet to run with </a:t>
            </a:r>
            <a:r>
              <a:rPr lang="en-US" sz="1400" b="1" u="none" strike="noStrike">
                <a:solidFill>
                  <a:srgbClr val="000000"/>
                </a:solidFill>
                <a:effectLst/>
                <a:uFillTx/>
                <a:latin typeface="Arial"/>
                <a:ea typeface="Microsoft YaHei"/>
              </a:rPr>
              <a:t>event</a:t>
            </a:r>
            <a:r>
              <a:rPr lang="en-US" sz="1400" b="0" u="none" strike="noStrike">
                <a:solidFill>
                  <a:srgbClr val="000000"/>
                </a:solidFill>
                <a:effectLst/>
                <a:uFillTx/>
                <a:latin typeface="Arial"/>
                <a:ea typeface="Microsoft YaHei"/>
              </a:rPr>
              <a:t> {</a:t>
            </a:r>
            <a:r>
              <a:rPr lang="en-US" sz="1400" b="1" u="none" strike="noStrike">
                <a:solidFill>
                  <a:srgbClr val="000000"/>
                </a:solidFill>
                <a:effectLst/>
                <a:uFillTx/>
                <a:latin typeface="Arial"/>
                <a:ea typeface="Microsoft YaHei"/>
              </a:rPr>
              <a:t>event-detector-type</a:t>
            </a:r>
            <a:r>
              <a:rPr lang="en-US" sz="1400" b="0" u="none" strike="noStrike">
                <a:solidFill>
                  <a:srgbClr val="000000"/>
                </a:solidFill>
                <a:effectLst/>
                <a:uFillTx/>
                <a:latin typeface="Arial"/>
                <a:ea typeface="Microsoft YaHei"/>
              </a:rPr>
              <a:t>} [</a:t>
            </a:r>
            <a:r>
              <a:rPr lang="en-US" sz="1400" b="1" u="none" strike="noStrike">
                <a:solidFill>
                  <a:srgbClr val="000000"/>
                </a:solidFill>
                <a:effectLst/>
                <a:uFillTx/>
                <a:latin typeface="Arial"/>
                <a:ea typeface="Microsoft YaHei"/>
              </a:rPr>
              <a:t>event-detector-match-criteria</a:t>
            </a:r>
            <a:r>
              <a:rPr lang="en-US" sz="1400" b="0" u="none" strike="noStrike">
                <a:solidFill>
                  <a:srgbClr val="000000"/>
                </a:solidFill>
                <a:effectLst/>
                <a:uFillTx/>
                <a:latin typeface="Arial"/>
                <a:ea typeface="Microsoft YaHei"/>
              </a:rPr>
              <a:t>] </a:t>
            </a:r>
            <a:r>
              <a:rPr lang="en-US" sz="1400" b="1" u="none" strike="noStrike">
                <a:solidFill>
                  <a:srgbClr val="000000"/>
                </a:solidFill>
                <a:effectLst/>
                <a:uFillTx/>
                <a:latin typeface="Arial"/>
                <a:ea typeface="Microsoft YaHei"/>
              </a:rPr>
              <a:t>period</a:t>
            </a:r>
            <a:r>
              <a:rPr lang="en-US" sz="1400" b="0" u="none" strike="noStrike">
                <a:solidFill>
                  <a:srgbClr val="000000"/>
                </a:solidFill>
                <a:effectLst/>
                <a:uFillTx/>
                <a:latin typeface="Arial"/>
                <a:ea typeface="Microsoft YaHei"/>
              </a:rPr>
              <a:t> </a:t>
            </a:r>
            <a:r>
              <a:rPr lang="en-US" sz="1400" b="0" i="1" u="none" strike="noStrike">
                <a:solidFill>
                  <a:srgbClr val="000000"/>
                </a:solidFill>
                <a:effectLst/>
                <a:uFillTx/>
                <a:latin typeface="Arial"/>
                <a:ea typeface="Microsoft YaHei"/>
              </a:rPr>
              <a:t>occurrence-number. </a:t>
            </a:r>
            <a:endParaRPr lang="en-US" sz="1400" b="0" u="none" strike="noStrike">
              <a:solidFill>
                <a:schemeClr val="dk1"/>
              </a:solidFill>
              <a:effectLst/>
              <a:uFillTx/>
              <a:latin typeface="Aptos"/>
            </a:endParaRPr>
          </a:p>
          <a:p>
            <a:pPr marL="720000" indent="0" algn="l" defTabSz="914400">
              <a:lnSpc>
                <a:spcPct val="100000"/>
              </a:lnSpc>
              <a:spcBef>
                <a:spcPts val="283"/>
              </a:spcBef>
              <a:spcAft>
                <a:spcPts val="283"/>
              </a:spcAft>
              <a:buNone/>
              <a:tabLst>
                <a:tab pos="0" algn="l"/>
              </a:tabLst>
            </a:pPr>
            <a:r>
              <a:rPr lang="en-US" sz="1200" b="0" u="none" strike="noStrike">
                <a:solidFill>
                  <a:srgbClr val="000000"/>
                </a:solidFill>
                <a:effectLst/>
                <a:uFillTx/>
                <a:latin typeface="Arial"/>
                <a:ea typeface="Microsoft YaHei"/>
              </a:rPr>
              <a:t>event syslog pattern “Interface Loopback0.*” period 1</a:t>
            </a:r>
            <a:endParaRPr lang="en-US" sz="1200" b="0" u="none" strike="noStrike">
              <a:solidFill>
                <a:schemeClr val="dk1"/>
              </a:solidFill>
              <a:effectLst/>
              <a:uFillTx/>
              <a:latin typeface="Aptos"/>
            </a:endParaRPr>
          </a:p>
          <a:p>
            <a:pPr marL="360000" indent="0" algn="l" defTabSz="914400">
              <a:lnSpc>
                <a:spcPct val="100000"/>
              </a:lnSpc>
              <a:spcBef>
                <a:spcPts val="283"/>
              </a:spcBef>
              <a:spcAft>
                <a:spcPts val="283"/>
              </a:spcAft>
              <a:buNone/>
              <a:tabLst>
                <a:tab pos="0" algn="l"/>
              </a:tabLst>
            </a:pPr>
            <a:r>
              <a:rPr lang="en-US" sz="1400" b="0" u="none" strike="noStrike">
                <a:solidFill>
                  <a:srgbClr val="000000"/>
                </a:solidFill>
                <a:effectLst/>
                <a:uFillTx/>
                <a:latin typeface="Arial"/>
                <a:ea typeface="Microsoft YaHei"/>
              </a:rPr>
              <a:t>If no event and action is defined, EEM applet is removed after exiting eem applet configuration mode.</a:t>
            </a:r>
            <a:endParaRPr lang="en-US" sz="1400" b="0" u="none" strike="noStrike">
              <a:solidFill>
                <a:schemeClr val="dk1"/>
              </a:solidFill>
              <a:effectLst/>
              <a:uFillTx/>
              <a:latin typeface="Aptos"/>
            </a:endParaRPr>
          </a:p>
          <a:p>
            <a:pPr marL="162000" indent="-162000" algn="l" defTabSz="914400">
              <a:lnSpc>
                <a:spcPct val="100000"/>
              </a:lnSpc>
              <a:spcBef>
                <a:spcPts val="1001"/>
              </a:spcBef>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Define multiple/single actions with</a:t>
            </a:r>
            <a:r>
              <a:rPr lang="en-US" sz="1200" b="0" u="none" strike="noStrike">
                <a:solidFill>
                  <a:srgbClr val="000000"/>
                </a:solidFill>
                <a:effectLst/>
                <a:uFillTx/>
                <a:latin typeface="Arial"/>
                <a:ea typeface="Microsoft YaHei"/>
              </a:rPr>
              <a:t> </a:t>
            </a:r>
            <a:r>
              <a:rPr lang="en-US" sz="1200" b="1" u="none" strike="noStrike">
                <a:solidFill>
                  <a:srgbClr val="000000"/>
                </a:solidFill>
                <a:effectLst/>
                <a:uFillTx/>
                <a:latin typeface="Arial"/>
                <a:ea typeface="Microsoft YaHei"/>
              </a:rPr>
              <a:t>action</a:t>
            </a:r>
            <a:r>
              <a:rPr lang="en-US" sz="1200" b="0" u="none" strike="noStrike">
                <a:solidFill>
                  <a:srgbClr val="000000"/>
                </a:solidFill>
                <a:effectLst/>
                <a:uFillTx/>
                <a:latin typeface="Arial"/>
                <a:ea typeface="Microsoft YaHei"/>
              </a:rPr>
              <a:t> </a:t>
            </a:r>
            <a:r>
              <a:rPr lang="en-US" sz="1200" b="0" i="1" u="none" strike="noStrike">
                <a:solidFill>
                  <a:srgbClr val="000000"/>
                </a:solidFill>
                <a:effectLst/>
                <a:uFillTx/>
                <a:latin typeface="Arial"/>
                <a:ea typeface="Microsoft YaHei"/>
              </a:rPr>
              <a:t>label </a:t>
            </a:r>
            <a:r>
              <a:rPr lang="en-US" sz="1200" b="1" u="none" strike="noStrike">
                <a:solidFill>
                  <a:srgbClr val="000000"/>
                </a:solidFill>
                <a:effectLst/>
                <a:uFillTx/>
                <a:latin typeface="Arial"/>
                <a:ea typeface="Microsoft YaHei"/>
              </a:rPr>
              <a:t>cli command</a:t>
            </a:r>
            <a:r>
              <a:rPr lang="en-US" sz="1200" b="0" u="none" strike="noStrike">
                <a:solidFill>
                  <a:srgbClr val="000000"/>
                </a:solidFill>
                <a:effectLst/>
                <a:uFillTx/>
                <a:latin typeface="Arial"/>
                <a:ea typeface="Microsoft YaHei"/>
              </a:rPr>
              <a:t> </a:t>
            </a:r>
            <a:r>
              <a:rPr lang="en-US" sz="1200" b="0" i="1" u="none" strike="noStrike">
                <a:solidFill>
                  <a:srgbClr val="000000"/>
                </a:solidFill>
                <a:effectLst/>
                <a:uFillTx/>
                <a:latin typeface="Arial"/>
                <a:ea typeface="Microsoft YaHei"/>
              </a:rPr>
              <a:t>cli-string</a:t>
            </a:r>
            <a:r>
              <a:rPr lang="en-US" sz="1200" b="0" u="none" strike="noStrike">
                <a:solidFill>
                  <a:srgbClr val="000000"/>
                </a:solidFill>
                <a:effectLst/>
                <a:uFillTx/>
                <a:latin typeface="Arial"/>
                <a:ea typeface="Microsoft YaHei"/>
              </a:rPr>
              <a:t> [</a:t>
            </a:r>
            <a:r>
              <a:rPr lang="en-US" sz="1200" b="1" u="none" strike="noStrike">
                <a:solidFill>
                  <a:srgbClr val="000000"/>
                </a:solidFill>
                <a:effectLst/>
                <a:uFillTx/>
                <a:latin typeface="Arial"/>
                <a:ea typeface="Microsoft YaHei"/>
              </a:rPr>
              <a:t>pattern</a:t>
            </a:r>
            <a:r>
              <a:rPr lang="en-US" sz="1200" b="0" u="none" strike="noStrike">
                <a:solidFill>
                  <a:srgbClr val="000000"/>
                </a:solidFill>
                <a:effectLst/>
                <a:uFillTx/>
                <a:latin typeface="Arial"/>
                <a:ea typeface="Microsoft YaHei"/>
              </a:rPr>
              <a:t> </a:t>
            </a:r>
            <a:r>
              <a:rPr lang="en-US" sz="1200" b="0" i="1" u="none" strike="noStrike">
                <a:solidFill>
                  <a:srgbClr val="000000"/>
                </a:solidFill>
                <a:effectLst/>
                <a:uFillTx/>
                <a:latin typeface="Arial"/>
                <a:ea typeface="Microsoft YaHei"/>
              </a:rPr>
              <a:t>cli-pattern</a:t>
            </a:r>
            <a:r>
              <a:rPr lang="en-US" sz="1200" b="0" u="none" strike="noStrike">
                <a:solidFill>
                  <a:srgbClr val="000000"/>
                </a:solidFill>
                <a:effectLst/>
                <a:uFillTx/>
                <a:latin typeface="Arial"/>
                <a:ea typeface="Microsoft YaHei"/>
              </a:rPr>
              <a:t>]</a:t>
            </a:r>
            <a:endParaRPr lang="en-US" sz="1200" b="0" u="none" strike="noStrike">
              <a:solidFill>
                <a:schemeClr val="dk1"/>
              </a:solidFill>
              <a:effectLst/>
              <a:uFillTx/>
              <a:latin typeface="Aptos"/>
            </a:endParaRPr>
          </a:p>
          <a:p>
            <a:pPr marL="720000" indent="0" algn="l" defTabSz="914400">
              <a:lnSpc>
                <a:spcPct val="100000"/>
              </a:lnSpc>
              <a:spcBef>
                <a:spcPts val="283"/>
              </a:spcBef>
              <a:spcAft>
                <a:spcPts val="283"/>
              </a:spcAft>
              <a:buNone/>
              <a:tabLst>
                <a:tab pos="0" algn="l"/>
              </a:tabLst>
            </a:pPr>
            <a:r>
              <a:rPr lang="en-US" sz="1200" b="0" u="none" strike="noStrike">
                <a:solidFill>
                  <a:srgbClr val="000000"/>
                </a:solidFill>
                <a:effectLst/>
                <a:uFillTx/>
                <a:latin typeface="Arial"/>
                <a:ea typeface="Microsoft YaHei"/>
              </a:rPr>
              <a:t>action 1.0 cli command “enable”</a:t>
            </a:r>
            <a:endParaRPr lang="en-US" sz="1200" b="0" u="none" strike="noStrike">
              <a:solidFill>
                <a:schemeClr val="dk1"/>
              </a:solidFill>
              <a:effectLst/>
              <a:uFillTx/>
              <a:latin typeface="Aptos"/>
            </a:endParaRPr>
          </a:p>
          <a:p>
            <a:pPr marL="720000" indent="0" algn="l" defTabSz="914400">
              <a:lnSpc>
                <a:spcPct val="100000"/>
              </a:lnSpc>
              <a:spcBef>
                <a:spcPts val="283"/>
              </a:spcBef>
              <a:spcAft>
                <a:spcPts val="283"/>
              </a:spcAft>
              <a:buNone/>
              <a:tabLst>
                <a:tab pos="0" algn="l"/>
              </a:tabLst>
            </a:pPr>
            <a:r>
              <a:rPr lang="en-US" sz="1200" b="0" u="none" strike="noStrike">
                <a:solidFill>
                  <a:srgbClr val="000000"/>
                </a:solidFill>
                <a:effectLst/>
                <a:uFillTx/>
                <a:latin typeface="Arial"/>
                <a:ea typeface="Microsoft YaHei"/>
              </a:rPr>
              <a:t>action 2.0 cli command “configure terminal”</a:t>
            </a:r>
            <a:endParaRPr lang="en-US" sz="1200" b="0" u="none" strike="noStrike">
              <a:solidFill>
                <a:schemeClr val="dk1"/>
              </a:solidFill>
              <a:effectLst/>
              <a:uFillTx/>
              <a:latin typeface="Aptos"/>
            </a:endParaRPr>
          </a:p>
          <a:p>
            <a:pPr marL="720000" indent="0" algn="l" defTabSz="914400">
              <a:lnSpc>
                <a:spcPct val="100000"/>
              </a:lnSpc>
              <a:spcBef>
                <a:spcPts val="283"/>
              </a:spcBef>
              <a:spcAft>
                <a:spcPts val="283"/>
              </a:spcAft>
              <a:buNone/>
              <a:tabLst>
                <a:tab pos="0" algn="l"/>
              </a:tabLst>
            </a:pPr>
            <a:r>
              <a:rPr lang="en-US" sz="1200" b="0" u="none" strike="noStrike">
                <a:solidFill>
                  <a:srgbClr val="000000"/>
                </a:solidFill>
                <a:effectLst/>
                <a:uFillTx/>
                <a:latin typeface="Arial"/>
                <a:ea typeface="Microsoft YaHei"/>
              </a:rPr>
              <a:t>action 3.0 cli command “interface loopback0”</a:t>
            </a:r>
            <a:endParaRPr lang="en-US" sz="1200" b="0" u="none" strike="noStrike">
              <a:solidFill>
                <a:schemeClr val="dk1"/>
              </a:solidFill>
              <a:effectLst/>
              <a:uFillTx/>
              <a:latin typeface="Aptos"/>
            </a:endParaRPr>
          </a:p>
          <a:p>
            <a:pPr marL="360000" indent="0" algn="l" defTabSz="914400">
              <a:lnSpc>
                <a:spcPct val="100000"/>
              </a:lnSpc>
              <a:spcBef>
                <a:spcPts val="283"/>
              </a:spcBef>
              <a:spcAft>
                <a:spcPts val="283"/>
              </a:spcAft>
              <a:buNone/>
              <a:tabLst>
                <a:tab pos="0" algn="l"/>
              </a:tabLst>
            </a:pPr>
            <a:r>
              <a:rPr lang="en-US" sz="1400" b="0" u="none" strike="noStrike">
                <a:solidFill>
                  <a:schemeClr val="dk1"/>
                </a:solidFill>
                <a:effectLst/>
                <a:uFillTx/>
                <a:latin typeface="Arial"/>
                <a:ea typeface="Microsoft YaHei"/>
              </a:rPr>
              <a:t>By default EEM applet opens the cli with EXEC mode, Include “enable” and “configure terminal” at the beginning of EEM applet to use privileged EXEC mode and global configuration mode.If AAA is used, include </a:t>
            </a:r>
            <a:r>
              <a:rPr lang="en-US" sz="1200" b="1" u="none" strike="noStrike">
                <a:solidFill>
                  <a:schemeClr val="dk1"/>
                </a:solidFill>
                <a:effectLst/>
                <a:uFillTx/>
                <a:latin typeface="Arial"/>
                <a:ea typeface="Microsoft YaHei"/>
              </a:rPr>
              <a:t>event manager session cli username</a:t>
            </a:r>
            <a:r>
              <a:rPr lang="en-US" sz="1200" b="0" u="none" strike="noStrike">
                <a:solidFill>
                  <a:schemeClr val="dk1"/>
                </a:solidFill>
                <a:effectLst/>
                <a:uFillTx/>
                <a:latin typeface="Arial"/>
                <a:ea typeface="Microsoft YaHei"/>
              </a:rPr>
              <a:t> </a:t>
            </a:r>
            <a:r>
              <a:rPr lang="en-US" sz="1200" b="0" i="1" u="none" strike="noStrike">
                <a:solidFill>
                  <a:schemeClr val="dk1"/>
                </a:solidFill>
                <a:effectLst/>
                <a:uFillTx/>
                <a:latin typeface="Arial"/>
                <a:ea typeface="Microsoft YaHei"/>
              </a:rPr>
              <a:t>username </a:t>
            </a:r>
            <a:r>
              <a:rPr lang="en-US" sz="1400" b="0" u="none" strike="noStrike">
                <a:solidFill>
                  <a:schemeClr val="dk1"/>
                </a:solidFill>
                <a:effectLst/>
                <a:uFillTx/>
                <a:latin typeface="Arial"/>
                <a:ea typeface="Microsoft YaHei"/>
              </a:rPr>
              <a:t>command to run EEM applet.</a:t>
            </a:r>
            <a:endParaRPr lang="en-US" sz="1400" b="0" u="none" strike="noStrike">
              <a:solidFill>
                <a:schemeClr val="dk1"/>
              </a:solidFill>
              <a:effectLst/>
              <a:uFillTx/>
              <a:latin typeface="Aptos"/>
            </a:endParaRPr>
          </a:p>
          <a:p>
            <a:pPr marL="360000" indent="0" algn="l" defTabSz="914400">
              <a:lnSpc>
                <a:spcPct val="100000"/>
              </a:lnSpc>
              <a:spcBef>
                <a:spcPts val="283"/>
              </a:spcBef>
              <a:spcAft>
                <a:spcPts val="283"/>
              </a:spcAft>
              <a:buNone/>
              <a:tabLst>
                <a:tab pos="0" algn="l"/>
              </a:tabLst>
            </a:pPr>
            <a:r>
              <a:rPr lang="en-US" sz="1400" b="0" u="none" strike="noStrike">
                <a:solidFill>
                  <a:schemeClr val="dk1"/>
                </a:solidFill>
                <a:effectLst/>
                <a:uFillTx/>
                <a:latin typeface="Arial"/>
                <a:ea typeface="Microsoft YaHei"/>
              </a:rPr>
              <a:t>Pattern option is used when the command action solicits input such as ‘confirm?’</a:t>
            </a:r>
            <a:endParaRPr lang="en-US" sz="1400" b="0" u="none" strike="noStrike">
              <a:solidFill>
                <a:schemeClr val="dk1"/>
              </a:solidFill>
              <a:effectLst/>
              <a:uFillTx/>
              <a:latin typeface="Aptos"/>
            </a:endParaRPr>
          </a:p>
          <a:p>
            <a:pPr marL="162000" indent="-162000" algn="l" defTabSz="914400">
              <a:lnSpc>
                <a:spcPct val="100000"/>
              </a:lnSpc>
              <a:spcBef>
                <a:spcPts val="283"/>
              </a:spcBef>
              <a:spcAft>
                <a:spcPts val="283"/>
              </a:spcAft>
              <a:buClr>
                <a:srgbClr val="000000"/>
              </a:buClr>
              <a:buFont typeface="Arial"/>
              <a:buChar char="•"/>
              <a:tabLst>
                <a:tab pos="0" algn="l"/>
              </a:tabLst>
            </a:pPr>
            <a:r>
              <a:rPr lang="en-US" sz="1400" b="0" u="none" strike="noStrike">
                <a:solidFill>
                  <a:srgbClr val="000000"/>
                </a:solidFill>
                <a:effectLst/>
                <a:uFillTx/>
                <a:latin typeface="Arial"/>
                <a:ea typeface="Microsoft YaHei"/>
              </a:rPr>
              <a:t>Include other actions such as sylog,mail server, snmp-trap etc.</a:t>
            </a:r>
            <a:endParaRPr lang="en-US" sz="1400" b="0" u="none" strike="noStrike">
              <a:solidFill>
                <a:schemeClr val="dk1"/>
              </a:solidFill>
              <a:effectLst/>
              <a:uFillTx/>
              <a:latin typeface="Aptos"/>
            </a:endParaRPr>
          </a:p>
          <a:p>
            <a:pPr marL="72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action 4.0 syslog msg “I’ve fallen down, and I can’t getup!”</a:t>
            </a:r>
            <a:endParaRPr lang="en-US" sz="1200" b="0" u="none" strike="noStrike">
              <a:solidFill>
                <a:schemeClr val="dk1"/>
              </a:solidFill>
              <a:effectLst/>
              <a:uFillTx/>
              <a:latin typeface="Aptos"/>
            </a:endParaRPr>
          </a:p>
          <a:p>
            <a:pPr marL="72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action 5.0 mail server 192.168.1.7 from no-reply@zukotek.com to admin@zukotek.com subject “Loopback Issues!” body “Loopback0 interface was bounced.Please Monitor. $_cli_result ”</a:t>
            </a:r>
            <a:r>
              <a:rPr lang="en-US" sz="1400" b="0" u="none" strike="noStrike">
                <a:solidFill>
                  <a:srgbClr val="000000"/>
                </a:solidFill>
                <a:effectLst/>
                <a:uFillTx/>
                <a:latin typeface="Arial"/>
                <a:ea typeface="Microsoft YaHei"/>
              </a:rPr>
              <a:t>  </a:t>
            </a:r>
            <a:endParaRPr lang="en-US" sz="1400" b="0" u="none" strike="noStrike">
              <a:solidFill>
                <a:schemeClr val="dk1"/>
              </a:solidFill>
              <a:effectLst/>
              <a:uFillTx/>
              <a:latin typeface="Aptos"/>
            </a:endParaRPr>
          </a:p>
          <a:p>
            <a:pPr marL="360000" indent="0" algn="l" defTabSz="914400">
              <a:lnSpc>
                <a:spcPct val="100000"/>
              </a:lnSpc>
              <a:spcBef>
                <a:spcPts val="283"/>
              </a:spcBef>
              <a:spcAft>
                <a:spcPts val="283"/>
              </a:spcAft>
              <a:buNone/>
              <a:tabLst>
                <a:tab pos="0" algn="l"/>
              </a:tabLst>
            </a:pPr>
            <a:r>
              <a:rPr lang="en-US" sz="1400" b="0" u="none" strike="noStrike">
                <a:solidFill>
                  <a:srgbClr val="000000"/>
                </a:solidFill>
                <a:effectLst/>
                <a:uFillTx/>
                <a:latin typeface="Arial"/>
                <a:ea typeface="Microsoft YaHei"/>
              </a:rPr>
              <a:t>The $_cli_result will include any output from cli command in the applet in email..</a:t>
            </a:r>
            <a:endParaRPr lang="en-US" sz="1400" b="0" u="none" strike="noStrike">
              <a:solidFill>
                <a:schemeClr val="dk1"/>
              </a:solidFill>
              <a:effectLst/>
              <a:uFillTx/>
              <a:latin typeface="Aptos"/>
            </a:endParaRPr>
          </a:p>
          <a:p>
            <a:pPr marL="162000" indent="-162000" algn="l" defTabSz="914400">
              <a:lnSpc>
                <a:spcPct val="100000"/>
              </a:lnSpc>
              <a:spcBef>
                <a:spcPts val="283"/>
              </a:spcBef>
              <a:spcAft>
                <a:spcPts val="283"/>
              </a:spcAft>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Verify registered EEM applet with </a:t>
            </a:r>
            <a:r>
              <a:rPr lang="en-US" sz="1400" b="1" u="none" strike="noStrike">
                <a:solidFill>
                  <a:srgbClr val="000000"/>
                </a:solidFill>
                <a:effectLst/>
                <a:uFillTx/>
                <a:latin typeface="Arial"/>
                <a:ea typeface="Microsoft YaHei"/>
              </a:rPr>
              <a:t>show event manager policy</a:t>
            </a:r>
            <a:r>
              <a:rPr lang="en-US" sz="1400" b="0" u="none" strike="noStrike">
                <a:solidFill>
                  <a:srgbClr val="000000"/>
                </a:solidFill>
                <a:effectLst/>
                <a:uFillTx/>
                <a:latin typeface="Arial"/>
                <a:ea typeface="Microsoft YaHei"/>
              </a:rPr>
              <a:t> </a:t>
            </a:r>
            <a:r>
              <a:rPr lang="en-US" sz="1400" b="1" u="none" strike="noStrike">
                <a:solidFill>
                  <a:srgbClr val="000000"/>
                </a:solidFill>
                <a:effectLst/>
                <a:uFillTx/>
                <a:latin typeface="Arial"/>
                <a:ea typeface="Microsoft YaHei"/>
              </a:rPr>
              <a:t>registered</a:t>
            </a:r>
            <a:endParaRPr lang="en-US" sz="1400" b="0" u="none" strike="noStrike">
              <a:solidFill>
                <a:schemeClr val="dk1"/>
              </a:solidFill>
              <a:effectLst/>
              <a:uFillTx/>
              <a:latin typeface="Aptos"/>
            </a:endParaRPr>
          </a:p>
        </p:txBody>
      </p:sp>
      <p:pic>
        <p:nvPicPr>
          <p:cNvPr id="44" name=""/>
          <p:cNvPicPr/>
          <p:nvPr/>
        </p:nvPicPr>
        <p:blipFill>
          <a:blip r:embed="rId1"/>
          <a:stretch/>
        </p:blipFill>
        <p:spPr>
          <a:xfrm>
            <a:off x="36000" y="1160640"/>
            <a:ext cx="3959280" cy="2101320"/>
          </a:xfrm>
          <a:prstGeom prst="rect">
            <a:avLst/>
          </a:prstGeom>
          <a:noFill/>
          <a:ln w="0">
            <a:noFill/>
          </a:ln>
        </p:spPr>
      </p:pic>
      <p:pic>
        <p:nvPicPr>
          <p:cNvPr id="45" name=""/>
          <p:cNvPicPr/>
          <p:nvPr/>
        </p:nvPicPr>
        <p:blipFill>
          <a:blip r:embed="rId2"/>
          <a:stretch/>
        </p:blipFill>
        <p:spPr>
          <a:xfrm>
            <a:off x="36000" y="3695040"/>
            <a:ext cx="3923280" cy="1883520"/>
          </a:xfrm>
          <a:prstGeom prst="rect">
            <a:avLst/>
          </a:prstGeom>
          <a:noFill/>
          <a:ln w="0">
            <a:noFill/>
          </a:ln>
        </p:spPr>
      </p:pic>
      <p:sp>
        <p:nvSpPr>
          <p:cNvPr id="46" name=""/>
          <p:cNvSpPr/>
          <p:nvPr/>
        </p:nvSpPr>
        <p:spPr>
          <a:xfrm>
            <a:off x="0" y="3321000"/>
            <a:ext cx="3959280" cy="3733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000" b="0" u="none" strike="noStrike">
                <a:solidFill>
                  <a:srgbClr val="000000"/>
                </a:solidFill>
                <a:effectLst/>
                <a:uFillTx/>
                <a:latin typeface="Arial"/>
                <a:ea typeface="DejaVu Sans"/>
              </a:rPr>
              <a:t>Two registered event manager policies. 1. manual-policy and 2. LOOP0</a:t>
            </a:r>
            <a:endParaRPr lang="en-AU"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Rectangle 2">
            <a:extLst>
              <a:ext uri="{C183D7F6-B498-43B3-948B-1728B52AA6E4}">
                <adec:decorative xmlns:adec="http://schemas.microsoft.com/office/drawing/2017/decorative" val="1"/>
              </a:ext>
            </a:extLst>
          </p:cNvPr>
          <p:cNvSpPr/>
          <p:nvPr/>
        </p:nvSpPr>
        <p:spPr>
          <a:xfrm>
            <a:off x="360" y="360"/>
            <a:ext cx="3957480" cy="10774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1.EEM</a:t>
            </a:r>
            <a:endParaRPr lang="en-AU" sz="4400" b="0" u="none" strike="noStrike">
              <a:solidFill>
                <a:srgbClr val="FFFFFF"/>
              </a:solidFill>
              <a:effectLst/>
              <a:uFillTx/>
              <a:latin typeface="Arial"/>
            </a:endParaRPr>
          </a:p>
        </p:txBody>
      </p:sp>
      <p:sp>
        <p:nvSpPr>
          <p:cNvPr id="48" name="PlaceHolder 1"/>
          <p:cNvSpPr>
            <a:spLocks noGrp="1"/>
          </p:cNvSpPr>
          <p:nvPr>
            <p:ph/>
          </p:nvPr>
        </p:nvSpPr>
        <p:spPr>
          <a:xfrm>
            <a:off x="4068000" y="76680"/>
            <a:ext cx="5831280" cy="5502600"/>
          </a:xfrm>
          <a:prstGeom prst="rect">
            <a:avLst/>
          </a:prstGeom>
          <a:noFill/>
          <a:ln w="0">
            <a:noFill/>
          </a:ln>
        </p:spPr>
        <p:txBody>
          <a:bodyPr lIns="91440" tIns="45720" rIns="91440" bIns="45720" anchor="t">
            <a:normAutofit fontScale="77500" lnSpcReduction="19999"/>
          </a:bodyPr>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To debug EEM applet, </a:t>
            </a:r>
            <a:r>
              <a:rPr lang="en-US" sz="1600" b="1" u="none" strike="noStrike">
                <a:solidFill>
                  <a:srgbClr val="000000"/>
                </a:solidFill>
                <a:effectLst/>
                <a:uFillTx/>
                <a:latin typeface="Arial"/>
                <a:ea typeface="Microsoft YaHei"/>
              </a:rPr>
              <a:t>debug event manager all</a:t>
            </a:r>
            <a:r>
              <a:rPr lang="en-US" sz="1600" b="0" u="none" strike="noStrike">
                <a:solidFill>
                  <a:srgbClr val="000000"/>
                </a:solidFill>
                <a:effectLst/>
                <a:uFillTx/>
                <a:latin typeface="Arial"/>
                <a:ea typeface="Microsoft YaHei"/>
              </a:rPr>
              <a:t> command will debug all the actions defined in the applet.</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To debug cli command only </a:t>
            </a:r>
            <a:r>
              <a:rPr lang="en-US" sz="1600" b="1" u="none" strike="noStrike">
                <a:solidFill>
                  <a:srgbClr val="000000"/>
                </a:solidFill>
                <a:effectLst/>
                <a:uFillTx/>
                <a:latin typeface="Arial"/>
                <a:ea typeface="Microsoft YaHei"/>
              </a:rPr>
              <a:t>debug event manager action cli</a:t>
            </a:r>
            <a:r>
              <a:rPr lang="en-US" sz="1600" b="0" u="none" strike="noStrike">
                <a:solidFill>
                  <a:srgbClr val="000000"/>
                </a:solidFill>
                <a:effectLst/>
                <a:uFillTx/>
                <a:latin typeface="Arial"/>
                <a:ea typeface="Microsoft YaHei"/>
              </a:rPr>
              <a:t> can be used.</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To debug mail server issues, </a:t>
            </a:r>
            <a:r>
              <a:rPr lang="en-US" sz="1600" b="1" u="none" strike="noStrike">
                <a:solidFill>
                  <a:srgbClr val="000000"/>
                </a:solidFill>
                <a:effectLst/>
                <a:uFillTx/>
                <a:latin typeface="Arial"/>
                <a:ea typeface="Microsoft YaHei"/>
              </a:rPr>
              <a:t>debug event manager action mail </a:t>
            </a:r>
            <a:r>
              <a:rPr lang="en-US" sz="1600" b="0" u="none" strike="noStrike">
                <a:solidFill>
                  <a:srgbClr val="000000"/>
                </a:solidFill>
                <a:effectLst/>
                <a:uFillTx/>
                <a:latin typeface="Arial"/>
                <a:ea typeface="Microsoft YaHei"/>
              </a:rPr>
              <a:t>can be used.</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Another use case of EEM applet is to backup the startup configuration to tftp server before changing it.</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This is achieved by matching cli string “write memory” as event to trigger actions to copy startup configuration to tftp server.</a:t>
            </a:r>
            <a:endParaRPr lang="en-US" sz="16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 event manager applet config-backup</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 event cli pattern "wr.* mem.*" sync yes period 1</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 action 1.0 cli command "enable"</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 action 2.0 cli command "configure terminal"</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 action 3.0 cli command "file prompt quiet"</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 action 4.0 cli command "end"</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 action 5.0 cli command "copy start $tftpserver$filename2"</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 action 5.1 cli command "conf t"</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 action 5.2 cli command "no file prompt quiet"</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 action 6.0 syslog priority informational msg "Configuration changed. TFTP backup SUCCESSFUL!"</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SW1#show event manager environment</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No.  Name                          Value</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1    tftpserver                    tftp://192.168.1.7/</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2    filename2                     SWITCH1-CONFIG</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1" u="none" strike="noStrike">
                <a:solidFill>
                  <a:srgbClr val="000000"/>
                </a:solidFill>
                <a:effectLst/>
                <a:uFillTx/>
                <a:latin typeface="Arial"/>
                <a:ea typeface="Microsoft YaHei"/>
              </a:rPr>
              <a:t>file prompt quiet</a:t>
            </a:r>
            <a:r>
              <a:rPr lang="en-US" sz="1200" b="0" u="none" strike="noStrike">
                <a:solidFill>
                  <a:srgbClr val="000000"/>
                </a:solidFill>
                <a:effectLst/>
                <a:uFillTx/>
                <a:latin typeface="Arial"/>
                <a:ea typeface="Microsoft YaHei"/>
              </a:rPr>
              <a:t> suppresses the command soliciting input while working with files.</a:t>
            </a:r>
            <a:endParaRPr lang="en-US" sz="1200" b="0" u="none" strike="noStrike">
              <a:solidFill>
                <a:schemeClr val="dk1"/>
              </a:solidFill>
              <a:effectLst/>
              <a:uFillTx/>
              <a:latin typeface="Aptos"/>
            </a:endParaRPr>
          </a:p>
        </p:txBody>
      </p:sp>
      <p:sp>
        <p:nvSpPr>
          <p:cNvPr id="49" name=""/>
          <p:cNvSpPr/>
          <p:nvPr/>
        </p:nvSpPr>
        <p:spPr>
          <a:xfrm>
            <a:off x="-33480" y="1301040"/>
            <a:ext cx="4100760" cy="22734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600" b="0" u="none" strike="noStrike">
                <a:solidFill>
                  <a:srgbClr val="000000"/>
                </a:solidFill>
                <a:effectLst/>
                <a:uFillTx/>
                <a:latin typeface="Arial"/>
                <a:ea typeface="DejaVu Sans"/>
              </a:rPr>
              <a:t>EEM environment variables that can be used across EEM applets can be set with command </a:t>
            </a:r>
            <a:r>
              <a:rPr lang="en-AU" sz="1400" b="1" u="none" strike="noStrike">
                <a:solidFill>
                  <a:srgbClr val="000000"/>
                </a:solidFill>
                <a:effectLst/>
                <a:uFillTx/>
                <a:latin typeface="Arial"/>
                <a:ea typeface="DejaVu Sans"/>
              </a:rPr>
              <a:t>event manager environment</a:t>
            </a:r>
            <a:r>
              <a:rPr lang="en-AU" sz="1400" b="0" u="none" strike="noStrike">
                <a:solidFill>
                  <a:srgbClr val="000000"/>
                </a:solidFill>
                <a:effectLst/>
                <a:uFillTx/>
                <a:latin typeface="Arial"/>
                <a:ea typeface="DejaVu Sans"/>
              </a:rPr>
              <a:t> </a:t>
            </a:r>
            <a:r>
              <a:rPr lang="en-AU" sz="1400" b="0" i="1" u="none" strike="noStrike">
                <a:solidFill>
                  <a:srgbClr val="000000"/>
                </a:solidFill>
                <a:effectLst/>
                <a:uFillTx/>
                <a:latin typeface="Arial"/>
                <a:ea typeface="DejaVu Sans"/>
              </a:rPr>
              <a:t>variable-name</a:t>
            </a:r>
            <a:r>
              <a:rPr lang="en-AU" sz="1400" b="0" u="none" strike="noStrike">
                <a:solidFill>
                  <a:srgbClr val="000000"/>
                </a:solidFill>
                <a:effectLst/>
                <a:uFillTx/>
                <a:latin typeface="Arial"/>
                <a:ea typeface="DejaVu Sans"/>
              </a:rPr>
              <a:t> </a:t>
            </a:r>
            <a:r>
              <a:rPr lang="en-AU" sz="1400" b="0" i="1" u="none" strike="noStrike">
                <a:solidFill>
                  <a:srgbClr val="000000"/>
                </a:solidFill>
                <a:effectLst/>
                <a:uFillTx/>
                <a:latin typeface="Arial"/>
                <a:ea typeface="DejaVu Sans"/>
              </a:rPr>
              <a:t>variable-value</a:t>
            </a:r>
            <a:endParaRPr lang="en-AU" sz="1400" b="0" u="none" strike="noStrike">
              <a:solidFill>
                <a:srgbClr val="000000"/>
              </a:solidFill>
              <a:effectLst/>
              <a:uFillTx/>
              <a:latin typeface="Arial"/>
            </a:endParaRPr>
          </a:p>
          <a:p>
            <a:pPr>
              <a:lnSpc>
                <a:spcPct val="100000"/>
              </a:lnSpc>
              <a:spcBef>
                <a:spcPts val="283"/>
              </a:spcBef>
              <a:spcAft>
                <a:spcPts val="283"/>
              </a:spcAft>
            </a:pPr>
            <a:r>
              <a:rPr lang="en-AU" sz="1400" b="0" u="none" strike="noStrike">
                <a:solidFill>
                  <a:srgbClr val="000000"/>
                </a:solidFill>
                <a:effectLst/>
                <a:uFillTx/>
                <a:latin typeface="Arial"/>
                <a:ea typeface="Microsoft YaHei"/>
              </a:rPr>
              <a:t>Although variable name can be set to anything, best practice is to use common names and descriptive.</a:t>
            </a:r>
            <a:endParaRPr lang="en-AU" sz="1400" b="0" u="none" strike="noStrike">
              <a:solidFill>
                <a:srgbClr val="000000"/>
              </a:solidFill>
              <a:effectLst/>
              <a:uFillTx/>
              <a:latin typeface="Arial"/>
            </a:endParaRPr>
          </a:p>
          <a:p>
            <a:pPr>
              <a:lnSpc>
                <a:spcPct val="100000"/>
              </a:lnSpc>
              <a:spcBef>
                <a:spcPts val="283"/>
              </a:spcBef>
              <a:spcAft>
                <a:spcPts val="283"/>
              </a:spcAft>
            </a:pPr>
            <a:r>
              <a:rPr lang="en-AU" sz="1400" b="1" u="none" strike="noStrike">
                <a:solidFill>
                  <a:srgbClr val="000000"/>
                </a:solidFill>
                <a:effectLst/>
                <a:uFillTx/>
                <a:latin typeface="Arial"/>
                <a:ea typeface="Microsoft YaHei"/>
              </a:rPr>
              <a:t>Common Email variables are:</a:t>
            </a:r>
            <a:endParaRPr lang="en-AU" sz="1400" b="0" u="none" strike="noStrike">
              <a:solidFill>
                <a:srgbClr val="000000"/>
              </a:solidFill>
              <a:effectLst/>
              <a:uFillTx/>
              <a:latin typeface="Arial"/>
            </a:endParaRPr>
          </a:p>
          <a:p>
            <a:pPr>
              <a:lnSpc>
                <a:spcPct val="100000"/>
              </a:lnSpc>
            </a:pPr>
            <a:endParaRPr lang="en-AU" sz="1400" b="0" u="none" strike="noStrike">
              <a:solidFill>
                <a:srgbClr val="000000"/>
              </a:solidFill>
              <a:effectLst/>
              <a:uFillTx/>
              <a:latin typeface="Arial"/>
            </a:endParaRPr>
          </a:p>
          <a:p>
            <a:pPr>
              <a:lnSpc>
                <a:spcPct val="100000"/>
              </a:lnSpc>
            </a:pPr>
            <a:endParaRPr lang="en-AU" sz="1400" b="0" u="none" strike="noStrike">
              <a:solidFill>
                <a:srgbClr val="000000"/>
              </a:solidFill>
              <a:effectLst/>
              <a:uFillTx/>
              <a:latin typeface="Arial"/>
            </a:endParaRPr>
          </a:p>
        </p:txBody>
      </p:sp>
      <p:graphicFrame>
        <p:nvGraphicFramePr>
          <p:cNvPr id="50" name=""/>
          <p:cNvGraphicFramePr/>
          <p:nvPr/>
        </p:nvGraphicFramePr>
        <p:xfrm>
          <a:off x="53280" y="3384000"/>
          <a:ext cx="4242960" cy="2007720"/>
        </p:xfrm>
        <a:graphic>
          <a:graphicData uri="http://schemas.openxmlformats.org/drawingml/2006/table">
            <a:tbl>
              <a:tblPr/>
              <a:tblGrid>
                <a:gridCol w="1103760"/>
                <a:gridCol w="1382760"/>
                <a:gridCol w="1756800"/>
              </a:tblGrid>
              <a:tr h="218520">
                <a:tc>
                  <a:txBody>
                    <a:bodyPr lIns="36000" tIns="36000" rIns="36000" bIns="36000" anchor="t">
                      <a:noAutofit/>
                    </a:bodyPr>
                    <a:p>
                      <a:pPr>
                        <a:lnSpc>
                          <a:spcPct val="100000"/>
                        </a:lnSpc>
                      </a:pPr>
                      <a:r>
                        <a:rPr lang="en-AU" sz="1200" b="1" u="none" strike="noStrike">
                          <a:solidFill>
                            <a:srgbClr val="000000"/>
                          </a:solidFill>
                          <a:effectLst/>
                          <a:uFillTx/>
                          <a:latin typeface="Arial"/>
                        </a:rPr>
                        <a:t>Variables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c>
                  <a:txBody>
                    <a:bodyPr lIns="36000" tIns="36000" rIns="36000" bIns="36000" anchor="t">
                      <a:noAutofit/>
                    </a:bodyPr>
                    <a:p>
                      <a:pPr>
                        <a:lnSpc>
                          <a:spcPct val="100000"/>
                        </a:lnSpc>
                      </a:pPr>
                      <a:r>
                        <a:rPr lang="en-AU" sz="1200" b="1" u="none" strike="noStrike">
                          <a:solidFill>
                            <a:srgbClr val="000000"/>
                          </a:solidFill>
                          <a:effectLst/>
                          <a:uFillTx/>
                          <a:latin typeface="Arial"/>
                        </a:rPr>
                        <a:t>Description</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c>
                  <a:txBody>
                    <a:bodyPr lIns="36000" tIns="36000" rIns="36000" bIns="36000" anchor="t">
                      <a:noAutofit/>
                    </a:bodyPr>
                    <a:p>
                      <a:pPr>
                        <a:lnSpc>
                          <a:spcPct val="100000"/>
                        </a:lnSpc>
                      </a:pPr>
                      <a:r>
                        <a:rPr lang="en-AU" sz="1200" b="1" u="none" strike="noStrike">
                          <a:solidFill>
                            <a:srgbClr val="000000"/>
                          </a:solidFill>
                          <a:effectLst/>
                          <a:uFillTx/>
                          <a:latin typeface="Arial"/>
                        </a:rPr>
                        <a:t>Example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r>
              <a:tr h="328320">
                <a:tc>
                  <a:txBody>
                    <a:bodyPr lIns="36000" tIns="36000" rIns="36000" bIns="36000" anchor="t">
                      <a:noAutofit/>
                    </a:bodyPr>
                    <a:p>
                      <a:pPr>
                        <a:lnSpc>
                          <a:spcPct val="100000"/>
                        </a:lnSpc>
                      </a:pPr>
                      <a:r>
                        <a:rPr lang="en-AU" sz="1200" b="1" u="none" strike="noStrike">
                          <a:solidFill>
                            <a:srgbClr val="000000"/>
                          </a:solidFill>
                          <a:effectLst/>
                          <a:uFillTx/>
                          <a:latin typeface="Arial"/>
                        </a:rPr>
                        <a:t>_email_server</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DDE8CB"/>
                        </a:gs>
                        <a:gs pos="100000">
                          <a:srgbClr val="B4C7DC"/>
                        </a:gs>
                      </a:gsLst>
                      <a:lin ang="540000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SMTP server IP or DNS name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192.168.1.7 or MAILSRV01</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28320">
                <a:tc>
                  <a:txBody>
                    <a:bodyPr lIns="36000" tIns="36000" rIns="36000" bIns="36000" anchor="t">
                      <a:noAutofit/>
                    </a:bodyPr>
                    <a:p>
                      <a:pPr>
                        <a:lnSpc>
                          <a:spcPct val="100000"/>
                        </a:lnSpc>
                      </a:pPr>
                      <a:r>
                        <a:rPr lang="en-AU" sz="1200" b="1" u="none" strike="noStrike">
                          <a:solidFill>
                            <a:srgbClr val="000000"/>
                          </a:solidFill>
                          <a:effectLst/>
                          <a:uFillTx/>
                          <a:latin typeface="Arial"/>
                        </a:rPr>
                        <a:t>_email_to</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DDE8CB"/>
                        </a:gs>
                        <a:gs pos="100000">
                          <a:srgbClr val="B4C7DC"/>
                        </a:gs>
                      </a:gsLst>
                      <a:lin ang="540000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Receiver email address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netadmin@zukotek.com</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28320">
                <a:tc>
                  <a:txBody>
                    <a:bodyPr lIns="36000" tIns="36000" rIns="36000" bIns="36000" anchor="t">
                      <a:noAutofit/>
                    </a:bodyPr>
                    <a:p>
                      <a:pPr>
                        <a:lnSpc>
                          <a:spcPct val="100000"/>
                        </a:lnSpc>
                      </a:pPr>
                      <a:r>
                        <a:rPr lang="en-AU" sz="1200" b="1" u="none" strike="noStrike">
                          <a:solidFill>
                            <a:srgbClr val="000000"/>
                          </a:solidFill>
                          <a:effectLst/>
                          <a:uFillTx/>
                          <a:latin typeface="Arial"/>
                        </a:rPr>
                        <a:t>_email_from</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DDE8CB"/>
                        </a:gs>
                        <a:gs pos="100000">
                          <a:srgbClr val="B4C7DC"/>
                        </a:gs>
                      </a:gsLst>
                      <a:lin ang="540000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Sender email address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no-reply@zukotek.com</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28320">
                <a:tc>
                  <a:txBody>
                    <a:bodyPr lIns="36000" tIns="36000" rIns="36000" bIns="36000" anchor="t">
                      <a:noAutofit/>
                    </a:bodyPr>
                    <a:p>
                      <a:pPr>
                        <a:lnSpc>
                          <a:spcPct val="100000"/>
                        </a:lnSpc>
                      </a:pPr>
                      <a:r>
                        <a:rPr lang="en-AU" sz="1200" b="1" u="none" strike="noStrike">
                          <a:solidFill>
                            <a:srgbClr val="000000"/>
                          </a:solidFill>
                          <a:effectLst/>
                          <a:uFillTx/>
                          <a:latin typeface="Arial"/>
                        </a:rPr>
                        <a:t>_email_cc</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DDE8CB"/>
                        </a:gs>
                        <a:gs pos="100000">
                          <a:srgbClr val="B4C7DC"/>
                        </a:gs>
                      </a:gsLst>
                      <a:lin ang="540000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Additional receiver email addresses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helpdesk@zukotek.com</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Rectangle 3">
            <a:extLst>
              <a:ext uri="{C183D7F6-B498-43B3-948B-1728B52AA6E4}">
                <adec:decorative xmlns:adec="http://schemas.microsoft.com/office/drawing/2017/decorative" val="1"/>
              </a:ext>
            </a:extLst>
          </p:cNvPr>
          <p:cNvSpPr/>
          <p:nvPr/>
        </p:nvSpPr>
        <p:spPr>
          <a:xfrm>
            <a:off x="360" y="360"/>
            <a:ext cx="3957480" cy="10774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ea typeface="DejaVu Sans"/>
              </a:rPr>
              <a:t>1.EEM</a:t>
            </a:r>
            <a:endParaRPr lang="en-AU" sz="4400" b="0" u="none" strike="noStrike">
              <a:solidFill>
                <a:srgbClr val="FFFFFF"/>
              </a:solidFill>
              <a:effectLst/>
              <a:uFillTx/>
              <a:latin typeface="Arial"/>
            </a:endParaRPr>
          </a:p>
        </p:txBody>
      </p:sp>
      <p:sp>
        <p:nvSpPr>
          <p:cNvPr id="52" name="PlaceHolder 1"/>
          <p:cNvSpPr>
            <a:spLocks noGrp="1"/>
          </p:cNvSpPr>
          <p:nvPr>
            <p:ph/>
          </p:nvPr>
        </p:nvSpPr>
        <p:spPr>
          <a:xfrm>
            <a:off x="4140000" y="76680"/>
            <a:ext cx="5759280" cy="5502600"/>
          </a:xfrm>
          <a:prstGeom prst="rect">
            <a:avLst/>
          </a:prstGeom>
          <a:noFill/>
          <a:ln w="0">
            <a:noFill/>
          </a:ln>
        </p:spPr>
        <p:txBody>
          <a:bodyPr lIns="91440" tIns="45720" rIns="91440" bIns="45720" anchor="t">
            <a:normAutofit fontScale="85000" lnSpcReduction="9999"/>
          </a:bodyPr>
          <a:p>
            <a:pPr indent="0" algn="l" defTabSz="914400">
              <a:lnSpc>
                <a:spcPct val="100000"/>
              </a:lnSpc>
              <a:spcBef>
                <a:spcPts val="1001"/>
              </a:spcBef>
              <a:buNone/>
              <a:tabLst>
                <a:tab pos="0" algn="l"/>
              </a:tabLst>
            </a:pPr>
            <a:r>
              <a:rPr lang="en-US" sz="1600" b="1" u="none" strike="noStrike">
                <a:solidFill>
                  <a:srgbClr val="000000"/>
                </a:solidFill>
                <a:effectLst/>
                <a:uFillTx/>
                <a:latin typeface="Arial"/>
                <a:ea typeface="Microsoft YaHei"/>
              </a:rPr>
              <a:t>EEM and Tcl Scripts</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EEM applets can be used to call Tcl scripts.</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Tcl (Tool Command Language) pronounced “tickle” is a simple and powerful scripting language.</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Running an EEM applet manually that executes Tcl script stored in router’s flash memory can be done to execute custom scripts.</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Default maxrun is 20 seconds for EEM applet, if any Tcl script requires more than 20 seconds to complete, maxrun can be set with </a:t>
            </a:r>
            <a:r>
              <a:rPr lang="en-US" sz="1400" b="1" u="none" strike="noStrike">
                <a:solidFill>
                  <a:srgbClr val="000000"/>
                </a:solidFill>
                <a:effectLst/>
                <a:uFillTx/>
                <a:latin typeface="Arial"/>
                <a:ea typeface="Microsoft YaHei"/>
              </a:rPr>
              <a:t>event</a:t>
            </a:r>
            <a:r>
              <a:rPr lang="en-US" sz="1400" b="0" u="none" strike="noStrike">
                <a:solidFill>
                  <a:srgbClr val="000000"/>
                </a:solidFill>
                <a:effectLst/>
                <a:uFillTx/>
                <a:latin typeface="Arial"/>
                <a:ea typeface="Microsoft YaHei"/>
              </a:rPr>
              <a:t> {</a:t>
            </a:r>
            <a:r>
              <a:rPr lang="en-US" sz="1400" b="0" i="1" u="none" strike="noStrike">
                <a:solidFill>
                  <a:srgbClr val="000000"/>
                </a:solidFill>
                <a:effectLst/>
                <a:uFillTx/>
                <a:latin typeface="Arial"/>
                <a:ea typeface="Microsoft YaHei"/>
              </a:rPr>
              <a:t>event-type</a:t>
            </a:r>
            <a:r>
              <a:rPr lang="en-US" sz="1400" b="0" u="none" strike="noStrike">
                <a:solidFill>
                  <a:srgbClr val="000000"/>
                </a:solidFill>
                <a:effectLst/>
                <a:uFillTx/>
                <a:latin typeface="Arial"/>
                <a:ea typeface="Microsoft YaHei"/>
              </a:rPr>
              <a:t>} </a:t>
            </a:r>
            <a:r>
              <a:rPr lang="en-US" sz="1400" b="1" u="none" strike="noStrike">
                <a:solidFill>
                  <a:srgbClr val="000000"/>
                </a:solidFill>
                <a:effectLst/>
                <a:uFillTx/>
                <a:latin typeface="Arial"/>
                <a:ea typeface="Microsoft YaHei"/>
              </a:rPr>
              <a:t>maxrun</a:t>
            </a:r>
            <a:r>
              <a:rPr lang="en-US" sz="1400" b="0" u="none" strike="noStrike">
                <a:solidFill>
                  <a:srgbClr val="000000"/>
                </a:solidFill>
                <a:effectLst/>
                <a:uFillTx/>
                <a:latin typeface="Arial"/>
                <a:ea typeface="Microsoft YaHei"/>
              </a:rPr>
              <a:t> </a:t>
            </a:r>
            <a:r>
              <a:rPr lang="en-US" sz="1400" b="0" i="1" u="none" strike="noStrike">
                <a:solidFill>
                  <a:srgbClr val="000000"/>
                </a:solidFill>
                <a:effectLst/>
                <a:uFillTx/>
                <a:latin typeface="Arial"/>
                <a:ea typeface="Microsoft YaHei"/>
              </a:rPr>
              <a:t>time</a:t>
            </a:r>
            <a:r>
              <a:rPr lang="en-US" sz="1600" b="0" i="1" u="none" strike="noStrike">
                <a:solidFill>
                  <a:srgbClr val="000000"/>
                </a:solidFill>
                <a:effectLst/>
                <a:uFillTx/>
                <a:latin typeface="Arial"/>
                <a:ea typeface="Microsoft YaHei"/>
              </a:rPr>
              <a:t> </a:t>
            </a:r>
            <a:r>
              <a:rPr lang="en-US" sz="1600" b="0" u="none" strike="noStrike">
                <a:solidFill>
                  <a:srgbClr val="000000"/>
                </a:solidFill>
                <a:effectLst/>
                <a:uFillTx/>
                <a:latin typeface="Arial"/>
                <a:ea typeface="Microsoft YaHei"/>
              </a:rPr>
              <a:t>such as </a:t>
            </a:r>
            <a:r>
              <a:rPr lang="en-US" sz="1400" b="1" u="none" strike="noStrike">
                <a:solidFill>
                  <a:srgbClr val="000000"/>
                </a:solidFill>
                <a:effectLst/>
                <a:uFillTx/>
                <a:latin typeface="Arial"/>
                <a:ea typeface="Microsoft YaHei"/>
              </a:rPr>
              <a:t>event none maxrun</a:t>
            </a:r>
            <a:r>
              <a:rPr lang="en-US" sz="1400" b="0" u="none" strike="noStrike">
                <a:solidFill>
                  <a:srgbClr val="000000"/>
                </a:solidFill>
                <a:effectLst/>
                <a:uFillTx/>
                <a:latin typeface="Arial"/>
                <a:ea typeface="Microsoft YaHei"/>
              </a:rPr>
              <a:t> 60 </a:t>
            </a:r>
            <a:endParaRPr lang="en-US" sz="14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400" b="0" u="none" strike="noStrike">
                <a:solidFill>
                  <a:srgbClr val="000000"/>
                </a:solidFill>
                <a:effectLst/>
                <a:uFillTx/>
                <a:latin typeface="Arial"/>
                <a:ea typeface="Microsoft YaHei"/>
              </a:rPr>
              <a:t>Example:</a:t>
            </a:r>
            <a:endParaRPr lang="en-US" sz="14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SW1#sh run | sec RUN-PING</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event manager applet RUN-PING</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event none maxrun 60</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action 0.1 cli command "enable"</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action 1.0 cli command "tclsh flash:/ping-script.tcl"</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action 2.0 syslog priority informational msg "Ping test DONE!"</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ping-script.tcl is created and edited off the router (tftp host) and copied to flash.</a:t>
            </a:r>
            <a:endParaRPr lang="en-US" sz="12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200" b="0" u="none" strike="noStrike">
                <a:solidFill>
                  <a:srgbClr val="000000"/>
                </a:solidFill>
                <a:effectLst/>
                <a:uFillTx/>
                <a:latin typeface="Arial"/>
                <a:ea typeface="Microsoft YaHei"/>
              </a:rPr>
              <a:t>Content of the ping-script.tcl can be viewed in router with command </a:t>
            </a:r>
            <a:r>
              <a:rPr lang="en-US" sz="1200" b="1" u="none" strike="noStrike">
                <a:solidFill>
                  <a:srgbClr val="000000"/>
                </a:solidFill>
                <a:effectLst/>
                <a:uFillTx/>
                <a:latin typeface="Arial"/>
                <a:ea typeface="Microsoft YaHei"/>
              </a:rPr>
              <a:t>more</a:t>
            </a:r>
            <a:r>
              <a:rPr lang="en-US" sz="1200" b="0" u="none" strike="noStrike">
                <a:solidFill>
                  <a:srgbClr val="000000"/>
                </a:solidFill>
                <a:effectLst/>
                <a:uFillTx/>
                <a:latin typeface="Arial"/>
                <a:ea typeface="Microsoft YaHei"/>
              </a:rPr>
              <a:t> </a:t>
            </a:r>
            <a:r>
              <a:rPr lang="en-US" sz="1200" b="1" u="none" strike="noStrike">
                <a:solidFill>
                  <a:srgbClr val="000000"/>
                </a:solidFill>
                <a:effectLst/>
                <a:uFillTx/>
                <a:latin typeface="Arial"/>
                <a:ea typeface="Microsoft YaHei"/>
              </a:rPr>
              <a:t>flash:/</a:t>
            </a:r>
            <a:r>
              <a:rPr lang="en-US" sz="1200" b="0" u="none" strike="noStrike">
                <a:solidFill>
                  <a:srgbClr val="000000"/>
                </a:solidFill>
                <a:effectLst/>
                <a:uFillTx/>
                <a:latin typeface="Arial"/>
                <a:ea typeface="Microsoft YaHei"/>
              </a:rPr>
              <a:t>ping-script.tcl . Sample content is shown in the left. And the image shows </a:t>
            </a:r>
            <a:r>
              <a:rPr lang="en-US" sz="1200" b="1" u="none" strike="noStrike">
                <a:solidFill>
                  <a:srgbClr val="000000"/>
                </a:solidFill>
                <a:effectLst/>
                <a:uFillTx/>
                <a:latin typeface="Arial"/>
                <a:ea typeface="Microsoft YaHei"/>
              </a:rPr>
              <a:t>debug event manager action cli</a:t>
            </a:r>
            <a:r>
              <a:rPr lang="en-US" sz="1200" b="0" u="none" strike="noStrike">
                <a:solidFill>
                  <a:srgbClr val="000000"/>
                </a:solidFill>
                <a:effectLst/>
                <a:uFillTx/>
                <a:latin typeface="Arial"/>
                <a:ea typeface="Microsoft YaHei"/>
              </a:rPr>
              <a:t> output while manaully running the EEM applet RUN-PING</a:t>
            </a:r>
            <a:endParaRPr lang="en-US" sz="1200" b="0" u="none" strike="noStrike">
              <a:solidFill>
                <a:schemeClr val="dk1"/>
              </a:solidFill>
              <a:effectLst/>
              <a:uFillTx/>
              <a:latin typeface="Aptos"/>
            </a:endParaRPr>
          </a:p>
        </p:txBody>
      </p:sp>
      <p:pic>
        <p:nvPicPr>
          <p:cNvPr id="53" name=""/>
          <p:cNvPicPr/>
          <p:nvPr/>
        </p:nvPicPr>
        <p:blipFill>
          <a:blip r:embed="rId1"/>
          <a:stretch/>
        </p:blipFill>
        <p:spPr>
          <a:xfrm>
            <a:off x="0" y="1152000"/>
            <a:ext cx="4065480" cy="2339280"/>
          </a:xfrm>
          <a:prstGeom prst="rect">
            <a:avLst/>
          </a:prstGeom>
          <a:noFill/>
          <a:ln w="0">
            <a:noFill/>
          </a:ln>
        </p:spPr>
      </p:pic>
      <p:sp>
        <p:nvSpPr>
          <p:cNvPr id="54" name=""/>
          <p:cNvSpPr/>
          <p:nvPr/>
        </p:nvSpPr>
        <p:spPr>
          <a:xfrm>
            <a:off x="0" y="3600000"/>
            <a:ext cx="4139280" cy="1979280"/>
          </a:xfrm>
          <a:prstGeom prst="rect">
            <a:avLst/>
          </a:prstGeom>
          <a:noFill/>
          <a:ln w="0">
            <a:noFill/>
          </a:ln>
        </p:spPr>
        <p:style>
          <a:lnRef idx="0"/>
          <a:fillRef idx="0"/>
          <a:effectRef idx="0"/>
          <a:fontRef idx="minor"/>
        </p:style>
        <p:txBody>
          <a:bodyPr lIns="90000" tIns="45000" rIns="90000" bIns="45000" anchor="t">
            <a:spAutoFit/>
          </a:bodyPr>
          <a:p>
            <a:pPr marL="360000" defTabSz="914400">
              <a:lnSpc>
                <a:spcPct val="100000"/>
              </a:lnSpc>
              <a:tabLst>
                <a:tab pos="0" algn="l"/>
              </a:tabLst>
            </a:pPr>
            <a:endParaRPr lang="en-AU" sz="1200" b="0" u="none" strike="noStrike">
              <a:solidFill>
                <a:srgbClr val="000000"/>
              </a:solidFill>
              <a:effectLst/>
              <a:uFillTx/>
              <a:latin typeface="Arial"/>
            </a:endParaRPr>
          </a:p>
          <a:p>
            <a:pPr marL="360000" defTabSz="914400">
              <a:lnSpc>
                <a:spcPct val="100000"/>
              </a:lnSpc>
              <a:tabLst>
                <a:tab pos="0" algn="l"/>
              </a:tabLst>
            </a:pPr>
            <a:r>
              <a:rPr lang="en-US" sz="1200" b="0" u="none" strike="noStrike">
                <a:solidFill>
                  <a:srgbClr val="000000"/>
                </a:solidFill>
                <a:effectLst/>
                <a:uFillTx/>
                <a:latin typeface="Arial"/>
                <a:ea typeface="Microsoft YaHei"/>
              </a:rPr>
              <a:t>SW1#more flash:/ping-script.tcl</a:t>
            </a:r>
            <a:endParaRPr lang="en-AU" sz="1200" b="0" u="none" strike="noStrike">
              <a:solidFill>
                <a:srgbClr val="000000"/>
              </a:solidFill>
              <a:effectLst/>
              <a:uFillTx/>
              <a:latin typeface="Arial"/>
            </a:endParaRPr>
          </a:p>
          <a:p>
            <a:pPr marL="360000" defTabSz="914400">
              <a:lnSpc>
                <a:spcPct val="100000"/>
              </a:lnSpc>
              <a:tabLst>
                <a:tab pos="0" algn="l"/>
              </a:tabLst>
            </a:pPr>
            <a:r>
              <a:rPr lang="en-US" sz="1200" b="0" u="none" strike="noStrike">
                <a:solidFill>
                  <a:srgbClr val="000000"/>
                </a:solidFill>
                <a:effectLst/>
                <a:uFillTx/>
                <a:latin typeface="Arial"/>
                <a:ea typeface="Microsoft YaHei"/>
              </a:rPr>
              <a:t>foreach address {</a:t>
            </a:r>
            <a:endParaRPr lang="en-AU" sz="1200" b="0" u="none" strike="noStrike">
              <a:solidFill>
                <a:srgbClr val="000000"/>
              </a:solidFill>
              <a:effectLst/>
              <a:uFillTx/>
              <a:latin typeface="Arial"/>
            </a:endParaRPr>
          </a:p>
          <a:p>
            <a:pPr marL="360000" defTabSz="914400">
              <a:lnSpc>
                <a:spcPct val="100000"/>
              </a:lnSpc>
              <a:tabLst>
                <a:tab pos="0" algn="l"/>
              </a:tabLst>
            </a:pPr>
            <a:r>
              <a:rPr lang="en-US" sz="1200" b="0" u="none" strike="noStrike">
                <a:solidFill>
                  <a:srgbClr val="000000"/>
                </a:solidFill>
                <a:effectLst/>
                <a:uFillTx/>
                <a:latin typeface="Arial"/>
                <a:ea typeface="Microsoft YaHei"/>
              </a:rPr>
              <a:t>192.168.1.1</a:t>
            </a:r>
            <a:endParaRPr lang="en-AU" sz="1200" b="0" u="none" strike="noStrike">
              <a:solidFill>
                <a:srgbClr val="000000"/>
              </a:solidFill>
              <a:effectLst/>
              <a:uFillTx/>
              <a:latin typeface="Arial"/>
            </a:endParaRPr>
          </a:p>
          <a:p>
            <a:pPr marL="360000" defTabSz="914400">
              <a:lnSpc>
                <a:spcPct val="100000"/>
              </a:lnSpc>
              <a:tabLst>
                <a:tab pos="0" algn="l"/>
              </a:tabLst>
            </a:pPr>
            <a:r>
              <a:rPr lang="en-US" sz="1200" b="0" u="none" strike="noStrike">
                <a:solidFill>
                  <a:srgbClr val="000000"/>
                </a:solidFill>
                <a:effectLst/>
                <a:uFillTx/>
                <a:latin typeface="Arial"/>
                <a:ea typeface="Microsoft YaHei"/>
              </a:rPr>
              <a:t>1.1.1.1</a:t>
            </a:r>
            <a:endParaRPr lang="en-AU" sz="1200" b="0" u="none" strike="noStrike">
              <a:solidFill>
                <a:srgbClr val="000000"/>
              </a:solidFill>
              <a:effectLst/>
              <a:uFillTx/>
              <a:latin typeface="Arial"/>
            </a:endParaRPr>
          </a:p>
          <a:p>
            <a:pPr marL="360000" defTabSz="914400">
              <a:lnSpc>
                <a:spcPct val="100000"/>
              </a:lnSpc>
              <a:tabLst>
                <a:tab pos="0" algn="l"/>
              </a:tabLst>
            </a:pPr>
            <a:r>
              <a:rPr lang="en-US" sz="1200" b="0" u="none" strike="noStrike">
                <a:solidFill>
                  <a:srgbClr val="000000"/>
                </a:solidFill>
                <a:effectLst/>
                <a:uFillTx/>
                <a:latin typeface="Arial"/>
                <a:ea typeface="Microsoft YaHei"/>
              </a:rPr>
              <a:t>8.8.8.8</a:t>
            </a:r>
            <a:endParaRPr lang="en-AU" sz="1200" b="0" u="none" strike="noStrike">
              <a:solidFill>
                <a:srgbClr val="000000"/>
              </a:solidFill>
              <a:effectLst/>
              <a:uFillTx/>
              <a:latin typeface="Arial"/>
            </a:endParaRPr>
          </a:p>
          <a:p>
            <a:pPr marL="360000" defTabSz="914400">
              <a:lnSpc>
                <a:spcPct val="100000"/>
              </a:lnSpc>
              <a:tabLst>
                <a:tab pos="0" algn="l"/>
              </a:tabLst>
            </a:pPr>
            <a:r>
              <a:rPr lang="en-US" sz="1200" b="0" u="none" strike="noStrike">
                <a:solidFill>
                  <a:srgbClr val="000000"/>
                </a:solidFill>
                <a:effectLst/>
                <a:uFillTx/>
                <a:latin typeface="Arial"/>
                <a:ea typeface="Microsoft YaHei"/>
              </a:rPr>
              <a:t>192.168.1.8</a:t>
            </a:r>
            <a:endParaRPr lang="en-AU" sz="1200" b="0" u="none" strike="noStrike">
              <a:solidFill>
                <a:srgbClr val="000000"/>
              </a:solidFill>
              <a:effectLst/>
              <a:uFillTx/>
              <a:latin typeface="Arial"/>
            </a:endParaRPr>
          </a:p>
          <a:p>
            <a:pPr marL="360000" defTabSz="914400">
              <a:lnSpc>
                <a:spcPct val="100000"/>
              </a:lnSpc>
              <a:tabLst>
                <a:tab pos="0" algn="l"/>
              </a:tabLst>
            </a:pPr>
            <a:r>
              <a:rPr lang="en-US" sz="1200" b="0" u="none" strike="noStrike">
                <a:solidFill>
                  <a:srgbClr val="000000"/>
                </a:solidFill>
                <a:effectLst/>
                <a:uFillTx/>
                <a:latin typeface="Arial"/>
                <a:ea typeface="Microsoft YaHei"/>
              </a:rPr>
              <a:t>192.168.1.194</a:t>
            </a:r>
            <a:endParaRPr lang="en-AU" sz="1200" b="0" u="none" strike="noStrike">
              <a:solidFill>
                <a:srgbClr val="000000"/>
              </a:solidFill>
              <a:effectLst/>
              <a:uFillTx/>
              <a:latin typeface="Arial"/>
            </a:endParaRPr>
          </a:p>
          <a:p>
            <a:pPr marL="360000" defTabSz="914400">
              <a:lnSpc>
                <a:spcPct val="100000"/>
              </a:lnSpc>
              <a:tabLst>
                <a:tab pos="0" algn="l"/>
              </a:tabLst>
            </a:pPr>
            <a:r>
              <a:rPr lang="en-US" sz="1200" b="0" u="none" strike="noStrike">
                <a:solidFill>
                  <a:srgbClr val="000000"/>
                </a:solidFill>
                <a:effectLst/>
                <a:uFillTx/>
                <a:latin typeface="Arial"/>
                <a:ea typeface="Microsoft YaHei"/>
              </a:rPr>
              <a:t>} {</a:t>
            </a:r>
            <a:endParaRPr lang="en-AU" sz="1200" b="0" u="none" strike="noStrike">
              <a:solidFill>
                <a:srgbClr val="000000"/>
              </a:solidFill>
              <a:effectLst/>
              <a:uFillTx/>
              <a:latin typeface="Arial"/>
            </a:endParaRPr>
          </a:p>
          <a:p>
            <a:pPr marL="360000" defTabSz="914400">
              <a:lnSpc>
                <a:spcPct val="100000"/>
              </a:lnSpc>
              <a:tabLst>
                <a:tab pos="0" algn="l"/>
              </a:tabLst>
            </a:pPr>
            <a:r>
              <a:rPr lang="en-US" sz="1200" b="0" u="none" strike="noStrike">
                <a:solidFill>
                  <a:srgbClr val="000000"/>
                </a:solidFill>
                <a:effectLst/>
                <a:uFillTx/>
                <a:latin typeface="Arial"/>
                <a:ea typeface="Microsoft YaHei"/>
              </a:rPr>
              <a:t>        puts [ping $address]</a:t>
            </a:r>
            <a:endParaRPr lang="en-AU" sz="1200" b="0" u="none" strike="noStrike">
              <a:solidFill>
                <a:srgbClr val="000000"/>
              </a:solidFill>
              <a:effectLst/>
              <a:uFillTx/>
              <a:latin typeface="Arial"/>
            </a:endParaRPr>
          </a:p>
          <a:p>
            <a:pPr marL="360000" defTabSz="914400">
              <a:lnSpc>
                <a:spcPct val="100000"/>
              </a:lnSpc>
              <a:tabLst>
                <a:tab pos="0" algn="l"/>
              </a:tabLst>
            </a:pPr>
            <a:r>
              <a:rPr lang="en-US" sz="1200" b="0" u="none" strike="noStrike">
                <a:solidFill>
                  <a:srgbClr val="000000"/>
                </a:solidFill>
                <a:effectLst/>
                <a:uFillTx/>
                <a:latin typeface="Arial"/>
                <a:ea typeface="Microsoft YaHei"/>
              </a:rPr>
              <a:t>}</a:t>
            </a:r>
            <a:endParaRPr lang="en-AU"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Rectangle 5">
            <a:extLst>
              <a:ext uri="{C183D7F6-B498-43B3-948B-1728B52AA6E4}">
                <adec:decorative xmlns:adec="http://schemas.microsoft.com/office/drawing/2017/decorative" val="1"/>
              </a:ext>
            </a:extLst>
          </p:cNvPr>
          <p:cNvSpPr/>
          <p:nvPr/>
        </p:nvSpPr>
        <p:spPr>
          <a:xfrm>
            <a:off x="360" y="360"/>
            <a:ext cx="3957480" cy="10774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2.Agent Based Automation Tools</a:t>
            </a:r>
            <a:endParaRPr lang="en-AU" sz="2800" b="0" u="none" strike="noStrike">
              <a:solidFill>
                <a:srgbClr val="FFFFFF"/>
              </a:solidFill>
              <a:effectLst/>
              <a:uFillTx/>
              <a:latin typeface="Arial"/>
            </a:endParaRPr>
          </a:p>
        </p:txBody>
      </p:sp>
      <p:sp>
        <p:nvSpPr>
          <p:cNvPr id="56" name="PlaceHolder 1"/>
          <p:cNvSpPr>
            <a:spLocks noGrp="1"/>
          </p:cNvSpPr>
          <p:nvPr>
            <p:ph/>
          </p:nvPr>
        </p:nvSpPr>
        <p:spPr>
          <a:xfrm>
            <a:off x="4104000" y="36000"/>
            <a:ext cx="5939280" cy="5579280"/>
          </a:xfrm>
          <a:prstGeom prst="rect">
            <a:avLst/>
          </a:prstGeom>
          <a:noFill/>
          <a:ln w="0">
            <a:noFill/>
          </a:ln>
        </p:spPr>
        <p:txBody>
          <a:bodyPr lIns="91440" tIns="45720" rIns="91440" bIns="45720" anchor="t">
            <a:normAutofit fontScale="77500" lnSpcReduction="19999"/>
          </a:bodyPr>
          <a:p>
            <a:pPr indent="0" algn="l" defTabSz="914400">
              <a:lnSpc>
                <a:spcPct val="100000"/>
              </a:lnSpc>
              <a:spcBef>
                <a:spcPts val="1001"/>
              </a:spcBef>
              <a:buNone/>
              <a:tabLst>
                <a:tab pos="0" algn="l"/>
              </a:tabLst>
            </a:pPr>
            <a:r>
              <a:rPr lang="en-US" sz="1600" b="1" u="none" strike="noStrike">
                <a:solidFill>
                  <a:srgbClr val="000000"/>
                </a:solidFill>
                <a:effectLst/>
                <a:uFillTx/>
                <a:latin typeface="Arial"/>
                <a:ea typeface="Microsoft YaHei"/>
              </a:rPr>
              <a:t>Automation scope</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Device onboarding in an organization requires a lot of repetitive manual task.</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Network automation can be achieved with EEM applets or other agent based or agentless automation tools.</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Some of the common use cases for automation are:</a:t>
            </a:r>
            <a:endParaRPr lang="en-US" sz="1600" b="0" u="none" strike="noStrike">
              <a:solidFill>
                <a:schemeClr val="dk1"/>
              </a:solidFill>
              <a:effectLst/>
              <a:uFillTx/>
              <a:latin typeface="Aptos"/>
            </a:endParaRPr>
          </a:p>
          <a:p>
            <a:pPr marL="360000" indent="-162000" algn="l" defTabSz="914400">
              <a:lnSpc>
                <a:spcPct val="100000"/>
              </a:lnSpc>
              <a:spcBef>
                <a:spcPts val="1001"/>
              </a:spcBef>
              <a:buClr>
                <a:srgbClr val="000000"/>
              </a:buClr>
              <a:buSzPct val="45000"/>
              <a:buFont typeface="OpenSymbol"/>
              <a:buChar char="▪"/>
              <a:tabLst>
                <a:tab pos="0" algn="l"/>
              </a:tabLst>
            </a:pPr>
            <a:r>
              <a:rPr lang="en-US" sz="1600" b="0" u="none" strike="noStrike">
                <a:solidFill>
                  <a:srgbClr val="000000"/>
                </a:solidFill>
                <a:effectLst/>
                <a:uFillTx/>
                <a:latin typeface="Arial"/>
                <a:ea typeface="Microsoft YaHei"/>
              </a:rPr>
              <a:t>Device name/IP address</a:t>
            </a:r>
            <a:endParaRPr lang="en-US" sz="1600" b="0" u="none" strike="noStrike">
              <a:solidFill>
                <a:schemeClr val="dk1"/>
              </a:solidFill>
              <a:effectLst/>
              <a:uFillTx/>
              <a:latin typeface="Aptos"/>
            </a:endParaRPr>
          </a:p>
          <a:p>
            <a:pPr marL="360000" indent="-162000" algn="l" defTabSz="914400">
              <a:lnSpc>
                <a:spcPct val="100000"/>
              </a:lnSpc>
              <a:spcBef>
                <a:spcPts val="1001"/>
              </a:spcBef>
              <a:buClr>
                <a:srgbClr val="000000"/>
              </a:buClr>
              <a:buSzPct val="45000"/>
              <a:buFont typeface="OpenSymbol"/>
              <a:buChar char="▪"/>
              <a:tabLst>
                <a:tab pos="0" algn="l"/>
              </a:tabLst>
            </a:pPr>
            <a:r>
              <a:rPr lang="en-US" sz="1600" b="0" u="none" strike="noStrike">
                <a:solidFill>
                  <a:srgbClr val="000000"/>
                </a:solidFill>
                <a:effectLst/>
                <a:uFillTx/>
                <a:latin typeface="Arial"/>
                <a:ea typeface="Microsoft YaHei"/>
              </a:rPr>
              <a:t>Quality of service</a:t>
            </a:r>
            <a:endParaRPr lang="en-US" sz="1600" b="0" u="none" strike="noStrike">
              <a:solidFill>
                <a:schemeClr val="dk1"/>
              </a:solidFill>
              <a:effectLst/>
              <a:uFillTx/>
              <a:latin typeface="Aptos"/>
            </a:endParaRPr>
          </a:p>
          <a:p>
            <a:pPr marL="360000" indent="-162000" algn="l" defTabSz="914400">
              <a:lnSpc>
                <a:spcPct val="100000"/>
              </a:lnSpc>
              <a:spcBef>
                <a:spcPts val="1001"/>
              </a:spcBef>
              <a:buClr>
                <a:srgbClr val="000000"/>
              </a:buClr>
              <a:buSzPct val="45000"/>
              <a:buFont typeface="OpenSymbol"/>
              <a:buChar char="▪"/>
              <a:tabLst>
                <a:tab pos="0" algn="l"/>
              </a:tabLst>
            </a:pPr>
            <a:r>
              <a:rPr lang="en-US" sz="1600" b="0" u="none" strike="noStrike">
                <a:solidFill>
                  <a:srgbClr val="000000"/>
                </a:solidFill>
                <a:effectLst/>
                <a:uFillTx/>
                <a:latin typeface="Arial"/>
                <a:ea typeface="Microsoft YaHei"/>
              </a:rPr>
              <a:t>Access list entries</a:t>
            </a:r>
            <a:endParaRPr lang="en-US" sz="1600" b="0" u="none" strike="noStrike">
              <a:solidFill>
                <a:schemeClr val="dk1"/>
              </a:solidFill>
              <a:effectLst/>
              <a:uFillTx/>
              <a:latin typeface="Aptos"/>
            </a:endParaRPr>
          </a:p>
          <a:p>
            <a:pPr marL="360000" indent="-162000" algn="l" defTabSz="914400">
              <a:lnSpc>
                <a:spcPct val="100000"/>
              </a:lnSpc>
              <a:spcBef>
                <a:spcPts val="1001"/>
              </a:spcBef>
              <a:buClr>
                <a:srgbClr val="000000"/>
              </a:buClr>
              <a:buSzPct val="45000"/>
              <a:buFont typeface="OpenSymbol"/>
              <a:buChar char="▪"/>
              <a:tabLst>
                <a:tab pos="0" algn="l"/>
              </a:tabLst>
            </a:pPr>
            <a:r>
              <a:rPr lang="en-US" sz="1600" b="0" u="none" strike="noStrike">
                <a:solidFill>
                  <a:srgbClr val="000000"/>
                </a:solidFill>
                <a:effectLst/>
                <a:uFillTx/>
                <a:latin typeface="Arial"/>
                <a:ea typeface="Microsoft YaHei"/>
              </a:rPr>
              <a:t>Usernames/passwords</a:t>
            </a:r>
            <a:endParaRPr lang="en-US" sz="1600" b="0" u="none" strike="noStrike">
              <a:solidFill>
                <a:schemeClr val="dk1"/>
              </a:solidFill>
              <a:effectLst/>
              <a:uFillTx/>
              <a:latin typeface="Aptos"/>
            </a:endParaRPr>
          </a:p>
          <a:p>
            <a:pPr marL="360000" indent="-162000" algn="l" defTabSz="914400">
              <a:lnSpc>
                <a:spcPct val="100000"/>
              </a:lnSpc>
              <a:spcBef>
                <a:spcPts val="1001"/>
              </a:spcBef>
              <a:buClr>
                <a:srgbClr val="000000"/>
              </a:buClr>
              <a:buSzPct val="45000"/>
              <a:buFont typeface="OpenSymbol"/>
              <a:buChar char="▪"/>
              <a:tabLst>
                <a:tab pos="0" algn="l"/>
              </a:tabLst>
            </a:pPr>
            <a:r>
              <a:rPr lang="en-US" sz="1600" b="0" u="none" strike="noStrike">
                <a:solidFill>
                  <a:srgbClr val="000000"/>
                </a:solidFill>
                <a:effectLst/>
                <a:uFillTx/>
                <a:latin typeface="Arial"/>
                <a:ea typeface="Microsoft YaHei"/>
              </a:rPr>
              <a:t>SNMP settings</a:t>
            </a:r>
            <a:endParaRPr lang="en-US" sz="1600" b="0" u="none" strike="noStrike">
              <a:solidFill>
                <a:schemeClr val="dk1"/>
              </a:solidFill>
              <a:effectLst/>
              <a:uFillTx/>
              <a:latin typeface="Aptos"/>
            </a:endParaRPr>
          </a:p>
          <a:p>
            <a:pPr marL="360000" indent="-162000" algn="l" defTabSz="914400">
              <a:lnSpc>
                <a:spcPct val="100000"/>
              </a:lnSpc>
              <a:spcBef>
                <a:spcPts val="1001"/>
              </a:spcBef>
              <a:buClr>
                <a:srgbClr val="000000"/>
              </a:buClr>
              <a:buSzPct val="45000"/>
              <a:buFont typeface="OpenSymbol"/>
              <a:buChar char="▪"/>
              <a:tabLst>
                <a:tab pos="0" algn="l"/>
              </a:tabLst>
            </a:pPr>
            <a:r>
              <a:rPr lang="en-US" sz="1600" b="0" u="none" strike="noStrike">
                <a:solidFill>
                  <a:srgbClr val="000000"/>
                </a:solidFill>
                <a:effectLst/>
                <a:uFillTx/>
                <a:latin typeface="Arial"/>
                <a:ea typeface="Microsoft YaHei"/>
              </a:rPr>
              <a:t>Compliance</a:t>
            </a: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r>
              <a:rPr lang="en-US" sz="1600" b="1" u="none" strike="noStrike">
                <a:solidFill>
                  <a:srgbClr val="000000"/>
                </a:solidFill>
                <a:effectLst/>
                <a:uFillTx/>
                <a:latin typeface="Arial"/>
                <a:ea typeface="Microsoft YaHei"/>
              </a:rPr>
              <a:t>Puppet</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Robust configuration management and automation tool.</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Supported on Cisco platform such as Catalyst switches, Nexus switches, and UCS servers.</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It uses the concept of </a:t>
            </a:r>
            <a:r>
              <a:rPr lang="en-US" sz="1600" b="1" u="none" strike="noStrike">
                <a:solidFill>
                  <a:srgbClr val="000000"/>
                </a:solidFill>
                <a:effectLst/>
                <a:uFillTx/>
                <a:latin typeface="Arial"/>
                <a:ea typeface="Microsoft YaHei"/>
              </a:rPr>
              <a:t>puppet master</a:t>
            </a:r>
            <a:r>
              <a:rPr lang="en-US" sz="1600" b="0" u="none" strike="noStrike">
                <a:solidFill>
                  <a:srgbClr val="000000"/>
                </a:solidFill>
                <a:effectLst/>
                <a:uFillTx/>
                <a:latin typeface="Arial"/>
                <a:ea typeface="Microsoft YaHei"/>
              </a:rPr>
              <a:t> (server) to communicate with </a:t>
            </a:r>
            <a:r>
              <a:rPr lang="en-US" sz="1600" b="1" u="none" strike="noStrike">
                <a:solidFill>
                  <a:srgbClr val="000000"/>
                </a:solidFill>
                <a:effectLst/>
                <a:uFillTx/>
                <a:latin typeface="Arial"/>
                <a:ea typeface="Microsoft YaHei"/>
              </a:rPr>
              <a:t>puppet agent</a:t>
            </a:r>
            <a:r>
              <a:rPr lang="en-US" sz="1600" b="0" u="none" strike="noStrike">
                <a:solidFill>
                  <a:srgbClr val="000000"/>
                </a:solidFill>
                <a:effectLst/>
                <a:uFillTx/>
                <a:latin typeface="Arial"/>
                <a:ea typeface="Microsoft YaHei"/>
              </a:rPr>
              <a:t> (client) installed locally on the devices.</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Changes and automation tasks are performed within the </a:t>
            </a:r>
            <a:r>
              <a:rPr lang="en-US" sz="1600" b="1" u="none" strike="noStrike">
                <a:solidFill>
                  <a:srgbClr val="000000"/>
                </a:solidFill>
                <a:effectLst/>
                <a:uFillTx/>
                <a:latin typeface="Arial"/>
                <a:ea typeface="Microsoft YaHei"/>
              </a:rPr>
              <a:t>puppet console</a:t>
            </a:r>
            <a:r>
              <a:rPr lang="en-US" sz="1600" b="0" u="none" strike="noStrike">
                <a:solidFill>
                  <a:srgbClr val="000000"/>
                </a:solidFill>
                <a:effectLst/>
                <a:uFillTx/>
                <a:latin typeface="Arial"/>
                <a:ea typeface="Microsoft YaHei"/>
              </a:rPr>
              <a:t> and shared with puppet master and agent.</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Changes and automation tasks are stored in</a:t>
            </a:r>
            <a:r>
              <a:rPr lang="en-US" sz="1600" b="1" u="none" strike="noStrike">
                <a:solidFill>
                  <a:srgbClr val="000000"/>
                </a:solidFill>
                <a:effectLst/>
                <a:uFillTx/>
                <a:latin typeface="Arial"/>
                <a:ea typeface="Microsoft YaHei"/>
              </a:rPr>
              <a:t> Puppet database</a:t>
            </a:r>
            <a:r>
              <a:rPr lang="en-US" sz="1600" b="0" u="none" strike="noStrike">
                <a:solidFill>
                  <a:srgbClr val="000000"/>
                </a:solidFill>
                <a:effectLst/>
                <a:uFillTx/>
                <a:latin typeface="Arial"/>
                <a:ea typeface="Microsoft YaHei"/>
              </a:rPr>
              <a:t> (PuppetDB), which can be hosted in puppet master or on a separate server.</a:t>
            </a:r>
            <a:endParaRPr lang="en-US" sz="1600" b="0" u="none" strike="noStrike">
              <a:solidFill>
                <a:schemeClr val="dk1"/>
              </a:solidFill>
              <a:effectLst/>
              <a:uFillTx/>
              <a:latin typeface="Aptos"/>
            </a:endParaRPr>
          </a:p>
          <a:p>
            <a:pPr marL="162000" indent="-162000" algn="l" defTabSz="914400">
              <a:lnSpc>
                <a:spcPct val="100000"/>
              </a:lnSpc>
              <a:spcBef>
                <a:spcPts val="1001"/>
              </a:spcBef>
              <a:buClr>
                <a:srgbClr val="000000"/>
              </a:buClr>
              <a:buFont typeface="Arial"/>
              <a:buChar char="•"/>
              <a:tabLst>
                <a:tab pos="0" algn="l"/>
              </a:tabLst>
            </a:pPr>
            <a:r>
              <a:rPr lang="en-US" sz="1600" b="0" u="none" strike="noStrike">
                <a:solidFill>
                  <a:srgbClr val="000000"/>
                </a:solidFill>
                <a:effectLst/>
                <a:uFillTx/>
                <a:latin typeface="Arial"/>
                <a:ea typeface="Microsoft YaHei"/>
              </a:rPr>
              <a:t>This allows changes to be pushed to the agents at a later time.</a:t>
            </a:r>
            <a:endParaRPr lang="en-US" sz="1600" b="0" u="none" strike="noStrike">
              <a:solidFill>
                <a:schemeClr val="dk1"/>
              </a:solidFill>
              <a:effectLst/>
              <a:uFillTx/>
              <a:latin typeface="Aptos"/>
            </a:endParaRPr>
          </a:p>
        </p:txBody>
      </p:sp>
      <p:sp>
        <p:nvSpPr>
          <p:cNvPr id="57" name=""/>
          <p:cNvSpPr/>
          <p:nvPr/>
        </p:nvSpPr>
        <p:spPr>
          <a:xfrm>
            <a:off x="0" y="2952000"/>
            <a:ext cx="3959280" cy="2519280"/>
          </a:xfrm>
          <a:prstGeom prst="rect">
            <a:avLst/>
          </a:prstGeom>
          <a:noFill/>
          <a:ln w="0">
            <a:noFill/>
          </a:ln>
        </p:spPr>
        <p:style>
          <a:lnRef idx="0"/>
          <a:fillRef idx="0"/>
          <a:effectRef idx="0"/>
          <a:fontRef idx="minor"/>
        </p:style>
        <p:txBody>
          <a:bodyPr lIns="90000" tIns="45000" rIns="90000" bIns="45000" anchor="t">
            <a:spAutoFit/>
          </a:bodyPr>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Above is a high level Puppet architecture with basic communication path.</a:t>
            </a:r>
            <a:endParaRPr lang="en-AU"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Solid lines show the primary path of communication and dotted lines show optional path (high availability). </a:t>
            </a:r>
            <a:endParaRPr lang="en-AU"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Communication between master and agents is through TCP connections and each TCP port uniquely represent an agent on a device or node.</a:t>
            </a:r>
            <a:endParaRPr lang="en-AU"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Puppet can periodically verify the configuration on the node and revert back to previous configuration if required.</a:t>
            </a:r>
            <a:endParaRPr lang="en-AU" sz="1400" b="0" u="none" strike="noStrike">
              <a:solidFill>
                <a:srgbClr val="000000"/>
              </a:solidFill>
              <a:effectLst/>
              <a:uFillTx/>
              <a:latin typeface="Arial"/>
            </a:endParaRPr>
          </a:p>
        </p:txBody>
      </p:sp>
      <p:pic>
        <p:nvPicPr>
          <p:cNvPr id="58" name=""/>
          <p:cNvPicPr/>
          <p:nvPr/>
        </p:nvPicPr>
        <p:blipFill>
          <a:blip r:embed="rId1"/>
          <a:stretch/>
        </p:blipFill>
        <p:spPr>
          <a:xfrm>
            <a:off x="124920" y="1240560"/>
            <a:ext cx="3654360" cy="16387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Rectangle 6">
            <a:extLst>
              <a:ext uri="{C183D7F6-B498-43B3-948B-1728B52AA6E4}">
                <adec:decorative xmlns:adec="http://schemas.microsoft.com/office/drawing/2017/decorative" val="1"/>
              </a:ext>
            </a:extLst>
          </p:cNvPr>
          <p:cNvSpPr/>
          <p:nvPr/>
        </p:nvSpPr>
        <p:spPr>
          <a:xfrm>
            <a:off x="360" y="360"/>
            <a:ext cx="3957480" cy="10774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2.Agent Based Automation Tools</a:t>
            </a:r>
            <a:endParaRPr lang="en-AU" sz="2800" b="0" u="none" strike="noStrike">
              <a:solidFill>
                <a:srgbClr val="FFFFFF"/>
              </a:solidFill>
              <a:effectLst/>
              <a:uFillTx/>
              <a:latin typeface="Arial"/>
            </a:endParaRPr>
          </a:p>
        </p:txBody>
      </p:sp>
      <p:sp>
        <p:nvSpPr>
          <p:cNvPr id="60" name="PlaceHolder 1"/>
          <p:cNvSpPr>
            <a:spLocks noGrp="1"/>
          </p:cNvSpPr>
          <p:nvPr>
            <p:ph/>
          </p:nvPr>
        </p:nvSpPr>
        <p:spPr>
          <a:xfrm>
            <a:off x="4104000" y="36000"/>
            <a:ext cx="5939280" cy="3923280"/>
          </a:xfrm>
          <a:prstGeom prst="rect">
            <a:avLst/>
          </a:prstGeom>
          <a:noFill/>
          <a:ln w="0">
            <a:noFill/>
          </a:ln>
        </p:spPr>
        <p:txBody>
          <a:bodyPr lIns="91440" tIns="45720" rIns="91440" bIns="45720" anchor="t">
            <a:normAutofit/>
          </a:bodyPr>
          <a:p>
            <a:pPr indent="-324000" algn="l" defTabSz="914400">
              <a:lnSpc>
                <a:spcPct val="90000"/>
              </a:lnSpc>
              <a:spcBef>
                <a:spcPts val="1001"/>
              </a:spcBef>
              <a:buClr>
                <a:srgbClr val="000000"/>
              </a:buClr>
              <a:buFont typeface="Arial"/>
              <a:buChar char="•"/>
            </a:pPr>
            <a:r>
              <a:rPr lang="en-US" sz="1800" b="1" u="none" strike="noStrike">
                <a:solidFill>
                  <a:schemeClr val="dk1"/>
                </a:solidFill>
                <a:effectLst/>
                <a:uFillTx/>
                <a:latin typeface="Arial"/>
              </a:rPr>
              <a:t>Puppet Deployment options</a:t>
            </a: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marL="162000" indent="-162000" algn="l" defTabSz="914400">
              <a:lnSpc>
                <a:spcPct val="90000"/>
              </a:lnSpc>
              <a:spcBef>
                <a:spcPts val="150"/>
              </a:spcBef>
              <a:buClr>
                <a:srgbClr val="000000"/>
              </a:buClr>
              <a:buFont typeface="Arial"/>
              <a:buChar char="•"/>
              <a:tabLst>
                <a:tab pos="0" algn="l"/>
              </a:tabLst>
            </a:pPr>
            <a:r>
              <a:rPr lang="en-US" sz="1600" b="0" u="none" strike="noStrike">
                <a:solidFill>
                  <a:schemeClr val="dk1"/>
                </a:solidFill>
                <a:effectLst/>
                <a:uFillTx/>
                <a:latin typeface="Arial"/>
              </a:rPr>
              <a:t>Although Puppet is very scalable, typical and recommended deployment option is monolithic with upto 4,000 nodes.</a:t>
            </a:r>
            <a:endParaRPr lang="en-US" sz="1600" b="0" u="none" strike="noStrike">
              <a:solidFill>
                <a:schemeClr val="dk1"/>
              </a:solidFill>
              <a:effectLst/>
              <a:uFillTx/>
              <a:latin typeface="Aptos"/>
            </a:endParaRPr>
          </a:p>
          <a:p>
            <a:pPr marL="162000" indent="-162000" algn="l" defTabSz="914400">
              <a:lnSpc>
                <a:spcPct val="90000"/>
              </a:lnSpc>
              <a:spcBef>
                <a:spcPts val="150"/>
              </a:spcBef>
              <a:buClr>
                <a:srgbClr val="000000"/>
              </a:buClr>
              <a:buFont typeface="Arial"/>
              <a:buChar char="•"/>
              <a:tabLst>
                <a:tab pos="0" algn="l"/>
              </a:tabLst>
            </a:pPr>
            <a:r>
              <a:rPr lang="en-US" sz="1600" b="0" u="none" strike="noStrike">
                <a:solidFill>
                  <a:schemeClr val="dk1"/>
                </a:solidFill>
                <a:effectLst/>
                <a:uFillTx/>
                <a:latin typeface="Arial"/>
              </a:rPr>
              <a:t>In large scale deployments, deployment architecture shown below is generally adopted.</a:t>
            </a:r>
            <a:endParaRPr lang="en-US" sz="1600" b="0" u="none" strike="noStrike">
              <a:solidFill>
                <a:schemeClr val="dk1"/>
              </a:solidFill>
              <a:effectLst/>
              <a:uFillTx/>
              <a:latin typeface="Aptos"/>
            </a:endParaRPr>
          </a:p>
          <a:p>
            <a:pPr marL="162000" indent="-162000" algn="l" defTabSz="914400">
              <a:lnSpc>
                <a:spcPct val="90000"/>
              </a:lnSpc>
              <a:spcBef>
                <a:spcPts val="150"/>
              </a:spcBef>
              <a:buClr>
                <a:srgbClr val="000000"/>
              </a:buClr>
              <a:buFont typeface="Arial"/>
              <a:buChar char="•"/>
              <a:tabLst>
                <a:tab pos="0" algn="l"/>
              </a:tabLst>
            </a:pPr>
            <a:r>
              <a:rPr lang="en-US" sz="1600" b="0" u="none" strike="noStrike">
                <a:solidFill>
                  <a:schemeClr val="dk1"/>
                </a:solidFill>
                <a:effectLst/>
                <a:uFillTx/>
                <a:latin typeface="Arial"/>
              </a:rPr>
              <a:t>A Master of Masters (MoM) is required to properly manage distributed masters known as Compile Masters and their associated database.</a:t>
            </a:r>
            <a:endParaRPr lang="en-US" sz="1600" b="0" u="none" strike="noStrike">
              <a:solidFill>
                <a:schemeClr val="dk1"/>
              </a:solidFill>
              <a:effectLst/>
              <a:uFillTx/>
              <a:latin typeface="Aptos"/>
            </a:endParaRPr>
          </a:p>
          <a:p>
            <a:pPr marL="162000" indent="-162000" algn="l" defTabSz="914400">
              <a:lnSpc>
                <a:spcPct val="90000"/>
              </a:lnSpc>
              <a:spcBef>
                <a:spcPts val="150"/>
              </a:spcBef>
              <a:buClr>
                <a:srgbClr val="000000"/>
              </a:buClr>
              <a:buFont typeface="Arial"/>
              <a:buChar char="•"/>
              <a:tabLst>
                <a:tab pos="0" algn="l"/>
              </a:tabLst>
            </a:pPr>
            <a:r>
              <a:rPr lang="en-US" sz="1600" b="0" u="none" strike="noStrike">
                <a:solidFill>
                  <a:schemeClr val="dk1"/>
                </a:solidFill>
                <a:effectLst/>
                <a:uFillTx/>
                <a:latin typeface="Arial"/>
              </a:rPr>
              <a:t>Compile Masters are the load balanced Puppet Masters to support large scale agents.</a:t>
            </a:r>
            <a:endParaRPr lang="en-US" sz="1600" b="0" u="none" strike="noStrike">
              <a:solidFill>
                <a:schemeClr val="dk1"/>
              </a:solidFill>
              <a:effectLst/>
              <a:uFillTx/>
              <a:latin typeface="Aptos"/>
            </a:endParaRPr>
          </a:p>
          <a:p>
            <a:pPr marL="162000" indent="0" algn="l" defTabSz="914400">
              <a:lnSpc>
                <a:spcPct val="90000"/>
              </a:lnSpc>
              <a:spcBef>
                <a:spcPts val="150"/>
              </a:spcBef>
              <a:buNone/>
              <a:tabLst>
                <a:tab pos="0" algn="l"/>
              </a:tabLst>
            </a:pPr>
            <a:endParaRPr lang="en-US" sz="1600" b="0" u="none" strike="noStrike">
              <a:solidFill>
                <a:schemeClr val="dk1"/>
              </a:solidFill>
              <a:effectLst/>
              <a:uFillTx/>
              <a:latin typeface="Aptos"/>
            </a:endParaRPr>
          </a:p>
        </p:txBody>
      </p:sp>
      <p:sp>
        <p:nvSpPr>
          <p:cNvPr id="61" name=""/>
          <p:cNvSpPr/>
          <p:nvPr/>
        </p:nvSpPr>
        <p:spPr>
          <a:xfrm>
            <a:off x="0" y="1116000"/>
            <a:ext cx="4139280" cy="4937040"/>
          </a:xfrm>
          <a:prstGeom prst="rect">
            <a:avLst/>
          </a:prstGeom>
          <a:noFill/>
          <a:ln w="0">
            <a:noFill/>
          </a:ln>
        </p:spPr>
        <p:style>
          <a:lnRef idx="0"/>
          <a:fillRef idx="0"/>
          <a:effectRef idx="0"/>
          <a:fontRef idx="minor"/>
        </p:style>
        <p:txBody>
          <a:bodyPr lIns="90000" tIns="45000" rIns="90000" bIns="45000" anchor="t">
            <a:spAutoFit/>
          </a:bodyPr>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Puppet structure contains </a:t>
            </a:r>
            <a:r>
              <a:rPr lang="en-US" sz="1400" b="1" u="none" strike="noStrike">
                <a:solidFill>
                  <a:srgbClr val="000000"/>
                </a:solidFill>
                <a:effectLst/>
                <a:uFillTx/>
                <a:latin typeface="Arial"/>
                <a:ea typeface="Microsoft YaHei"/>
              </a:rPr>
              <a:t>modules</a:t>
            </a:r>
            <a:r>
              <a:rPr lang="en-US" sz="1400" b="0" u="none" strike="noStrike">
                <a:solidFill>
                  <a:srgbClr val="000000"/>
                </a:solidFill>
                <a:effectLst/>
                <a:uFillTx/>
                <a:latin typeface="Arial"/>
                <a:ea typeface="Microsoft YaHei"/>
              </a:rPr>
              <a:t> that can configure anything that can be configured manually.</a:t>
            </a:r>
            <a:endParaRPr lang="en-AU"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Puppet includes modules for different vendors and device types. Such as cisco_ios module.</a:t>
            </a:r>
            <a:endParaRPr lang="en-AU" sz="1400" b="0" u="none" strike="noStrike">
              <a:solidFill>
                <a:srgbClr val="000000"/>
              </a:solidFill>
              <a:effectLst/>
              <a:uFillTx/>
              <a:latin typeface="Arial"/>
            </a:endParaRPr>
          </a:p>
          <a:p>
            <a:pPr marL="216000" indent="-216000" defTabSz="914400">
              <a:lnSpc>
                <a:spcPct val="100000"/>
              </a:lnSpc>
              <a:spcBef>
                <a:spcPts val="283"/>
              </a:spcBef>
              <a:spcAft>
                <a:spcPts val="283"/>
              </a:spcAft>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Components of Puppet modules are:</a:t>
            </a:r>
            <a:endParaRPr lang="en-AU" sz="1400" b="0" u="none" strike="noStrike">
              <a:solidFill>
                <a:srgbClr val="000000"/>
              </a:solidFill>
              <a:effectLst/>
              <a:uFillTx/>
              <a:latin typeface="Arial"/>
            </a:endParaRPr>
          </a:p>
          <a:p>
            <a:pPr marL="360000" defTabSz="914400">
              <a:lnSpc>
                <a:spcPct val="100000"/>
              </a:lnSpc>
              <a:spcBef>
                <a:spcPts val="283"/>
              </a:spcBef>
              <a:spcAft>
                <a:spcPts val="283"/>
              </a:spcAft>
              <a:tabLst>
                <a:tab pos="0" algn="l"/>
              </a:tabLst>
            </a:pPr>
            <a:r>
              <a:rPr lang="en-US" sz="1400" b="1" u="none" strike="noStrike">
                <a:solidFill>
                  <a:srgbClr val="000000"/>
                </a:solidFill>
                <a:effectLst/>
                <a:uFillTx/>
                <a:latin typeface="Arial"/>
                <a:ea typeface="Microsoft YaHei"/>
              </a:rPr>
              <a:t>Templates</a:t>
            </a:r>
            <a:r>
              <a:rPr lang="en-US" sz="1400" b="0" u="none" strike="noStrike">
                <a:solidFill>
                  <a:srgbClr val="000000"/>
                </a:solidFill>
                <a:effectLst/>
                <a:uFillTx/>
                <a:latin typeface="Arial"/>
                <a:ea typeface="Microsoft YaHei"/>
              </a:rPr>
              <a:t>, </a:t>
            </a:r>
            <a:r>
              <a:rPr lang="en-US" sz="1400" b="1" u="none" strike="noStrike">
                <a:solidFill>
                  <a:srgbClr val="000000"/>
                </a:solidFill>
                <a:effectLst/>
                <a:uFillTx/>
                <a:latin typeface="Arial"/>
                <a:ea typeface="Microsoft YaHei"/>
              </a:rPr>
              <a:t>Files</a:t>
            </a:r>
            <a:r>
              <a:rPr lang="en-US" sz="1400" b="0" u="none" strike="noStrike">
                <a:solidFill>
                  <a:srgbClr val="000000"/>
                </a:solidFill>
                <a:effectLst/>
                <a:uFillTx/>
                <a:latin typeface="Arial"/>
                <a:ea typeface="Microsoft YaHei"/>
              </a:rPr>
              <a:t> and </a:t>
            </a:r>
            <a:endParaRPr lang="en-AU" sz="1400" b="0" u="none" strike="noStrike">
              <a:solidFill>
                <a:srgbClr val="000000"/>
              </a:solidFill>
              <a:effectLst/>
              <a:uFillTx/>
              <a:latin typeface="Arial"/>
            </a:endParaRPr>
          </a:p>
          <a:p>
            <a:pPr marL="360000" defTabSz="914400">
              <a:lnSpc>
                <a:spcPct val="100000"/>
              </a:lnSpc>
              <a:spcBef>
                <a:spcPts val="283"/>
              </a:spcBef>
              <a:spcAft>
                <a:spcPts val="283"/>
              </a:spcAft>
              <a:tabLst>
                <a:tab pos="0" algn="l"/>
              </a:tabLst>
            </a:pPr>
            <a:r>
              <a:rPr lang="en-US" sz="1400" b="1" u="none" strike="noStrike">
                <a:solidFill>
                  <a:srgbClr val="000000"/>
                </a:solidFill>
                <a:effectLst/>
                <a:uFillTx/>
                <a:latin typeface="Arial"/>
                <a:ea typeface="Microsoft YaHei"/>
              </a:rPr>
              <a:t>Manifests:</a:t>
            </a:r>
            <a:r>
              <a:rPr lang="en-US" sz="1400" b="0" u="none" strike="noStrike">
                <a:solidFill>
                  <a:srgbClr val="000000"/>
                </a:solidFill>
                <a:effectLst/>
                <a:uFillTx/>
                <a:latin typeface="Arial"/>
                <a:ea typeface="Microsoft YaHei"/>
              </a:rPr>
              <a:t> They are the configuration codes that are pushed to agents over a secure SSL connection (requires certificate to be installed) between Masters and Agents.</a:t>
            </a:r>
            <a:endParaRPr lang="en-AU" sz="1400" b="0" u="none" strike="noStrike">
              <a:solidFill>
                <a:srgbClr val="000000"/>
              </a:solidFill>
              <a:effectLst/>
              <a:uFillTx/>
              <a:latin typeface="Arial"/>
            </a:endParaRPr>
          </a:p>
          <a:p>
            <a:pPr marL="360000" defTabSz="914400">
              <a:lnSpc>
                <a:spcPct val="100000"/>
              </a:lnSpc>
              <a:spcBef>
                <a:spcPts val="283"/>
              </a:spcBef>
              <a:spcAft>
                <a:spcPts val="283"/>
              </a:spcAft>
              <a:tabLst>
                <a:tab pos="0" algn="l"/>
              </a:tabLst>
            </a:pPr>
            <a:r>
              <a:rPr lang="en-US" sz="1400" b="0" u="none" strike="noStrike">
                <a:solidFill>
                  <a:srgbClr val="000000"/>
                </a:solidFill>
                <a:effectLst/>
                <a:uFillTx/>
                <a:latin typeface="Arial"/>
                <a:ea typeface="Microsoft YaHei"/>
              </a:rPr>
              <a:t>Puppet manifests files are code files with .pp extension that modifies running configuration on nodes.</a:t>
            </a:r>
            <a:endParaRPr lang="en-AU" sz="1400" b="0" u="none" strike="noStrike">
              <a:solidFill>
                <a:srgbClr val="000000"/>
              </a:solidFill>
              <a:effectLst/>
              <a:uFillTx/>
              <a:latin typeface="Arial"/>
            </a:endParaRPr>
          </a:p>
          <a:p>
            <a:pPr marL="360000" defTabSz="914400">
              <a:lnSpc>
                <a:spcPct val="100000"/>
              </a:lnSpc>
              <a:spcBef>
                <a:spcPts val="283"/>
              </a:spcBef>
              <a:spcAft>
                <a:spcPts val="283"/>
              </a:spcAft>
              <a:tabLst>
                <a:tab pos="0" algn="l"/>
              </a:tabLst>
            </a:pPr>
            <a:r>
              <a:rPr lang="en-US" sz="1400" b="0" u="none" strike="noStrike">
                <a:solidFill>
                  <a:srgbClr val="000000"/>
                </a:solidFill>
                <a:effectLst/>
                <a:uFillTx/>
                <a:latin typeface="Arial"/>
                <a:ea typeface="Microsoft YaHei"/>
              </a:rPr>
              <a:t>Puppet leverages Domain Specific Language (DSL) as its ‘programming language’ based on Ruby.</a:t>
            </a:r>
            <a:endParaRPr lang="en-AU" sz="1400" b="0" u="none" strike="noStrike">
              <a:solidFill>
                <a:srgbClr val="000000"/>
              </a:solidFill>
              <a:effectLst/>
              <a:uFillTx/>
              <a:latin typeface="Arial"/>
            </a:endParaRPr>
          </a:p>
          <a:p>
            <a:pPr marL="360000" defTabSz="914400">
              <a:lnSpc>
                <a:spcPct val="100000"/>
              </a:lnSpc>
              <a:spcBef>
                <a:spcPts val="283"/>
              </a:spcBef>
              <a:spcAft>
                <a:spcPts val="283"/>
              </a:spcAft>
              <a:tabLst>
                <a:tab pos="0" algn="l"/>
              </a:tabLst>
            </a:pPr>
            <a:r>
              <a:rPr lang="en-US" sz="1400" b="0" u="none" strike="noStrike">
                <a:solidFill>
                  <a:srgbClr val="000000"/>
                </a:solidFill>
                <a:effectLst/>
                <a:uFillTx/>
                <a:latin typeface="Arial"/>
                <a:ea typeface="Microsoft YaHei"/>
              </a:rPr>
              <a:t>Puppet documentation, installation guides, community and sample manifests can be found on  </a:t>
            </a:r>
            <a:r>
              <a:rPr lang="en-US" sz="1400" b="0" u="none" strike="noStrike">
                <a:solidFill>
                  <a:srgbClr val="467886"/>
                </a:solidFill>
                <a:effectLst/>
                <a:uFillTx/>
                <a:latin typeface="Arial"/>
                <a:ea typeface="Microsoft YaHei"/>
                <a:hlinkClick r:id="rId1"/>
              </a:rPr>
              <a:t>https://forge.puppet.com/</a:t>
            </a:r>
            <a:r>
              <a:rPr lang="en-US" sz="1400" b="0" u="none" strike="noStrike">
                <a:solidFill>
                  <a:srgbClr val="000000"/>
                </a:solidFill>
                <a:effectLst/>
                <a:uFillTx/>
                <a:latin typeface="Arial"/>
                <a:ea typeface="Microsoft YaHei"/>
              </a:rPr>
              <a:t>.</a:t>
            </a:r>
            <a:endParaRPr lang="en-AU" sz="1400" b="0" u="none" strike="noStrike">
              <a:solidFill>
                <a:srgbClr val="000000"/>
              </a:solidFill>
              <a:effectLst/>
              <a:uFillTx/>
              <a:latin typeface="Arial"/>
            </a:endParaRPr>
          </a:p>
          <a:p>
            <a:pPr marL="360000" defTabSz="914400">
              <a:lnSpc>
                <a:spcPct val="100000"/>
              </a:lnSpc>
              <a:tabLst>
                <a:tab pos="0" algn="l"/>
              </a:tabLst>
            </a:pPr>
            <a:endParaRPr lang="en-AU" sz="1400" b="0" u="none" strike="noStrike">
              <a:solidFill>
                <a:srgbClr val="000000"/>
              </a:solidFill>
              <a:effectLst/>
              <a:uFillTx/>
              <a:latin typeface="Arial"/>
            </a:endParaRPr>
          </a:p>
          <a:p>
            <a:pPr marL="360000" defTabSz="914400">
              <a:lnSpc>
                <a:spcPct val="100000"/>
              </a:lnSpc>
              <a:tabLst>
                <a:tab pos="0" algn="l"/>
              </a:tabLst>
            </a:pPr>
            <a:endParaRPr lang="en-AU" sz="1400" b="0" u="none" strike="noStrike">
              <a:solidFill>
                <a:srgbClr val="000000"/>
              </a:solidFill>
              <a:effectLst/>
              <a:uFillTx/>
              <a:latin typeface="Arial"/>
            </a:endParaRPr>
          </a:p>
          <a:p>
            <a:pPr marL="360000" defTabSz="914400">
              <a:lnSpc>
                <a:spcPct val="100000"/>
              </a:lnSpc>
              <a:tabLst>
                <a:tab pos="0" algn="l"/>
              </a:tabLst>
            </a:pPr>
            <a:endParaRPr lang="en-AU" sz="1400" b="0" u="none" strike="noStrike">
              <a:solidFill>
                <a:srgbClr val="000000"/>
              </a:solidFill>
              <a:effectLst/>
              <a:uFillTx/>
              <a:latin typeface="Arial"/>
            </a:endParaRPr>
          </a:p>
        </p:txBody>
      </p:sp>
      <p:pic>
        <p:nvPicPr>
          <p:cNvPr id="62" name=""/>
          <p:cNvPicPr/>
          <p:nvPr/>
        </p:nvPicPr>
        <p:blipFill>
          <a:blip r:embed="rId2"/>
          <a:stretch/>
        </p:blipFill>
        <p:spPr>
          <a:xfrm>
            <a:off x="5308920" y="3924000"/>
            <a:ext cx="3654360" cy="1638720"/>
          </a:xfrm>
          <a:prstGeom prst="rect">
            <a:avLst/>
          </a:prstGeom>
          <a:noFill/>
          <a:ln w="0">
            <a:noFill/>
          </a:ln>
        </p:spPr>
      </p:pic>
      <p:graphicFrame>
        <p:nvGraphicFramePr>
          <p:cNvPr id="63" name=""/>
          <p:cNvGraphicFramePr/>
          <p:nvPr/>
        </p:nvGraphicFramePr>
        <p:xfrm>
          <a:off x="4292640" y="463680"/>
          <a:ext cx="5075280" cy="1211760"/>
        </p:xfrm>
        <a:graphic>
          <a:graphicData uri="http://schemas.openxmlformats.org/drawingml/2006/table">
            <a:tbl>
              <a:tblPr/>
              <a:tblGrid>
                <a:gridCol w="2537640"/>
                <a:gridCol w="2538000"/>
              </a:tblGrid>
              <a:tr h="257400">
                <a:tc>
                  <a:txBody>
                    <a:bodyPr lIns="36000" tIns="36000" rIns="36000" bIns="36000" anchor="t">
                      <a:noAutofit/>
                    </a:bodyPr>
                    <a:p>
                      <a:pPr>
                        <a:lnSpc>
                          <a:spcPct val="100000"/>
                        </a:lnSpc>
                      </a:pPr>
                      <a:r>
                        <a:rPr lang="en-AU" sz="1200" b="1" u="none" strike="noStrike">
                          <a:solidFill>
                            <a:srgbClr val="000000"/>
                          </a:solidFill>
                          <a:effectLst/>
                          <a:uFillTx/>
                          <a:latin typeface="Arial"/>
                        </a:rPr>
                        <a:t>Installation Type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c>
                  <a:txBody>
                    <a:bodyPr lIns="36000" tIns="36000" rIns="36000" bIns="36000" anchor="t">
                      <a:noAutofit/>
                    </a:bodyPr>
                    <a:p>
                      <a:pPr>
                        <a:lnSpc>
                          <a:spcPct val="100000"/>
                        </a:lnSpc>
                      </a:pPr>
                      <a:r>
                        <a:rPr lang="en-AU" sz="1200" b="1" u="none" strike="noStrike">
                          <a:solidFill>
                            <a:srgbClr val="000000"/>
                          </a:solidFill>
                          <a:effectLst/>
                          <a:uFillTx/>
                          <a:latin typeface="Arial"/>
                        </a:rPr>
                        <a:t>Scale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r>
              <a:tr h="246960">
                <a:tc>
                  <a:txBody>
                    <a:bodyPr lIns="36000" tIns="36000" rIns="36000" bIns="36000" anchor="t">
                      <a:noAutofit/>
                    </a:bodyPr>
                    <a:p>
                      <a:pPr>
                        <a:lnSpc>
                          <a:spcPct val="100000"/>
                        </a:lnSpc>
                      </a:pPr>
                      <a:r>
                        <a:rPr lang="en-AU" sz="1200" b="1" u="none" strike="noStrike">
                          <a:solidFill>
                            <a:srgbClr val="000000"/>
                          </a:solidFill>
                          <a:effectLst/>
                          <a:uFillTx/>
                          <a:latin typeface="Arial"/>
                        </a:rPr>
                        <a:t>Monolithic</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Up to 4,000 Nodes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61000">
                <a:tc>
                  <a:txBody>
                    <a:bodyPr lIns="36000" tIns="36000" rIns="36000" bIns="36000" anchor="t">
                      <a:noAutofit/>
                    </a:bodyPr>
                    <a:p>
                      <a:pPr>
                        <a:lnSpc>
                          <a:spcPct val="100000"/>
                        </a:lnSpc>
                      </a:pPr>
                      <a:r>
                        <a:rPr lang="en-AU" sz="1200" b="1" u="none" strike="noStrike">
                          <a:solidFill>
                            <a:srgbClr val="000000"/>
                          </a:solidFill>
                          <a:effectLst/>
                          <a:uFillTx/>
                          <a:latin typeface="Arial"/>
                        </a:rPr>
                        <a:t>Monolithic with compile masters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4,000 to 20,000 Nodes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pPr>
                        <a:lnSpc>
                          <a:spcPct val="100000"/>
                        </a:lnSpc>
                      </a:pPr>
                      <a:r>
                        <a:rPr lang="en-AU" sz="1200" b="1" u="none" strike="noStrike">
                          <a:solidFill>
                            <a:srgbClr val="000000"/>
                          </a:solidFill>
                          <a:effectLst/>
                          <a:uFillTx/>
                          <a:latin typeface="Arial"/>
                        </a:rPr>
                        <a:t>Monolithic with compile masters &amp; standalone PE-PostgreSQL</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More than 20,000 Nodes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Rectangle 7">
            <a:extLst>
              <a:ext uri="{C183D7F6-B498-43B3-948B-1728B52AA6E4}">
                <adec:decorative xmlns:adec="http://schemas.microsoft.com/office/drawing/2017/decorative" val="1"/>
              </a:ext>
            </a:extLst>
          </p:cNvPr>
          <p:cNvSpPr/>
          <p:nvPr/>
        </p:nvSpPr>
        <p:spPr>
          <a:xfrm>
            <a:off x="360" y="360"/>
            <a:ext cx="3957480" cy="107748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2.Agent Based Automation Tools</a:t>
            </a:r>
            <a:endParaRPr lang="en-AU" sz="2800" b="0" u="none" strike="noStrike">
              <a:solidFill>
                <a:srgbClr val="FFFFFF"/>
              </a:solidFill>
              <a:effectLst/>
              <a:uFillTx/>
              <a:latin typeface="Arial"/>
            </a:endParaRPr>
          </a:p>
        </p:txBody>
      </p:sp>
      <p:sp>
        <p:nvSpPr>
          <p:cNvPr id="65" name="PlaceHolder 1"/>
          <p:cNvSpPr>
            <a:spLocks noGrp="1"/>
          </p:cNvSpPr>
          <p:nvPr>
            <p:ph/>
          </p:nvPr>
        </p:nvSpPr>
        <p:spPr>
          <a:xfrm>
            <a:off x="4104000" y="36000"/>
            <a:ext cx="5939280" cy="5543280"/>
          </a:xfrm>
          <a:prstGeom prst="rect">
            <a:avLst/>
          </a:prstGeom>
          <a:noFill/>
          <a:ln w="0">
            <a:noFill/>
          </a:ln>
        </p:spPr>
        <p:txBody>
          <a:bodyPr lIns="91440" tIns="45720" rIns="91440" bIns="45720" anchor="t">
            <a:normAutofit lnSpcReduction="9999"/>
          </a:bodyPr>
          <a:p>
            <a:pPr indent="0" algn="l" defTabSz="914400">
              <a:lnSpc>
                <a:spcPct val="90000"/>
              </a:lnSpc>
              <a:spcBef>
                <a:spcPts val="1001"/>
              </a:spcBef>
              <a:buNone/>
              <a:tabLst>
                <a:tab pos="0" algn="l"/>
              </a:tabLst>
            </a:pPr>
            <a:r>
              <a:rPr lang="en-US" sz="1800" b="1" u="none" strike="noStrike">
                <a:solidFill>
                  <a:schemeClr val="dk1"/>
                </a:solidFill>
                <a:effectLst/>
                <a:uFillTx/>
                <a:latin typeface="Arial"/>
              </a:rPr>
              <a:t>Example Puppet manifests</a:t>
            </a:r>
            <a:endParaRPr lang="en-US" sz="1800" b="0" u="none" strike="noStrike">
              <a:solidFill>
                <a:schemeClr val="dk1"/>
              </a:solidFill>
              <a:effectLst/>
              <a:uFillTx/>
              <a:latin typeface="Aptos"/>
            </a:endParaRPr>
          </a:p>
          <a:p>
            <a:pPr marL="360000" indent="0" algn="l" defTabSz="914400">
              <a:lnSpc>
                <a:spcPct val="100000"/>
              </a:lnSpc>
              <a:spcBef>
                <a:spcPts val="283"/>
              </a:spcBef>
              <a:spcAft>
                <a:spcPts val="283"/>
              </a:spcAft>
              <a:buNone/>
              <a:tabLst>
                <a:tab pos="0" algn="l"/>
              </a:tabLst>
            </a:pPr>
            <a:r>
              <a:rPr lang="en-US" sz="1200" b="0" u="none" strike="noStrike">
                <a:solidFill>
                  <a:srgbClr val="000000"/>
                </a:solidFill>
                <a:effectLst/>
                <a:uFillTx/>
                <a:latin typeface="Arial"/>
                <a:ea typeface="Microsoft YaHei"/>
              </a:rPr>
              <a:t>NTP_Server.pp manifest</a:t>
            </a:r>
            <a:endParaRPr lang="en-US" sz="1200" b="0" u="none" strike="noStrike">
              <a:solidFill>
                <a:schemeClr val="dk1"/>
              </a:solidFill>
              <a:effectLst/>
              <a:uFillTx/>
              <a:latin typeface="Aptos"/>
            </a:endParaRPr>
          </a:p>
          <a:p>
            <a:pPr marL="720000" indent="0" algn="l" defTabSz="914400">
              <a:lnSpc>
                <a:spcPct val="100000"/>
              </a:lnSpc>
              <a:spcBef>
                <a:spcPts val="283"/>
              </a:spcBef>
              <a:spcAft>
                <a:spcPts val="283"/>
              </a:spcAft>
              <a:buNone/>
              <a:tabLst>
                <a:tab pos="0" algn="l"/>
              </a:tabLst>
            </a:pPr>
            <a:r>
              <a:rPr lang="en-US" sz="1200" b="0" u="none" strike="noStrike">
                <a:solidFill>
                  <a:srgbClr val="000000"/>
                </a:solidFill>
                <a:effectLst/>
                <a:uFillTx/>
                <a:latin typeface="Arial"/>
                <a:ea typeface="Microsoft YaHei"/>
              </a:rPr>
              <a:t>ntp_server{‘1.2.3.4’:</a:t>
            </a:r>
            <a:endParaRPr lang="en-US" sz="1200" b="0" u="none" strike="noStrike">
              <a:solidFill>
                <a:schemeClr val="dk1"/>
              </a:solidFill>
              <a:effectLst/>
              <a:uFillTx/>
              <a:latin typeface="Aptos"/>
            </a:endParaRPr>
          </a:p>
          <a:p>
            <a:pPr marL="720000" indent="0" algn="l" defTabSz="914400">
              <a:lnSpc>
                <a:spcPct val="100000"/>
              </a:lnSpc>
              <a:spcBef>
                <a:spcPts val="283"/>
              </a:spcBef>
              <a:spcAft>
                <a:spcPts val="283"/>
              </a:spcAft>
              <a:buNone/>
              <a:tabLst>
                <a:tab pos="0" algn="l"/>
              </a:tabLst>
            </a:pPr>
            <a:r>
              <a:rPr lang="en-US" sz="1200" b="0" u="none" strike="noStrike">
                <a:solidFill>
                  <a:srgbClr val="000000"/>
                </a:solidFill>
                <a:effectLst/>
                <a:uFillTx/>
                <a:latin typeface="Arial"/>
                <a:ea typeface="Microsoft YaHei"/>
              </a:rPr>
              <a:t>ensure =&gt; ‘present’,</a:t>
            </a:r>
            <a:endParaRPr lang="en-US" sz="1200" b="0" u="none" strike="noStrike">
              <a:solidFill>
                <a:schemeClr val="dk1"/>
              </a:solidFill>
              <a:effectLst/>
              <a:uFillTx/>
              <a:latin typeface="Aptos"/>
            </a:endParaRPr>
          </a:p>
          <a:p>
            <a:pPr marL="720000" indent="0" algn="l" defTabSz="914400">
              <a:lnSpc>
                <a:spcPct val="100000"/>
              </a:lnSpc>
              <a:spcBef>
                <a:spcPts val="283"/>
              </a:spcBef>
              <a:spcAft>
                <a:spcPts val="283"/>
              </a:spcAft>
              <a:buNone/>
              <a:tabLst>
                <a:tab pos="0" algn="l"/>
              </a:tabLst>
            </a:pPr>
            <a:r>
              <a:rPr lang="en-US" sz="1200" b="0" u="none" strike="noStrike">
                <a:solidFill>
                  <a:srgbClr val="000000"/>
                </a:solidFill>
                <a:effectLst/>
                <a:uFillTx/>
                <a:latin typeface="Arial"/>
                <a:ea typeface="Microsoft YaHei"/>
              </a:rPr>
              <a:t>key =&gt; 94,</a:t>
            </a:r>
            <a:endParaRPr lang="en-US" sz="1200" b="0" u="none" strike="noStrike">
              <a:solidFill>
                <a:schemeClr val="dk1"/>
              </a:solidFill>
              <a:effectLst/>
              <a:uFillTx/>
              <a:latin typeface="Aptos"/>
            </a:endParaRPr>
          </a:p>
          <a:p>
            <a:pPr marL="720000" indent="0" algn="l" defTabSz="914400">
              <a:lnSpc>
                <a:spcPct val="100000"/>
              </a:lnSpc>
              <a:spcBef>
                <a:spcPts val="283"/>
              </a:spcBef>
              <a:spcAft>
                <a:spcPts val="283"/>
              </a:spcAft>
              <a:buNone/>
              <a:tabLst>
                <a:tab pos="0" algn="l"/>
              </a:tabLst>
            </a:pPr>
            <a:r>
              <a:rPr lang="en-US" sz="1200" b="0" u="none" strike="noStrike">
                <a:solidFill>
                  <a:srgbClr val="000000"/>
                </a:solidFill>
                <a:effectLst/>
                <a:uFillTx/>
                <a:latin typeface="Arial"/>
                <a:ea typeface="Microsoft YaHei"/>
              </a:rPr>
              <a:t>prefer =&gt; true,</a:t>
            </a:r>
            <a:endParaRPr lang="en-US" sz="1200" b="0" u="none" strike="noStrike">
              <a:solidFill>
                <a:schemeClr val="dk1"/>
              </a:solidFill>
              <a:effectLst/>
              <a:uFillTx/>
              <a:latin typeface="Aptos"/>
            </a:endParaRPr>
          </a:p>
          <a:p>
            <a:pPr marL="720000" indent="0" algn="l" defTabSz="914400">
              <a:lnSpc>
                <a:spcPct val="100000"/>
              </a:lnSpc>
              <a:spcBef>
                <a:spcPts val="283"/>
              </a:spcBef>
              <a:spcAft>
                <a:spcPts val="283"/>
              </a:spcAft>
              <a:buNone/>
              <a:tabLst>
                <a:tab pos="0" algn="l"/>
              </a:tabLst>
            </a:pPr>
            <a:r>
              <a:rPr lang="en-US" sz="1200" b="0" u="none" strike="noStrike">
                <a:solidFill>
                  <a:srgbClr val="000000"/>
                </a:solidFill>
                <a:effectLst/>
                <a:uFillTx/>
                <a:latin typeface="Arial"/>
                <a:ea typeface="Microsoft YaHei"/>
              </a:rPr>
              <a:t>minpoll =&gt; 4,</a:t>
            </a:r>
            <a:endParaRPr lang="en-US" sz="1200" b="0" u="none" strike="noStrike">
              <a:solidFill>
                <a:schemeClr val="dk1"/>
              </a:solidFill>
              <a:effectLst/>
              <a:uFillTx/>
              <a:latin typeface="Aptos"/>
            </a:endParaRPr>
          </a:p>
          <a:p>
            <a:pPr marL="720000" indent="0" algn="l" defTabSz="914400">
              <a:lnSpc>
                <a:spcPct val="100000"/>
              </a:lnSpc>
              <a:spcBef>
                <a:spcPts val="283"/>
              </a:spcBef>
              <a:spcAft>
                <a:spcPts val="283"/>
              </a:spcAft>
              <a:buNone/>
              <a:tabLst>
                <a:tab pos="0" algn="l"/>
              </a:tabLst>
            </a:pPr>
            <a:r>
              <a:rPr lang="en-US" sz="1200" b="0" u="none" strike="noStrike">
                <a:solidFill>
                  <a:srgbClr val="000000"/>
                </a:solidFill>
                <a:effectLst/>
                <a:uFillTx/>
                <a:latin typeface="Arial"/>
                <a:ea typeface="Microsoft YaHei"/>
              </a:rPr>
              <a:t>maxpoll =&gt; 14</a:t>
            </a:r>
            <a:endParaRPr lang="en-US" sz="1200" b="0" u="none" strike="noStrike">
              <a:solidFill>
                <a:schemeClr val="dk1"/>
              </a:solidFill>
              <a:effectLst/>
              <a:uFillTx/>
              <a:latin typeface="Aptos"/>
            </a:endParaRPr>
          </a:p>
          <a:p>
            <a:pPr marL="720000" indent="0" algn="l" defTabSz="914400">
              <a:lnSpc>
                <a:spcPct val="100000"/>
              </a:lnSpc>
              <a:spcBef>
                <a:spcPts val="283"/>
              </a:spcBef>
              <a:spcAft>
                <a:spcPts val="283"/>
              </a:spcAft>
              <a:buNone/>
              <a:tabLst>
                <a:tab pos="0" algn="l"/>
              </a:tabLst>
            </a:pPr>
            <a:r>
              <a:rPr lang="en-US" sz="1200" b="0" u="none" strike="noStrike">
                <a:solidFill>
                  <a:srgbClr val="000000"/>
                </a:solidFill>
                <a:effectLst/>
                <a:uFillTx/>
                <a:latin typeface="Arial"/>
                <a:ea typeface="Microsoft YaHei"/>
              </a:rPr>
              <a:t>Source_interface =&gt; ‘Vlan 42’ ,</a:t>
            </a:r>
            <a:endParaRPr lang="en-US" sz="1200" b="0" u="none" strike="noStrike">
              <a:solidFill>
                <a:schemeClr val="dk1"/>
              </a:solidFill>
              <a:effectLst/>
              <a:uFillTx/>
              <a:latin typeface="Aptos"/>
            </a:endParaRPr>
          </a:p>
          <a:p>
            <a:pPr marL="720000" indent="0" algn="l" defTabSz="914400">
              <a:lnSpc>
                <a:spcPct val="100000"/>
              </a:lnSpc>
              <a:spcBef>
                <a:spcPts val="283"/>
              </a:spcBef>
              <a:spcAft>
                <a:spcPts val="283"/>
              </a:spcAft>
              <a:buNone/>
              <a:tabLst>
                <a:tab pos="0" algn="l"/>
              </a:tabLst>
            </a:pPr>
            <a:r>
              <a:rPr lang="en-US" sz="1200" b="0" u="none" strike="noStrike">
                <a:solidFill>
                  <a:srgbClr val="000000"/>
                </a:solidFill>
                <a:effectLst/>
                <a:uFillTx/>
                <a:latin typeface="Arial"/>
                <a:ea typeface="Microsoft YaHei"/>
              </a:rPr>
              <a:t> }</a:t>
            </a:r>
            <a:endParaRPr lang="en-US" sz="1200" b="0" u="none" strike="noStrike">
              <a:solidFill>
                <a:schemeClr val="dk1"/>
              </a:solidFill>
              <a:effectLst/>
              <a:uFillTx/>
              <a:latin typeface="Aptos"/>
            </a:endParaRPr>
          </a:p>
          <a:p>
            <a:pPr marL="360000" indent="0" algn="l" defTabSz="914400">
              <a:lnSpc>
                <a:spcPct val="100000"/>
              </a:lnSpc>
              <a:spcBef>
                <a:spcPts val="283"/>
              </a:spcBef>
              <a:spcAft>
                <a:spcPts val="283"/>
              </a:spcAft>
              <a:buNone/>
              <a:tabLst>
                <a:tab pos="0" algn="l"/>
              </a:tabLst>
            </a:pPr>
            <a:r>
              <a:rPr lang="en-US" sz="1600" b="0" u="none" strike="noStrike">
                <a:solidFill>
                  <a:schemeClr val="dk1"/>
                </a:solidFill>
                <a:effectLst/>
                <a:uFillTx/>
                <a:latin typeface="Arial"/>
                <a:ea typeface="Microsoft YaHei"/>
              </a:rPr>
              <a:t>NTP server address is configured as 1.2.3.4 and source interface of Vlan 42 is used.</a:t>
            </a:r>
            <a:endParaRPr lang="en-US" sz="1600" b="0" u="none" strike="noStrike">
              <a:solidFill>
                <a:schemeClr val="dk1"/>
              </a:solidFill>
              <a:effectLst/>
              <a:uFillTx/>
              <a:latin typeface="Aptos"/>
            </a:endParaRPr>
          </a:p>
          <a:p>
            <a:pPr marL="360000" indent="0" algn="l" defTabSz="914400">
              <a:lnSpc>
                <a:spcPct val="90000"/>
              </a:lnSpc>
              <a:spcBef>
                <a:spcPts val="150"/>
              </a:spcBef>
              <a:buNone/>
              <a:tabLst>
                <a:tab pos="0" algn="l"/>
              </a:tabLst>
            </a:pPr>
            <a:r>
              <a:rPr lang="en-US" sz="1600" b="0" u="none" strike="noStrike">
                <a:solidFill>
                  <a:schemeClr val="dk1"/>
                </a:solidFill>
                <a:effectLst/>
                <a:uFillTx/>
                <a:latin typeface="Arial"/>
                <a:ea typeface="Microsoft YaHei"/>
              </a:rPr>
              <a:t>The line ensure =&gt; ‘present’ indicates that the NTP configuration should be present on the running configuration of the ios device where the Puppet Agent is running.</a:t>
            </a:r>
            <a:endParaRPr lang="en-US" sz="1600" b="0" u="none" strike="noStrike">
              <a:solidFill>
                <a:schemeClr val="dk1"/>
              </a:solidFill>
              <a:effectLst/>
              <a:uFillTx/>
              <a:latin typeface="Aptos"/>
            </a:endParaRPr>
          </a:p>
          <a:p>
            <a:pPr indent="0" algn="l" defTabSz="914400">
              <a:lnSpc>
                <a:spcPct val="90000"/>
              </a:lnSpc>
              <a:spcBef>
                <a:spcPts val="150"/>
              </a:spcBef>
              <a:buNone/>
              <a:tabLst>
                <a:tab pos="0" algn="l"/>
              </a:tabLst>
            </a:pPr>
            <a:r>
              <a:rPr lang="en-US" sz="1600" b="1" u="none" strike="noStrike">
                <a:solidFill>
                  <a:schemeClr val="dk1"/>
                </a:solidFill>
                <a:effectLst/>
                <a:uFillTx/>
                <a:latin typeface="Arial"/>
                <a:ea typeface="Microsoft YaHei"/>
              </a:rPr>
              <a:t>Chef</a:t>
            </a:r>
            <a:endParaRPr lang="en-US" sz="1600" b="0" u="none" strike="noStrike">
              <a:solidFill>
                <a:schemeClr val="dk1"/>
              </a:solidFill>
              <a:effectLst/>
              <a:uFillTx/>
              <a:latin typeface="Aptos"/>
            </a:endParaRPr>
          </a:p>
          <a:p>
            <a:pPr marL="162000" indent="-162000" algn="l" defTabSz="914400">
              <a:lnSpc>
                <a:spcPct val="9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Configuration management tools work in two models, Push and Pull.</a:t>
            </a:r>
            <a:endParaRPr lang="en-US" sz="1600" b="0" u="none" strike="noStrike">
              <a:solidFill>
                <a:schemeClr val="dk1"/>
              </a:solidFill>
              <a:effectLst/>
              <a:uFillTx/>
              <a:latin typeface="Aptos"/>
            </a:endParaRPr>
          </a:p>
          <a:p>
            <a:pPr marL="162000" indent="-162000" algn="l" defTabSz="914400">
              <a:lnSpc>
                <a:spcPct val="9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Push models push configuration from centralized management tool or server to the remote device.</a:t>
            </a:r>
            <a:endParaRPr lang="en-US" sz="1600" b="0" u="none" strike="noStrike">
              <a:solidFill>
                <a:schemeClr val="dk1"/>
              </a:solidFill>
              <a:effectLst/>
              <a:uFillTx/>
              <a:latin typeface="Aptos"/>
            </a:endParaRPr>
          </a:p>
          <a:p>
            <a:pPr marL="162000" indent="-162000" algn="l" defTabSz="914400">
              <a:lnSpc>
                <a:spcPct val="9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Pull models check in with the centralized tool or management server to pull the changes in configuration (updated files) to the remote device.</a:t>
            </a:r>
            <a:endParaRPr lang="en-US" sz="1600" b="0" u="none" strike="noStrike">
              <a:solidFill>
                <a:schemeClr val="dk1"/>
              </a:solidFill>
              <a:effectLst/>
              <a:uFillTx/>
              <a:latin typeface="Aptos"/>
            </a:endParaRPr>
          </a:p>
          <a:p>
            <a:pPr marL="360000" indent="0" algn="l" defTabSz="914400">
              <a:lnSpc>
                <a:spcPct val="90000"/>
              </a:lnSpc>
              <a:spcBef>
                <a:spcPts val="150"/>
              </a:spcBef>
              <a:buNone/>
              <a:tabLst>
                <a:tab pos="0" algn="l"/>
              </a:tabLst>
            </a:pPr>
            <a:endParaRPr lang="en-US" sz="1600" b="0" u="none" strike="noStrike">
              <a:solidFill>
                <a:schemeClr val="dk1"/>
              </a:solidFill>
              <a:effectLst/>
              <a:uFillTx/>
              <a:latin typeface="Aptos"/>
            </a:endParaRPr>
          </a:p>
          <a:p>
            <a:pPr marL="360000" indent="0" algn="l" defTabSz="914400">
              <a:lnSpc>
                <a:spcPct val="90000"/>
              </a:lnSpc>
              <a:spcBef>
                <a:spcPts val="150"/>
              </a:spcBef>
              <a:buNone/>
              <a:tabLst>
                <a:tab pos="0" algn="l"/>
              </a:tabLst>
            </a:pPr>
            <a:endParaRPr lang="en-US" sz="1600" b="0" u="none" strike="noStrike">
              <a:solidFill>
                <a:schemeClr val="dk1"/>
              </a:solidFill>
              <a:effectLst/>
              <a:uFillTx/>
              <a:latin typeface="Aptos"/>
            </a:endParaRPr>
          </a:p>
        </p:txBody>
      </p:sp>
      <p:sp>
        <p:nvSpPr>
          <p:cNvPr id="66" name=""/>
          <p:cNvSpPr/>
          <p:nvPr/>
        </p:nvSpPr>
        <p:spPr>
          <a:xfrm>
            <a:off x="0" y="1089000"/>
            <a:ext cx="3959280" cy="2330280"/>
          </a:xfrm>
          <a:prstGeom prst="rect">
            <a:avLst/>
          </a:prstGeom>
          <a:noFill/>
          <a:ln w="0">
            <a:noFill/>
          </a:ln>
        </p:spPr>
        <p:style>
          <a:lnRef idx="0"/>
          <a:fillRef idx="0"/>
          <a:effectRef idx="0"/>
          <a:fontRef idx="minor"/>
        </p:style>
        <p:txBody>
          <a:bodyPr lIns="90000" tIns="45000" rIns="90000" bIns="45000" anchor="t">
            <a:spAutoFit/>
          </a:bodyPr>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Both Chef and Puppet work in pull model and has a client/server architecture.</a:t>
            </a:r>
            <a:endParaRPr lang="en-AU"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Both have free open source versions and paid enterprise versions available.</a:t>
            </a:r>
            <a:endParaRPr lang="en-AU"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Although both have client/server architecture, Chef overall architecture is different than Puppet. </a:t>
            </a:r>
            <a:endParaRPr lang="en-AU" sz="1400" b="0" u="none" strike="noStrike">
              <a:solidFill>
                <a:srgbClr val="000000"/>
              </a:solidFill>
              <a:effectLst/>
              <a:uFillTx/>
              <a:latin typeface="Arial"/>
            </a:endParaRPr>
          </a:p>
          <a:p>
            <a:pPr marL="360000" defTabSz="914400">
              <a:lnSpc>
                <a:spcPct val="100000"/>
              </a:lnSpc>
              <a:spcBef>
                <a:spcPts val="283"/>
              </a:spcBef>
              <a:spcAft>
                <a:spcPts val="283"/>
              </a:spcAft>
              <a:tabLst>
                <a:tab pos="0" algn="l"/>
              </a:tabLst>
            </a:pPr>
            <a:endParaRPr lang="en-AU" sz="1200" b="0" u="none" strike="noStrike">
              <a:solidFill>
                <a:srgbClr val="000000"/>
              </a:solidFill>
              <a:effectLst/>
              <a:uFillTx/>
              <a:latin typeface="Arial"/>
            </a:endParaRPr>
          </a:p>
          <a:p>
            <a:pPr marL="360000" defTabSz="914400">
              <a:lnSpc>
                <a:spcPct val="100000"/>
              </a:lnSpc>
              <a:tabLst>
                <a:tab pos="0" algn="l"/>
              </a:tabLst>
            </a:pPr>
            <a:endParaRPr lang="en-AU" sz="1400" b="0" u="none" strike="noStrike">
              <a:solidFill>
                <a:srgbClr val="000000"/>
              </a:solidFill>
              <a:effectLst/>
              <a:uFillTx/>
              <a:latin typeface="Arial"/>
            </a:endParaRPr>
          </a:p>
          <a:p>
            <a:pPr marL="360000" defTabSz="914400">
              <a:lnSpc>
                <a:spcPct val="100000"/>
              </a:lnSpc>
              <a:tabLst>
                <a:tab pos="0" algn="l"/>
              </a:tabLst>
            </a:pPr>
            <a:endParaRPr lang="en-AU" sz="1400" b="0" u="none" strike="noStrike">
              <a:solidFill>
                <a:srgbClr val="000000"/>
              </a:solidFill>
              <a:effectLst/>
              <a:uFillTx/>
              <a:latin typeface="Arial"/>
            </a:endParaRPr>
          </a:p>
          <a:p>
            <a:pPr marL="360000" defTabSz="914400">
              <a:lnSpc>
                <a:spcPct val="100000"/>
              </a:lnSpc>
              <a:tabLst>
                <a:tab pos="0" algn="l"/>
              </a:tabLst>
            </a:pPr>
            <a:endParaRPr lang="en-AU" sz="1400" b="0" u="none" strike="noStrike">
              <a:solidFill>
                <a:srgbClr val="000000"/>
              </a:solidFill>
              <a:effectLst/>
              <a:uFillTx/>
              <a:latin typeface="Arial"/>
            </a:endParaRPr>
          </a:p>
        </p:txBody>
      </p:sp>
      <p:pic>
        <p:nvPicPr>
          <p:cNvPr id="67" name=""/>
          <p:cNvPicPr/>
          <p:nvPr/>
        </p:nvPicPr>
        <p:blipFill>
          <a:blip r:embed="rId1"/>
          <a:stretch/>
        </p:blipFill>
        <p:spPr>
          <a:xfrm>
            <a:off x="108000" y="2478960"/>
            <a:ext cx="3671280" cy="31003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 name="Rectangle 8">
            <a:extLst>
              <a:ext uri="{C183D7F6-B498-43B3-948B-1728B52AA6E4}">
                <adec:decorative xmlns:adec="http://schemas.microsoft.com/office/drawing/2017/decorative" val="1"/>
              </a:ext>
            </a:extLst>
          </p:cNvPr>
          <p:cNvSpPr/>
          <p:nvPr/>
        </p:nvSpPr>
        <p:spPr>
          <a:xfrm>
            <a:off x="360" y="360"/>
            <a:ext cx="3957480" cy="89892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2.Agent Based Automation Tools</a:t>
            </a:r>
            <a:endParaRPr lang="en-AU" sz="2800" b="0" u="none" strike="noStrike">
              <a:solidFill>
                <a:srgbClr val="FFFFFF"/>
              </a:solidFill>
              <a:effectLst/>
              <a:uFillTx/>
              <a:latin typeface="Arial"/>
            </a:endParaRPr>
          </a:p>
        </p:txBody>
      </p:sp>
      <p:sp>
        <p:nvSpPr>
          <p:cNvPr id="69" name="PlaceHolder 1"/>
          <p:cNvSpPr>
            <a:spLocks noGrp="1"/>
          </p:cNvSpPr>
          <p:nvPr>
            <p:ph/>
          </p:nvPr>
        </p:nvSpPr>
        <p:spPr>
          <a:xfrm>
            <a:off x="4032000" y="36000"/>
            <a:ext cx="5939280" cy="554328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US" sz="1800" b="1" u="none" strike="noStrike">
                <a:solidFill>
                  <a:schemeClr val="dk1"/>
                </a:solidFill>
                <a:effectLst/>
                <a:uFillTx/>
                <a:latin typeface="Arial"/>
              </a:rPr>
              <a:t>Puppet and Chef Comparison</a:t>
            </a: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9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9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9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9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9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9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90000"/>
              </a:lnSpc>
              <a:spcBef>
                <a:spcPts val="150"/>
              </a:spcBef>
              <a:buNone/>
              <a:tabLst>
                <a:tab pos="0" algn="l"/>
              </a:tabLst>
            </a:pPr>
            <a:endParaRPr lang="en-US" sz="1600" b="0" u="none" strike="noStrike">
              <a:solidFill>
                <a:schemeClr val="dk1"/>
              </a:solidFill>
              <a:effectLst/>
              <a:uFillTx/>
              <a:latin typeface="Aptos"/>
            </a:endParaRPr>
          </a:p>
          <a:p>
            <a:pPr marL="162000" indent="-162000" algn="l" defTabSz="914400">
              <a:lnSpc>
                <a:spcPct val="90000"/>
              </a:lnSpc>
              <a:spcBef>
                <a:spcPts val="150"/>
              </a:spcBef>
              <a:buClr>
                <a:srgbClr val="000000"/>
              </a:buClr>
              <a:buFont typeface="Arial"/>
              <a:buChar char="•"/>
              <a:tabLst>
                <a:tab pos="0" algn="l"/>
              </a:tabLst>
            </a:pPr>
            <a:r>
              <a:rPr lang="en-US" sz="1600" b="0" u="none" strike="noStrike">
                <a:solidFill>
                  <a:schemeClr val="dk1"/>
                </a:solidFill>
                <a:effectLst/>
                <a:uFillTx/>
                <a:latin typeface="Arial"/>
              </a:rPr>
              <a:t>Once the recipe is created in workstation, it must be uploaded to the server to be used in the environment.</a:t>
            </a:r>
            <a:endParaRPr lang="en-US" sz="1600" b="0" u="none" strike="noStrike">
              <a:solidFill>
                <a:schemeClr val="dk1"/>
              </a:solidFill>
              <a:effectLst/>
              <a:uFillTx/>
              <a:latin typeface="Aptos"/>
            </a:endParaRPr>
          </a:p>
          <a:p>
            <a:pPr marL="162000" indent="-162000" algn="l" defTabSz="914400">
              <a:lnSpc>
                <a:spcPct val="90000"/>
              </a:lnSpc>
              <a:spcBef>
                <a:spcPts val="150"/>
              </a:spcBef>
              <a:buClr>
                <a:srgbClr val="000000"/>
              </a:buClr>
              <a:buFont typeface="Arial"/>
              <a:buChar char="•"/>
              <a:tabLst>
                <a:tab pos="0" algn="l"/>
              </a:tabLst>
            </a:pPr>
            <a:r>
              <a:rPr lang="en-US" sz="1600" b="1" u="none" strike="noStrike">
                <a:solidFill>
                  <a:schemeClr val="dk1"/>
                </a:solidFill>
                <a:effectLst/>
                <a:uFillTx/>
                <a:latin typeface="Arial"/>
              </a:rPr>
              <a:t>Knife</a:t>
            </a:r>
            <a:r>
              <a:rPr lang="en-US" sz="1600" b="0" u="none" strike="noStrike">
                <a:solidFill>
                  <a:schemeClr val="dk1"/>
                </a:solidFill>
                <a:effectLst/>
                <a:uFillTx/>
                <a:latin typeface="Arial"/>
              </a:rPr>
              <a:t> is the command-line tool used to upload cookbooks to the server and is uploaded using command </a:t>
            </a:r>
            <a:r>
              <a:rPr lang="en-US" sz="1600" b="1" u="none" strike="noStrike">
                <a:solidFill>
                  <a:schemeClr val="dk1"/>
                </a:solidFill>
                <a:effectLst/>
                <a:uFillTx/>
                <a:latin typeface="Arial"/>
              </a:rPr>
              <a:t>knife upload</a:t>
            </a:r>
            <a:r>
              <a:rPr lang="en-US" sz="1600" b="0" u="none" strike="noStrike">
                <a:solidFill>
                  <a:schemeClr val="dk1"/>
                </a:solidFill>
                <a:effectLst/>
                <a:uFillTx/>
                <a:latin typeface="Arial"/>
              </a:rPr>
              <a:t> </a:t>
            </a:r>
            <a:r>
              <a:rPr lang="en-US" sz="1600" b="0" i="1" u="none" strike="noStrike">
                <a:solidFill>
                  <a:schemeClr val="dk1"/>
                </a:solidFill>
                <a:effectLst/>
                <a:uFillTx/>
                <a:latin typeface="Arial"/>
              </a:rPr>
              <a:t>cookbook-name</a:t>
            </a:r>
            <a:r>
              <a:rPr lang="en-US" sz="1600" b="0" u="none" strike="noStrike">
                <a:solidFill>
                  <a:schemeClr val="dk1"/>
                </a:solidFill>
                <a:effectLst/>
                <a:uFillTx/>
                <a:latin typeface="Arial"/>
              </a:rPr>
              <a:t> </a:t>
            </a:r>
            <a:endParaRPr lang="en-US" sz="1600" b="0" u="none" strike="noStrike">
              <a:solidFill>
                <a:schemeClr val="dk1"/>
              </a:solidFill>
              <a:effectLst/>
              <a:uFillTx/>
              <a:latin typeface="Aptos"/>
            </a:endParaRPr>
          </a:p>
          <a:p>
            <a:pPr marL="162000" indent="-162000" algn="l" defTabSz="914400">
              <a:lnSpc>
                <a:spcPct val="90000"/>
              </a:lnSpc>
              <a:spcBef>
                <a:spcPts val="150"/>
              </a:spcBef>
              <a:buClr>
                <a:srgbClr val="000000"/>
              </a:buClr>
              <a:buFont typeface="Arial"/>
              <a:buChar char="•"/>
              <a:tabLst>
                <a:tab pos="0" algn="l"/>
              </a:tabLst>
            </a:pPr>
            <a:r>
              <a:rPr lang="en-US" sz="1600" b="0" u="none" strike="noStrike">
                <a:solidFill>
                  <a:schemeClr val="dk1"/>
                </a:solidFill>
                <a:effectLst/>
                <a:uFillTx/>
                <a:latin typeface="Arial"/>
              </a:rPr>
              <a:t>Four types of Chef server deployments:</a:t>
            </a:r>
            <a:endParaRPr lang="en-US" sz="1600" b="0" u="none" strike="noStrike">
              <a:solidFill>
                <a:schemeClr val="dk1"/>
              </a:solidFill>
              <a:effectLst/>
              <a:uFillTx/>
              <a:latin typeface="Aptos"/>
            </a:endParaRPr>
          </a:p>
          <a:p>
            <a:pPr marL="360000" indent="0" algn="l" defTabSz="914400">
              <a:lnSpc>
                <a:spcPct val="90000"/>
              </a:lnSpc>
              <a:spcBef>
                <a:spcPts val="150"/>
              </a:spcBef>
              <a:buNone/>
              <a:tabLst>
                <a:tab pos="0" algn="l"/>
              </a:tabLst>
            </a:pPr>
            <a:r>
              <a:rPr lang="en-US" sz="1600" b="1" u="none" strike="noStrike">
                <a:solidFill>
                  <a:schemeClr val="dk1"/>
                </a:solidFill>
                <a:effectLst/>
                <a:uFillTx/>
                <a:latin typeface="Arial"/>
              </a:rPr>
              <a:t>Chef Solo</a:t>
            </a:r>
            <a:r>
              <a:rPr lang="en-US" sz="1600" b="0" u="none" strike="noStrike">
                <a:solidFill>
                  <a:schemeClr val="dk1"/>
                </a:solidFill>
                <a:effectLst/>
                <a:uFillTx/>
                <a:latin typeface="Arial"/>
              </a:rPr>
              <a:t> : Server hosted locally on the workstation.</a:t>
            </a:r>
            <a:endParaRPr lang="en-US" sz="1600" b="0" u="none" strike="noStrike">
              <a:solidFill>
                <a:schemeClr val="dk1"/>
              </a:solidFill>
              <a:effectLst/>
              <a:uFillTx/>
              <a:latin typeface="Aptos"/>
            </a:endParaRPr>
          </a:p>
          <a:p>
            <a:pPr marL="360000" indent="0" algn="l" defTabSz="914400">
              <a:lnSpc>
                <a:spcPct val="90000"/>
              </a:lnSpc>
              <a:spcBef>
                <a:spcPts val="150"/>
              </a:spcBef>
              <a:buNone/>
              <a:tabLst>
                <a:tab pos="0" algn="l"/>
              </a:tabLst>
            </a:pPr>
            <a:r>
              <a:rPr lang="en-US" sz="1600" b="1" u="none" strike="noStrike">
                <a:solidFill>
                  <a:schemeClr val="dk1"/>
                </a:solidFill>
                <a:effectLst/>
                <a:uFillTx/>
                <a:latin typeface="Arial"/>
              </a:rPr>
              <a:t>Chef Client and Server</a:t>
            </a:r>
            <a:r>
              <a:rPr lang="en-US" sz="1600" b="0" u="none" strike="noStrike">
                <a:solidFill>
                  <a:schemeClr val="dk1"/>
                </a:solidFill>
                <a:effectLst/>
                <a:uFillTx/>
                <a:latin typeface="Arial"/>
              </a:rPr>
              <a:t> : Typical deployment scenario with distributed components.</a:t>
            </a:r>
            <a:endParaRPr lang="en-US" sz="1600" b="0" u="none" strike="noStrike">
              <a:solidFill>
                <a:schemeClr val="dk1"/>
              </a:solidFill>
              <a:effectLst/>
              <a:uFillTx/>
              <a:latin typeface="Aptos"/>
            </a:endParaRPr>
          </a:p>
          <a:p>
            <a:pPr marL="360000" indent="0" algn="l" defTabSz="914400">
              <a:lnSpc>
                <a:spcPct val="90000"/>
              </a:lnSpc>
              <a:spcBef>
                <a:spcPts val="150"/>
              </a:spcBef>
              <a:buNone/>
              <a:tabLst>
                <a:tab pos="0" algn="l"/>
              </a:tabLst>
            </a:pPr>
            <a:r>
              <a:rPr lang="en-US" sz="1600" b="1" u="none" strike="noStrike">
                <a:solidFill>
                  <a:schemeClr val="dk1"/>
                </a:solidFill>
                <a:effectLst/>
                <a:uFillTx/>
                <a:latin typeface="Arial"/>
              </a:rPr>
              <a:t>Hosted Chef</a:t>
            </a:r>
            <a:r>
              <a:rPr lang="en-US" sz="1600" b="0" u="none" strike="noStrike">
                <a:solidFill>
                  <a:schemeClr val="dk1"/>
                </a:solidFill>
                <a:effectLst/>
                <a:uFillTx/>
                <a:latin typeface="Arial"/>
              </a:rPr>
              <a:t> : Server hosted in the cloud</a:t>
            </a:r>
            <a:endParaRPr lang="en-US" sz="1600" b="0" u="none" strike="noStrike">
              <a:solidFill>
                <a:schemeClr val="dk1"/>
              </a:solidFill>
              <a:effectLst/>
              <a:uFillTx/>
              <a:latin typeface="Aptos"/>
            </a:endParaRPr>
          </a:p>
          <a:p>
            <a:pPr marL="360000" indent="0" algn="l" defTabSz="914400">
              <a:lnSpc>
                <a:spcPct val="90000"/>
              </a:lnSpc>
              <a:spcBef>
                <a:spcPts val="150"/>
              </a:spcBef>
              <a:buNone/>
              <a:tabLst>
                <a:tab pos="0" algn="l"/>
              </a:tabLst>
            </a:pPr>
            <a:r>
              <a:rPr lang="en-US" sz="1600" b="1" u="none" strike="noStrike">
                <a:solidFill>
                  <a:schemeClr val="dk1"/>
                </a:solidFill>
                <a:effectLst/>
                <a:uFillTx/>
                <a:latin typeface="Arial"/>
              </a:rPr>
              <a:t>Private Chef</a:t>
            </a:r>
            <a:r>
              <a:rPr lang="en-US" sz="1600" b="0" u="none" strike="noStrike">
                <a:solidFill>
                  <a:schemeClr val="dk1"/>
                </a:solidFill>
                <a:effectLst/>
                <a:uFillTx/>
                <a:latin typeface="Arial"/>
              </a:rPr>
              <a:t> : All the components are within the enterprise network.</a:t>
            </a:r>
            <a:endParaRPr lang="en-US" sz="1600" b="0" u="none" strike="noStrike">
              <a:solidFill>
                <a:schemeClr val="dk1"/>
              </a:solidFill>
              <a:effectLst/>
              <a:uFillTx/>
              <a:latin typeface="Aptos"/>
            </a:endParaRPr>
          </a:p>
          <a:p>
            <a:pPr indent="0" algn="l" defTabSz="914400">
              <a:lnSpc>
                <a:spcPct val="9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90000"/>
              </a:lnSpc>
              <a:spcBef>
                <a:spcPts val="150"/>
              </a:spcBef>
              <a:buNone/>
              <a:tabLst>
                <a:tab pos="0" algn="l"/>
              </a:tabLst>
            </a:pPr>
            <a:endParaRPr lang="en-US" sz="1600" b="0" u="none" strike="noStrike">
              <a:solidFill>
                <a:schemeClr val="dk1"/>
              </a:solidFill>
              <a:effectLst/>
              <a:uFillTx/>
              <a:latin typeface="Aptos"/>
            </a:endParaRPr>
          </a:p>
        </p:txBody>
      </p:sp>
      <p:sp>
        <p:nvSpPr>
          <p:cNvPr id="70" name=""/>
          <p:cNvSpPr/>
          <p:nvPr/>
        </p:nvSpPr>
        <p:spPr>
          <a:xfrm>
            <a:off x="0" y="945000"/>
            <a:ext cx="3959280" cy="5527080"/>
          </a:xfrm>
          <a:prstGeom prst="rect">
            <a:avLst/>
          </a:prstGeom>
          <a:noFill/>
          <a:ln w="0">
            <a:noFill/>
          </a:ln>
        </p:spPr>
        <p:style>
          <a:lnRef idx="0"/>
          <a:fillRef idx="0"/>
          <a:effectRef idx="0"/>
          <a:fontRef idx="minor"/>
        </p:style>
        <p:txBody>
          <a:bodyPr lIns="90000" tIns="45000" rIns="90000" bIns="45000" anchor="t">
            <a:spAutoFit/>
          </a:bodyPr>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OHAI, a service that is installed on the client is used to collect the current state of a node to send information back to the Chef server through Chef client service.</a:t>
            </a:r>
            <a:endParaRPr lang="en-AU"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Chef server compares the information sent by OHAI with the cookbooks and recipes stored in it.</a:t>
            </a:r>
            <a:endParaRPr lang="en-AU"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When a node needs recipe, Chef client handles the communication with Chef server about nodes requirement of updated configuration or recipe.</a:t>
            </a:r>
            <a:endParaRPr lang="en-AU"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Chef itself is written in Ruby and Erlang languages, whereas the recipes are written in Ruby with filename extension ‘.rb’ .</a:t>
            </a:r>
            <a:endParaRPr lang="en-AU"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All recipes and cookbooks examples can be found on </a:t>
            </a:r>
            <a:r>
              <a:rPr lang="en-US" sz="1400" b="0" u="none" strike="noStrike">
                <a:solidFill>
                  <a:srgbClr val="467886"/>
                </a:solidFill>
                <a:effectLst/>
                <a:uFillTx/>
                <a:latin typeface="Arial"/>
                <a:ea typeface="Microsoft YaHei"/>
                <a:hlinkClick r:id="rId1"/>
              </a:rPr>
              <a:t>GitHub</a:t>
            </a:r>
            <a:r>
              <a:rPr lang="en-US" sz="1400" b="0" u="none" strike="noStrike">
                <a:solidFill>
                  <a:srgbClr val="000000"/>
                </a:solidFill>
                <a:effectLst/>
                <a:uFillTx/>
                <a:latin typeface="Arial"/>
                <a:ea typeface="Microsoft YaHei"/>
              </a:rPr>
              <a:t>.</a:t>
            </a:r>
            <a:endParaRPr lang="en-AU"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With Chef, </a:t>
            </a:r>
            <a:r>
              <a:rPr lang="en-US" sz="1400" b="1" u="none" strike="noStrike">
                <a:solidFill>
                  <a:srgbClr val="000000"/>
                </a:solidFill>
                <a:effectLst/>
                <a:uFillTx/>
                <a:latin typeface="Arial"/>
                <a:ea typeface="Microsoft YaHei"/>
              </a:rPr>
              <a:t>kitchen</a:t>
            </a:r>
            <a:r>
              <a:rPr lang="en-US" sz="1400" b="0" u="none" strike="noStrike">
                <a:solidFill>
                  <a:srgbClr val="000000"/>
                </a:solidFill>
                <a:effectLst/>
                <a:uFillTx/>
                <a:latin typeface="Arial"/>
                <a:ea typeface="Microsoft YaHei"/>
              </a:rPr>
              <a:t> is the place (test environment) where recipes and cookbooks can be tested before deploying into production environment.</a:t>
            </a:r>
            <a:endParaRPr lang="en-AU"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tabLst>
                <a:tab pos="0" algn="l"/>
              </a:tabLst>
            </a:pPr>
            <a:r>
              <a:rPr lang="en-US" sz="1400" b="0" u="none" strike="noStrike">
                <a:solidFill>
                  <a:srgbClr val="000000"/>
                </a:solidFill>
                <a:effectLst/>
                <a:uFillTx/>
                <a:latin typeface="Arial"/>
                <a:ea typeface="Microsoft YaHei"/>
              </a:rPr>
              <a:t>With kitchen testing can be done within the enterprise environment or across public cloud providers and virtualization technology.</a:t>
            </a:r>
            <a:endParaRPr lang="en-AU" sz="1400" b="0" u="none" strike="noStrike">
              <a:solidFill>
                <a:srgbClr val="000000"/>
              </a:solidFill>
              <a:effectLst/>
              <a:uFillTx/>
              <a:latin typeface="Arial"/>
            </a:endParaRPr>
          </a:p>
          <a:p>
            <a:pPr marL="360000" defTabSz="914400">
              <a:lnSpc>
                <a:spcPct val="100000"/>
              </a:lnSpc>
              <a:spcBef>
                <a:spcPts val="283"/>
              </a:spcBef>
              <a:spcAft>
                <a:spcPts val="283"/>
              </a:spcAft>
              <a:tabLst>
                <a:tab pos="0" algn="l"/>
              </a:tabLst>
            </a:pPr>
            <a:endParaRPr lang="en-AU" sz="1200" b="0" u="none" strike="noStrike">
              <a:solidFill>
                <a:srgbClr val="000000"/>
              </a:solidFill>
              <a:effectLst/>
              <a:uFillTx/>
              <a:latin typeface="Arial"/>
            </a:endParaRPr>
          </a:p>
          <a:p>
            <a:pPr marL="360000" defTabSz="914400">
              <a:lnSpc>
                <a:spcPct val="100000"/>
              </a:lnSpc>
              <a:tabLst>
                <a:tab pos="0" algn="l"/>
              </a:tabLst>
            </a:pPr>
            <a:endParaRPr lang="en-AU" sz="1400" b="0" u="none" strike="noStrike">
              <a:solidFill>
                <a:srgbClr val="000000"/>
              </a:solidFill>
              <a:effectLst/>
              <a:uFillTx/>
              <a:latin typeface="Arial"/>
            </a:endParaRPr>
          </a:p>
          <a:p>
            <a:pPr marL="360000" defTabSz="914400">
              <a:lnSpc>
                <a:spcPct val="100000"/>
              </a:lnSpc>
              <a:tabLst>
                <a:tab pos="0" algn="l"/>
              </a:tabLst>
            </a:pPr>
            <a:endParaRPr lang="en-AU" sz="1400" b="0" u="none" strike="noStrike">
              <a:solidFill>
                <a:srgbClr val="000000"/>
              </a:solidFill>
              <a:effectLst/>
              <a:uFillTx/>
              <a:latin typeface="Arial"/>
            </a:endParaRPr>
          </a:p>
          <a:p>
            <a:pPr marL="360000" defTabSz="914400">
              <a:lnSpc>
                <a:spcPct val="100000"/>
              </a:lnSpc>
              <a:tabLst>
                <a:tab pos="0" algn="l"/>
              </a:tabLst>
            </a:pPr>
            <a:endParaRPr lang="en-AU" sz="1400" b="0" u="none" strike="noStrike">
              <a:solidFill>
                <a:srgbClr val="000000"/>
              </a:solidFill>
              <a:effectLst/>
              <a:uFillTx/>
              <a:latin typeface="Arial"/>
            </a:endParaRPr>
          </a:p>
        </p:txBody>
      </p:sp>
      <p:graphicFrame>
        <p:nvGraphicFramePr>
          <p:cNvPr id="71" name=""/>
          <p:cNvGraphicFramePr/>
          <p:nvPr/>
        </p:nvGraphicFramePr>
        <p:xfrm>
          <a:off x="4184640" y="427680"/>
          <a:ext cx="5678640" cy="1922760"/>
        </p:xfrm>
        <a:graphic>
          <a:graphicData uri="http://schemas.openxmlformats.org/drawingml/2006/table">
            <a:tbl>
              <a:tblPr/>
              <a:tblGrid>
                <a:gridCol w="1384560"/>
                <a:gridCol w="1562400"/>
                <a:gridCol w="2732040"/>
              </a:tblGrid>
              <a:tr h="257400">
                <a:tc>
                  <a:txBody>
                    <a:bodyPr lIns="36000" tIns="36000" rIns="36000" bIns="36000" anchor="t">
                      <a:noAutofit/>
                    </a:bodyPr>
                    <a:p>
                      <a:pPr>
                        <a:lnSpc>
                          <a:spcPct val="100000"/>
                        </a:lnSpc>
                      </a:pPr>
                      <a:r>
                        <a:rPr lang="en-AU" sz="1200" b="1" u="none" strike="noStrike">
                          <a:solidFill>
                            <a:srgbClr val="000000"/>
                          </a:solidFill>
                          <a:effectLst/>
                          <a:uFillTx/>
                          <a:latin typeface="Arial"/>
                        </a:rPr>
                        <a:t>Chef Components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c>
                  <a:txBody>
                    <a:bodyPr lIns="36000" tIns="36000" rIns="36000" bIns="36000" anchor="t">
                      <a:noAutofit/>
                    </a:bodyPr>
                    <a:p>
                      <a:pPr>
                        <a:lnSpc>
                          <a:spcPct val="100000"/>
                        </a:lnSpc>
                      </a:pPr>
                      <a:r>
                        <a:rPr lang="en-AU" sz="1200" b="1" u="none" strike="noStrike">
                          <a:solidFill>
                            <a:srgbClr val="000000"/>
                          </a:solidFill>
                          <a:effectLst/>
                          <a:uFillTx/>
                          <a:latin typeface="Arial"/>
                        </a:rPr>
                        <a:t>Puppet Components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c>
                  <a:txBody>
                    <a:bodyPr lIns="36000" tIns="36000" rIns="36000" bIns="36000" anchor="t">
                      <a:noAutofit/>
                    </a:bodyPr>
                    <a:p>
                      <a:pPr>
                        <a:lnSpc>
                          <a:spcPct val="100000"/>
                        </a:lnSpc>
                      </a:pPr>
                      <a:r>
                        <a:rPr lang="en-AU" sz="1200" b="1" u="none" strike="noStrike">
                          <a:solidFill>
                            <a:srgbClr val="000000"/>
                          </a:solidFill>
                          <a:effectLst/>
                          <a:uFillTx/>
                          <a:latin typeface="Arial"/>
                        </a:rPr>
                        <a:t>Description</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r>
              <a:tr h="246960">
                <a:tc>
                  <a:txBody>
                    <a:bodyPr lIns="36000" tIns="36000" rIns="36000" bIns="36000" anchor="t">
                      <a:noAutofit/>
                    </a:bodyPr>
                    <a:p>
                      <a:pPr>
                        <a:lnSpc>
                          <a:spcPct val="100000"/>
                        </a:lnSpc>
                      </a:pPr>
                      <a:r>
                        <a:rPr lang="en-AU" sz="1200" b="0" u="none" strike="noStrike">
                          <a:solidFill>
                            <a:srgbClr val="000000"/>
                          </a:solidFill>
                          <a:effectLst/>
                          <a:uFillTx/>
                          <a:latin typeface="Arial"/>
                        </a:rPr>
                        <a:t>Server</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Master</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Server/Master functions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61000">
                <a:tc>
                  <a:txBody>
                    <a:bodyPr lIns="36000" tIns="36000" rIns="36000" bIns="36000" anchor="t">
                      <a:noAutofit/>
                    </a:bodyPr>
                    <a:p>
                      <a:pPr>
                        <a:lnSpc>
                          <a:spcPct val="100000"/>
                        </a:lnSpc>
                      </a:pPr>
                      <a:r>
                        <a:rPr lang="en-AU" sz="1200" b="0" u="none" strike="noStrike">
                          <a:solidFill>
                            <a:srgbClr val="000000"/>
                          </a:solidFill>
                          <a:effectLst/>
                          <a:uFillTx/>
                          <a:latin typeface="Arial"/>
                        </a:rPr>
                        <a:t>Client</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Agent</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Client/Agent functions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72880">
                <a:tc>
                  <a:txBody>
                    <a:bodyPr lIns="36000" tIns="36000" rIns="36000" bIns="36000" anchor="t">
                      <a:noAutofit/>
                    </a:bodyPr>
                    <a:p>
                      <a:pPr>
                        <a:lnSpc>
                          <a:spcPct val="100000"/>
                        </a:lnSpc>
                      </a:pPr>
                      <a:r>
                        <a:rPr lang="en-AU" sz="1200" b="0" u="none" strike="noStrike">
                          <a:solidFill>
                            <a:srgbClr val="000000"/>
                          </a:solidFill>
                          <a:effectLst/>
                          <a:uFillTx/>
                          <a:latin typeface="Arial"/>
                        </a:rPr>
                        <a:t>Cookbook</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Module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Collection of code or files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pPr>
                        <a:lnSpc>
                          <a:spcPct val="100000"/>
                        </a:lnSpc>
                      </a:pPr>
                      <a:r>
                        <a:rPr lang="en-AU" sz="1200" b="0" u="none" strike="noStrike">
                          <a:solidFill>
                            <a:srgbClr val="000000"/>
                          </a:solidFill>
                          <a:effectLst/>
                          <a:uFillTx/>
                          <a:latin typeface="Arial"/>
                        </a:rPr>
                        <a:t>Recipe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Manifest</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Code being deployed to make configuration changes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pPr>
                        <a:lnSpc>
                          <a:spcPct val="100000"/>
                        </a:lnSpc>
                      </a:pPr>
                      <a:r>
                        <a:rPr lang="en-AU" sz="1200" b="0" u="none" strike="noStrike">
                          <a:solidFill>
                            <a:srgbClr val="000000"/>
                          </a:solidFill>
                          <a:effectLst/>
                          <a:uFillTx/>
                          <a:latin typeface="Arial"/>
                        </a:rPr>
                        <a:t>Workstation</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Console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Where users interact with configuration management tool and create code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Rectangle 9">
            <a:extLst>
              <a:ext uri="{C183D7F6-B498-43B3-948B-1728B52AA6E4}">
                <adec:decorative xmlns:adec="http://schemas.microsoft.com/office/drawing/2017/decorative" val="1"/>
              </a:ext>
            </a:extLst>
          </p:cNvPr>
          <p:cNvSpPr/>
          <p:nvPr/>
        </p:nvSpPr>
        <p:spPr>
          <a:xfrm>
            <a:off x="360" y="360"/>
            <a:ext cx="3957480" cy="89892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2.Agent Based Automation Tools</a:t>
            </a:r>
            <a:endParaRPr lang="en-AU" sz="2800" b="0" u="none" strike="noStrike">
              <a:solidFill>
                <a:srgbClr val="FFFFFF"/>
              </a:solidFill>
              <a:effectLst/>
              <a:uFillTx/>
              <a:latin typeface="Arial"/>
            </a:endParaRPr>
          </a:p>
        </p:txBody>
      </p:sp>
      <p:sp>
        <p:nvSpPr>
          <p:cNvPr id="73" name="PlaceHolder 1"/>
          <p:cNvSpPr>
            <a:spLocks noGrp="1"/>
          </p:cNvSpPr>
          <p:nvPr>
            <p:ph/>
          </p:nvPr>
        </p:nvSpPr>
        <p:spPr>
          <a:xfrm>
            <a:off x="4032000" y="36000"/>
            <a:ext cx="5939280" cy="5543280"/>
          </a:xfrm>
          <a:prstGeom prst="rect">
            <a:avLst/>
          </a:prstGeom>
          <a:noFill/>
          <a:ln w="0">
            <a:noFill/>
          </a:ln>
        </p:spPr>
        <p:txBody>
          <a:bodyPr lIns="91440" tIns="45720" rIns="91440" bIns="45720" anchor="t">
            <a:normAutofit fontScale="92500" lnSpcReduction="9999"/>
          </a:bodyPr>
          <a:p>
            <a:pPr indent="0" algn="l" defTabSz="914400">
              <a:lnSpc>
                <a:spcPct val="90000"/>
              </a:lnSpc>
              <a:spcBef>
                <a:spcPts val="1001"/>
              </a:spcBef>
              <a:buNone/>
              <a:tabLst>
                <a:tab pos="0" algn="l"/>
              </a:tabLst>
            </a:pPr>
            <a:r>
              <a:rPr lang="en-US" sz="1800" b="1" u="none" strike="noStrike">
                <a:solidFill>
                  <a:schemeClr val="dk1"/>
                </a:solidFill>
                <a:effectLst/>
                <a:uFillTx/>
                <a:latin typeface="Arial"/>
              </a:rPr>
              <a:t>SaltStack (Agent and Server Mode)</a:t>
            </a:r>
            <a:endParaRPr lang="en-US" sz="1800" b="0" u="none" strike="noStrike">
              <a:solidFill>
                <a:schemeClr val="dk1"/>
              </a:solidFill>
              <a:effectLst/>
              <a:uFillTx/>
              <a:latin typeface="Aptos"/>
            </a:endParaRPr>
          </a:p>
          <a:p>
            <a:pPr marL="162000" indent="-162000" algn="l" defTabSz="914400">
              <a:lnSpc>
                <a:spcPct val="9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rPr>
              <a:t>Another configuration management tool that is built with Python and has Python interface for users to code.</a:t>
            </a:r>
            <a:r>
              <a:rPr lang="en-US" sz="1600" b="1" u="none" strike="noStrike">
                <a:solidFill>
                  <a:schemeClr val="dk1"/>
                </a:solidFill>
                <a:effectLst/>
                <a:uFillTx/>
                <a:latin typeface="Arial"/>
              </a:rPr>
              <a:t> </a:t>
            </a:r>
            <a:endParaRPr lang="en-US" sz="1600" b="0" u="none" strike="noStrike">
              <a:solidFill>
                <a:schemeClr val="dk1"/>
              </a:solidFill>
              <a:effectLst/>
              <a:uFillTx/>
              <a:latin typeface="Aptos"/>
            </a:endParaRPr>
          </a:p>
          <a:p>
            <a:pPr marL="162000" indent="-162000" algn="l" defTabSz="914400">
              <a:lnSpc>
                <a:spcPct val="9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However most of the states and instructions that are sent to the agents known as </a:t>
            </a:r>
            <a:r>
              <a:rPr lang="en-US" sz="1600" b="1" u="none" strike="noStrike">
                <a:solidFill>
                  <a:schemeClr val="dk1"/>
                </a:solidFill>
                <a:effectLst/>
                <a:uFillTx/>
                <a:latin typeface="Arial"/>
                <a:ea typeface="Microsoft YaHei"/>
              </a:rPr>
              <a:t>Salt formulas</a:t>
            </a:r>
            <a:r>
              <a:rPr lang="en-US" sz="1600" b="0" u="none" strike="noStrike">
                <a:solidFill>
                  <a:schemeClr val="dk1"/>
                </a:solidFill>
                <a:effectLst/>
                <a:uFillTx/>
                <a:latin typeface="Arial"/>
                <a:ea typeface="Microsoft YaHei"/>
              </a:rPr>
              <a:t> are written in YAML or DSL.</a:t>
            </a:r>
            <a:endParaRPr lang="en-US" sz="1600" b="0" u="none" strike="noStrike">
              <a:solidFill>
                <a:schemeClr val="dk1"/>
              </a:solidFill>
              <a:effectLst/>
              <a:uFillTx/>
              <a:latin typeface="Aptos"/>
            </a:endParaRPr>
          </a:p>
          <a:p>
            <a:pPr marL="162000" indent="-162000" algn="l" defTabSz="914400">
              <a:lnSpc>
                <a:spcPct val="9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SaltStack uses the concept of </a:t>
            </a:r>
            <a:r>
              <a:rPr lang="en-US" sz="1600" b="1" u="none" strike="noStrike">
                <a:solidFill>
                  <a:schemeClr val="dk1"/>
                </a:solidFill>
                <a:effectLst/>
                <a:uFillTx/>
                <a:latin typeface="Arial"/>
                <a:ea typeface="Microsoft YaHei"/>
              </a:rPr>
              <a:t>systems, </a:t>
            </a:r>
            <a:r>
              <a:rPr lang="en-US" sz="1600" b="0" u="none" strike="noStrike">
                <a:solidFill>
                  <a:schemeClr val="dk1"/>
                </a:solidFill>
                <a:effectLst/>
                <a:uFillTx/>
                <a:latin typeface="Arial"/>
                <a:ea typeface="Microsoft YaHei"/>
              </a:rPr>
              <a:t>which</a:t>
            </a:r>
            <a:r>
              <a:rPr lang="en-US" sz="1600" b="1" u="none" strike="noStrike">
                <a:solidFill>
                  <a:schemeClr val="dk1"/>
                </a:solidFill>
                <a:effectLst/>
                <a:uFillTx/>
                <a:latin typeface="Arial"/>
                <a:ea typeface="Microsoft YaHei"/>
              </a:rPr>
              <a:t> </a:t>
            </a:r>
            <a:r>
              <a:rPr lang="en-US" sz="1600" b="0" u="none" strike="noStrike">
                <a:solidFill>
                  <a:schemeClr val="dk1"/>
                </a:solidFill>
                <a:effectLst/>
                <a:uFillTx/>
                <a:latin typeface="Arial"/>
                <a:ea typeface="Microsoft YaHei"/>
              </a:rPr>
              <a:t>are divided into various categories.</a:t>
            </a:r>
            <a:endParaRPr lang="en-US" sz="1600" b="0" u="none" strike="noStrike">
              <a:solidFill>
                <a:schemeClr val="dk1"/>
              </a:solidFill>
              <a:effectLst/>
              <a:uFillTx/>
              <a:latin typeface="Aptos"/>
            </a:endParaRPr>
          </a:p>
          <a:p>
            <a:pPr marL="162000" indent="-162000" algn="l" defTabSz="914400">
              <a:lnSpc>
                <a:spcPct val="9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Similar to Puppet master and agent, SaltStack uses </a:t>
            </a:r>
            <a:r>
              <a:rPr lang="en-US" sz="1600" b="1" u="none" strike="noStrike">
                <a:solidFill>
                  <a:schemeClr val="dk1"/>
                </a:solidFill>
                <a:effectLst/>
                <a:uFillTx/>
                <a:latin typeface="Arial"/>
                <a:ea typeface="Microsoft YaHei"/>
              </a:rPr>
              <a:t>Masters</a:t>
            </a:r>
            <a:r>
              <a:rPr lang="en-US" sz="1600" b="0" u="none" strike="noStrike">
                <a:solidFill>
                  <a:schemeClr val="dk1"/>
                </a:solidFill>
                <a:effectLst/>
                <a:uFillTx/>
                <a:latin typeface="Arial"/>
                <a:ea typeface="Microsoft YaHei"/>
              </a:rPr>
              <a:t> and </a:t>
            </a:r>
            <a:r>
              <a:rPr lang="en-US" sz="1600" b="1" u="none" strike="noStrike">
                <a:solidFill>
                  <a:schemeClr val="dk1"/>
                </a:solidFill>
                <a:effectLst/>
                <a:uFillTx/>
                <a:latin typeface="Arial"/>
                <a:ea typeface="Microsoft YaHei"/>
              </a:rPr>
              <a:t>Minions</a:t>
            </a:r>
            <a:r>
              <a:rPr lang="en-US" sz="1600" b="0" u="none" strike="noStrike">
                <a:solidFill>
                  <a:schemeClr val="dk1"/>
                </a:solidFill>
                <a:effectLst/>
                <a:uFillTx/>
                <a:latin typeface="Arial"/>
                <a:ea typeface="Microsoft YaHei"/>
              </a:rPr>
              <a:t>.</a:t>
            </a:r>
            <a:endParaRPr lang="en-US" sz="1600" b="0" u="none" strike="noStrike">
              <a:solidFill>
                <a:schemeClr val="dk1"/>
              </a:solidFill>
              <a:effectLst/>
              <a:uFillTx/>
              <a:latin typeface="Aptos"/>
            </a:endParaRPr>
          </a:p>
          <a:p>
            <a:pPr marL="162000" indent="-162000" algn="l" defTabSz="914400">
              <a:lnSpc>
                <a:spcPct val="9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SaltStack leverages distributed messaging platform called 0MQ (zeroMQ) for fast and reliable messaging through out the networking stack.</a:t>
            </a:r>
            <a:endParaRPr lang="en-US" sz="1600" b="0" u="none" strike="noStrike">
              <a:solidFill>
                <a:schemeClr val="dk1"/>
              </a:solidFill>
              <a:effectLst/>
              <a:uFillTx/>
              <a:latin typeface="Aptos"/>
            </a:endParaRPr>
          </a:p>
          <a:p>
            <a:pPr marL="162000" indent="-162000" algn="l" defTabSz="914400">
              <a:lnSpc>
                <a:spcPct val="9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It is an event driven technology that has </a:t>
            </a:r>
            <a:r>
              <a:rPr lang="en-US" sz="1600" b="1" u="none" strike="noStrike">
                <a:solidFill>
                  <a:schemeClr val="dk1"/>
                </a:solidFill>
                <a:effectLst/>
                <a:uFillTx/>
                <a:latin typeface="Arial"/>
                <a:ea typeface="Microsoft YaHei"/>
              </a:rPr>
              <a:t>reactors</a:t>
            </a:r>
            <a:r>
              <a:rPr lang="en-US" sz="1600" b="0" u="none" strike="noStrike">
                <a:solidFill>
                  <a:schemeClr val="dk1"/>
                </a:solidFill>
                <a:effectLst/>
                <a:uFillTx/>
                <a:latin typeface="Arial"/>
                <a:ea typeface="Microsoft YaHei"/>
              </a:rPr>
              <a:t> and </a:t>
            </a:r>
            <a:r>
              <a:rPr lang="en-US" sz="1600" b="1" u="none" strike="noStrike">
                <a:solidFill>
                  <a:schemeClr val="dk1"/>
                </a:solidFill>
                <a:effectLst/>
                <a:uFillTx/>
                <a:latin typeface="Arial"/>
                <a:ea typeface="Microsoft YaHei"/>
              </a:rPr>
              <a:t>beacons</a:t>
            </a:r>
            <a:r>
              <a:rPr lang="en-US" sz="1600" b="0" u="none" strike="noStrike">
                <a:solidFill>
                  <a:schemeClr val="dk1"/>
                </a:solidFill>
                <a:effectLst/>
                <a:uFillTx/>
                <a:latin typeface="Arial"/>
                <a:ea typeface="Microsoft YaHei"/>
              </a:rPr>
              <a:t>. </a:t>
            </a:r>
            <a:endParaRPr lang="en-US" sz="1600" b="0" u="none" strike="noStrike">
              <a:solidFill>
                <a:schemeClr val="dk1"/>
              </a:solidFill>
              <a:effectLst/>
              <a:uFillTx/>
              <a:latin typeface="Aptos"/>
            </a:endParaRPr>
          </a:p>
          <a:p>
            <a:pPr marL="162000" indent="-162000" algn="l" defTabSz="914400">
              <a:lnSpc>
                <a:spcPct val="9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A </a:t>
            </a:r>
            <a:r>
              <a:rPr lang="en-US" sz="1600" b="1" u="none" strike="noStrike">
                <a:solidFill>
                  <a:schemeClr val="dk1"/>
                </a:solidFill>
                <a:effectLst/>
                <a:uFillTx/>
                <a:latin typeface="Arial"/>
                <a:ea typeface="Microsoft YaHei"/>
              </a:rPr>
              <a:t>Reactor </a:t>
            </a:r>
            <a:r>
              <a:rPr lang="en-US" sz="1600" b="0" u="none" strike="noStrike">
                <a:solidFill>
                  <a:schemeClr val="dk1"/>
                </a:solidFill>
                <a:effectLst/>
                <a:uFillTx/>
                <a:latin typeface="Arial"/>
                <a:ea typeface="Microsoft YaHei"/>
              </a:rPr>
              <a:t>is on the masters and listens for any type of changes in nodes or device that differ from the desired state or configuration.</a:t>
            </a:r>
            <a:endParaRPr lang="en-US" sz="1600" b="0" u="none" strike="noStrike">
              <a:solidFill>
                <a:schemeClr val="dk1"/>
              </a:solidFill>
              <a:effectLst/>
              <a:uFillTx/>
              <a:latin typeface="Aptos"/>
            </a:endParaRPr>
          </a:p>
          <a:p>
            <a:pPr marL="162000" indent="-162000" algn="l" defTabSz="914400">
              <a:lnSpc>
                <a:spcPct val="90000"/>
              </a:lnSpc>
              <a:spcBef>
                <a:spcPts val="283"/>
              </a:spcBef>
              <a:spcAft>
                <a:spcPts val="283"/>
              </a:spcAft>
              <a:buClr>
                <a:srgbClr val="000000"/>
              </a:buClr>
              <a:buFont typeface="Arial"/>
              <a:buChar char="•"/>
              <a:tabLst>
                <a:tab pos="0" algn="l"/>
              </a:tabLst>
            </a:pPr>
            <a:r>
              <a:rPr lang="en-US" sz="1600" b="1" u="none" strike="noStrike">
                <a:solidFill>
                  <a:schemeClr val="dk1"/>
                </a:solidFill>
                <a:effectLst/>
                <a:uFillTx/>
                <a:latin typeface="Arial"/>
                <a:ea typeface="Microsoft YaHei"/>
              </a:rPr>
              <a:t>Beacons </a:t>
            </a:r>
            <a:r>
              <a:rPr lang="en-US" sz="1600" b="0" u="none" strike="noStrike">
                <a:solidFill>
                  <a:schemeClr val="dk1"/>
                </a:solidFill>
                <a:effectLst/>
                <a:uFillTx/>
                <a:latin typeface="Arial"/>
                <a:ea typeface="Microsoft YaHei"/>
              </a:rPr>
              <a:t>live on minions (similar to Puppet agents).</a:t>
            </a:r>
            <a:endParaRPr lang="en-US" sz="1600" b="0" u="none" strike="noStrike">
              <a:solidFill>
                <a:schemeClr val="dk1"/>
              </a:solidFill>
              <a:effectLst/>
              <a:uFillTx/>
              <a:latin typeface="Aptos"/>
            </a:endParaRPr>
          </a:p>
          <a:p>
            <a:pPr marL="162000" indent="-162000" algn="l" defTabSz="914400">
              <a:lnSpc>
                <a:spcPct val="90000"/>
              </a:lnSpc>
              <a:spcBef>
                <a:spcPts val="1001"/>
              </a:spcBef>
              <a:buClr>
                <a:srgbClr val="000000"/>
              </a:buClr>
              <a:buFont typeface="Arial"/>
              <a:buChar char="•"/>
              <a:tabLst>
                <a:tab pos="0" algn="l"/>
              </a:tabLst>
            </a:pPr>
            <a:r>
              <a:rPr lang="en-US" sz="1600" b="0" u="none" strike="noStrike">
                <a:solidFill>
                  <a:schemeClr val="dk1"/>
                </a:solidFill>
                <a:effectLst/>
                <a:uFillTx/>
                <a:latin typeface="Arial"/>
                <a:ea typeface="Microsoft YaHei"/>
              </a:rPr>
              <a:t>A process where beacon on minions notifies reactors on masters about the state or configuration changes is known as </a:t>
            </a:r>
            <a:r>
              <a:rPr lang="en-US" sz="1600" b="1" u="none" strike="noStrike">
                <a:solidFill>
                  <a:schemeClr val="dk1"/>
                </a:solidFill>
                <a:effectLst/>
                <a:uFillTx/>
                <a:latin typeface="Arial"/>
                <a:ea typeface="Microsoft YaHei"/>
              </a:rPr>
              <a:t>remote execution system</a:t>
            </a:r>
            <a:r>
              <a:rPr lang="en-US" sz="1600" b="0" u="none" strike="noStrike">
                <a:solidFill>
                  <a:schemeClr val="dk1"/>
                </a:solidFill>
                <a:effectLst/>
                <a:uFillTx/>
                <a:latin typeface="Arial"/>
                <a:ea typeface="Microsoft YaHei"/>
              </a:rPr>
              <a:t>.</a:t>
            </a:r>
            <a:endParaRPr lang="en-US" sz="1600" b="0" u="none" strike="noStrike">
              <a:solidFill>
                <a:schemeClr val="dk1"/>
              </a:solidFill>
              <a:effectLst/>
              <a:uFillTx/>
              <a:latin typeface="Aptos"/>
            </a:endParaRPr>
          </a:p>
          <a:p>
            <a:pPr marL="162000" indent="-162000" algn="l" defTabSz="914400">
              <a:lnSpc>
                <a:spcPct val="90000"/>
              </a:lnSpc>
              <a:spcBef>
                <a:spcPts val="1001"/>
              </a:spcBef>
              <a:buClr>
                <a:srgbClr val="000000"/>
              </a:buClr>
              <a:buFont typeface="Arial"/>
              <a:buChar char="•"/>
              <a:tabLst>
                <a:tab pos="0" algn="l"/>
              </a:tabLst>
            </a:pPr>
            <a:r>
              <a:rPr lang="en-US" sz="1600" b="0" u="none" strike="noStrike">
                <a:solidFill>
                  <a:schemeClr val="dk1"/>
                </a:solidFill>
                <a:effectLst/>
                <a:uFillTx/>
                <a:latin typeface="Arial"/>
                <a:ea typeface="Microsoft YaHei"/>
              </a:rPr>
              <a:t>Any command issued from masters to minions is known as </a:t>
            </a:r>
            <a:r>
              <a:rPr lang="en-US" sz="1600" b="1" u="none" strike="noStrike">
                <a:solidFill>
                  <a:schemeClr val="dk1"/>
                </a:solidFill>
                <a:effectLst/>
                <a:uFillTx/>
                <a:latin typeface="Arial"/>
                <a:ea typeface="Microsoft YaHei"/>
              </a:rPr>
              <a:t>job</a:t>
            </a:r>
            <a:r>
              <a:rPr lang="en-US" sz="1600" b="0" u="none" strike="noStrike">
                <a:solidFill>
                  <a:schemeClr val="dk1"/>
                </a:solidFill>
                <a:effectLst/>
                <a:uFillTx/>
                <a:latin typeface="Arial"/>
                <a:ea typeface="Microsoft YaHei"/>
              </a:rPr>
              <a:t>.</a:t>
            </a:r>
            <a:endParaRPr lang="en-US" sz="1600" b="0" u="none" strike="noStrike">
              <a:solidFill>
                <a:schemeClr val="dk1"/>
              </a:solidFill>
              <a:effectLst/>
              <a:uFillTx/>
              <a:latin typeface="Aptos"/>
            </a:endParaRPr>
          </a:p>
          <a:p>
            <a:pPr indent="0" algn="l" defTabSz="914400">
              <a:lnSpc>
                <a:spcPct val="9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90000"/>
              </a:lnSpc>
              <a:spcBef>
                <a:spcPts val="150"/>
              </a:spcBef>
              <a:buNone/>
              <a:tabLst>
                <a:tab pos="0" algn="l"/>
              </a:tabLst>
            </a:pPr>
            <a:endParaRPr lang="en-US" sz="1600" b="0" u="none" strike="noStrike">
              <a:solidFill>
                <a:schemeClr val="dk1"/>
              </a:solidFill>
              <a:effectLst/>
              <a:uFillTx/>
              <a:latin typeface="Aptos"/>
            </a:endParaRPr>
          </a:p>
        </p:txBody>
      </p:sp>
      <p:sp>
        <p:nvSpPr>
          <p:cNvPr id="74" name=""/>
          <p:cNvSpPr/>
          <p:nvPr/>
        </p:nvSpPr>
        <p:spPr>
          <a:xfrm>
            <a:off x="0" y="945000"/>
            <a:ext cx="3959280" cy="5633280"/>
          </a:xfrm>
          <a:prstGeom prst="rect">
            <a:avLst/>
          </a:prstGeom>
          <a:noFill/>
          <a:ln w="0">
            <a:noFill/>
          </a:ln>
        </p:spPr>
        <p:style>
          <a:lnRef idx="0"/>
          <a:fillRef idx="0"/>
          <a:effectRef idx="0"/>
          <a:fontRef idx="minor"/>
        </p:style>
        <p:txBody>
          <a:bodyPr lIns="90000" tIns="45000" rIns="90000" bIns="45000" anchor="t">
            <a:spAutoFit/>
          </a:bodyPr>
          <a:p>
            <a:pPr marL="216000" indent="-216000" defTabSz="914400">
              <a:lnSpc>
                <a:spcPct val="100000"/>
              </a:lnSpc>
              <a:spcBef>
                <a:spcPts val="567"/>
              </a:spcBef>
              <a:spcAft>
                <a:spcPts val="567"/>
              </a:spcAft>
              <a:buClr>
                <a:srgbClr val="000000"/>
              </a:buClr>
              <a:buSzPct val="45000"/>
              <a:buFont typeface="Wingdings" charset="2"/>
              <a:buChar char=""/>
              <a:tabLst>
                <a:tab pos="0" algn="l"/>
              </a:tabLst>
            </a:pPr>
            <a:r>
              <a:rPr lang="en-US" sz="1500" b="0" u="none" strike="noStrike">
                <a:solidFill>
                  <a:srgbClr val="000000"/>
                </a:solidFill>
                <a:effectLst/>
                <a:uFillTx/>
                <a:latin typeface="Arial"/>
                <a:ea typeface="Microsoft YaHei"/>
              </a:rPr>
              <a:t>Instead of modules and manifests in Puppet, Saltstack uses </a:t>
            </a:r>
            <a:r>
              <a:rPr lang="en-US" sz="1500" b="1" u="none" strike="noStrike">
                <a:solidFill>
                  <a:srgbClr val="000000"/>
                </a:solidFill>
                <a:effectLst/>
                <a:uFillTx/>
                <a:latin typeface="Arial"/>
                <a:ea typeface="Microsoft YaHei"/>
              </a:rPr>
              <a:t>pillars</a:t>
            </a:r>
            <a:r>
              <a:rPr lang="en-US" sz="1500" b="0" u="none" strike="noStrike">
                <a:solidFill>
                  <a:srgbClr val="000000"/>
                </a:solidFill>
                <a:effectLst/>
                <a:uFillTx/>
                <a:latin typeface="Arial"/>
                <a:ea typeface="Microsoft YaHei"/>
              </a:rPr>
              <a:t> and </a:t>
            </a:r>
            <a:r>
              <a:rPr lang="en-US" sz="1500" b="1" u="none" strike="noStrike">
                <a:solidFill>
                  <a:srgbClr val="000000"/>
                </a:solidFill>
                <a:effectLst/>
                <a:uFillTx/>
                <a:latin typeface="Arial"/>
                <a:ea typeface="Microsoft YaHei"/>
              </a:rPr>
              <a:t>grains.</a:t>
            </a:r>
            <a:endParaRPr lang="en-AU" sz="1500" b="0" u="none" strike="noStrike">
              <a:solidFill>
                <a:srgbClr val="000000"/>
              </a:solidFill>
              <a:effectLst/>
              <a:uFillTx/>
              <a:latin typeface="Arial"/>
            </a:endParaRPr>
          </a:p>
          <a:p>
            <a:pPr marL="216000" indent="-216000" defTabSz="914400">
              <a:lnSpc>
                <a:spcPct val="100000"/>
              </a:lnSpc>
              <a:spcBef>
                <a:spcPts val="567"/>
              </a:spcBef>
              <a:spcAft>
                <a:spcPts val="567"/>
              </a:spcAft>
              <a:buClr>
                <a:srgbClr val="000000"/>
              </a:buClr>
              <a:buSzPct val="45000"/>
              <a:buFont typeface="Wingdings" charset="2"/>
              <a:buChar char=""/>
              <a:tabLst>
                <a:tab pos="0" algn="l"/>
              </a:tabLst>
            </a:pPr>
            <a:r>
              <a:rPr lang="en-US" sz="1500" b="0" u="none" strike="noStrike">
                <a:solidFill>
                  <a:srgbClr val="000000"/>
                </a:solidFill>
                <a:effectLst/>
                <a:uFillTx/>
                <a:latin typeface="Arial"/>
                <a:ea typeface="Microsoft YaHei"/>
              </a:rPr>
              <a:t>And similar to Chef’s OHAI, SaltStack grains that live on minions, collect system state to send back to masters.</a:t>
            </a:r>
            <a:r>
              <a:rPr lang="en-US" sz="1500" b="1" u="none" strike="noStrike">
                <a:solidFill>
                  <a:srgbClr val="000000"/>
                </a:solidFill>
                <a:effectLst/>
                <a:uFillTx/>
                <a:latin typeface="Arial"/>
                <a:ea typeface="Microsoft YaHei"/>
              </a:rPr>
              <a:t> </a:t>
            </a:r>
            <a:endParaRPr lang="en-AU" sz="1500" b="0" u="none" strike="noStrike">
              <a:solidFill>
                <a:srgbClr val="000000"/>
              </a:solidFill>
              <a:effectLst/>
              <a:uFillTx/>
              <a:latin typeface="Arial"/>
            </a:endParaRPr>
          </a:p>
          <a:p>
            <a:pPr marL="216000" indent="-216000" defTabSz="914400">
              <a:lnSpc>
                <a:spcPct val="100000"/>
              </a:lnSpc>
              <a:spcBef>
                <a:spcPts val="567"/>
              </a:spcBef>
              <a:spcAft>
                <a:spcPts val="567"/>
              </a:spcAft>
              <a:buClr>
                <a:srgbClr val="000000"/>
              </a:buClr>
              <a:buSzPct val="45000"/>
              <a:buFont typeface="Wingdings" charset="2"/>
              <a:buChar char=""/>
              <a:tabLst>
                <a:tab pos="0" algn="l"/>
              </a:tabLst>
            </a:pPr>
            <a:r>
              <a:rPr lang="en-US" sz="1500" b="0" u="none" strike="noStrike">
                <a:solidFill>
                  <a:srgbClr val="000000"/>
                </a:solidFill>
                <a:effectLst/>
                <a:uFillTx/>
                <a:latin typeface="Arial"/>
                <a:ea typeface="Microsoft YaHei"/>
              </a:rPr>
              <a:t>Pillars on the other hand lives on masters and store data that minions can retrieve.</a:t>
            </a:r>
            <a:endParaRPr lang="en-AU" sz="1500" b="0" u="none" strike="noStrike">
              <a:solidFill>
                <a:srgbClr val="000000"/>
              </a:solidFill>
              <a:effectLst/>
              <a:uFillTx/>
              <a:latin typeface="Arial"/>
            </a:endParaRPr>
          </a:p>
          <a:p>
            <a:pPr marL="216000" indent="-216000" defTabSz="914400">
              <a:lnSpc>
                <a:spcPct val="100000"/>
              </a:lnSpc>
              <a:spcBef>
                <a:spcPts val="567"/>
              </a:spcBef>
              <a:spcAft>
                <a:spcPts val="567"/>
              </a:spcAft>
              <a:buClr>
                <a:srgbClr val="000000"/>
              </a:buClr>
              <a:buSzPct val="45000"/>
              <a:buFont typeface="Wingdings" charset="2"/>
              <a:buChar char=""/>
              <a:tabLst>
                <a:tab pos="0" algn="l"/>
              </a:tabLst>
            </a:pPr>
            <a:r>
              <a:rPr lang="en-US" sz="1500" b="0" u="none" strike="noStrike">
                <a:solidFill>
                  <a:srgbClr val="000000"/>
                </a:solidFill>
                <a:effectLst/>
                <a:uFillTx/>
                <a:latin typeface="Arial"/>
                <a:ea typeface="Microsoft YaHei"/>
              </a:rPr>
              <a:t>Pillars can also have certain minions assigned to it and it stores data that is needed to those minions only.</a:t>
            </a:r>
            <a:endParaRPr lang="en-AU" sz="1500" b="0" u="none" strike="noStrike">
              <a:solidFill>
                <a:srgbClr val="000000"/>
              </a:solidFill>
              <a:effectLst/>
              <a:uFillTx/>
              <a:latin typeface="Arial"/>
            </a:endParaRPr>
          </a:p>
          <a:p>
            <a:pPr marL="216000" indent="-216000" defTabSz="914400">
              <a:lnSpc>
                <a:spcPct val="100000"/>
              </a:lnSpc>
              <a:spcBef>
                <a:spcPts val="567"/>
              </a:spcBef>
              <a:spcAft>
                <a:spcPts val="567"/>
              </a:spcAft>
              <a:buClr>
                <a:srgbClr val="000000"/>
              </a:buClr>
              <a:buSzPct val="45000"/>
              <a:buFont typeface="Wingdings" charset="2"/>
              <a:buChar char=""/>
              <a:tabLst>
                <a:tab pos="0" algn="l"/>
              </a:tabLst>
            </a:pPr>
            <a:r>
              <a:rPr lang="en-US" sz="1500" b="0" u="none" strike="noStrike">
                <a:solidFill>
                  <a:srgbClr val="000000"/>
                </a:solidFill>
                <a:effectLst/>
                <a:uFillTx/>
                <a:latin typeface="Arial"/>
                <a:ea typeface="Microsoft YaHei"/>
              </a:rPr>
              <a:t>Confidential and sensitive information that can be shared with specific minions only can be secured by assigning specific minions to pillars that store such data.</a:t>
            </a:r>
            <a:endParaRPr lang="en-AU" sz="1500" b="0" u="none" strike="noStrike">
              <a:solidFill>
                <a:srgbClr val="000000"/>
              </a:solidFill>
              <a:effectLst/>
              <a:uFillTx/>
              <a:latin typeface="Arial"/>
            </a:endParaRPr>
          </a:p>
          <a:p>
            <a:pPr marL="216000" indent="-216000" defTabSz="914400">
              <a:lnSpc>
                <a:spcPct val="100000"/>
              </a:lnSpc>
              <a:spcBef>
                <a:spcPts val="567"/>
              </a:spcBef>
              <a:spcAft>
                <a:spcPts val="567"/>
              </a:spcAft>
              <a:buClr>
                <a:srgbClr val="000000"/>
              </a:buClr>
              <a:buSzPct val="45000"/>
              <a:buFont typeface="Wingdings" charset="2"/>
              <a:buChar char=""/>
              <a:tabLst>
                <a:tab pos="0" algn="l"/>
              </a:tabLst>
            </a:pPr>
            <a:r>
              <a:rPr lang="en-US" sz="1500" b="0" u="none" strike="noStrike">
                <a:solidFill>
                  <a:srgbClr val="000000"/>
                </a:solidFill>
                <a:effectLst/>
                <a:uFillTx/>
                <a:latin typeface="Arial"/>
                <a:ea typeface="Microsoft YaHei"/>
              </a:rPr>
              <a:t>SaltStack is also very scalable and can be deployed in very large scale.</a:t>
            </a:r>
            <a:endParaRPr lang="en-AU" sz="1500" b="0" u="none" strike="noStrike">
              <a:solidFill>
                <a:srgbClr val="000000"/>
              </a:solidFill>
              <a:effectLst/>
              <a:uFillTx/>
              <a:latin typeface="Arial"/>
            </a:endParaRPr>
          </a:p>
          <a:p>
            <a:pPr marL="216000" indent="-216000" defTabSz="914400">
              <a:lnSpc>
                <a:spcPct val="100000"/>
              </a:lnSpc>
              <a:spcBef>
                <a:spcPts val="567"/>
              </a:spcBef>
              <a:spcAft>
                <a:spcPts val="567"/>
              </a:spcAft>
              <a:buClr>
                <a:srgbClr val="000000"/>
              </a:buClr>
              <a:buSzPct val="45000"/>
              <a:buFont typeface="Wingdings" charset="2"/>
              <a:buChar char=""/>
              <a:tabLst>
                <a:tab pos="0" algn="l"/>
              </a:tabLst>
            </a:pPr>
            <a:r>
              <a:rPr lang="en-US" sz="1500" b="0" u="none" strike="noStrike">
                <a:solidFill>
                  <a:srgbClr val="000000"/>
                </a:solidFill>
                <a:effectLst/>
                <a:uFillTx/>
                <a:latin typeface="Arial"/>
                <a:ea typeface="Microsoft YaHei"/>
              </a:rPr>
              <a:t>It has a GUI called SynDic for enterprise version, which can be used as master of masters in large deployments.</a:t>
            </a:r>
            <a:endParaRPr lang="en-AU" sz="1500" b="0" u="none" strike="noStrike">
              <a:solidFill>
                <a:srgbClr val="000000"/>
              </a:solidFill>
              <a:effectLst/>
              <a:uFillTx/>
              <a:latin typeface="Arial"/>
            </a:endParaRPr>
          </a:p>
          <a:p>
            <a:pPr marL="360000" defTabSz="914400">
              <a:lnSpc>
                <a:spcPct val="100000"/>
              </a:lnSpc>
              <a:spcBef>
                <a:spcPts val="283"/>
              </a:spcBef>
              <a:spcAft>
                <a:spcPts val="283"/>
              </a:spcAft>
              <a:tabLst>
                <a:tab pos="0" algn="l"/>
              </a:tabLst>
            </a:pPr>
            <a:endParaRPr lang="en-AU" sz="1200" b="0" u="none" strike="noStrike">
              <a:solidFill>
                <a:srgbClr val="000000"/>
              </a:solidFill>
              <a:effectLst/>
              <a:uFillTx/>
              <a:latin typeface="Arial"/>
            </a:endParaRPr>
          </a:p>
          <a:p>
            <a:pPr marL="360000" defTabSz="914400">
              <a:lnSpc>
                <a:spcPct val="100000"/>
              </a:lnSpc>
              <a:tabLst>
                <a:tab pos="0" algn="l"/>
              </a:tabLst>
            </a:pPr>
            <a:endParaRPr lang="en-AU" sz="1400" b="0" u="none" strike="noStrike">
              <a:solidFill>
                <a:srgbClr val="000000"/>
              </a:solidFill>
              <a:effectLst/>
              <a:uFillTx/>
              <a:latin typeface="Arial"/>
            </a:endParaRPr>
          </a:p>
          <a:p>
            <a:pPr marL="360000" defTabSz="914400">
              <a:lnSpc>
                <a:spcPct val="100000"/>
              </a:lnSpc>
              <a:tabLst>
                <a:tab pos="0" algn="l"/>
              </a:tabLst>
            </a:pPr>
            <a:endParaRPr lang="en-AU" sz="1400" b="0" u="none" strike="noStrike">
              <a:solidFill>
                <a:srgbClr val="000000"/>
              </a:solidFill>
              <a:effectLst/>
              <a:uFillTx/>
              <a:latin typeface="Arial"/>
            </a:endParaRPr>
          </a:p>
          <a:p>
            <a:pPr marL="360000" defTabSz="914400">
              <a:lnSpc>
                <a:spcPct val="100000"/>
              </a:lnSpc>
              <a:tabLst>
                <a:tab pos="0" algn="l"/>
              </a:tabLst>
            </a:pPr>
            <a:endParaRPr lang="en-AU"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 name="Rectangle 10">
            <a:extLst>
              <a:ext uri="{C183D7F6-B498-43B3-948B-1728B52AA6E4}">
                <adec:decorative xmlns:adec="http://schemas.microsoft.com/office/drawing/2017/decorative" val="1"/>
              </a:ext>
            </a:extLst>
          </p:cNvPr>
          <p:cNvSpPr/>
          <p:nvPr/>
        </p:nvSpPr>
        <p:spPr>
          <a:xfrm>
            <a:off x="360" y="360"/>
            <a:ext cx="3957480" cy="89892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2.Agent Based Automation Tools</a:t>
            </a:r>
            <a:endParaRPr lang="en-AU" sz="2800" b="0" u="none" strike="noStrike">
              <a:solidFill>
                <a:srgbClr val="FFFFFF"/>
              </a:solidFill>
              <a:effectLst/>
              <a:uFillTx/>
              <a:latin typeface="Arial"/>
            </a:endParaRPr>
          </a:p>
        </p:txBody>
      </p:sp>
      <p:sp>
        <p:nvSpPr>
          <p:cNvPr id="76" name="PlaceHolder 1"/>
          <p:cNvSpPr>
            <a:spLocks noGrp="1"/>
          </p:cNvSpPr>
          <p:nvPr>
            <p:ph/>
          </p:nvPr>
        </p:nvSpPr>
        <p:spPr>
          <a:xfrm>
            <a:off x="4032000" y="36000"/>
            <a:ext cx="5939280" cy="5543280"/>
          </a:xfrm>
          <a:prstGeom prst="rect">
            <a:avLst/>
          </a:prstGeom>
          <a:noFill/>
          <a:ln w="0">
            <a:noFill/>
          </a:ln>
        </p:spPr>
        <p:txBody>
          <a:bodyPr lIns="91440" tIns="45720" rIns="91440" bIns="45720" anchor="t">
            <a:normAutofit/>
          </a:bodyPr>
          <a:p>
            <a:pPr marL="162000" indent="-162000" algn="l" defTabSz="914400">
              <a:lnSpc>
                <a:spcPct val="90000"/>
              </a:lnSpc>
              <a:spcBef>
                <a:spcPts val="434"/>
              </a:spcBef>
              <a:buClr>
                <a:srgbClr val="000000"/>
              </a:buClr>
              <a:buFont typeface="Arial"/>
              <a:buChar char="•"/>
            </a:pPr>
            <a:r>
              <a:rPr lang="en-US" sz="1600" b="0" u="none" strike="noStrike">
                <a:solidFill>
                  <a:schemeClr val="dk1"/>
                </a:solidFill>
                <a:effectLst/>
                <a:uFillTx/>
                <a:latin typeface="Arial"/>
              </a:rPr>
              <a:t>SaltStack command structure contains </a:t>
            </a:r>
            <a:r>
              <a:rPr lang="en-US" sz="1600" b="1" u="none" strike="noStrike">
                <a:solidFill>
                  <a:schemeClr val="dk1"/>
                </a:solidFill>
                <a:effectLst/>
                <a:uFillTx/>
                <a:latin typeface="Arial"/>
              </a:rPr>
              <a:t>targets, commands </a:t>
            </a:r>
            <a:r>
              <a:rPr lang="en-US" sz="1600" b="0" u="none" strike="noStrike">
                <a:solidFill>
                  <a:schemeClr val="dk1"/>
                </a:solidFill>
                <a:effectLst/>
                <a:uFillTx/>
                <a:latin typeface="Arial"/>
              </a:rPr>
              <a:t>and</a:t>
            </a:r>
            <a:r>
              <a:rPr lang="en-US" sz="1600" b="1" u="none" strike="noStrike">
                <a:solidFill>
                  <a:schemeClr val="dk1"/>
                </a:solidFill>
                <a:effectLst/>
                <a:uFillTx/>
                <a:latin typeface="Arial"/>
              </a:rPr>
              <a:t> arguments.</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pPr>
            <a:r>
              <a:rPr lang="en-US" sz="1600" b="0" u="none" strike="noStrike">
                <a:solidFill>
                  <a:schemeClr val="dk1"/>
                </a:solidFill>
                <a:effectLst/>
                <a:uFillTx/>
                <a:latin typeface="Arial"/>
              </a:rPr>
              <a:t> Target is the desired system that the command should run.</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pPr>
            <a:r>
              <a:rPr lang="en-US" sz="1600" b="0" u="none" strike="noStrike">
                <a:solidFill>
                  <a:schemeClr val="dk1"/>
                </a:solidFill>
                <a:effectLst/>
                <a:uFillTx/>
                <a:latin typeface="Arial"/>
              </a:rPr>
              <a:t> Any system can be specified as target with MinionID.</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pPr>
            <a:r>
              <a:rPr lang="en-US" sz="1600" b="0" u="none" strike="noStrike">
                <a:solidFill>
                  <a:schemeClr val="dk1"/>
                </a:solidFill>
                <a:effectLst/>
                <a:uFillTx/>
                <a:latin typeface="Arial"/>
              </a:rPr>
              <a:t>It’s common to target all systems with asterisk (*) and </a:t>
            </a:r>
            <a:r>
              <a:rPr lang="en-US" sz="1600" b="1" u="none" strike="noStrike">
                <a:solidFill>
                  <a:schemeClr val="dk1"/>
                </a:solidFill>
                <a:effectLst/>
                <a:uFillTx/>
                <a:latin typeface="Arial"/>
              </a:rPr>
              <a:t>globbing</a:t>
            </a:r>
            <a:r>
              <a:rPr lang="en-US" sz="1600" b="0" u="none" strike="noStrike">
                <a:solidFill>
                  <a:schemeClr val="dk1"/>
                </a:solidFill>
                <a:effectLst/>
                <a:uFillTx/>
                <a:latin typeface="Arial"/>
              </a:rPr>
              <a:t> can be used to specify selective systems as targets. </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pPr>
            <a:r>
              <a:rPr lang="en-US" sz="1600" b="0" u="none" strike="noStrike">
                <a:solidFill>
                  <a:schemeClr val="dk1"/>
                </a:solidFill>
                <a:effectLst/>
                <a:uFillTx/>
                <a:latin typeface="Arial"/>
              </a:rPr>
              <a:t>For example with globbing, to target systems that has MinionID starting with Minion can be done with Minion*.</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pPr>
            <a:r>
              <a:rPr lang="en-US" sz="1600" b="0" u="none" strike="noStrike">
                <a:solidFill>
                  <a:schemeClr val="dk1"/>
                </a:solidFill>
                <a:effectLst/>
                <a:uFillTx/>
                <a:latin typeface="Arial"/>
              </a:rPr>
              <a:t>Commands follow structure </a:t>
            </a:r>
            <a:r>
              <a:rPr lang="en-US" sz="1600" b="0" i="1" u="none" strike="noStrike">
                <a:solidFill>
                  <a:schemeClr val="dk1"/>
                </a:solidFill>
                <a:effectLst/>
                <a:uFillTx/>
                <a:latin typeface="Arial"/>
              </a:rPr>
              <a:t>module.function</a:t>
            </a:r>
            <a:r>
              <a:rPr lang="en-US" sz="1600" b="0" u="none" strike="noStrike">
                <a:solidFill>
                  <a:schemeClr val="dk1"/>
                </a:solidFill>
                <a:effectLst/>
                <a:uFillTx/>
                <a:latin typeface="Arial"/>
              </a:rPr>
              <a:t> such as cmd.run and network.interfaces</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pPr>
            <a:r>
              <a:rPr lang="en-US" sz="1600" b="0" u="none" strike="noStrike">
                <a:solidFill>
                  <a:schemeClr val="dk1"/>
                </a:solidFill>
                <a:effectLst/>
                <a:uFillTx/>
                <a:latin typeface="Arial"/>
              </a:rPr>
              <a:t>Arguments are like normal argument that provides details to the commands.</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pPr>
            <a:r>
              <a:rPr lang="en-US" sz="1600" b="0" u="none" strike="noStrike">
                <a:solidFill>
                  <a:schemeClr val="dk1"/>
                </a:solidFill>
                <a:effectLst/>
                <a:uFillTx/>
                <a:latin typeface="Arial"/>
              </a:rPr>
              <a:t>In a SaltStack command, </a:t>
            </a:r>
            <a:r>
              <a:rPr lang="en-US" sz="1600" b="1" u="none" strike="noStrike">
                <a:solidFill>
                  <a:schemeClr val="dk1"/>
                </a:solidFill>
                <a:effectLst/>
                <a:uFillTx/>
                <a:latin typeface="Arial"/>
              </a:rPr>
              <a:t>salt</a:t>
            </a:r>
            <a:r>
              <a:rPr lang="en-US" sz="1600" b="0" u="none" strike="noStrike">
                <a:solidFill>
                  <a:schemeClr val="dk1"/>
                </a:solidFill>
                <a:effectLst/>
                <a:uFillTx/>
                <a:latin typeface="Arial"/>
              </a:rPr>
              <a:t> ‘*’ </a:t>
            </a:r>
            <a:r>
              <a:rPr lang="en-US" sz="1600" b="0" i="1" u="none" strike="noStrike">
                <a:solidFill>
                  <a:schemeClr val="dk1"/>
                </a:solidFill>
                <a:effectLst/>
                <a:uFillTx/>
                <a:latin typeface="Arial"/>
              </a:rPr>
              <a:t>cmd</a:t>
            </a:r>
            <a:r>
              <a:rPr lang="en-US" sz="1600" b="0" u="none" strike="noStrike">
                <a:solidFill>
                  <a:schemeClr val="dk1"/>
                </a:solidFill>
                <a:effectLst/>
                <a:uFillTx/>
                <a:latin typeface="Arial"/>
              </a:rPr>
              <a:t>.</a:t>
            </a:r>
            <a:r>
              <a:rPr lang="en-US" sz="1600" b="0" i="1" u="none" strike="noStrike">
                <a:solidFill>
                  <a:schemeClr val="dk1"/>
                </a:solidFill>
                <a:effectLst/>
                <a:uFillTx/>
                <a:latin typeface="Arial"/>
              </a:rPr>
              <a:t>run</a:t>
            </a:r>
            <a:r>
              <a:rPr lang="en-US" sz="1600" b="0" u="none" strike="noStrike">
                <a:solidFill>
                  <a:schemeClr val="dk1"/>
                </a:solidFill>
                <a:effectLst/>
                <a:uFillTx/>
                <a:latin typeface="Arial"/>
              </a:rPr>
              <a:t> ‘ls -l /etc’ , ‘*’ is the target (all systems), cmd.run is the command and ‘ls -l /etc’ is the argument.</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pPr>
            <a:r>
              <a:rPr lang="en-US" sz="1600" b="0" u="none" strike="noStrike">
                <a:solidFill>
                  <a:schemeClr val="dk1"/>
                </a:solidFill>
                <a:effectLst/>
                <a:uFillTx/>
                <a:latin typeface="Arial"/>
              </a:rPr>
              <a:t>This would list contents of /etc folder on all systems as follows:</a:t>
            </a:r>
            <a:endParaRPr lang="en-US" sz="1600" b="0" u="none" strike="noStrike">
              <a:solidFill>
                <a:schemeClr val="dk1"/>
              </a:solidFill>
              <a:effectLst/>
              <a:uFillTx/>
              <a:latin typeface="Aptos"/>
            </a:endParaRPr>
          </a:p>
          <a:p>
            <a:pPr marL="162000" indent="0" algn="l" defTabSz="914400">
              <a:lnSpc>
                <a:spcPct val="90000"/>
              </a:lnSpc>
              <a:spcBef>
                <a:spcPts val="434"/>
              </a:spcBef>
              <a:buNone/>
              <a:tabLst>
                <a:tab pos="0" algn="l"/>
              </a:tabLst>
            </a:pPr>
            <a:endParaRPr lang="en-US" sz="1600" b="0" u="none" strike="noStrike">
              <a:solidFill>
                <a:schemeClr val="dk1"/>
              </a:solidFill>
              <a:effectLst/>
              <a:uFillTx/>
              <a:latin typeface="Aptos"/>
            </a:endParaRPr>
          </a:p>
        </p:txBody>
      </p:sp>
      <p:pic>
        <p:nvPicPr>
          <p:cNvPr id="77" name=""/>
          <p:cNvPicPr/>
          <p:nvPr/>
        </p:nvPicPr>
        <p:blipFill>
          <a:blip r:embed="rId1"/>
          <a:stretch/>
        </p:blipFill>
        <p:spPr>
          <a:xfrm>
            <a:off x="41400" y="977040"/>
            <a:ext cx="3377880" cy="2179440"/>
          </a:xfrm>
          <a:prstGeom prst="rect">
            <a:avLst/>
          </a:prstGeom>
          <a:noFill/>
          <a:ln w="0">
            <a:noFill/>
          </a:ln>
        </p:spPr>
      </p:pic>
      <p:pic>
        <p:nvPicPr>
          <p:cNvPr id="78" name=""/>
          <p:cNvPicPr/>
          <p:nvPr/>
        </p:nvPicPr>
        <p:blipFill>
          <a:blip r:embed="rId2"/>
          <a:stretch/>
        </p:blipFill>
        <p:spPr>
          <a:xfrm>
            <a:off x="5580000" y="4239360"/>
            <a:ext cx="4319280" cy="1411920"/>
          </a:xfrm>
          <a:prstGeom prst="rect">
            <a:avLst/>
          </a:prstGeom>
          <a:noFill/>
          <a:ln w="0">
            <a:noFill/>
          </a:ln>
        </p:spPr>
      </p:pic>
      <p:sp>
        <p:nvSpPr>
          <p:cNvPr id="79" name=""/>
          <p:cNvSpPr/>
          <p:nvPr/>
        </p:nvSpPr>
        <p:spPr>
          <a:xfrm>
            <a:off x="0" y="3312000"/>
            <a:ext cx="4031280" cy="22672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567"/>
              </a:spcBef>
              <a:spcAft>
                <a:spcPts val="567"/>
              </a:spcAft>
            </a:pPr>
            <a:r>
              <a:rPr lang="en-AU" sz="1600" b="0" u="none" strike="noStrike">
                <a:solidFill>
                  <a:srgbClr val="000000"/>
                </a:solidFill>
                <a:effectLst/>
                <a:uFillTx/>
                <a:latin typeface="Arial"/>
                <a:ea typeface="DejaVu Sans"/>
              </a:rPr>
              <a:t>For a task, where ip addresses of network interface needs to be listed on all systems, command   </a:t>
            </a:r>
            <a:r>
              <a:rPr lang="en-AU" sz="1600" b="1" u="none" strike="noStrike">
                <a:solidFill>
                  <a:srgbClr val="000000"/>
                </a:solidFill>
                <a:effectLst/>
                <a:uFillTx/>
                <a:latin typeface="Arial"/>
                <a:ea typeface="DejaVu Sans"/>
              </a:rPr>
              <a:t>salt</a:t>
            </a:r>
            <a:r>
              <a:rPr lang="en-AU" sz="1600" b="0" u="none" strike="noStrike">
                <a:solidFill>
                  <a:srgbClr val="000000"/>
                </a:solidFill>
                <a:effectLst/>
                <a:uFillTx/>
                <a:latin typeface="Arial"/>
                <a:ea typeface="DejaVu Sans"/>
              </a:rPr>
              <a:t> ‘*’ </a:t>
            </a:r>
            <a:r>
              <a:rPr lang="en-AU" sz="1600" b="0" i="1" u="none" strike="noStrike">
                <a:solidFill>
                  <a:srgbClr val="000000"/>
                </a:solidFill>
                <a:effectLst/>
                <a:uFillTx/>
                <a:latin typeface="Arial"/>
                <a:ea typeface="DejaVu Sans"/>
              </a:rPr>
              <a:t>cmd.run ‘ </a:t>
            </a:r>
            <a:r>
              <a:rPr lang="en-AU" sz="1600" b="0" u="none" strike="noStrike">
                <a:solidFill>
                  <a:srgbClr val="000000"/>
                </a:solidFill>
                <a:effectLst/>
                <a:uFillTx/>
                <a:latin typeface="Arial"/>
                <a:ea typeface="DejaVu Sans"/>
              </a:rPr>
              <a:t>ifconfig’ could be used as in previous command. Passing actual command as argument to SaltStack command.</a:t>
            </a:r>
            <a:endParaRPr lang="en-AU" sz="1600" b="0" u="none" strike="noStrike">
              <a:solidFill>
                <a:srgbClr val="000000"/>
              </a:solidFill>
              <a:effectLst/>
              <a:uFillTx/>
              <a:latin typeface="Arial"/>
            </a:endParaRPr>
          </a:p>
          <a:p>
            <a:pPr>
              <a:lnSpc>
                <a:spcPct val="100000"/>
              </a:lnSpc>
              <a:spcBef>
                <a:spcPts val="567"/>
              </a:spcBef>
              <a:spcAft>
                <a:spcPts val="567"/>
              </a:spcAft>
            </a:pPr>
            <a:r>
              <a:rPr lang="en-AU" sz="1600" b="0" u="none" strike="noStrike">
                <a:solidFill>
                  <a:srgbClr val="000000"/>
                </a:solidFill>
                <a:effectLst/>
                <a:uFillTx/>
                <a:latin typeface="Arial"/>
                <a:ea typeface="DejaVu Sans"/>
              </a:rPr>
              <a:t>Rather, using a more specific command such as </a:t>
            </a:r>
            <a:r>
              <a:rPr lang="en-AU" sz="1600" b="1" u="none" strike="noStrike">
                <a:solidFill>
                  <a:srgbClr val="000000"/>
                </a:solidFill>
                <a:effectLst/>
                <a:uFillTx/>
                <a:latin typeface="Arial"/>
                <a:ea typeface="DejaVu Sans"/>
              </a:rPr>
              <a:t>salt</a:t>
            </a:r>
            <a:r>
              <a:rPr lang="en-AU" sz="1600" b="0" u="none" strike="noStrike">
                <a:solidFill>
                  <a:srgbClr val="000000"/>
                </a:solidFill>
                <a:effectLst/>
                <a:uFillTx/>
                <a:latin typeface="Arial"/>
                <a:ea typeface="DejaVu Sans"/>
              </a:rPr>
              <a:t> ‘*’ </a:t>
            </a:r>
            <a:r>
              <a:rPr lang="en-AU" sz="1600" b="0" i="1" u="none" strike="noStrike">
                <a:solidFill>
                  <a:srgbClr val="000000"/>
                </a:solidFill>
                <a:effectLst/>
                <a:uFillTx/>
                <a:latin typeface="Arial"/>
                <a:ea typeface="DejaVu Sans"/>
              </a:rPr>
              <a:t>network</a:t>
            </a:r>
            <a:r>
              <a:rPr lang="en-AU" sz="1600" b="0" u="none" strike="noStrike">
                <a:solidFill>
                  <a:srgbClr val="000000"/>
                </a:solidFill>
                <a:effectLst/>
                <a:uFillTx/>
                <a:latin typeface="Arial"/>
                <a:ea typeface="DejaVu Sans"/>
              </a:rPr>
              <a:t>.</a:t>
            </a:r>
            <a:r>
              <a:rPr lang="en-AU" sz="1600" b="0" i="1" u="none" strike="noStrike">
                <a:solidFill>
                  <a:srgbClr val="000000"/>
                </a:solidFill>
                <a:effectLst/>
                <a:uFillTx/>
                <a:latin typeface="Arial"/>
                <a:ea typeface="DejaVu Sans"/>
              </a:rPr>
              <a:t>interfaces</a:t>
            </a:r>
            <a:r>
              <a:rPr lang="en-AU" sz="1600" b="0" u="none" strike="noStrike">
                <a:solidFill>
                  <a:srgbClr val="000000"/>
                </a:solidFill>
                <a:effectLst/>
                <a:uFillTx/>
                <a:latin typeface="Arial"/>
                <a:ea typeface="DejaVu Sans"/>
              </a:rPr>
              <a:t> is recommended.</a:t>
            </a: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 name="Rectangle 11">
            <a:extLst>
              <a:ext uri="{C183D7F6-B498-43B3-948B-1728B52AA6E4}">
                <adec:decorative xmlns:adec="http://schemas.microsoft.com/office/drawing/2017/decorative" val="1"/>
              </a:ext>
            </a:extLst>
          </p:cNvPr>
          <p:cNvSpPr/>
          <p:nvPr/>
        </p:nvSpPr>
        <p:spPr>
          <a:xfrm>
            <a:off x="360" y="360"/>
            <a:ext cx="3957480" cy="89892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3.Agentless Automation Tools</a:t>
            </a:r>
            <a:endParaRPr lang="en-AU" sz="2800" b="0" u="none" strike="noStrike">
              <a:solidFill>
                <a:srgbClr val="FFFFFF"/>
              </a:solidFill>
              <a:effectLst/>
              <a:uFillTx/>
              <a:latin typeface="Arial"/>
            </a:endParaRPr>
          </a:p>
        </p:txBody>
      </p:sp>
      <p:sp>
        <p:nvSpPr>
          <p:cNvPr id="81" name="PlaceHolder 1"/>
          <p:cNvSpPr>
            <a:spLocks noGrp="1"/>
          </p:cNvSpPr>
          <p:nvPr>
            <p:ph/>
          </p:nvPr>
        </p:nvSpPr>
        <p:spPr>
          <a:xfrm>
            <a:off x="4104000" y="36000"/>
            <a:ext cx="5939280" cy="5543280"/>
          </a:xfrm>
          <a:prstGeom prst="rect">
            <a:avLst/>
          </a:prstGeom>
          <a:noFill/>
          <a:ln w="0">
            <a:noFill/>
          </a:ln>
        </p:spPr>
        <p:txBody>
          <a:bodyPr lIns="91440" tIns="45720" rIns="91440" bIns="45720" anchor="t">
            <a:normAutofit/>
          </a:bodyPr>
          <a:p>
            <a:pPr indent="0" algn="l" defTabSz="914400">
              <a:lnSpc>
                <a:spcPct val="90000"/>
              </a:lnSpc>
              <a:spcBef>
                <a:spcPts val="434"/>
              </a:spcBef>
              <a:buNone/>
              <a:tabLst>
                <a:tab pos="0" algn="l"/>
              </a:tabLst>
            </a:pPr>
            <a:r>
              <a:rPr lang="en-US" sz="1600" b="1" u="none" strike="noStrike">
                <a:solidFill>
                  <a:schemeClr val="dk1"/>
                </a:solidFill>
                <a:effectLst/>
                <a:uFillTx/>
                <a:latin typeface="Arial"/>
              </a:rPr>
              <a:t>Ansible</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Automation tool that can be used for cloud provisioning, application deployment and configuration management.</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As it is agentless, no client or agent needs to be installed on devices/nodes that needs to be managed.</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Ansible mostly uses SSH to manage remote nodes and also supports Windows Remote Management  (WinRM) among other transport methods.</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While automation in general makes it easy to manage infrastructure at scale, it equally impacts the infrastructure in scale if any error in code or process.</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Therefore, a common method of Prepare, Plan, Design, Implement, Operate and Optimize (PPDIOO) lifecycle should be used.</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Components of Ansible:</a:t>
            </a:r>
            <a:endParaRPr lang="en-US" sz="1600" b="0" u="none" strike="noStrike">
              <a:solidFill>
                <a:schemeClr val="dk1"/>
              </a:solidFill>
              <a:effectLst/>
              <a:uFillTx/>
              <a:latin typeface="Aptos"/>
            </a:endParaRPr>
          </a:p>
          <a:p>
            <a:pPr marL="162000" indent="0" algn="l" defTabSz="914400">
              <a:lnSpc>
                <a:spcPct val="90000"/>
              </a:lnSpc>
              <a:spcBef>
                <a:spcPts val="434"/>
              </a:spcBef>
              <a:buNone/>
              <a:tabLst>
                <a:tab pos="0" algn="l"/>
              </a:tabLst>
            </a:pPr>
            <a:endParaRPr lang="en-US" sz="1600" b="0" u="none" strike="noStrike">
              <a:solidFill>
                <a:schemeClr val="dk1"/>
              </a:solidFill>
              <a:effectLst/>
              <a:uFillTx/>
              <a:latin typeface="Aptos"/>
            </a:endParaRPr>
          </a:p>
        </p:txBody>
      </p:sp>
      <p:graphicFrame>
        <p:nvGraphicFramePr>
          <p:cNvPr id="82" name=""/>
          <p:cNvGraphicFramePr/>
          <p:nvPr/>
        </p:nvGraphicFramePr>
        <p:xfrm>
          <a:off x="4392000" y="3812760"/>
          <a:ext cx="5403960" cy="1888200"/>
        </p:xfrm>
        <a:graphic>
          <a:graphicData uri="http://schemas.openxmlformats.org/drawingml/2006/table">
            <a:tbl>
              <a:tblPr/>
              <a:tblGrid>
                <a:gridCol w="1038600"/>
                <a:gridCol w="1961280"/>
                <a:gridCol w="2404440"/>
              </a:tblGrid>
              <a:tr h="214200">
                <a:tc>
                  <a:txBody>
                    <a:bodyPr lIns="36000" tIns="36000" rIns="36000" bIns="36000" anchor="t">
                      <a:noAutofit/>
                    </a:bodyPr>
                    <a:p>
                      <a:pPr>
                        <a:lnSpc>
                          <a:spcPct val="100000"/>
                        </a:lnSpc>
                      </a:pPr>
                      <a:r>
                        <a:rPr lang="en-AU" sz="1000" b="1" u="none" strike="noStrike">
                          <a:solidFill>
                            <a:srgbClr val="000000"/>
                          </a:solidFill>
                          <a:effectLst/>
                          <a:uFillTx/>
                          <a:latin typeface="Arial"/>
                        </a:rPr>
                        <a:t>Ansible Components</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c>
                  <a:txBody>
                    <a:bodyPr lIns="36000" tIns="36000" rIns="36000" bIns="36000" anchor="t">
                      <a:noAutofit/>
                    </a:bodyPr>
                    <a:p>
                      <a:pPr>
                        <a:lnSpc>
                          <a:spcPct val="100000"/>
                        </a:lnSpc>
                      </a:pPr>
                      <a:r>
                        <a:rPr lang="en-AU" sz="1000" b="1" u="none" strike="noStrike">
                          <a:solidFill>
                            <a:srgbClr val="000000"/>
                          </a:solidFill>
                          <a:effectLst/>
                          <a:uFillTx/>
                          <a:latin typeface="Arial"/>
                        </a:rPr>
                        <a:t>Description</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c>
                  <a:txBody>
                    <a:bodyPr lIns="36000" tIns="36000" rIns="36000" bIns="36000" anchor="t">
                      <a:noAutofit/>
                    </a:bodyPr>
                    <a:p>
                      <a:pPr>
                        <a:lnSpc>
                          <a:spcPct val="100000"/>
                        </a:lnSpc>
                      </a:pPr>
                      <a:r>
                        <a:rPr lang="en-AU" sz="1000" b="1" u="none" strike="noStrike">
                          <a:solidFill>
                            <a:srgbClr val="000000"/>
                          </a:solidFill>
                          <a:effectLst/>
                          <a:uFillTx/>
                          <a:latin typeface="Arial"/>
                        </a:rPr>
                        <a:t>Use Cases</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r>
              <a:tr h="356040">
                <a:tc>
                  <a:txBody>
                    <a:bodyPr lIns="36000" tIns="36000" rIns="36000" bIns="36000" anchor="t">
                      <a:noAutofit/>
                    </a:bodyPr>
                    <a:p>
                      <a:pPr>
                        <a:lnSpc>
                          <a:spcPct val="100000"/>
                        </a:lnSpc>
                      </a:pPr>
                      <a:r>
                        <a:rPr lang="en-AU" sz="1000" b="0" u="none" strike="noStrike">
                          <a:solidFill>
                            <a:srgbClr val="000000"/>
                          </a:solidFill>
                          <a:effectLst/>
                          <a:uFillTx/>
                          <a:latin typeface="Arial"/>
                        </a:rPr>
                        <a:t>Playbook</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000" b="0" u="none" strike="noStrike">
                          <a:solidFill>
                            <a:srgbClr val="000000"/>
                          </a:solidFill>
                          <a:effectLst/>
                          <a:uFillTx/>
                          <a:latin typeface="Arial"/>
                        </a:rPr>
                        <a:t>Re-usable set of plays</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000" b="0" u="none" strike="noStrike">
                          <a:solidFill>
                            <a:srgbClr val="000000"/>
                          </a:solidFill>
                          <a:effectLst/>
                          <a:uFillTx/>
                          <a:latin typeface="Arial"/>
                        </a:rPr>
                        <a:t>Enforcing configuration and/or deployment steps</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35160">
                <a:tc>
                  <a:txBody>
                    <a:bodyPr lIns="36000" tIns="36000" rIns="36000" bIns="36000" anchor="t">
                      <a:noAutofit/>
                    </a:bodyPr>
                    <a:p>
                      <a:pPr>
                        <a:lnSpc>
                          <a:spcPct val="100000"/>
                        </a:lnSpc>
                      </a:pPr>
                      <a:r>
                        <a:rPr lang="en-AU" sz="1000" b="0" u="none" strike="noStrike">
                          <a:solidFill>
                            <a:srgbClr val="000000"/>
                          </a:solidFill>
                          <a:effectLst/>
                          <a:uFillTx/>
                          <a:latin typeface="Arial"/>
                        </a:rPr>
                        <a:t>Play</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000" b="0" u="none" strike="noStrike">
                          <a:solidFill>
                            <a:srgbClr val="000000"/>
                          </a:solidFill>
                          <a:effectLst/>
                          <a:uFillTx/>
                          <a:latin typeface="Arial"/>
                        </a:rPr>
                        <a:t>A set of task applied to a host or group of hosts.</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000" b="0" u="none" strike="noStrike">
                          <a:solidFill>
                            <a:srgbClr val="000000"/>
                          </a:solidFill>
                          <a:effectLst/>
                          <a:uFillTx/>
                          <a:latin typeface="Arial"/>
                        </a:rPr>
                        <a:t>Grouping a set of hosts for applying or enforcing configuration to them.</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31200">
                <a:tc>
                  <a:txBody>
                    <a:bodyPr lIns="36000" tIns="36000" rIns="36000" bIns="36000" anchor="t">
                      <a:noAutofit/>
                    </a:bodyPr>
                    <a:p>
                      <a:pPr>
                        <a:lnSpc>
                          <a:spcPct val="100000"/>
                        </a:lnSpc>
                      </a:pPr>
                      <a:r>
                        <a:rPr lang="en-AU" sz="1000" b="0" u="none" strike="noStrike">
                          <a:solidFill>
                            <a:srgbClr val="000000"/>
                          </a:solidFill>
                          <a:effectLst/>
                          <a:uFillTx/>
                          <a:latin typeface="Arial"/>
                        </a:rPr>
                        <a:t>Task</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000" b="0" u="none" strike="noStrike">
                          <a:solidFill>
                            <a:srgbClr val="000000"/>
                          </a:solidFill>
                          <a:effectLst/>
                          <a:uFillTx/>
                          <a:latin typeface="Arial"/>
                        </a:rPr>
                        <a:t>A call to Ansible module</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000" b="0" u="none" strike="noStrike">
                          <a:solidFill>
                            <a:srgbClr val="000000"/>
                          </a:solidFill>
                          <a:effectLst/>
                          <a:uFillTx/>
                          <a:latin typeface="Arial"/>
                        </a:rPr>
                        <a:t>Logging into a device to issue show command to retrieve output.</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56040">
                <a:tc>
                  <a:txBody>
                    <a:bodyPr lIns="36000" tIns="36000" rIns="36000" bIns="36000" anchor="t">
                      <a:noAutofit/>
                    </a:bodyPr>
                    <a:p>
                      <a:pPr>
                        <a:lnSpc>
                          <a:spcPct val="100000"/>
                        </a:lnSpc>
                      </a:pPr>
                      <a:r>
                        <a:rPr lang="en-AU" sz="1000" b="0" u="none" strike="noStrike">
                          <a:solidFill>
                            <a:srgbClr val="000000"/>
                          </a:solidFill>
                          <a:effectLst/>
                          <a:uFillTx/>
                          <a:latin typeface="Arial"/>
                        </a:rPr>
                        <a:t>Inventory</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000" b="0" u="none" strike="noStrike">
                          <a:solidFill>
                            <a:srgbClr val="000000"/>
                          </a:solidFill>
                          <a:effectLst/>
                          <a:uFillTx/>
                          <a:latin typeface="Arial"/>
                        </a:rPr>
                        <a:t>Single file in INI or YAML format containing list of hosts or group.</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000" b="0" u="none" strike="noStrike">
                          <a:solidFill>
                            <a:srgbClr val="000000"/>
                          </a:solidFill>
                          <a:effectLst/>
                          <a:uFillTx/>
                          <a:latin typeface="Arial"/>
                        </a:rPr>
                        <a:t>Run commands or playbooks on inventory file.</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83" name=""/>
          <p:cNvSpPr/>
          <p:nvPr/>
        </p:nvSpPr>
        <p:spPr>
          <a:xfrm>
            <a:off x="0" y="900000"/>
            <a:ext cx="4319280" cy="495648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DejaVu Sans"/>
              </a:rPr>
              <a:t>Ansible playbooks are written in YAML and although it’s optional it is common to start with three dashes (---) and end with three dots (…)</a:t>
            </a:r>
            <a:endParaRPr lang="en-AU" sz="14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DejaVu Sans"/>
              </a:rPr>
              <a:t>YAML uses list and dictionaries and lines </a:t>
            </a:r>
            <a:endParaRPr lang="en-AU" sz="14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DejaVu Sans"/>
              </a:rPr>
              <a:t>starting with hash (#) are comments.</a:t>
            </a:r>
            <a:endParaRPr lang="en-AU" sz="14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DejaVu Sans"/>
              </a:rPr>
              <a:t>Each line of list can start with a dash and a </a:t>
            </a:r>
            <a:endParaRPr lang="en-AU" sz="14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DejaVu Sans"/>
              </a:rPr>
              <a:t>space (- ). </a:t>
            </a:r>
            <a:endParaRPr lang="en-AU" sz="14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DejaVu Sans"/>
              </a:rPr>
              <a:t>YAML dictionaries use key:value and are similar to JSON dictionaries “key”: ”value” .</a:t>
            </a:r>
            <a:endParaRPr lang="en-AU" sz="14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400" b="0" u="none" strike="noStrike">
                <a:solidFill>
                  <a:srgbClr val="467886"/>
                </a:solidFill>
                <a:effectLst/>
                <a:uFillTx/>
                <a:latin typeface="Arial"/>
                <a:ea typeface="DejaVu Sans"/>
                <a:hlinkClick r:id="rId1"/>
              </a:rPr>
              <a:t>YAML Lint</a:t>
            </a:r>
            <a:r>
              <a:rPr lang="en-AU" sz="1400" b="0" u="none" strike="noStrike">
                <a:solidFill>
                  <a:srgbClr val="000000"/>
                </a:solidFill>
                <a:effectLst/>
                <a:uFillTx/>
                <a:latin typeface="Arial"/>
                <a:ea typeface="DejaVu Sans"/>
              </a:rPr>
              <a:t> is a free online tool to check the validity of YAML file.</a:t>
            </a:r>
            <a:endParaRPr lang="en-AU" sz="14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DejaVu Sans"/>
              </a:rPr>
              <a:t>Below example contains dictionary with list in it.</a:t>
            </a:r>
            <a:endParaRPr lang="en-AU" sz="14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a:t>
            </a:r>
            <a:endParaRPr lang="en-AU" sz="9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 HR Employee Record</a:t>
            </a:r>
            <a:endParaRPr lang="en-AU" sz="9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 Employee1:</a:t>
            </a:r>
            <a:endParaRPr lang="en-AU" sz="9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name: Alice</a:t>
            </a:r>
            <a:endParaRPr lang="en-AU" sz="9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Title: Security Engineer</a:t>
            </a:r>
            <a:endParaRPr lang="en-AU" sz="9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Nickname: Ms. Sender</a:t>
            </a:r>
            <a:endParaRPr lang="en-AU" sz="9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Skills:</a:t>
            </a:r>
            <a:endParaRPr lang="en-AU" sz="900" b="0" u="none" strike="noStrike">
              <a:solidFill>
                <a:srgbClr val="000000"/>
              </a:solidFill>
              <a:effectLst/>
              <a:uFillTx/>
              <a:latin typeface="Arial"/>
            </a:endParaRPr>
          </a:p>
          <a:p>
            <a:pPr marL="648000" lvl="2"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 Python</a:t>
            </a:r>
            <a:endParaRPr lang="en-AU" sz="900" b="0" u="none" strike="noStrike">
              <a:solidFill>
                <a:srgbClr val="000000"/>
              </a:solidFill>
              <a:effectLst/>
              <a:uFillTx/>
              <a:latin typeface="Arial"/>
            </a:endParaRPr>
          </a:p>
          <a:p>
            <a:pPr marL="648000" lvl="2"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 Cryptography</a:t>
            </a:r>
            <a:endParaRPr lang="en-AU" sz="900" b="0" u="none" strike="noStrike">
              <a:solidFill>
                <a:srgbClr val="000000"/>
              </a:solidFill>
              <a:effectLst/>
              <a:uFillTx/>
              <a:latin typeface="Arial"/>
            </a:endParaRPr>
          </a:p>
          <a:p>
            <a:pPr marL="648000" lvl="2"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 YAML</a:t>
            </a:r>
            <a:endParaRPr lang="en-AU" sz="9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 Employee2:</a:t>
            </a:r>
            <a:endParaRPr lang="en-AU" sz="9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name: Bob</a:t>
            </a:r>
            <a:endParaRPr lang="en-AU" sz="9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Title: Security Engineer</a:t>
            </a:r>
            <a:endParaRPr lang="en-AU" sz="9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Nickname: Mr. Receiver</a:t>
            </a:r>
            <a:endParaRPr lang="en-AU" sz="9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Skills: </a:t>
            </a:r>
            <a:endParaRPr lang="en-AU" sz="900" b="0" u="none" strike="noStrike">
              <a:solidFill>
                <a:srgbClr val="000000"/>
              </a:solidFill>
              <a:effectLst/>
              <a:uFillTx/>
              <a:latin typeface="Arial"/>
            </a:endParaRPr>
          </a:p>
          <a:p>
            <a:pPr marL="648000" lvl="2"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 Python</a:t>
            </a:r>
            <a:endParaRPr lang="en-AU" sz="900" b="0" u="none" strike="noStrike">
              <a:solidFill>
                <a:srgbClr val="000000"/>
              </a:solidFill>
              <a:effectLst/>
              <a:uFillTx/>
              <a:latin typeface="Arial"/>
            </a:endParaRPr>
          </a:p>
          <a:p>
            <a:pPr marL="648000" lvl="2"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 Cryptography</a:t>
            </a:r>
            <a:endParaRPr lang="en-AU" sz="900" b="0" u="none" strike="noStrike">
              <a:solidFill>
                <a:srgbClr val="000000"/>
              </a:solidFill>
              <a:effectLst/>
              <a:uFillTx/>
              <a:latin typeface="Arial"/>
            </a:endParaRPr>
          </a:p>
          <a:p>
            <a:pPr marL="648000" lvl="2" indent="-216000">
              <a:lnSpc>
                <a:spcPct val="100000"/>
              </a:lnSpc>
              <a:buClr>
                <a:srgbClr val="000000"/>
              </a:buClr>
              <a:buSzPct val="45000"/>
              <a:buFont typeface="Wingdings" charset="2"/>
              <a:buChar char=""/>
            </a:pPr>
            <a:r>
              <a:rPr lang="en-AU" sz="900" b="0" u="none" strike="noStrike">
                <a:solidFill>
                  <a:srgbClr val="000000"/>
                </a:solidFill>
                <a:effectLst/>
                <a:uFillTx/>
                <a:latin typeface="Arial"/>
                <a:ea typeface="DejaVu Sans"/>
              </a:rPr>
              <a:t>- YAML</a:t>
            </a:r>
            <a:endParaRPr lang="en-AU"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 name="Rectangle 12">
            <a:extLst>
              <a:ext uri="{C183D7F6-B498-43B3-948B-1728B52AA6E4}">
                <adec:decorative xmlns:adec="http://schemas.microsoft.com/office/drawing/2017/decorative" val="1"/>
              </a:ext>
            </a:extLst>
          </p:cNvPr>
          <p:cNvSpPr/>
          <p:nvPr/>
        </p:nvSpPr>
        <p:spPr>
          <a:xfrm>
            <a:off x="360" y="360"/>
            <a:ext cx="3957480" cy="89892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3.Agentless Automation Tools</a:t>
            </a:r>
            <a:endParaRPr lang="en-AU" sz="2800" b="0" u="none" strike="noStrike">
              <a:solidFill>
                <a:srgbClr val="FFFFFF"/>
              </a:solidFill>
              <a:effectLst/>
              <a:uFillTx/>
              <a:latin typeface="Arial"/>
            </a:endParaRPr>
          </a:p>
        </p:txBody>
      </p:sp>
      <p:sp>
        <p:nvSpPr>
          <p:cNvPr id="85" name="PlaceHolder 1"/>
          <p:cNvSpPr>
            <a:spLocks noGrp="1"/>
          </p:cNvSpPr>
          <p:nvPr>
            <p:ph/>
          </p:nvPr>
        </p:nvSpPr>
        <p:spPr>
          <a:xfrm>
            <a:off x="4104000" y="36000"/>
            <a:ext cx="5939280" cy="5543280"/>
          </a:xfrm>
          <a:prstGeom prst="rect">
            <a:avLst/>
          </a:prstGeom>
          <a:noFill/>
          <a:ln w="0">
            <a:noFill/>
          </a:ln>
        </p:spPr>
        <p:txBody>
          <a:bodyPr lIns="91440" tIns="45720" rIns="91440" bIns="45720" anchor="t">
            <a:normAutofit/>
          </a:bodyPr>
          <a:p>
            <a:pPr indent="0" algn="l" defTabSz="914400">
              <a:lnSpc>
                <a:spcPct val="90000"/>
              </a:lnSpc>
              <a:spcBef>
                <a:spcPts val="434"/>
              </a:spcBef>
              <a:buNone/>
              <a:tabLst>
                <a:tab pos="0" algn="l"/>
              </a:tabLst>
            </a:pPr>
            <a:r>
              <a:rPr lang="en-US" sz="1600" b="1" u="none" strike="noStrike">
                <a:solidFill>
                  <a:schemeClr val="dk1"/>
                </a:solidFill>
                <a:effectLst/>
                <a:uFillTx/>
                <a:latin typeface="Arial"/>
              </a:rPr>
              <a:t>Ansible CLI commands (Control Node):</a:t>
            </a:r>
            <a:endParaRPr lang="en-US" sz="1600" b="0" u="none" strike="noStrike">
              <a:solidFill>
                <a:schemeClr val="dk1"/>
              </a:solidFill>
              <a:effectLst/>
              <a:uFillTx/>
              <a:latin typeface="Aptos"/>
            </a:endParaRPr>
          </a:p>
          <a:p>
            <a:pPr indent="0" algn="l" defTabSz="914400">
              <a:lnSpc>
                <a:spcPct val="90000"/>
              </a:lnSpc>
              <a:spcBef>
                <a:spcPts val="434"/>
              </a:spcBef>
              <a:buNone/>
              <a:tabLst>
                <a:tab pos="0" algn="l"/>
              </a:tabLst>
            </a:pPr>
            <a:endParaRPr lang="en-US" sz="1600" b="0" u="none" strike="noStrike">
              <a:solidFill>
                <a:schemeClr val="dk1"/>
              </a:solidFill>
              <a:effectLst/>
              <a:uFillTx/>
              <a:latin typeface="Aptos"/>
            </a:endParaRPr>
          </a:p>
          <a:p>
            <a:pPr indent="0" algn="l" defTabSz="914400">
              <a:lnSpc>
                <a:spcPct val="90000"/>
              </a:lnSpc>
              <a:spcBef>
                <a:spcPts val="434"/>
              </a:spcBef>
              <a:buNone/>
              <a:tabLst>
                <a:tab pos="0" algn="l"/>
              </a:tabLst>
            </a:pPr>
            <a:endParaRPr lang="en-US" sz="1600" b="0" u="none" strike="noStrike">
              <a:solidFill>
                <a:schemeClr val="dk1"/>
              </a:solidFill>
              <a:effectLst/>
              <a:uFillTx/>
              <a:latin typeface="Aptos"/>
            </a:endParaRPr>
          </a:p>
          <a:p>
            <a:pPr indent="0" algn="l" defTabSz="914400">
              <a:lnSpc>
                <a:spcPct val="90000"/>
              </a:lnSpc>
              <a:spcBef>
                <a:spcPts val="434"/>
              </a:spcBef>
              <a:buNone/>
              <a:tabLst>
                <a:tab pos="0" algn="l"/>
              </a:tabLst>
            </a:pPr>
            <a:endParaRPr lang="en-US" sz="1600" b="0" u="none" strike="noStrike">
              <a:solidFill>
                <a:schemeClr val="dk1"/>
              </a:solidFill>
              <a:effectLst/>
              <a:uFillTx/>
              <a:latin typeface="Aptos"/>
            </a:endParaRPr>
          </a:p>
          <a:p>
            <a:pPr indent="0" algn="l" defTabSz="914400">
              <a:lnSpc>
                <a:spcPct val="90000"/>
              </a:lnSpc>
              <a:spcBef>
                <a:spcPts val="434"/>
              </a:spcBef>
              <a:buNone/>
              <a:tabLst>
                <a:tab pos="0" algn="l"/>
              </a:tabLst>
            </a:pPr>
            <a:endParaRPr lang="en-US" sz="1600" b="0" u="none" strike="noStrike">
              <a:solidFill>
                <a:schemeClr val="dk1"/>
              </a:solidFill>
              <a:effectLst/>
              <a:uFillTx/>
              <a:latin typeface="Aptos"/>
            </a:endParaRPr>
          </a:p>
          <a:p>
            <a:pPr indent="0" algn="l" defTabSz="914400">
              <a:lnSpc>
                <a:spcPct val="90000"/>
              </a:lnSpc>
              <a:spcBef>
                <a:spcPts val="434"/>
              </a:spcBef>
              <a:buNone/>
              <a:tabLst>
                <a:tab pos="0" algn="l"/>
              </a:tabLst>
            </a:pP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1" u="none" strike="noStrike">
                <a:solidFill>
                  <a:schemeClr val="dk1"/>
                </a:solidFill>
                <a:effectLst/>
                <a:uFillTx/>
                <a:latin typeface="Arial"/>
              </a:rPr>
              <a:t>ansible-doc -l cisco.ios</a:t>
            </a:r>
            <a:r>
              <a:rPr lang="en-US" sz="1600" b="0" u="none" strike="noStrike">
                <a:solidFill>
                  <a:schemeClr val="dk1"/>
                </a:solidFill>
                <a:effectLst/>
                <a:uFillTx/>
                <a:latin typeface="Arial"/>
              </a:rPr>
              <a:t> would list all the modules available in cisco.ios collection.</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Ansible inventory file contains named group of hosts or simple list of hosts.</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A host can belong to multiple group and can be identified with resolvable DNS name or IP address. </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An example inventory file is shown in the left and an example playbook, configure-interface.yml is shown below:</a:t>
            </a:r>
            <a:endParaRPr lang="en-US" sz="1600" b="0" u="none" strike="noStrike">
              <a:solidFill>
                <a:schemeClr val="dk1"/>
              </a:solidFill>
              <a:effectLst/>
              <a:uFillTx/>
              <a:latin typeface="Aptos"/>
            </a:endParaRPr>
          </a:p>
        </p:txBody>
      </p:sp>
      <p:graphicFrame>
        <p:nvGraphicFramePr>
          <p:cNvPr id="86" name=""/>
          <p:cNvGraphicFramePr/>
          <p:nvPr/>
        </p:nvGraphicFramePr>
        <p:xfrm>
          <a:off x="4424760" y="311040"/>
          <a:ext cx="4607640" cy="1378080"/>
        </p:xfrm>
        <a:graphic>
          <a:graphicData uri="http://schemas.openxmlformats.org/drawingml/2006/table">
            <a:tbl>
              <a:tblPr/>
              <a:tblGrid>
                <a:gridCol w="1245240"/>
                <a:gridCol w="3362760"/>
              </a:tblGrid>
              <a:tr h="214200">
                <a:tc>
                  <a:txBody>
                    <a:bodyPr lIns="36000" tIns="36000" rIns="36000" bIns="36000" anchor="t">
                      <a:noAutofit/>
                    </a:bodyPr>
                    <a:p>
                      <a:pPr>
                        <a:lnSpc>
                          <a:spcPct val="100000"/>
                        </a:lnSpc>
                      </a:pPr>
                      <a:r>
                        <a:rPr lang="en-AU" sz="1000" b="1" u="none" strike="noStrike">
                          <a:solidFill>
                            <a:srgbClr val="000000"/>
                          </a:solidFill>
                          <a:effectLst/>
                          <a:uFillTx/>
                          <a:latin typeface="Arial"/>
                        </a:rPr>
                        <a:t>Commands</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c>
                  <a:txBody>
                    <a:bodyPr lIns="36000" tIns="36000" rIns="36000" bIns="36000" anchor="t">
                      <a:noAutofit/>
                    </a:bodyPr>
                    <a:p>
                      <a:pPr>
                        <a:lnSpc>
                          <a:spcPct val="100000"/>
                        </a:lnSpc>
                      </a:pPr>
                      <a:r>
                        <a:rPr lang="en-AU" sz="1000" b="1" u="none" strike="noStrike">
                          <a:solidFill>
                            <a:srgbClr val="000000"/>
                          </a:solidFill>
                          <a:effectLst/>
                          <a:uFillTx/>
                          <a:latin typeface="Arial"/>
                        </a:rPr>
                        <a:t>Use Case</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r>
              <a:tr h="220320">
                <a:tc>
                  <a:txBody>
                    <a:bodyPr lIns="36000" tIns="36000" rIns="36000" bIns="36000" anchor="t">
                      <a:noAutofit/>
                    </a:bodyPr>
                    <a:p>
                      <a:pPr>
                        <a:lnSpc>
                          <a:spcPct val="100000"/>
                        </a:lnSpc>
                      </a:pPr>
                      <a:r>
                        <a:rPr lang="en-AU" sz="1000" b="0" u="none" strike="noStrike">
                          <a:solidFill>
                            <a:srgbClr val="000000"/>
                          </a:solidFill>
                          <a:effectLst/>
                          <a:uFillTx/>
                          <a:latin typeface="Arial"/>
                        </a:rPr>
                        <a:t>ansible</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000" b="0" u="none" strike="noStrike">
                          <a:solidFill>
                            <a:srgbClr val="000000"/>
                          </a:solidFill>
                          <a:effectLst/>
                          <a:uFillTx/>
                          <a:latin typeface="Arial"/>
                        </a:rPr>
                        <a:t>Runs modules against targeted hosts</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46960">
                <a:tc>
                  <a:txBody>
                    <a:bodyPr lIns="36000" tIns="36000" rIns="36000" bIns="36000" anchor="t">
                      <a:noAutofit/>
                    </a:bodyPr>
                    <a:p>
                      <a:pPr>
                        <a:lnSpc>
                          <a:spcPct val="100000"/>
                        </a:lnSpc>
                      </a:pPr>
                      <a:r>
                        <a:rPr lang="en-AU" sz="1000" b="0" u="none" strike="noStrike">
                          <a:solidFill>
                            <a:srgbClr val="000000"/>
                          </a:solidFill>
                          <a:effectLst/>
                          <a:uFillTx/>
                          <a:latin typeface="Arial"/>
                        </a:rPr>
                        <a:t>ansible-playbook</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000" b="0" u="none" strike="noStrike">
                          <a:solidFill>
                            <a:srgbClr val="000000"/>
                          </a:solidFill>
                          <a:effectLst/>
                          <a:uFillTx/>
                          <a:latin typeface="Arial"/>
                        </a:rPr>
                        <a:t>Runs playbooks</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16000">
                <a:tc>
                  <a:txBody>
                    <a:bodyPr lIns="36000" tIns="36000" rIns="36000" bIns="36000" anchor="t">
                      <a:noAutofit/>
                    </a:bodyPr>
                    <a:p>
                      <a:pPr>
                        <a:lnSpc>
                          <a:spcPct val="100000"/>
                        </a:lnSpc>
                      </a:pPr>
                      <a:r>
                        <a:rPr lang="en-AU" sz="1000" b="0" u="none" strike="noStrike">
                          <a:solidFill>
                            <a:srgbClr val="000000"/>
                          </a:solidFill>
                          <a:effectLst/>
                          <a:uFillTx/>
                          <a:latin typeface="Arial"/>
                        </a:rPr>
                        <a:t>ansible-docs</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000" b="0" u="none" strike="noStrike">
                          <a:solidFill>
                            <a:srgbClr val="000000"/>
                          </a:solidFill>
                          <a:effectLst/>
                          <a:uFillTx/>
                          <a:latin typeface="Arial"/>
                        </a:rPr>
                        <a:t>Provides documentation on syntax and parameters on CLI</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16000">
                <a:tc>
                  <a:txBody>
                    <a:bodyPr lIns="36000" tIns="36000" rIns="36000" bIns="36000" anchor="t">
                      <a:noAutofit/>
                    </a:bodyPr>
                    <a:p>
                      <a:pPr>
                        <a:lnSpc>
                          <a:spcPct val="100000"/>
                        </a:lnSpc>
                      </a:pPr>
                      <a:r>
                        <a:rPr lang="en-AU" sz="1000" b="0" u="none" strike="noStrike">
                          <a:solidFill>
                            <a:srgbClr val="000000"/>
                          </a:solidFill>
                          <a:effectLst/>
                          <a:uFillTx/>
                          <a:latin typeface="Arial"/>
                        </a:rPr>
                        <a:t>ansible-pull</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000" b="0" u="none" strike="noStrike">
                          <a:solidFill>
                            <a:srgbClr val="000000"/>
                          </a:solidFill>
                          <a:effectLst/>
                          <a:uFillTx/>
                          <a:latin typeface="Arial"/>
                        </a:rPr>
                        <a:t>Changes ansible clients from default push to pull model</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31120">
                <a:tc>
                  <a:txBody>
                    <a:bodyPr lIns="36000" tIns="36000" rIns="36000" bIns="36000" anchor="t">
                      <a:noAutofit/>
                    </a:bodyPr>
                    <a:p>
                      <a:pPr>
                        <a:lnSpc>
                          <a:spcPct val="100000"/>
                        </a:lnSpc>
                      </a:pPr>
                      <a:r>
                        <a:rPr lang="en-AU" sz="1000" b="0" u="none" strike="noStrike">
                          <a:solidFill>
                            <a:srgbClr val="000000"/>
                          </a:solidFill>
                          <a:effectLst/>
                          <a:uFillTx/>
                          <a:latin typeface="Arial"/>
                        </a:rPr>
                        <a:t>ansible-vault </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000" b="0" u="none" strike="noStrike">
                          <a:solidFill>
                            <a:srgbClr val="000000"/>
                          </a:solidFill>
                          <a:effectLst/>
                          <a:uFillTx/>
                          <a:latin typeface="Arial"/>
                        </a:rPr>
                        <a:t>Encrypts YAML files that contains sensitive data</a:t>
                      </a:r>
                      <a:endParaRPr lang="en-AU" sz="1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87" name=""/>
          <p:cNvSpPr/>
          <p:nvPr/>
        </p:nvSpPr>
        <p:spPr>
          <a:xfrm>
            <a:off x="0" y="900000"/>
            <a:ext cx="4103280" cy="495648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buClr>
                <a:srgbClr val="000000"/>
              </a:buClr>
              <a:buSzPct val="45000"/>
              <a:buFont typeface="Wingdings" charset="2"/>
              <a:buChar char=""/>
            </a:pPr>
            <a:r>
              <a:rPr lang="en-US" sz="1400" b="0" u="none" strike="noStrike">
                <a:solidFill>
                  <a:schemeClr val="dk1"/>
                </a:solidFill>
                <a:effectLst/>
                <a:uFillTx/>
                <a:latin typeface="Arial"/>
                <a:ea typeface="Microsoft YaHei"/>
              </a:rPr>
              <a:t>Example: Inventory.ini</a:t>
            </a:r>
            <a:endParaRPr lang="en-AU" sz="1400" b="0" u="none" strike="noStrike">
              <a:solidFill>
                <a:srgbClr val="000000"/>
              </a:solidFill>
              <a:effectLst/>
              <a:uFillTx/>
              <a:latin typeface="Arial"/>
            </a:endParaRPr>
          </a:p>
          <a:p>
            <a:pPr marL="360000" indent="-216000" defTabSz="914400">
              <a:lnSpc>
                <a:spcPct val="90000"/>
              </a:lnSpc>
              <a:spcBef>
                <a:spcPts val="434"/>
              </a:spcBef>
              <a:buClr>
                <a:srgbClr val="000000"/>
              </a:buClr>
              <a:buFont typeface="Arial"/>
              <a:buChar char="•"/>
            </a:pPr>
            <a:r>
              <a:rPr lang="en-US" sz="1000" b="0" u="none" strike="noStrike">
                <a:solidFill>
                  <a:schemeClr val="dk1"/>
                </a:solidFill>
                <a:effectLst/>
                <a:uFillTx/>
                <a:latin typeface="Arial"/>
                <a:ea typeface="Microsoft YaHei"/>
              </a:rPr>
              <a:t>[Routers]</a:t>
            </a:r>
            <a:endParaRPr lang="en-AU" sz="1000" b="0" u="none" strike="noStrike">
              <a:solidFill>
                <a:srgbClr val="000000"/>
              </a:solidFill>
              <a:effectLst/>
              <a:uFillTx/>
              <a:latin typeface="Arial"/>
            </a:endParaRPr>
          </a:p>
          <a:p>
            <a:pPr marL="360000" indent="-216000" defTabSz="914400">
              <a:lnSpc>
                <a:spcPct val="90000"/>
              </a:lnSpc>
              <a:spcBef>
                <a:spcPts val="434"/>
              </a:spcBef>
              <a:buClr>
                <a:srgbClr val="000000"/>
              </a:buClr>
              <a:buFont typeface="Arial"/>
              <a:buChar char="•"/>
            </a:pPr>
            <a:r>
              <a:rPr lang="en-US" sz="1000" b="0" u="none" strike="noStrike">
                <a:solidFill>
                  <a:schemeClr val="dk1"/>
                </a:solidFill>
                <a:effectLst/>
                <a:uFillTx/>
                <a:latin typeface="Arial"/>
                <a:ea typeface="Microsoft YaHei"/>
              </a:rPr>
              <a:t>192.168.1.3</a:t>
            </a:r>
            <a:endParaRPr lang="en-AU" sz="1000" b="0" u="none" strike="noStrike">
              <a:solidFill>
                <a:srgbClr val="000000"/>
              </a:solidFill>
              <a:effectLst/>
              <a:uFillTx/>
              <a:latin typeface="Arial"/>
            </a:endParaRPr>
          </a:p>
          <a:p>
            <a:pPr marL="360000" indent="-216000" defTabSz="914400">
              <a:lnSpc>
                <a:spcPct val="90000"/>
              </a:lnSpc>
              <a:spcBef>
                <a:spcPts val="434"/>
              </a:spcBef>
              <a:buClr>
                <a:srgbClr val="000000"/>
              </a:buClr>
              <a:buFont typeface="Arial"/>
              <a:buChar char="•"/>
            </a:pPr>
            <a:r>
              <a:rPr lang="en-US" sz="1000" b="0" u="none" strike="noStrike">
                <a:solidFill>
                  <a:schemeClr val="dk1"/>
                </a:solidFill>
                <a:effectLst/>
                <a:uFillTx/>
                <a:latin typeface="Arial"/>
                <a:ea typeface="Microsoft YaHei"/>
              </a:rPr>
              <a:t>192.168.1.20</a:t>
            </a:r>
            <a:endParaRPr lang="en-AU" sz="1000" b="0" u="none" strike="noStrike">
              <a:solidFill>
                <a:srgbClr val="000000"/>
              </a:solidFill>
              <a:effectLst/>
              <a:uFillTx/>
              <a:latin typeface="Arial"/>
            </a:endParaRPr>
          </a:p>
          <a:p>
            <a:pPr marL="360000" indent="-216000" defTabSz="914400">
              <a:lnSpc>
                <a:spcPct val="90000"/>
              </a:lnSpc>
              <a:spcBef>
                <a:spcPts val="434"/>
              </a:spcBef>
              <a:buClr>
                <a:srgbClr val="000000"/>
              </a:buClr>
              <a:buFont typeface="Arial"/>
              <a:buChar char="•"/>
            </a:pPr>
            <a:r>
              <a:rPr lang="en-US" sz="1000" b="0" u="none" strike="noStrike">
                <a:solidFill>
                  <a:schemeClr val="dk1"/>
                </a:solidFill>
                <a:effectLst/>
                <a:uFillTx/>
                <a:latin typeface="Arial"/>
                <a:ea typeface="Microsoft YaHei"/>
              </a:rPr>
              <a:t>192.168.1.30</a:t>
            </a:r>
            <a:endParaRPr lang="en-AU" sz="1000" b="0" u="none" strike="noStrike">
              <a:solidFill>
                <a:srgbClr val="000000"/>
              </a:solidFill>
              <a:effectLst/>
              <a:uFillTx/>
              <a:latin typeface="Arial"/>
            </a:endParaRPr>
          </a:p>
          <a:p>
            <a:pPr marL="360000" indent="-216000" defTabSz="914400">
              <a:lnSpc>
                <a:spcPct val="90000"/>
              </a:lnSpc>
              <a:spcBef>
                <a:spcPts val="434"/>
              </a:spcBef>
              <a:buClr>
                <a:srgbClr val="000000"/>
              </a:buClr>
              <a:buFont typeface="Arial"/>
              <a:buChar char="•"/>
            </a:pPr>
            <a:r>
              <a:rPr lang="en-US" sz="1000" b="0" u="none" strike="noStrike">
                <a:solidFill>
                  <a:schemeClr val="dk1"/>
                </a:solidFill>
                <a:effectLst/>
                <a:uFillTx/>
                <a:latin typeface="Arial"/>
                <a:ea typeface="Microsoft YaHei"/>
              </a:rPr>
              <a:t>[Switches]</a:t>
            </a:r>
            <a:endParaRPr lang="en-AU" sz="1000" b="0" u="none" strike="noStrike">
              <a:solidFill>
                <a:srgbClr val="000000"/>
              </a:solidFill>
              <a:effectLst/>
              <a:uFillTx/>
              <a:latin typeface="Arial"/>
            </a:endParaRPr>
          </a:p>
          <a:p>
            <a:pPr marL="360000" indent="-216000" defTabSz="914400">
              <a:lnSpc>
                <a:spcPct val="90000"/>
              </a:lnSpc>
              <a:spcBef>
                <a:spcPts val="434"/>
              </a:spcBef>
              <a:buClr>
                <a:srgbClr val="000000"/>
              </a:buClr>
              <a:buFont typeface="Arial"/>
              <a:buChar char="•"/>
            </a:pPr>
            <a:r>
              <a:rPr lang="en-US" sz="1000" b="0" u="none" strike="noStrike">
                <a:solidFill>
                  <a:schemeClr val="dk1"/>
                </a:solidFill>
                <a:effectLst/>
                <a:uFillTx/>
                <a:latin typeface="Arial"/>
                <a:ea typeface="Microsoft YaHei"/>
              </a:rPr>
              <a:t>192.168.1.3</a:t>
            </a:r>
            <a:endParaRPr lang="en-AU" sz="1000" b="0" u="none" strike="noStrike">
              <a:solidFill>
                <a:srgbClr val="000000"/>
              </a:solidFill>
              <a:effectLst/>
              <a:uFillTx/>
              <a:latin typeface="Arial"/>
            </a:endParaRPr>
          </a:p>
          <a:p>
            <a:pPr marL="360000" indent="-216000" defTabSz="914400">
              <a:lnSpc>
                <a:spcPct val="90000"/>
              </a:lnSpc>
              <a:spcBef>
                <a:spcPts val="434"/>
              </a:spcBef>
              <a:buClr>
                <a:srgbClr val="000000"/>
              </a:buClr>
              <a:buFont typeface="Arial"/>
              <a:buChar char="•"/>
            </a:pPr>
            <a:r>
              <a:rPr lang="en-US" sz="1000" b="0" u="none" strike="noStrike">
                <a:solidFill>
                  <a:schemeClr val="dk1"/>
                </a:solidFill>
                <a:effectLst/>
                <a:uFillTx/>
                <a:latin typeface="Arial"/>
                <a:ea typeface="Microsoft YaHei"/>
              </a:rPr>
              <a:t>10.10.10.2</a:t>
            </a:r>
            <a:endParaRPr lang="en-AU" sz="1000" b="0" u="none" strike="noStrike">
              <a:solidFill>
                <a:srgbClr val="000000"/>
              </a:solidFill>
              <a:effectLst/>
              <a:uFillTx/>
              <a:latin typeface="Arial"/>
            </a:endParaRPr>
          </a:p>
          <a:p>
            <a:pPr marL="360000" indent="-216000" defTabSz="914400">
              <a:lnSpc>
                <a:spcPct val="90000"/>
              </a:lnSpc>
              <a:spcBef>
                <a:spcPts val="434"/>
              </a:spcBef>
              <a:buClr>
                <a:srgbClr val="000000"/>
              </a:buClr>
              <a:buFont typeface="Arial"/>
              <a:buChar char="•"/>
            </a:pPr>
            <a:r>
              <a:rPr lang="en-US" sz="1000" b="0" u="none" strike="noStrike">
                <a:solidFill>
                  <a:schemeClr val="dk1"/>
                </a:solidFill>
                <a:effectLst/>
                <a:uFillTx/>
                <a:latin typeface="Arial"/>
                <a:ea typeface="Microsoft YaHei"/>
              </a:rPr>
              <a:t>[Primary-Gateway]</a:t>
            </a:r>
            <a:endParaRPr lang="en-AU" sz="1000" b="0" u="none" strike="noStrike">
              <a:solidFill>
                <a:srgbClr val="000000"/>
              </a:solidFill>
              <a:effectLst/>
              <a:uFillTx/>
              <a:latin typeface="Arial"/>
            </a:endParaRPr>
          </a:p>
          <a:p>
            <a:pPr marL="360000" indent="-216000" defTabSz="914400">
              <a:lnSpc>
                <a:spcPct val="90000"/>
              </a:lnSpc>
              <a:spcBef>
                <a:spcPts val="434"/>
              </a:spcBef>
              <a:buClr>
                <a:srgbClr val="000000"/>
              </a:buClr>
              <a:buFont typeface="Arial"/>
              <a:buChar char="•"/>
            </a:pPr>
            <a:r>
              <a:rPr lang="en-US" sz="1000" b="0" u="none" strike="noStrike">
                <a:solidFill>
                  <a:schemeClr val="dk1"/>
                </a:solidFill>
                <a:effectLst/>
                <a:uFillTx/>
                <a:latin typeface="Arial"/>
                <a:ea typeface="Microsoft YaHei"/>
              </a:rPr>
              <a:t>192.168.1.1</a:t>
            </a:r>
            <a:endParaRPr lang="en-AU" sz="10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Microsoft YaHei"/>
              </a:rPr>
              <a:t>To execute playbook, </a:t>
            </a:r>
            <a:r>
              <a:rPr lang="en-AU" sz="1400" b="1" u="none" strike="noStrike">
                <a:solidFill>
                  <a:srgbClr val="000000"/>
                </a:solidFill>
                <a:effectLst/>
                <a:uFillTx/>
                <a:latin typeface="Arial"/>
                <a:ea typeface="Microsoft YaHei"/>
              </a:rPr>
              <a:t>ansible-playbook -i</a:t>
            </a:r>
            <a:r>
              <a:rPr lang="en-AU" sz="1400" b="0" u="none" strike="noStrike">
                <a:solidFill>
                  <a:srgbClr val="000000"/>
                </a:solidFill>
                <a:effectLst/>
                <a:uFillTx/>
                <a:latin typeface="Arial"/>
                <a:ea typeface="Microsoft YaHei"/>
              </a:rPr>
              <a:t> </a:t>
            </a:r>
            <a:r>
              <a:rPr lang="en-AU" sz="1400" b="0" i="1" u="none" strike="noStrike">
                <a:solidFill>
                  <a:srgbClr val="000000"/>
                </a:solidFill>
                <a:effectLst/>
                <a:uFillTx/>
                <a:latin typeface="Arial"/>
                <a:ea typeface="Microsoft YaHei"/>
              </a:rPr>
              <a:t>Inventory.ini</a:t>
            </a:r>
            <a:r>
              <a:rPr lang="en-AU" sz="1400" b="0" u="none" strike="noStrike">
                <a:solidFill>
                  <a:srgbClr val="000000"/>
                </a:solidFill>
                <a:effectLst/>
                <a:uFillTx/>
                <a:latin typeface="Arial"/>
                <a:ea typeface="Microsoft YaHei"/>
              </a:rPr>
              <a:t> </a:t>
            </a:r>
            <a:r>
              <a:rPr lang="en-AU" sz="1400" b="0" i="1" u="none" strike="noStrike">
                <a:solidFill>
                  <a:srgbClr val="000000"/>
                </a:solidFill>
                <a:effectLst/>
                <a:uFillTx/>
                <a:latin typeface="Arial"/>
                <a:ea typeface="Microsoft YaHei"/>
              </a:rPr>
              <a:t>configure-interface.yml</a:t>
            </a:r>
            <a:r>
              <a:rPr lang="en-AU" sz="1400" b="0" u="none" strike="noStrike">
                <a:solidFill>
                  <a:srgbClr val="000000"/>
                </a:solidFill>
                <a:effectLst/>
                <a:uFillTx/>
                <a:latin typeface="Arial"/>
                <a:ea typeface="Microsoft YaHei"/>
              </a:rPr>
              <a:t> is used.</a:t>
            </a:r>
            <a:endParaRPr lang="en-AU" sz="1400" b="0" u="none" strike="noStrike">
              <a:solidFill>
                <a:srgbClr val="000000"/>
              </a:solidFill>
              <a:effectLst/>
              <a:uFillTx/>
              <a:latin typeface="Arial"/>
            </a:endParaRPr>
          </a:p>
        </p:txBody>
      </p:sp>
      <p:pic>
        <p:nvPicPr>
          <p:cNvPr id="88" name=""/>
          <p:cNvPicPr/>
          <p:nvPr/>
        </p:nvPicPr>
        <p:blipFill>
          <a:blip r:embed="rId1"/>
          <a:stretch/>
        </p:blipFill>
        <p:spPr>
          <a:xfrm>
            <a:off x="4500000" y="3727800"/>
            <a:ext cx="5399280" cy="1740240"/>
          </a:xfrm>
          <a:prstGeom prst="rect">
            <a:avLst/>
          </a:prstGeom>
          <a:noFill/>
          <a:ln w="0">
            <a:noFill/>
          </a:ln>
        </p:spPr>
      </p:pic>
      <p:pic>
        <p:nvPicPr>
          <p:cNvPr id="89" name=""/>
          <p:cNvPicPr/>
          <p:nvPr/>
        </p:nvPicPr>
        <p:blipFill>
          <a:blip r:embed="rId2"/>
          <a:stretch/>
        </p:blipFill>
        <p:spPr>
          <a:xfrm>
            <a:off x="36000" y="3420000"/>
            <a:ext cx="3959280" cy="1367280"/>
          </a:xfrm>
          <a:prstGeom prst="rect">
            <a:avLst/>
          </a:prstGeom>
          <a:noFill/>
          <a:ln w="0">
            <a:noFill/>
          </a:ln>
        </p:spPr>
      </p:pic>
      <p:pic>
        <p:nvPicPr>
          <p:cNvPr id="90" name=""/>
          <p:cNvPicPr/>
          <p:nvPr/>
        </p:nvPicPr>
        <p:blipFill>
          <a:blip r:embed="rId3"/>
          <a:stretch/>
        </p:blipFill>
        <p:spPr>
          <a:xfrm>
            <a:off x="900000" y="4830480"/>
            <a:ext cx="2159280" cy="86796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 name="Rectangle 13">
            <a:extLst>
              <a:ext uri="{C183D7F6-B498-43B3-948B-1728B52AA6E4}">
                <adec:decorative xmlns:adec="http://schemas.microsoft.com/office/drawing/2017/decorative" val="1"/>
              </a:ext>
            </a:extLst>
          </p:cNvPr>
          <p:cNvSpPr/>
          <p:nvPr/>
        </p:nvSpPr>
        <p:spPr>
          <a:xfrm>
            <a:off x="360" y="360"/>
            <a:ext cx="3957480" cy="89892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3.Agentless Automation Tools</a:t>
            </a:r>
            <a:endParaRPr lang="en-AU" sz="2800" b="0" u="none" strike="noStrike">
              <a:solidFill>
                <a:srgbClr val="FFFFFF"/>
              </a:solidFill>
              <a:effectLst/>
              <a:uFillTx/>
              <a:latin typeface="Arial"/>
            </a:endParaRPr>
          </a:p>
        </p:txBody>
      </p:sp>
      <p:sp>
        <p:nvSpPr>
          <p:cNvPr id="92" name="PlaceHolder 1"/>
          <p:cNvSpPr>
            <a:spLocks noGrp="1"/>
          </p:cNvSpPr>
          <p:nvPr>
            <p:ph/>
          </p:nvPr>
        </p:nvSpPr>
        <p:spPr>
          <a:xfrm>
            <a:off x="4104000" y="36000"/>
            <a:ext cx="5939280" cy="5543280"/>
          </a:xfrm>
          <a:prstGeom prst="rect">
            <a:avLst/>
          </a:prstGeom>
          <a:noFill/>
          <a:ln w="0">
            <a:noFill/>
          </a:ln>
        </p:spPr>
        <p:txBody>
          <a:bodyPr lIns="91440" tIns="45720" rIns="91440" bIns="45720" anchor="t">
            <a:normAutofit/>
          </a:bodyPr>
          <a:p>
            <a:pPr indent="0" algn="l" defTabSz="914400">
              <a:lnSpc>
                <a:spcPct val="90000"/>
              </a:lnSpc>
              <a:spcBef>
                <a:spcPts val="434"/>
              </a:spcBef>
              <a:buNone/>
              <a:tabLst>
                <a:tab pos="0" algn="l"/>
              </a:tabLst>
            </a:pPr>
            <a:r>
              <a:rPr lang="en-US" sz="1600" b="1" u="none" strike="noStrike">
                <a:solidFill>
                  <a:schemeClr val="dk1"/>
                </a:solidFill>
                <a:effectLst/>
                <a:uFillTx/>
                <a:latin typeface="Arial"/>
              </a:rPr>
              <a:t>Puppet Bolt</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Puppet Bolt allows to leverage power of Puppet without the need to install Puppet agent.</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Like Ansible, it also uses SSH and WinRM to connect to the devices.</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Puppet Bolt tasks can be used to push configuration, start/stop services and deploying application.</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Tasks are shareable and can shared on Puppet Forge</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Puppet Bolt can be used in two scenarios:</a:t>
            </a:r>
            <a:endParaRPr lang="en-US" sz="1600" b="0" u="none" strike="noStrike">
              <a:solidFill>
                <a:schemeClr val="dk1"/>
              </a:solidFill>
              <a:effectLst/>
              <a:uFillTx/>
              <a:latin typeface="Aptos"/>
            </a:endParaRPr>
          </a:p>
          <a:p>
            <a:pPr marL="360000" indent="0" algn="l" defTabSz="914400">
              <a:lnSpc>
                <a:spcPct val="90000"/>
              </a:lnSpc>
              <a:spcBef>
                <a:spcPts val="434"/>
              </a:spcBef>
              <a:buNone/>
              <a:tabLst>
                <a:tab pos="0" algn="l"/>
              </a:tabLst>
            </a:pPr>
            <a:r>
              <a:rPr lang="en-US" sz="1400" b="1" u="none" strike="noStrike">
                <a:solidFill>
                  <a:schemeClr val="dk1"/>
                </a:solidFill>
                <a:effectLst/>
                <a:uFillTx/>
                <a:latin typeface="Arial"/>
              </a:rPr>
              <a:t>Orchestrator-driven Tasks:</a:t>
            </a:r>
            <a:r>
              <a:rPr lang="en-US" sz="1400" b="0" u="none" strike="noStrike">
                <a:solidFill>
                  <a:schemeClr val="dk1"/>
                </a:solidFill>
                <a:effectLst/>
                <a:uFillTx/>
                <a:latin typeface="Arial"/>
              </a:rPr>
              <a:t> Leverages Puppet Bolt architecture to connect and manage nodes. Ideal for large deployments.</a:t>
            </a:r>
            <a:endParaRPr lang="en-US" sz="1400" b="0" u="none" strike="noStrike">
              <a:solidFill>
                <a:schemeClr val="dk1"/>
              </a:solidFill>
              <a:effectLst/>
              <a:uFillTx/>
              <a:latin typeface="Aptos"/>
            </a:endParaRPr>
          </a:p>
          <a:p>
            <a:pPr marL="360000" indent="0" algn="l" defTabSz="914400">
              <a:lnSpc>
                <a:spcPct val="90000"/>
              </a:lnSpc>
              <a:spcBef>
                <a:spcPts val="434"/>
              </a:spcBef>
              <a:buNone/>
              <a:tabLst>
                <a:tab pos="0" algn="l"/>
              </a:tabLst>
            </a:pPr>
            <a:r>
              <a:rPr lang="en-US" sz="1400" b="1" u="none" strike="noStrike">
                <a:solidFill>
                  <a:schemeClr val="dk1"/>
                </a:solidFill>
                <a:effectLst/>
                <a:uFillTx/>
                <a:latin typeface="Arial"/>
              </a:rPr>
              <a:t>Standalone Tasks</a:t>
            </a:r>
            <a:r>
              <a:rPr lang="en-US" sz="1400" b="0" u="none" strike="noStrike">
                <a:solidFill>
                  <a:schemeClr val="dk1"/>
                </a:solidFill>
                <a:effectLst/>
                <a:uFillTx/>
                <a:latin typeface="Arial"/>
              </a:rPr>
              <a:t>: Connects directly to managed nodes without requiring Puppet components</a:t>
            </a:r>
            <a:endParaRPr lang="en-US" sz="14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Individual puppet commands can be run from the Puppet command line using </a:t>
            </a:r>
            <a:r>
              <a:rPr lang="en-US" sz="1400" b="1" u="none" strike="noStrike">
                <a:solidFill>
                  <a:schemeClr val="dk1"/>
                </a:solidFill>
                <a:effectLst/>
                <a:uFillTx/>
                <a:latin typeface="Arial"/>
              </a:rPr>
              <a:t>bolt command run</a:t>
            </a:r>
            <a:r>
              <a:rPr lang="en-US" sz="1400" b="0" u="none" strike="noStrike">
                <a:solidFill>
                  <a:schemeClr val="dk1"/>
                </a:solidFill>
                <a:effectLst/>
                <a:uFillTx/>
                <a:latin typeface="Arial"/>
              </a:rPr>
              <a:t> </a:t>
            </a:r>
            <a:r>
              <a:rPr lang="en-US" sz="1400" b="0" i="1" u="none" strike="noStrike">
                <a:solidFill>
                  <a:schemeClr val="dk1"/>
                </a:solidFill>
                <a:effectLst/>
                <a:uFillTx/>
                <a:latin typeface="Arial"/>
              </a:rPr>
              <a:t>command-name </a:t>
            </a:r>
            <a:r>
              <a:rPr lang="en-US" sz="1600" b="0" u="none" strike="noStrike">
                <a:solidFill>
                  <a:schemeClr val="dk1"/>
                </a:solidFill>
                <a:effectLst/>
                <a:uFillTx/>
                <a:latin typeface="Arial"/>
              </a:rPr>
              <a:t>followed by the list of devices to run the command against.</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In addition, a script in any scripting language that a managed node can interpret (ex. Python, Ruby) can be run using command </a:t>
            </a:r>
            <a:r>
              <a:rPr lang="en-US" sz="1400" b="1" u="none" strike="noStrike">
                <a:solidFill>
                  <a:schemeClr val="dk1"/>
                </a:solidFill>
                <a:effectLst/>
                <a:uFillTx/>
                <a:latin typeface="Arial"/>
              </a:rPr>
              <a:t>bolt script run</a:t>
            </a:r>
            <a:r>
              <a:rPr lang="en-US" sz="1400" b="0" u="none" strike="noStrike">
                <a:solidFill>
                  <a:schemeClr val="dk1"/>
                </a:solidFill>
                <a:effectLst/>
                <a:uFillTx/>
                <a:latin typeface="Arial"/>
              </a:rPr>
              <a:t> </a:t>
            </a:r>
            <a:r>
              <a:rPr lang="en-US" sz="1400" b="0" i="1" u="none" strike="noStrike">
                <a:solidFill>
                  <a:schemeClr val="dk1"/>
                </a:solidFill>
                <a:effectLst/>
                <a:uFillTx/>
                <a:latin typeface="Arial"/>
              </a:rPr>
              <a:t>script-name  </a:t>
            </a:r>
            <a:r>
              <a:rPr lang="en-US" sz="1600" b="0" u="none" strike="noStrike">
                <a:solidFill>
                  <a:schemeClr val="dk1"/>
                </a:solidFill>
                <a:effectLst/>
                <a:uFillTx/>
                <a:latin typeface="Arial"/>
              </a:rPr>
              <a:t>followed by device list.</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To run a script, Puppet bolt copies the script to remote device, runs it, captures the output and removes the script leaving the device clean.</a:t>
            </a:r>
            <a:endParaRPr lang="en-US" sz="1600" b="0" u="none" strike="noStrike">
              <a:solidFill>
                <a:schemeClr val="dk1"/>
              </a:solidFill>
              <a:effectLst/>
              <a:uFillTx/>
              <a:latin typeface="Aptos"/>
            </a:endParaRPr>
          </a:p>
          <a:p>
            <a:pPr marL="162000" indent="0" algn="l" defTabSz="914400">
              <a:lnSpc>
                <a:spcPct val="90000"/>
              </a:lnSpc>
              <a:spcBef>
                <a:spcPts val="434"/>
              </a:spcBef>
              <a:buNone/>
              <a:tabLst>
                <a:tab pos="0" algn="l"/>
              </a:tabLst>
            </a:pPr>
            <a:endParaRPr lang="en-US" sz="1600" b="0" u="none" strike="noStrike">
              <a:solidFill>
                <a:schemeClr val="dk1"/>
              </a:solidFill>
              <a:effectLst/>
              <a:uFillTx/>
              <a:latin typeface="Aptos"/>
            </a:endParaRPr>
          </a:p>
        </p:txBody>
      </p:sp>
      <p:sp>
        <p:nvSpPr>
          <p:cNvPr id="93" name=""/>
          <p:cNvSpPr/>
          <p:nvPr/>
        </p:nvSpPr>
        <p:spPr>
          <a:xfrm>
            <a:off x="0" y="2113920"/>
            <a:ext cx="3959640" cy="323064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DejaVu Sans"/>
              </a:rPr>
              <a:t>Above picture shows some of the commands available with Puppet Bolt.</a:t>
            </a:r>
            <a:endParaRPr lang="en-AU" sz="14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DejaVu Sans"/>
              </a:rPr>
              <a:t>Puppet Bolt uses API to collect data and run tasks.</a:t>
            </a:r>
            <a:endParaRPr lang="en-AU" sz="14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DejaVu Sans"/>
              </a:rPr>
              <a:t>Tasks are part of Puppet module and uses naming structure </a:t>
            </a:r>
            <a:r>
              <a:rPr lang="en-AU" sz="1400" b="0" i="1" u="none" strike="noStrike">
                <a:solidFill>
                  <a:srgbClr val="000000"/>
                </a:solidFill>
                <a:effectLst/>
                <a:uFillTx/>
                <a:latin typeface="Arial"/>
                <a:ea typeface="DejaVu Sans"/>
              </a:rPr>
              <a:t>modulename</a:t>
            </a:r>
            <a:r>
              <a:rPr lang="en-AU" sz="1400" b="0" u="none" strike="noStrike">
                <a:solidFill>
                  <a:srgbClr val="000000"/>
                </a:solidFill>
                <a:effectLst/>
                <a:uFillTx/>
                <a:latin typeface="Arial"/>
                <a:ea typeface="DejaVu Sans"/>
              </a:rPr>
              <a:t>::</a:t>
            </a:r>
            <a:r>
              <a:rPr lang="en-AU" sz="1400" b="0" i="1" u="none" strike="noStrike">
                <a:solidFill>
                  <a:srgbClr val="000000"/>
                </a:solidFill>
                <a:effectLst/>
                <a:uFillTx/>
                <a:latin typeface="Arial"/>
                <a:ea typeface="DejaVu Sans"/>
              </a:rPr>
              <a:t>taskfilename</a:t>
            </a:r>
            <a:endParaRPr lang="en-AU" sz="14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Microsoft YaHei"/>
              </a:rPr>
              <a:t>Tasks can be run with </a:t>
            </a:r>
            <a:r>
              <a:rPr lang="en-AU" sz="1200" b="1" u="none" strike="noStrike">
                <a:solidFill>
                  <a:srgbClr val="000000"/>
                </a:solidFill>
                <a:effectLst/>
                <a:uFillTx/>
                <a:latin typeface="Arial"/>
                <a:ea typeface="Microsoft YaHei"/>
              </a:rPr>
              <a:t>bolt run task</a:t>
            </a:r>
            <a:r>
              <a:rPr lang="en-AU" sz="1200" b="0" u="none" strike="noStrike">
                <a:solidFill>
                  <a:srgbClr val="000000"/>
                </a:solidFill>
                <a:effectLst/>
                <a:uFillTx/>
                <a:latin typeface="Arial"/>
                <a:ea typeface="Microsoft YaHei"/>
              </a:rPr>
              <a:t> </a:t>
            </a:r>
            <a:r>
              <a:rPr lang="en-AU" sz="1200" b="0" i="1" u="none" strike="noStrike">
                <a:solidFill>
                  <a:srgbClr val="000000"/>
                </a:solidFill>
                <a:effectLst/>
                <a:uFillTx/>
                <a:latin typeface="Arial"/>
                <a:ea typeface="DejaVu Sans"/>
              </a:rPr>
              <a:t>modulename</a:t>
            </a:r>
            <a:r>
              <a:rPr lang="en-AU" sz="1200" b="0" u="none" strike="noStrike">
                <a:solidFill>
                  <a:srgbClr val="000000"/>
                </a:solidFill>
                <a:effectLst/>
                <a:uFillTx/>
                <a:latin typeface="Arial"/>
                <a:ea typeface="DejaVu Sans"/>
              </a:rPr>
              <a:t>::</a:t>
            </a:r>
            <a:r>
              <a:rPr lang="en-AU" sz="1200" b="0" i="1" u="none" strike="noStrike">
                <a:solidFill>
                  <a:srgbClr val="000000"/>
                </a:solidFill>
                <a:effectLst/>
                <a:uFillTx/>
                <a:latin typeface="Arial"/>
                <a:ea typeface="DejaVu Sans"/>
              </a:rPr>
              <a:t>taskfilename</a:t>
            </a:r>
            <a:endParaRPr lang="en-AU" sz="12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DejaVu Sans"/>
              </a:rPr>
              <a:t>Puppet tasks are accompanied with metadata file in JSON format, generally named with same name as task, that contains details such as how to run the task.</a:t>
            </a:r>
            <a:endParaRPr lang="en-AU" sz="14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400" b="0" u="none" strike="noStrike">
                <a:solidFill>
                  <a:srgbClr val="000000"/>
                </a:solidFill>
                <a:effectLst/>
                <a:uFillTx/>
                <a:latin typeface="Arial"/>
                <a:ea typeface="Microsoft YaHei"/>
              </a:rPr>
              <a:t>Documentation about the task script can be viewed with </a:t>
            </a:r>
            <a:r>
              <a:rPr lang="en-AU" sz="1200" b="1" u="none" strike="noStrike">
                <a:solidFill>
                  <a:srgbClr val="000000"/>
                </a:solidFill>
                <a:effectLst/>
                <a:uFillTx/>
                <a:latin typeface="Arial"/>
                <a:ea typeface="Microsoft YaHei"/>
              </a:rPr>
              <a:t>bolt task show</a:t>
            </a:r>
            <a:r>
              <a:rPr lang="en-AU" sz="1200" b="0" u="none" strike="noStrike">
                <a:solidFill>
                  <a:srgbClr val="000000"/>
                </a:solidFill>
                <a:effectLst/>
                <a:uFillTx/>
                <a:latin typeface="Arial"/>
                <a:ea typeface="Microsoft YaHei"/>
              </a:rPr>
              <a:t> </a:t>
            </a:r>
            <a:r>
              <a:rPr lang="en-AU" sz="1200" b="0" i="1" u="none" strike="noStrike">
                <a:solidFill>
                  <a:srgbClr val="000000"/>
                </a:solidFill>
                <a:effectLst/>
                <a:uFillTx/>
                <a:latin typeface="Arial"/>
                <a:ea typeface="DejaVu Sans"/>
              </a:rPr>
              <a:t>modulename</a:t>
            </a:r>
            <a:r>
              <a:rPr lang="en-AU" sz="1200" b="0" u="none" strike="noStrike">
                <a:solidFill>
                  <a:srgbClr val="000000"/>
                </a:solidFill>
                <a:effectLst/>
                <a:uFillTx/>
                <a:latin typeface="Arial"/>
                <a:ea typeface="DejaVu Sans"/>
              </a:rPr>
              <a:t>::</a:t>
            </a:r>
            <a:r>
              <a:rPr lang="en-AU" sz="1200" b="0" i="1" u="none" strike="noStrike">
                <a:solidFill>
                  <a:srgbClr val="000000"/>
                </a:solidFill>
                <a:effectLst/>
                <a:uFillTx/>
                <a:latin typeface="Arial"/>
                <a:ea typeface="DejaVu Sans"/>
              </a:rPr>
              <a:t>taskfilename</a:t>
            </a:r>
            <a:endParaRPr lang="en-AU" sz="1200" b="0" u="none" strike="noStrike">
              <a:solidFill>
                <a:srgbClr val="000000"/>
              </a:solidFill>
              <a:effectLst/>
              <a:uFillTx/>
              <a:latin typeface="Arial"/>
            </a:endParaRPr>
          </a:p>
        </p:txBody>
      </p:sp>
      <p:pic>
        <p:nvPicPr>
          <p:cNvPr id="94" name=""/>
          <p:cNvPicPr/>
          <p:nvPr/>
        </p:nvPicPr>
        <p:blipFill>
          <a:blip r:embed="rId1"/>
          <a:stretch/>
        </p:blipFill>
        <p:spPr>
          <a:xfrm>
            <a:off x="32040" y="976680"/>
            <a:ext cx="3819600" cy="97704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Rectangle 14">
            <a:extLst>
              <a:ext uri="{C183D7F6-B498-43B3-948B-1728B52AA6E4}">
                <adec:decorative xmlns:adec="http://schemas.microsoft.com/office/drawing/2017/decorative" val="1"/>
              </a:ext>
            </a:extLst>
          </p:cNvPr>
          <p:cNvSpPr/>
          <p:nvPr/>
        </p:nvSpPr>
        <p:spPr>
          <a:xfrm>
            <a:off x="360" y="360"/>
            <a:ext cx="4679280" cy="89892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2800" b="1" u="none" strike="noStrike">
                <a:solidFill>
                  <a:schemeClr val="lt1"/>
                </a:solidFill>
                <a:effectLst/>
                <a:uFillTx/>
                <a:latin typeface="Arial"/>
                <a:ea typeface="DejaVu Sans"/>
              </a:rPr>
              <a:t>3.Agentless Automation Tools</a:t>
            </a:r>
            <a:endParaRPr lang="en-AU" sz="2800" b="0" u="none" strike="noStrike">
              <a:solidFill>
                <a:srgbClr val="FFFFFF"/>
              </a:solidFill>
              <a:effectLst/>
              <a:uFillTx/>
              <a:latin typeface="Arial"/>
            </a:endParaRPr>
          </a:p>
        </p:txBody>
      </p:sp>
      <p:sp>
        <p:nvSpPr>
          <p:cNvPr id="96" name="PlaceHolder 1"/>
          <p:cNvSpPr>
            <a:spLocks noGrp="1"/>
          </p:cNvSpPr>
          <p:nvPr>
            <p:ph/>
          </p:nvPr>
        </p:nvSpPr>
        <p:spPr>
          <a:xfrm>
            <a:off x="4860000" y="36000"/>
            <a:ext cx="5183280" cy="5543280"/>
          </a:xfrm>
          <a:prstGeom prst="rect">
            <a:avLst/>
          </a:prstGeom>
          <a:noFill/>
          <a:ln w="0">
            <a:noFill/>
          </a:ln>
        </p:spPr>
        <p:txBody>
          <a:bodyPr lIns="91440" tIns="45720" rIns="91440" bIns="45720" anchor="t">
            <a:normAutofit/>
          </a:bodyPr>
          <a:p>
            <a:pPr indent="0" algn="l" defTabSz="914400">
              <a:lnSpc>
                <a:spcPct val="90000"/>
              </a:lnSpc>
              <a:spcBef>
                <a:spcPts val="434"/>
              </a:spcBef>
              <a:buNone/>
              <a:tabLst>
                <a:tab pos="0" algn="l"/>
              </a:tabLst>
            </a:pPr>
            <a:r>
              <a:rPr lang="en-US" sz="1600" b="1" u="none" strike="noStrike">
                <a:solidFill>
                  <a:schemeClr val="dk1"/>
                </a:solidFill>
                <a:effectLst/>
                <a:uFillTx/>
                <a:latin typeface="Arial"/>
              </a:rPr>
              <a:t>SaltStack SSH (Server only)</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Agentless option of SaltStack called Salt SSH that do not require minions to be installed on manged nodes.</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To be able to use Salt SSH, managed nodes need to have SSH enabled and Python installed.</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Salt SSH creates a temporary directory to install lightweight version of SaltStack on managed node which it deletes after the operation or optionally can be left in the device for future use.</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Salt SSH can be used in conjunction with SaltStack environment or by itself. </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Salt SSH uses roster files (similar to ansible inventory file) to manage connection information for devices that do not have minions installed.</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Salt SSH is comparatively slower than using 0MQ messaging in SaltStack and faster than direct SSH into the device. </a:t>
            </a:r>
            <a:endParaRPr lang="en-US" sz="1600" b="0" u="none" strike="noStrike">
              <a:solidFill>
                <a:schemeClr val="dk1"/>
              </a:solidFill>
              <a:effectLst/>
              <a:uFillTx/>
              <a:latin typeface="Aptos"/>
            </a:endParaRPr>
          </a:p>
          <a:p>
            <a:pPr marL="162000" indent="-162000" algn="l" defTabSz="914400">
              <a:lnSpc>
                <a:spcPct val="90000"/>
              </a:lnSpc>
              <a:spcBef>
                <a:spcPts val="434"/>
              </a:spcBef>
              <a:buClr>
                <a:srgbClr val="000000"/>
              </a:buClr>
              <a:buFont typeface="Arial"/>
              <a:buChar char="•"/>
              <a:tabLst>
                <a:tab pos="0" algn="l"/>
              </a:tabLst>
            </a:pPr>
            <a:r>
              <a:rPr lang="en-US" sz="1600" b="0" u="none" strike="noStrike">
                <a:solidFill>
                  <a:schemeClr val="dk1"/>
                </a:solidFill>
                <a:effectLst/>
                <a:uFillTx/>
                <a:latin typeface="Arial"/>
              </a:rPr>
              <a:t>A sample Salt SSH Roster File would look like below:</a:t>
            </a:r>
            <a:endParaRPr lang="en-US" sz="1600" b="0" u="none" strike="noStrike">
              <a:solidFill>
                <a:schemeClr val="dk1"/>
              </a:solidFill>
              <a:effectLst/>
              <a:uFillTx/>
              <a:latin typeface="Aptos"/>
            </a:endParaRPr>
          </a:p>
          <a:p>
            <a:pPr marL="360000" indent="0" algn="l" defTabSz="914400">
              <a:lnSpc>
                <a:spcPct val="90000"/>
              </a:lnSpc>
              <a:spcBef>
                <a:spcPts val="434"/>
              </a:spcBef>
              <a:buNone/>
              <a:tabLst>
                <a:tab pos="0" algn="l"/>
              </a:tabLst>
            </a:pPr>
            <a:r>
              <a:rPr lang="en-US" sz="1400" b="0" u="none" strike="noStrike">
                <a:solidFill>
                  <a:schemeClr val="dk1"/>
                </a:solidFill>
                <a:effectLst/>
                <a:uFillTx/>
                <a:latin typeface="Arial"/>
              </a:rPr>
              <a:t>managed:</a:t>
            </a:r>
            <a:endParaRPr lang="en-US" sz="1400" b="0" u="none" strike="noStrike">
              <a:solidFill>
                <a:schemeClr val="dk1"/>
              </a:solidFill>
              <a:effectLst/>
              <a:uFillTx/>
              <a:latin typeface="Aptos"/>
            </a:endParaRPr>
          </a:p>
          <a:p>
            <a:pPr marL="720000" indent="0" algn="l" defTabSz="914400">
              <a:lnSpc>
                <a:spcPct val="90000"/>
              </a:lnSpc>
              <a:spcBef>
                <a:spcPts val="434"/>
              </a:spcBef>
              <a:buNone/>
              <a:tabLst>
                <a:tab pos="0" algn="l"/>
              </a:tabLst>
            </a:pPr>
            <a:r>
              <a:rPr lang="en-US" sz="1400" b="0" u="none" strike="noStrike">
                <a:solidFill>
                  <a:schemeClr val="dk1"/>
                </a:solidFill>
                <a:effectLst/>
                <a:uFillTx/>
                <a:latin typeface="Arial"/>
              </a:rPr>
              <a:t>host: 192.168.1.3</a:t>
            </a:r>
            <a:endParaRPr lang="en-US" sz="1400" b="0" u="none" strike="noStrike">
              <a:solidFill>
                <a:schemeClr val="dk1"/>
              </a:solidFill>
              <a:effectLst/>
              <a:uFillTx/>
              <a:latin typeface="Aptos"/>
            </a:endParaRPr>
          </a:p>
          <a:p>
            <a:pPr marL="720000" indent="0" algn="l" defTabSz="914400">
              <a:lnSpc>
                <a:spcPct val="90000"/>
              </a:lnSpc>
              <a:spcBef>
                <a:spcPts val="434"/>
              </a:spcBef>
              <a:buNone/>
              <a:tabLst>
                <a:tab pos="0" algn="l"/>
              </a:tabLst>
            </a:pPr>
            <a:r>
              <a:rPr lang="en-US" sz="1400" b="0" u="none" strike="noStrike">
                <a:solidFill>
                  <a:schemeClr val="dk1"/>
                </a:solidFill>
                <a:effectLst/>
                <a:uFillTx/>
                <a:latin typeface="Arial"/>
              </a:rPr>
              <a:t>user: admin</a:t>
            </a:r>
            <a:endParaRPr lang="en-US" sz="1400" b="0" u="none" strike="noStrike">
              <a:solidFill>
                <a:schemeClr val="dk1"/>
              </a:solidFill>
              <a:effectLst/>
              <a:uFillTx/>
              <a:latin typeface="Aptos"/>
            </a:endParaRPr>
          </a:p>
          <a:p>
            <a:pPr marL="162000" indent="0" algn="l" defTabSz="914400">
              <a:lnSpc>
                <a:spcPct val="90000"/>
              </a:lnSpc>
              <a:spcBef>
                <a:spcPts val="434"/>
              </a:spcBef>
              <a:buNone/>
              <a:tabLst>
                <a:tab pos="0" algn="l"/>
              </a:tabLst>
            </a:pPr>
            <a:endParaRPr lang="en-US" sz="1600" b="0" u="none" strike="noStrike">
              <a:solidFill>
                <a:schemeClr val="dk1"/>
              </a:solidFill>
              <a:effectLst/>
              <a:uFillTx/>
              <a:latin typeface="Aptos"/>
            </a:endParaRPr>
          </a:p>
        </p:txBody>
      </p:sp>
      <p:sp>
        <p:nvSpPr>
          <p:cNvPr id="97" name=""/>
          <p:cNvSpPr/>
          <p:nvPr/>
        </p:nvSpPr>
        <p:spPr>
          <a:xfrm>
            <a:off x="0" y="961920"/>
            <a:ext cx="3959640" cy="3031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400" b="1" u="none" strike="noStrike">
                <a:solidFill>
                  <a:srgbClr val="000000"/>
                </a:solidFill>
                <a:effectLst/>
                <a:uFillTx/>
                <a:latin typeface="Arial"/>
                <a:ea typeface="DejaVu Sans"/>
              </a:rPr>
              <a:t>Automation Tools Comparison</a:t>
            </a:r>
            <a:endParaRPr lang="en-AU" sz="1400" b="0" u="none" strike="noStrike">
              <a:solidFill>
                <a:srgbClr val="000000"/>
              </a:solidFill>
              <a:effectLst/>
              <a:uFillTx/>
              <a:latin typeface="Arial"/>
            </a:endParaRPr>
          </a:p>
        </p:txBody>
      </p:sp>
      <p:graphicFrame>
        <p:nvGraphicFramePr>
          <p:cNvPr id="98" name=""/>
          <p:cNvGraphicFramePr/>
          <p:nvPr/>
        </p:nvGraphicFramePr>
        <p:xfrm>
          <a:off x="95040" y="1351080"/>
          <a:ext cx="4692600" cy="3177360"/>
        </p:xfrm>
        <a:graphic>
          <a:graphicData uri="http://schemas.openxmlformats.org/drawingml/2006/table">
            <a:tbl>
              <a:tblPr/>
              <a:tblGrid>
                <a:gridCol w="1159200"/>
                <a:gridCol w="740880"/>
                <a:gridCol w="925920"/>
                <a:gridCol w="811080"/>
                <a:gridCol w="1055880"/>
              </a:tblGrid>
              <a:tr h="214200">
                <a:tc>
                  <a:txBody>
                    <a:bodyPr lIns="36000" tIns="36000" rIns="36000" bIns="36000" anchor="t">
                      <a:noAutofit/>
                    </a:bodyPr>
                    <a:p>
                      <a:pPr>
                        <a:lnSpc>
                          <a:spcPct val="100000"/>
                        </a:lnSpc>
                      </a:pPr>
                      <a:r>
                        <a:rPr lang="en-AU" sz="1200" b="1" u="none" strike="noStrike">
                          <a:solidFill>
                            <a:srgbClr val="000000"/>
                          </a:solidFill>
                          <a:effectLst/>
                          <a:uFillTx/>
                          <a:latin typeface="Arial"/>
                        </a:rPr>
                        <a:t>Feature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c>
                  <a:txBody>
                    <a:bodyPr lIns="36000" tIns="36000" rIns="36000" bIns="36000" anchor="t">
                      <a:noAutofit/>
                    </a:bodyPr>
                    <a:p>
                      <a:pPr>
                        <a:lnSpc>
                          <a:spcPct val="100000"/>
                        </a:lnSpc>
                      </a:pPr>
                      <a:r>
                        <a:rPr lang="en-AU" sz="1200" b="1" u="none" strike="noStrike">
                          <a:solidFill>
                            <a:srgbClr val="000000"/>
                          </a:solidFill>
                          <a:effectLst/>
                          <a:uFillTx/>
                          <a:latin typeface="Arial"/>
                        </a:rPr>
                        <a:t>Puppet</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12240">
                      <a:noFill/>
                      <a:prstDash val="solid"/>
                    </a:lnB>
                    <a:gradFill rotWithShape="0">
                      <a:gsLst>
                        <a:gs pos="0">
                          <a:srgbClr val="CCCCCC"/>
                        </a:gs>
                        <a:gs pos="100000">
                          <a:srgbClr val="666666"/>
                        </a:gs>
                      </a:gsLst>
                      <a:lin ang="3600000"/>
                    </a:gradFill>
                  </a:tcPr>
                </a:tc>
                <a:tc>
                  <a:txBody>
                    <a:bodyPr lIns="36000" tIns="36000" rIns="36000" bIns="36000" anchor="t">
                      <a:noAutofit/>
                    </a:bodyPr>
                    <a:p>
                      <a:pPr>
                        <a:lnSpc>
                          <a:spcPct val="100000"/>
                        </a:lnSpc>
                      </a:pPr>
                      <a:r>
                        <a:rPr lang="en-AU" sz="1200" b="1" u="none" strike="noStrike">
                          <a:solidFill>
                            <a:srgbClr val="000000"/>
                          </a:solidFill>
                          <a:effectLst/>
                          <a:uFillTx/>
                          <a:latin typeface="Arial"/>
                        </a:rPr>
                        <a:t>Chef</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c>
                  <a:txBody>
                    <a:bodyPr lIns="36000" tIns="36000" rIns="36000" bIns="36000" anchor="t">
                      <a:noAutofit/>
                    </a:bodyPr>
                    <a:p>
                      <a:pPr>
                        <a:lnSpc>
                          <a:spcPct val="100000"/>
                        </a:lnSpc>
                      </a:pPr>
                      <a:r>
                        <a:rPr lang="en-AU" sz="1200" b="1" u="none" strike="noStrike">
                          <a:solidFill>
                            <a:srgbClr val="000000"/>
                          </a:solidFill>
                          <a:effectLst/>
                          <a:uFillTx/>
                          <a:latin typeface="Arial"/>
                        </a:rPr>
                        <a:t>SaltStack</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c>
                  <a:txBody>
                    <a:bodyPr lIns="36000" tIns="36000" rIns="36000" bIns="36000" anchor="t">
                      <a:noAutofit/>
                    </a:bodyPr>
                    <a:p>
                      <a:pPr>
                        <a:lnSpc>
                          <a:spcPct val="100000"/>
                        </a:lnSpc>
                      </a:pPr>
                      <a:r>
                        <a:rPr lang="en-AU" sz="1200" b="1" u="none" strike="noStrike">
                          <a:solidFill>
                            <a:srgbClr val="000000"/>
                          </a:solidFill>
                          <a:effectLst/>
                          <a:uFillTx/>
                          <a:latin typeface="Arial"/>
                        </a:rPr>
                        <a:t>Ansible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CCCCCC"/>
                        </a:gs>
                        <a:gs pos="100000">
                          <a:srgbClr val="666666"/>
                        </a:gs>
                      </a:gsLst>
                      <a:lin ang="3600000"/>
                    </a:gradFill>
                  </a:tcPr>
                </a:tc>
              </a:tr>
              <a:tr h="356040">
                <a:tc>
                  <a:txBody>
                    <a:bodyPr lIns="36000" tIns="36000" rIns="36000" bIns="36000" anchor="t">
                      <a:noAutofit/>
                    </a:bodyPr>
                    <a:p>
                      <a:pPr>
                        <a:lnSpc>
                          <a:spcPct val="100000"/>
                        </a:lnSpc>
                      </a:pPr>
                      <a:r>
                        <a:rPr lang="en-AU" sz="1200" b="1" u="none" strike="noStrike">
                          <a:solidFill>
                            <a:srgbClr val="000000"/>
                          </a:solidFill>
                          <a:effectLst/>
                          <a:uFillTx/>
                          <a:latin typeface="Arial"/>
                        </a:rPr>
                        <a:t>Architecture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12240">
                      <a:noFill/>
                      <a:prstDash val="solid"/>
                    </a:lnR>
                    <a:lnT w="7200">
                      <a:solidFill>
                        <a:srgbClr val="000000"/>
                      </a:solidFill>
                      <a:prstDash val="solid"/>
                    </a:lnT>
                    <a:lnB w="7200">
                      <a:solidFill>
                        <a:srgbClr val="000000"/>
                      </a:solidFill>
                      <a:prstDash val="solid"/>
                    </a:lnB>
                    <a:gradFill rotWithShape="0">
                      <a:gsLst>
                        <a:gs pos="0">
                          <a:srgbClr val="B4C7DC"/>
                        </a:gs>
                        <a:gs pos="100000">
                          <a:srgbClr val="DEE6EF"/>
                        </a:gs>
                      </a:gsLst>
                      <a:lin ang="534000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Masters and Agents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Server and Client</a:t>
                      </a:r>
                      <a:endParaRPr lang="en-AU" sz="1200" b="0" u="none" strike="noStrike">
                        <a:solidFill>
                          <a:srgbClr val="000000"/>
                        </a:solidFill>
                        <a:effectLst/>
                        <a:uFillTx/>
                        <a:latin typeface="Arial"/>
                      </a:endParaRPr>
                    </a:p>
                  </a:txBody>
                  <a:tcPr anchor="t" marL="36000" marR="36000" marT="36000" marB="36000">
                    <a:lnL w="12240">
                      <a:no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Master and Minions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Control Centre Station and Remote hosts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35160">
                <a:tc>
                  <a:txBody>
                    <a:bodyPr lIns="36000" tIns="36000" rIns="36000" bIns="36000" anchor="t">
                      <a:noAutofit/>
                    </a:bodyPr>
                    <a:p>
                      <a:pPr>
                        <a:lnSpc>
                          <a:spcPct val="100000"/>
                        </a:lnSpc>
                      </a:pPr>
                      <a:r>
                        <a:rPr lang="en-AU" sz="1200" b="1" u="none" strike="noStrike">
                          <a:solidFill>
                            <a:srgbClr val="000000"/>
                          </a:solidFill>
                          <a:effectLst/>
                          <a:uFillTx/>
                          <a:latin typeface="Arial"/>
                        </a:rPr>
                        <a:t>Language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12240">
                      <a:noFill/>
                      <a:prstDash val="solid"/>
                    </a:lnR>
                    <a:lnT w="7200">
                      <a:solidFill>
                        <a:srgbClr val="000000"/>
                      </a:solidFill>
                      <a:prstDash val="solid"/>
                    </a:lnT>
                    <a:lnB w="7200">
                      <a:solidFill>
                        <a:srgbClr val="000000"/>
                      </a:solidFill>
                      <a:prstDash val="solid"/>
                    </a:lnB>
                    <a:gradFill rotWithShape="0">
                      <a:gsLst>
                        <a:gs pos="0">
                          <a:srgbClr val="B4C7DC"/>
                        </a:gs>
                        <a:gs pos="100000">
                          <a:srgbClr val="DEE6EF"/>
                        </a:gs>
                      </a:gsLst>
                      <a:lin ang="534000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Puppet DSL</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Ruby DSL</a:t>
                      </a:r>
                      <a:endParaRPr lang="en-AU" sz="1200" b="0" u="none" strike="noStrike">
                        <a:solidFill>
                          <a:srgbClr val="000000"/>
                        </a:solidFill>
                        <a:effectLst/>
                        <a:uFillTx/>
                        <a:latin typeface="Arial"/>
                      </a:endParaRPr>
                    </a:p>
                  </a:txBody>
                  <a:tcPr anchor="t" marL="36000" marR="36000" marT="36000" marB="36000">
                    <a:lnL w="12240">
                      <a:no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YAML</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YAML</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31200">
                <a:tc>
                  <a:txBody>
                    <a:bodyPr lIns="36000" tIns="36000" rIns="36000" bIns="36000" anchor="t">
                      <a:noAutofit/>
                    </a:bodyPr>
                    <a:p>
                      <a:pPr>
                        <a:lnSpc>
                          <a:spcPct val="100000"/>
                        </a:lnSpc>
                      </a:pPr>
                      <a:r>
                        <a:rPr lang="en-AU" sz="1200" b="1" u="none" strike="noStrike">
                          <a:solidFill>
                            <a:srgbClr val="000000"/>
                          </a:solidFill>
                          <a:effectLst/>
                          <a:uFillTx/>
                          <a:latin typeface="Arial"/>
                        </a:rPr>
                        <a:t>Terminology</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12240">
                      <a:noFill/>
                      <a:prstDash val="solid"/>
                    </a:lnR>
                    <a:lnT w="7200">
                      <a:solidFill>
                        <a:srgbClr val="000000"/>
                      </a:solidFill>
                      <a:prstDash val="solid"/>
                    </a:lnT>
                    <a:lnB w="7200">
                      <a:solidFill>
                        <a:srgbClr val="000000"/>
                      </a:solidFill>
                      <a:prstDash val="solid"/>
                    </a:lnB>
                    <a:gradFill rotWithShape="0">
                      <a:gsLst>
                        <a:gs pos="0">
                          <a:srgbClr val="B4C7DC"/>
                        </a:gs>
                        <a:gs pos="100000">
                          <a:srgbClr val="DEE6EF"/>
                        </a:gs>
                      </a:gsLst>
                      <a:lin ang="534000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Module and Manifests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Cookbooks and Recipes</a:t>
                      </a:r>
                      <a:endParaRPr lang="en-AU" sz="1200" b="0" u="none" strike="noStrike">
                        <a:solidFill>
                          <a:srgbClr val="000000"/>
                        </a:solidFill>
                        <a:effectLst/>
                        <a:uFillTx/>
                        <a:latin typeface="Arial"/>
                      </a:endParaRPr>
                    </a:p>
                  </a:txBody>
                  <a:tcPr anchor="t" marL="36000" marR="36000" marT="36000" marB="36000">
                    <a:lnL w="12240">
                      <a:no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Pillars and Grains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Playbooks and Plays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56040">
                <a:tc>
                  <a:txBody>
                    <a:bodyPr lIns="36000" tIns="36000" rIns="36000" bIns="36000" anchor="t">
                      <a:noAutofit/>
                    </a:bodyPr>
                    <a:p>
                      <a:pPr>
                        <a:lnSpc>
                          <a:spcPct val="100000"/>
                        </a:lnSpc>
                      </a:pPr>
                      <a:r>
                        <a:rPr lang="en-AU" sz="1200" b="1" u="none" strike="noStrike">
                          <a:solidFill>
                            <a:srgbClr val="000000"/>
                          </a:solidFill>
                          <a:effectLst/>
                          <a:uFillTx/>
                          <a:latin typeface="Arial"/>
                        </a:rPr>
                        <a:t>Large Scale deployment support</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12240">
                      <a:noFill/>
                      <a:prstDash val="solid"/>
                    </a:lnR>
                    <a:lnT w="7200">
                      <a:solidFill>
                        <a:srgbClr val="000000"/>
                      </a:solidFill>
                      <a:prstDash val="solid"/>
                    </a:lnT>
                    <a:lnB w="7200">
                      <a:solidFill>
                        <a:srgbClr val="000000"/>
                      </a:solidFill>
                      <a:prstDash val="solid"/>
                    </a:lnB>
                    <a:gradFill rotWithShape="0">
                      <a:gsLst>
                        <a:gs pos="0">
                          <a:srgbClr val="B4C7DC"/>
                        </a:gs>
                        <a:gs pos="100000">
                          <a:srgbClr val="DEE6EF"/>
                        </a:gs>
                      </a:gsLst>
                      <a:lin ang="534000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Yes</a:t>
                      </a:r>
                      <a:endParaRPr lang="en-AU" sz="1200" b="0" u="none" strike="noStrike">
                        <a:solidFill>
                          <a:srgbClr val="000000"/>
                        </a:solidFill>
                        <a:effectLst/>
                        <a:uFillTx/>
                        <a:latin typeface="Arial"/>
                      </a:endParaRPr>
                    </a:p>
                  </a:txBody>
                  <a:tcPr anchor="t" marL="36000" marR="36000" marT="36000" marB="36000">
                    <a:lnL w="12240">
                      <a:no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56040">
                <a:tc>
                  <a:txBody>
                    <a:bodyPr lIns="36000" tIns="36000" rIns="36000" bIns="36000" anchor="t">
                      <a:noAutofit/>
                    </a:bodyPr>
                    <a:p>
                      <a:pPr>
                        <a:lnSpc>
                          <a:spcPct val="100000"/>
                        </a:lnSpc>
                      </a:pPr>
                      <a:r>
                        <a:rPr lang="en-AU" sz="1200" b="1" u="none" strike="noStrike">
                          <a:solidFill>
                            <a:srgbClr val="000000"/>
                          </a:solidFill>
                          <a:effectLst/>
                          <a:uFillTx/>
                          <a:latin typeface="Arial"/>
                        </a:rPr>
                        <a:t>Agentless Version</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B4C7DC"/>
                        </a:gs>
                        <a:gs pos="100000">
                          <a:srgbClr val="DEE6EF"/>
                        </a:gs>
                      </a:gsLst>
                      <a:lin ang="534000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Puppet Bolt</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12240">
                      <a:no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N/A</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Salt SSH</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99" name=""/>
          <p:cNvSpPr/>
          <p:nvPr/>
        </p:nvSpPr>
        <p:spPr>
          <a:xfrm>
            <a:off x="72000" y="4680000"/>
            <a:ext cx="4679640" cy="8996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600" b="0" u="none" strike="noStrike">
                <a:solidFill>
                  <a:srgbClr val="000000"/>
                </a:solidFill>
                <a:effectLst/>
                <a:uFillTx/>
                <a:latin typeface="Arial"/>
              </a:rPr>
              <a:t>Important factor in choosing an automation tool is the skills/language the operation staff are comfortable with.</a:t>
            </a: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1217</TotalTime>
  <Application>LibreOffice/26.2.5.2$Windows_X86_64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2026-07-20T11:29:39Z</dcterms:created>
  <dc:creator/>
  <dc:description/>
  <dc:language>en-AU</dc:language>
  <cp:lastModifiedBy/>
  <dcterms:modified xsi:type="dcterms:W3CDTF">2026-08-24T20:43:32Z</dcterms:modified>
  <cp:revision>9</cp:revision>
  <dc:subject/>
  <dc:title/>
</cp:coreProperties>
</file>

<file path=docProps/custom.xml><?xml version="1.0" encoding="utf-8"?>
<Properties xmlns="http://schemas.openxmlformats.org/officeDocument/2006/custom-properties" xmlns:vt="http://schemas.openxmlformats.org/officeDocument/2006/docPropsVTypes"/>
</file>