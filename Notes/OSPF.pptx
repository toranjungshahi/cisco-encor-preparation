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B16EF1B-63D6-4B8B-8030-36760FE866A2}" type="slidenum"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FA66BC-78BF-4AF5-BF88-7ED5E85E0A75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9AE108-5B04-4774-A8D4-E0FE8F792893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39BE85-0417-43A5-A8E6-04AAE03549F0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5F1BAD-800C-47C2-9D50-526FA26BCA7A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36C442-9459-498F-B0A5-20C7BCAB8A80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F3940-6030-4364-A6E5-AB7C6938F4C2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4786C7-F24F-431D-B026-8C730542FEBD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BFB65B-2663-418D-8343-3D04A4B9118F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000" b="0" u="none" strike="noStrike">
                <a:solidFill>
                  <a:srgbClr val="C00000"/>
                </a:solidFill>
                <a:effectLst/>
                <a:uFillTx/>
                <a:latin typeface="Arial"/>
                <a:ea typeface="Calibri"/>
              </a:rPr>
              <a:t>Red : Keyword 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, </a:t>
            </a:r>
            <a:r>
              <a:rPr lang="en-AU" sz="2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Calibri"/>
              </a:rPr>
              <a:t>Blue : Variable/value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A0568B-CEE1-484D-8E65-2AA0BC34F751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000" b="0" u="none" strike="noStrike">
                <a:solidFill>
                  <a:srgbClr val="C00000"/>
                </a:solidFill>
                <a:effectLst/>
                <a:uFillTx/>
                <a:latin typeface="Arial"/>
                <a:ea typeface="Calibri"/>
              </a:rPr>
              <a:t>Red : Keyword 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, </a:t>
            </a:r>
            <a:r>
              <a:rPr lang="en-AU" sz="2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Calibri"/>
              </a:rPr>
              <a:t>Blue : Variable/value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186601-1FBD-49F4-87EF-6F577577C2DB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DFD1B9-9306-4A6B-8B74-1E86A296ED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733954-F8CD-4B54-BBC2-F4269A5945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10AFE1-A652-4B91-9B7A-20E08BCDD2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52A798-D32B-4DAD-A197-D61568B644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830FC5-124F-4C2E-9D37-61FF2953A9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FFB448-7B3F-4604-8D58-EB82F222439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0F43B3-51B9-4372-ACAA-E8AE7B858E1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7DCE8E-FBAE-4CBF-85AE-2CCA38A2CDB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7CCF28-CA87-4A7E-BB26-558C132C36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49BC1E-B53C-4345-B44E-2C6FB5AA24B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B66BAF-97A9-4163-9E9C-6484D88AE10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7ACCB4-AD98-469E-8891-9888962414E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648563-9162-4234-985B-67A64528C7F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16AD12-79B4-40B3-9B38-7EC33F9BA5F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8EF6B-48FA-4393-B147-91B8AA3508A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7D691-3D94-4630-A4BB-366E7348F5A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1320" y="548640"/>
            <a:ext cx="3273120" cy="543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Open Shortest Path First </a:t>
            </a:r>
            <a:br>
              <a:rPr sz="5400"/>
            </a:b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(OSPF)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4793400" y="337320"/>
            <a:ext cx="7125480" cy="62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Learning Outcomes: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Foundation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Inter Router Communication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Network Types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Neighbors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DR/BDR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OSPF Configuration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Verification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6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Foundation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63720" y="1617120"/>
            <a:ext cx="7188840" cy="36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Link State routing protocol, sends link state(up/down) and link metric to neighbors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Non-proprietary IGP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OSPFv2 supports IPv4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OSPFv3 modified original to support IPv6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Administrative Distance (AD) 110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Dijkstra's SPF algorithm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6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Foundation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08640" y="534960"/>
            <a:ext cx="7188840" cy="568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floods Link State Advertisements (LSA) to share link state and metric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OSPF router builds Link State Database (LSDB) from received LSAs.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LSDB provides complete topology view of the network to the OSPF router.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routers run Dijkstra Shortest Path First (SPF)  algorithm on LSDB to create a shortest path loop free topology.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Such topology is SPF Tree (SPT) with each router as root of the tree.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LSDB is identical for each router, but SPT  is different.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640" cy="68576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Foundation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08640" y="534960"/>
            <a:ext cx="7188840" cy="568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uses Areas to provide scalability.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Routers in single OSPF Area has identical LSDB.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Areas are two tier hierarchial architecture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Tier 1/Area 0/ Backbone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Tier 2/ Area non-zero/non-backbone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All non-backbone areas are connected to backbone and inter non-backbone communication is via backbone area.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runs as a process in routers and is identified with process number.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Each OSPF processes in a router are independent and routing information between processes is only shared if redistributed.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process identifier from router to router does not need to match.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processes within the router or between routers are uniquely identified with Router ID (RID)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320" y="1440"/>
            <a:ext cx="4290840" cy="211680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Inter Router Communication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614840" y="216360"/>
            <a:ext cx="7194240" cy="286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runs directly over IPv4 with protocol number 89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Multicast traffic to: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AllSPF Routers: 224.0.0.5 or MAC 01:00:5E:00:00:05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 &amp; BDR: 224.0.0.6 or MAC 01:00:5E:00:00:06.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 Packet Types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6" name="Table 4"/>
          <p:cNvGraphicFramePr/>
          <p:nvPr/>
        </p:nvGraphicFramePr>
        <p:xfrm>
          <a:off x="0" y="3085200"/>
          <a:ext cx="12059280" cy="3567960"/>
        </p:xfrm>
        <a:graphic>
          <a:graphicData uri="http://schemas.openxmlformats.org/drawingml/2006/table">
            <a:tbl>
              <a:tblPr/>
              <a:tblGrid>
                <a:gridCol w="1219680"/>
                <a:gridCol w="3050640"/>
                <a:gridCol w="7789320"/>
              </a:tblGrid>
              <a:tr h="640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Packet Type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Packet Name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Function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HELLO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Used for discovery and reachability of the neighbors (Multicast)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Database Descriptors (DBD) or (DDP)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Contains summary of LSDB content. Exchanged while forming adjacency.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Link-state Request (LSR)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After analyzing DBDs while forming adjacency, Link-state Request packets are sent to request any missing LSA's in LSDB.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Link-state Update (LSU)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Requested LSA's are wrapped in Link-state Update packets and sent.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Link-state ACK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Acknowledgement for LSU. Unlike Seq.no. in TCP Acks, this packet contains header of LSA's that were received in LSU.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-5040" y="-8280"/>
            <a:ext cx="4520520" cy="212652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3. Network Types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806360" y="420480"/>
            <a:ext cx="7013520" cy="251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network types are the logical architecture of the network percieved by OSPF process rather than actual physical architecture.​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Network types can be specified during OSPF configuration and this determines how OSPF routers form adjacency(dynamically or manually specifying neighbors).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default Dead Interval is 4 times Hello Interval.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9" name="Table 4"/>
          <p:cNvGraphicFramePr/>
          <p:nvPr/>
        </p:nvGraphicFramePr>
        <p:xfrm>
          <a:off x="84960" y="2757960"/>
          <a:ext cx="11981880" cy="3963240"/>
        </p:xfrm>
        <a:graphic>
          <a:graphicData uri="http://schemas.openxmlformats.org/drawingml/2006/table">
            <a:tbl>
              <a:tblPr/>
              <a:tblGrid>
                <a:gridCol w="4111200"/>
                <a:gridCol w="1136520"/>
                <a:gridCol w="1756800"/>
                <a:gridCol w="2270160"/>
                <a:gridCol w="2707560"/>
              </a:tblGrid>
              <a:tr h="914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Network Types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DR/BDR Election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Hello Interval/Sec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Dynamic Neighbor Discovery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Default For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44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Point to Point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Serial, Frame Relay P2P sub-interfaces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6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Broadcast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Ethernet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Non-Broadcast Multi Access (NBMA)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30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Frame Relay Physical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5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Point to Multipoint (P2M)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30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/32 prefix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P2M Non-Broadcast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30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/32 prefix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0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Loopback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 Hello Sent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Does not form Adj.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/32 prefix only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320" y="1440"/>
            <a:ext cx="4378320" cy="212652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OSPF Neighbors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717800" y="420480"/>
            <a:ext cx="7267680" cy="169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neighbor is a router that has common OSPF enabled interface and atleast exchange Hello packets.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Additionally, OSPF routers need to have common parameters as shown in the table. 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adjacency is more specific status of OSPF neighbors that have  synchronized LSDB. Ex. DR &amp; DR-OTHERs.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92" name="Table 4"/>
          <p:cNvGraphicFramePr/>
          <p:nvPr/>
        </p:nvGraphicFramePr>
        <p:xfrm>
          <a:off x="4790520" y="1833480"/>
          <a:ext cx="7174800" cy="4768560"/>
        </p:xfrm>
        <a:graphic>
          <a:graphicData uri="http://schemas.openxmlformats.org/drawingml/2006/table">
            <a:tbl>
              <a:tblPr/>
              <a:tblGrid>
                <a:gridCol w="1900080"/>
                <a:gridCol w="5275080"/>
              </a:tblGrid>
              <a:tr h="620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Adjacency States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52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DOWN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 Hello packets sent/received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20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ATTEMPT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In NBMA network segments only, router sending Hello. No reply received.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4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INIT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Hello packet sent OR received (Unidirectional)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20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2-WAY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Hello packets exchanged(Bi-directional). DR/BDR election if required. DR-OTHERS stay in this state.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3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EX-START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Identify Master and Slave for LSDB sync.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52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EXCHANGE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DBD packets exchanged.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7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LOADING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LSR and LSU packets exchanged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17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FULL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LSDB synchronized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3"/>
          <p:cNvGraphicFramePr/>
          <p:nvPr/>
        </p:nvGraphicFramePr>
        <p:xfrm>
          <a:off x="90720" y="2320200"/>
          <a:ext cx="4228920" cy="3895920"/>
        </p:xfrm>
        <a:graphic>
          <a:graphicData uri="http://schemas.openxmlformats.org/drawingml/2006/table">
            <a:tbl>
              <a:tblPr/>
              <a:tblGrid>
                <a:gridCol w="2200680"/>
                <a:gridCol w="20286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Parameters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Must Match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Router ID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NO/ Must be unique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12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Hello/Dead interval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Area ID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6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Subnet Mask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YES/Broadcast segment only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Authentication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MTU 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5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Stub Area flag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320" y="1440"/>
            <a:ext cx="4433760" cy="211680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5. DR/BDR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728960" y="321120"/>
            <a:ext cx="7090920" cy="589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Router ID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: 32 bit unique ID that identifies each OSPF processes in an OSPF domain.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Router ID Election Hierarchy: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Manual configuration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Highest loopback IP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Highest active physical interface IP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Designated Router (DR): 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 a multi access network segment, each router is connected with all other routers in a full mesh fashion as shown in top figure.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With n number of routers/nodes, there will be n(n-1)/2 adjacencies/edges.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 reduce this number of adjacencies formed, a DR/Pseudonode is elected as shown in bottom figure.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DR-OTHER router forms FULL adjacency with DR/BDR only in a hub and spoke fashion.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DR-OTHER have 2-way adjacency state among them.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6" name="Picture 3" descr="A diagram of a network&#10;&#10;AI-generated content may be incorrect."/>
          <p:cNvPicPr/>
          <p:nvPr/>
        </p:nvPicPr>
        <p:blipFill>
          <a:blip r:embed="rId1"/>
          <a:stretch/>
        </p:blipFill>
        <p:spPr>
          <a:xfrm>
            <a:off x="384840" y="2936520"/>
            <a:ext cx="3876480" cy="16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5"/>
          <p:cNvSpPr/>
          <p:nvPr/>
        </p:nvSpPr>
        <p:spPr>
          <a:xfrm>
            <a:off x="203400" y="2315520"/>
            <a:ext cx="40075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Multi-access network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without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DR/BDR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6" descr="A diagram of a network&#10;&#10;AI-generated content may be incorrect."/>
          <p:cNvPicPr/>
          <p:nvPr/>
        </p:nvPicPr>
        <p:blipFill>
          <a:blip r:embed="rId2"/>
          <a:stretch/>
        </p:blipFill>
        <p:spPr>
          <a:xfrm>
            <a:off x="317160" y="5143320"/>
            <a:ext cx="2638080" cy="17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7"/>
          <p:cNvSpPr/>
          <p:nvPr/>
        </p:nvSpPr>
        <p:spPr>
          <a:xfrm>
            <a:off x="206280" y="4551480"/>
            <a:ext cx="40075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Multi-access network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with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DR/BDR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320" y="1440"/>
            <a:ext cx="4433760" cy="211680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5. DR/BDR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772880" y="321120"/>
            <a:ext cx="7212600" cy="633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 Election: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Election of DR is non-preemptive, i.e, once selected it cannot be overthrown even if new routers with higher priority joins the segment later.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During initialization, router waits for WaitTimer set in the interface.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 Election Hierarchy: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Highest interface priority, Default 1, range 0 to 65,536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Highest Router ID.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Interface priority zero (0) means it can only be DR-OTHER.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Router elects itself as BDR first to promote later to DR if eligible after communicating with other routers in the segment.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Backup Designated Router (BDR):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 case of DR failure, routers must go through resource intensive process of new DR election and new adjacencies.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 overcome such issue, a BDR is pre-elected in the segment which also forms FULL adjacencies with DR and DR-OTHERs.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 case of DR failure, BDR becomes DR and new BDR from DR-OTHERs is chosen. 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BDR election uses same DR Election Hierarchy as above.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203400" y="2315520"/>
            <a:ext cx="4435200" cy="51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DR/BDR Operation: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All OSPF routers (DR,BDR,DROther) form full adjacency with DR &amp; BDR.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 new routes are learned by any router, updated LSA is sent to AllDRouters address (224.0.0.6). Only DR &amp; BDR receive &amp; process those.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 sends unicast Ack for the received LSA.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 floods the LSA to all the routers in the segment to AllSPF router address (224.0.0.5)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-14760" y="1440"/>
            <a:ext cx="4662720" cy="211680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6. OSPF Configuration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875120" y="163440"/>
            <a:ext cx="7110360" cy="649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Network Statement: 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Match against primary IP address and mask of the interface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router ospf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process-id[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vrf</a:t>
            </a:r>
            <a:r>
              <a:rPr lang="en-US" sz="18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 vrf-name]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Network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1800" b="0" i="1" u="none" strike="noStrike">
                <a:solidFill>
                  <a:schemeClr val="dk2">
                    <a:lumMod val="76000"/>
                    <a:lumOff val="24000"/>
                  </a:schemeClr>
                </a:solidFill>
                <a:effectLst/>
                <a:uFillTx/>
                <a:latin typeface="Aptos"/>
                <a:ea typeface="Aptos"/>
              </a:rPr>
              <a:t>ip-add</a:t>
            </a:r>
            <a:r>
              <a:rPr lang="en-US" sz="18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ress wil</a:t>
            </a:r>
            <a:r>
              <a:rPr lang="en-US" sz="1800" b="0" i="1" u="none" strike="noStrike">
                <a:solidFill>
                  <a:schemeClr val="dk2">
                    <a:lumMod val="76000"/>
                    <a:lumOff val="24000"/>
                  </a:schemeClr>
                </a:solidFill>
                <a:effectLst/>
                <a:uFillTx/>
                <a:latin typeface="Aptos"/>
                <a:ea typeface="Aptos"/>
              </a:rPr>
              <a:t>dcard-mask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area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i="1" u="none" strike="noStrike">
                <a:solidFill>
                  <a:schemeClr val="dk2">
                    <a:lumMod val="76000"/>
                    <a:lumOff val="24000"/>
                  </a:schemeClr>
                </a:solidFill>
                <a:effectLst/>
                <a:uFillTx/>
                <a:latin typeface="Aptos"/>
                <a:ea typeface="Aptos"/>
              </a:rPr>
              <a:t>area-id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vrf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indicates ospf process is being configured for particular VRF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Example: Router(config)# router ospf 1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Router(router-config)# network 10.0.0.1 0.0.0.0 area 0 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4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If two network statements with different area match the interface ip address, the longest match is used to allocate area. 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Interface Specific Configuration: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ip ospf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process-id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area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8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area-id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[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secondaries none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Router(config)#interface gigabitethernet0/0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Router(config-if)#ip address 10.0.0.1 255.255.255.255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Router(config-if)#ip ospf 1 area 0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This configuration adds secondary connected networks to ospf process as well. Unless secondaries none option is used. 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212400" y="2234880"/>
            <a:ext cx="4668840" cy="42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Recommended to set RID statically as the physical interfaces and loopback details can change.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Command  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router-id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router-id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under ospf process assigns static RID.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Command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clear ip ospf process</a:t>
            </a:r>
            <a:r>
              <a:rPr lang="en-US" sz="1600" b="0" i="1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resets ospf process in a router that resets RID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ptos"/>
                <a:ea typeface="Aptos"/>
              </a:rPr>
              <a:t>passive interface does not send and process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any OSPF Hellos.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Command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passive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interface-id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under the OSPF process makes the interface passive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 passive interface default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makes all intefaces passive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no passive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i="1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interface-id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is used to make the interface process OSPF Hello. 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320" y="3240"/>
            <a:ext cx="3595680" cy="685116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7. Verification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954240" y="543960"/>
            <a:ext cx="8076600" cy="60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Sequence: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-4572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OSPF neighbors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R3#sh ip ospf neigh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Neighbor ID     Pri   State           Dead Time   Address         Interface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Calibri"/>
              </a:rPr>
              <a:t>10.1.1.1          1   FULL/DROTHER    00:00:34    192.168.1.1     GigabitEthernet0/0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Calibri"/>
              </a:rPr>
              <a:t>10.2.2.2          1   FULL/DROTHER    00:00:30    192.168.1.2     GigabitEthernet0/0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Calibri"/>
              </a:rPr>
              <a:t>192.168.1.254     1   FULL/DR         00:00:36    192.168.1.254   GigabitEthernet0/0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08" name="Table 3"/>
          <p:cNvGraphicFramePr/>
          <p:nvPr/>
        </p:nvGraphicFramePr>
        <p:xfrm>
          <a:off x="3780000" y="4056480"/>
          <a:ext cx="8250480" cy="2693520"/>
        </p:xfrm>
        <a:graphic>
          <a:graphicData uri="http://schemas.openxmlformats.org/drawingml/2006/table">
            <a:tbl>
              <a:tblPr/>
              <a:tblGrid>
                <a:gridCol w="1794240"/>
                <a:gridCol w="6456600"/>
              </a:tblGrid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Field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Neighbor ID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RID of the  neighbor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Pri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Priority of the neighbor's interface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State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Adjacency-state/DR-BDR-role of neighbor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Dead Time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Time left until the neighbor is declared unreachable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Address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Primary IP address of the neighbor's  interface.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4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Interface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Local OSPF interface the neighbor is discovered.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10" name="Table 4"/>
          <p:cNvGraphicFramePr/>
          <p:nvPr/>
        </p:nvGraphicFramePr>
        <p:xfrm>
          <a:off x="4067280" y="2371680"/>
          <a:ext cx="7789680" cy="4392000"/>
        </p:xfrm>
        <a:graphic>
          <a:graphicData uri="http://schemas.openxmlformats.org/drawingml/2006/table">
            <a:tbl>
              <a:tblPr/>
              <a:tblGrid>
                <a:gridCol w="2833920"/>
                <a:gridCol w="4956120"/>
              </a:tblGrid>
              <a:tr h="325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Field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25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Interface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OSPF enabled interface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PID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OSPF PID the interface is associated with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25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Area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OSPF area the interface is in.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IP Address/Mask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Primary IP address/mask of the interface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Cost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Cost metric of the interface assigned and used to calculate path metric.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State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State of the interface (DR,BDR,DROTHER,LOOP,DOWN)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Nbrs F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Number of neighbors for the segment that are fully adjacent.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99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Nbrs 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Numbers of neighbors that are discovered/connected.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1" name="Title 1"/>
          <p:cNvSpPr/>
          <p:nvPr/>
        </p:nvSpPr>
        <p:spPr>
          <a:xfrm>
            <a:off x="-2880" y="31680"/>
            <a:ext cx="3510720" cy="68572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7. Verification</a:t>
            </a:r>
            <a:endParaRPr lang="en-A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Content Placeholder 2"/>
          <p:cNvSpPr/>
          <p:nvPr/>
        </p:nvSpPr>
        <p:spPr>
          <a:xfrm>
            <a:off x="3743280" y="244440"/>
            <a:ext cx="8115120" cy="19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2. OSPF Interfaces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R3#sh ip ospf int b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Interface    PID   Area            IP Address/Mask    Cost  State Nbrs F/C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Gi0/2        123   0               192.168.40.3/24    1     DR    0/0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Gi0/1        123   0               192.168.30.3/24    1     DR    0/0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Gi0/0        123   0               192.168.1.3/24     1     BDR   3/3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4476600" y="368280"/>
            <a:ext cx="7381440" cy="263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3. OSPF Link State Database (LSDB)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LSDB groups different Types of LSAs together. In below picture, Router Link LSA (Type 1) and Network Link LSA (Type 2) highlighted below.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Router LSA (Type 1) are generated by every router in an OSPF area.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Network LSA (Type 2) are generated by DR on multiaccess network segment.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Type 2 LSA is showing the network segment 192.168.1.254 advertised by DR  192.168.1.254 in that segment.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More detailed command 'show ip ospf database router'.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4" name="Title 1"/>
          <p:cNvSpPr/>
          <p:nvPr/>
        </p:nvSpPr>
        <p:spPr>
          <a:xfrm>
            <a:off x="-2880" y="-4320"/>
            <a:ext cx="3729960" cy="171396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7. Verification</a:t>
            </a:r>
            <a:endParaRPr lang="en-A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7" descr="A computer screen 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4791240" y="3433320"/>
            <a:ext cx="6743520" cy="28962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6" name="Table 9"/>
          <p:cNvGraphicFramePr/>
          <p:nvPr/>
        </p:nvGraphicFramePr>
        <p:xfrm>
          <a:off x="113040" y="1776960"/>
          <a:ext cx="4071240" cy="5445360"/>
        </p:xfrm>
        <a:graphic>
          <a:graphicData uri="http://schemas.openxmlformats.org/drawingml/2006/table">
            <a:tbl>
              <a:tblPr/>
              <a:tblGrid>
                <a:gridCol w="1409400"/>
                <a:gridCol w="2662200"/>
              </a:tblGrid>
              <a:tr h="418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Field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2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 ID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ID, usually same as RID of advertising router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ADV Router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RID of the advertising router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8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Age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age since LSA was generated. Discarded after max age time. 3600 Sec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2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Seq#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seq# to identify old/stale and new LSA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09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Checksum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Fletcher checksum 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2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 Count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Number of links connected to advertising router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4819680" y="368280"/>
            <a:ext cx="7038720" cy="175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4. Routing Table (RIB)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First Image below shows the routing table on R3 with all the routes (Connected,Local and OSPF).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Second picture shows only  OSPF routes installed in RIB with 'show ip route ospf' command.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OSPF routes has 'O' as route types and [AD/cost] value of [110/2].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8" name="Title 1"/>
          <p:cNvSpPr/>
          <p:nvPr/>
        </p:nvSpPr>
        <p:spPr>
          <a:xfrm>
            <a:off x="-2880" y="-42120"/>
            <a:ext cx="4158360" cy="175212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7. Verification</a:t>
            </a:r>
            <a:endParaRPr lang="en-A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7" descr="A screenshot of a computer pro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5182560" y="2241000"/>
            <a:ext cx="6529680" cy="432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1" descr="A computer screen shot of a computer screen&#10;&#10;AI-generated content may be incorrect."/>
          <p:cNvPicPr/>
          <p:nvPr/>
        </p:nvPicPr>
        <p:blipFill>
          <a:blip r:embed="rId2"/>
          <a:stretch/>
        </p:blipFill>
        <p:spPr>
          <a:xfrm>
            <a:off x="137160" y="2535120"/>
            <a:ext cx="4901040" cy="23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  <dc:creator/>
  <dc:description/>
  <dc:language>en-AU</dc:language>
  <cp:lastModifiedBy/>
  <dcterms:modified xsi:type="dcterms:W3CDTF">2026-09-20T06:26:43Z</dcterms:modified>
  <cp:revision>2157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Widescreen</vt:lpwstr>
  </property>
  <property fmtid="{D5CDD505-2E9C-101B-9397-08002B2CF9AE}" pid="4" name="Slides">
    <vt:r8>14</vt:r8>
  </property>
</Properties>
</file>