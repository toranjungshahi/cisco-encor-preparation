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defTabSz="914400">
              <a:lnSpc>
                <a:spcPct val="90000"/>
              </a:lnSpc>
            </a:pPr>
            <a:r>
              <a:rPr lang="en-US" sz="6000" b="0" u="none" strike="noStrike">
                <a:solidFill>
                  <a:schemeClr val="dk1"/>
                </a:solidFill>
                <a:effectLst/>
                <a:uFillTx/>
                <a:latin typeface="Aptos Display"/>
              </a:rPr>
              <a:t>Click to move the slide</a:t>
            </a:r>
            <a:endParaRPr lang="en-US" sz="6000" b="0" u="none" strike="noStrike">
              <a:solidFill>
                <a:schemeClr val="dk1"/>
              </a:solidFill>
              <a:effectLst/>
              <a:uFillTx/>
              <a:latin typeface="Aptos Display"/>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AU" sz="2000" b="0" u="none" strike="noStrike">
                <a:solidFill>
                  <a:srgbClr val="000000"/>
                </a:solidFill>
                <a:effectLst/>
                <a:uFillTx/>
                <a:latin typeface="Arial"/>
              </a:rPr>
              <a:t>Click to edit the notes format</a:t>
            </a:r>
            <a:endParaRPr lang="en-AU"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AU" sz="1400" b="0" u="none" strike="noStrike">
                <a:solidFill>
                  <a:srgbClr val="000000"/>
                </a:solidFill>
                <a:effectLst/>
                <a:uFillTx/>
                <a:latin typeface="Times New Roman"/>
              </a:rPr>
              <a:t>&lt;header&gt;</a:t>
            </a:r>
            <a:endParaRPr lang="en-AU"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AU" sz="1400" b="0" u="none" strike="noStrike">
                <a:solidFill>
                  <a:srgbClr val="000000"/>
                </a:solidFill>
                <a:effectLst/>
                <a:uFillTx/>
                <a:latin typeface="Times New Roman"/>
              </a:defRPr>
            </a:lvl1pPr>
          </a:lstStyle>
          <a:p>
            <a:pPr indent="0" algn="r">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AU" sz="1400" b="0" u="none" strike="noStrike">
                <a:solidFill>
                  <a:srgbClr val="000000"/>
                </a:solidFill>
                <a:effectLst/>
                <a:uFillTx/>
                <a:latin typeface="Times New Roman"/>
              </a:defRPr>
            </a:lvl1pPr>
          </a:lstStyle>
          <a:p>
            <a:pPr indent="0" algn="r">
              <a:buNone/>
            </a:pPr>
            <a:fld id="{CE263E13-B96F-4117-B663-9E8C1BA0D6EA}"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hyperlink" Target="https://networklessons.com/vpn/ipsec-internet-protocol-security" TargetMode="External"/><Relationship Id="rId2" Type="http://schemas.openxmlformats.org/officeDocument/2006/relationships/slide" Target="../slides/slide11.xml"/><Relationship Id="rId3"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6040" cy="3085920"/>
          </a:xfrm>
          <a:prstGeom prst="rect">
            <a:avLst/>
          </a:prstGeom>
          <a:ln w="0">
            <a:noFill/>
          </a:ln>
        </p:spPr>
      </p:sp>
      <p:sp>
        <p:nvSpPr>
          <p:cNvPr id="1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62"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8DD2A3B8-0A5B-42B7-A8D9-DB62F890D3BD}"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6040" cy="3085920"/>
          </a:xfrm>
          <a:prstGeom prst="rect">
            <a:avLst/>
          </a:prstGeom>
          <a:ln w="0">
            <a:noFill/>
          </a:ln>
        </p:spPr>
      </p:sp>
      <p:sp>
        <p:nvSpPr>
          <p:cNvPr id="1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65"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17832254-60D8-4F87-A00F-4906096EE264}"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6040" cy="3085920"/>
          </a:xfrm>
          <a:prstGeom prst="rect">
            <a:avLst/>
          </a:prstGeom>
          <a:ln w="0">
            <a:noFill/>
          </a:ln>
        </p:spPr>
      </p:sp>
      <p:sp>
        <p:nvSpPr>
          <p:cNvPr id="1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68"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99535D30-1EF3-4CA7-948B-FC34F01D2C8C}"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71"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A320E91E-73BB-4DF0-A94B-47E39D18679B}"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6040" cy="3085920"/>
          </a:xfrm>
          <a:prstGeom prst="rect">
            <a:avLst/>
          </a:prstGeom>
          <a:ln w="0">
            <a:noFill/>
          </a:ln>
        </p:spPr>
      </p:sp>
      <p:sp>
        <p:nvSpPr>
          <p:cNvPr id="1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74"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BCD26AFC-51D0-44B5-9487-E4CE2A1DDD4F}"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6040" cy="3085920"/>
          </a:xfrm>
          <a:prstGeom prst="rect">
            <a:avLst/>
          </a:prstGeom>
          <a:ln w="0">
            <a:noFill/>
          </a:ln>
        </p:spPr>
      </p:sp>
      <p:sp>
        <p:nvSpPr>
          <p:cNvPr id="1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77"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B3CA7D18-94DA-4AAD-A926-145B55854944}"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6040" cy="3085920"/>
          </a:xfrm>
          <a:prstGeom prst="rect">
            <a:avLst/>
          </a:prstGeom>
          <a:ln w="0">
            <a:noFill/>
          </a:ln>
        </p:spPr>
      </p:sp>
      <p:sp>
        <p:nvSpPr>
          <p:cNvPr id="1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80"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FC07CE51-089F-4810-9586-18F0CE4C2234}"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6040" cy="3085920"/>
          </a:xfrm>
          <a:prstGeom prst="rect">
            <a:avLst/>
          </a:prstGeom>
          <a:ln w="0">
            <a:noFill/>
          </a:ln>
        </p:spPr>
      </p:sp>
      <p:sp>
        <p:nvSpPr>
          <p:cNvPr id="1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83"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3E813BB5-615C-4963-B394-EB492C61EC17}"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6040" cy="3085920"/>
          </a:xfrm>
          <a:prstGeom prst="rect">
            <a:avLst/>
          </a:prstGeom>
          <a:ln w="0">
            <a:noFill/>
          </a:ln>
        </p:spPr>
      </p:sp>
      <p:sp>
        <p:nvSpPr>
          <p:cNvPr id="1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86"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CEDB9187-D16C-4DF0-9A44-A0158A6375F5}"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ea typeface="Calibri"/>
              </a:rPr>
              <a:t>A </a:t>
            </a:r>
            <a:r>
              <a:rPr lang="en-US" sz="2000" b="1" u="none" strike="noStrike">
                <a:solidFill>
                  <a:srgbClr val="000000"/>
                </a:solidFill>
                <a:effectLst/>
                <a:uFillTx/>
                <a:latin typeface="Arial"/>
                <a:ea typeface="Calibri"/>
              </a:rPr>
              <a:t>protocol</a:t>
            </a:r>
            <a:r>
              <a:rPr lang="en-US" sz="2000" b="0" u="none" strike="noStrike">
                <a:solidFill>
                  <a:srgbClr val="000000"/>
                </a:solidFill>
                <a:effectLst/>
                <a:uFillTx/>
                <a:latin typeface="Arial"/>
                <a:ea typeface="Calibri"/>
              </a:rPr>
              <a:t> is the communication rule set governing how nodes exchange data, while a </a:t>
            </a:r>
            <a:r>
              <a:rPr lang="en-US" sz="2000" b="1" u="none" strike="noStrike">
                <a:solidFill>
                  <a:srgbClr val="000000"/>
                </a:solidFill>
                <a:effectLst/>
                <a:uFillTx/>
                <a:latin typeface="Arial"/>
                <a:ea typeface="Calibri"/>
              </a:rPr>
              <a:t>framework</a:t>
            </a:r>
            <a:r>
              <a:rPr lang="en-US" sz="2000" b="0" u="none" strike="noStrike">
                <a:solidFill>
                  <a:srgbClr val="000000"/>
                </a:solidFill>
                <a:effectLst/>
                <a:uFillTx/>
                <a:latin typeface="Arial"/>
                <a:ea typeface="Calibri"/>
              </a:rPr>
              <a:t> is the more generalized structural foundation or software architecture that organizes those protocols. Protocol based on low level frameworks can be nested/used to provide another framework providing more services than the one nested. Protocol are  implementation of a framework.</a:t>
            </a:r>
            <a:endParaRPr lang="en-AU" sz="2000" b="0" u="none" strike="noStrike">
              <a:solidFill>
                <a:srgbClr val="000000"/>
              </a:solidFill>
              <a:effectLst/>
              <a:uFillTx/>
              <a:latin typeface="Arial"/>
            </a:endParaRPr>
          </a:p>
          <a:p>
            <a:pPr indent="0" algn="l">
              <a:lnSpc>
                <a:spcPct val="100000"/>
              </a:lnSpc>
              <a:buNone/>
            </a:pPr>
            <a:r>
              <a:rPr lang="en-US" sz="2000" b="0" u="sng" strike="noStrike">
                <a:solidFill>
                  <a:srgbClr val="000000"/>
                </a:solidFill>
                <a:effectLst/>
                <a:uFillTx/>
                <a:latin typeface="Arial"/>
                <a:ea typeface="Calibri"/>
                <a:hlinkClick r:id="rId1"/>
              </a:rPr>
              <a:t>IPSec detailed explanation</a:t>
            </a:r>
            <a:r>
              <a:rPr lang="en-US" sz="2000" b="0" u="none" strike="noStrike">
                <a:solidFill>
                  <a:srgbClr val="000000"/>
                </a:solidFill>
                <a:effectLst/>
                <a:uFillTx/>
                <a:latin typeface="Arial"/>
                <a:ea typeface="Calibri"/>
              </a:rPr>
              <a:t>   </a:t>
            </a:r>
            <a:endParaRPr lang="en-AU" sz="2000" b="0" u="none" strike="noStrike">
              <a:solidFill>
                <a:srgbClr val="000000"/>
              </a:solidFill>
              <a:effectLst/>
              <a:uFillTx/>
              <a:latin typeface="Arial"/>
            </a:endParaRPr>
          </a:p>
        </p:txBody>
      </p:sp>
      <p:sp>
        <p:nvSpPr>
          <p:cNvPr id="189"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E75BF113-AE1E-40FB-A09D-4C5CB5777D18}"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6040" cy="3085920"/>
          </a:xfrm>
          <a:prstGeom prst="rect">
            <a:avLst/>
          </a:prstGeom>
          <a:ln w="0">
            <a:noFill/>
          </a:ln>
        </p:spPr>
      </p:sp>
      <p:sp>
        <p:nvSpPr>
          <p:cNvPr id="1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92"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F5981A4F-9E8A-4915-82D1-596413F1B5A4}"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6040" cy="3085920"/>
          </a:xfrm>
          <a:prstGeom prst="rect">
            <a:avLst/>
          </a:prstGeom>
          <a:ln w="0">
            <a:noFill/>
          </a:ln>
        </p:spPr>
      </p:sp>
      <p:sp>
        <p:nvSpPr>
          <p:cNvPr id="1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95"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7FA84175-9E3B-4344-9A71-AC82D0DE121A}"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98"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71896A92-BFE1-4BEA-BC4F-1923AFBBB39D}"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01"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501EF0D3-007F-4DC3-B48B-2190BAFF0514}"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6040" cy="3085920"/>
          </a:xfrm>
          <a:prstGeom prst="rect">
            <a:avLst/>
          </a:prstGeom>
          <a:ln w="0">
            <a:noFill/>
          </a:ln>
        </p:spPr>
      </p:sp>
      <p:sp>
        <p:nvSpPr>
          <p:cNvPr id="2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04"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EEC2F666-D433-4A02-AD13-E19B5CCA9055}"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6040" cy="3085920"/>
          </a:xfrm>
          <a:prstGeom prst="rect">
            <a:avLst/>
          </a:prstGeom>
          <a:ln w="0">
            <a:noFill/>
          </a:ln>
        </p:spPr>
      </p:sp>
      <p:sp>
        <p:nvSpPr>
          <p:cNvPr id="2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07"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F783B2E8-848B-4D7F-81F9-481C3CB05272}"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6040" cy="3085920"/>
          </a:xfrm>
          <a:prstGeom prst="rect">
            <a:avLst/>
          </a:prstGeom>
          <a:ln w="0">
            <a:noFill/>
          </a:ln>
        </p:spPr>
      </p:sp>
      <p:sp>
        <p:nvSpPr>
          <p:cNvPr id="2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10"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7D8D17BA-3FBA-46DE-AF72-536DAE30ECD7}"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6040" cy="3085920"/>
          </a:xfrm>
          <a:prstGeom prst="rect">
            <a:avLst/>
          </a:prstGeom>
          <a:ln w="0">
            <a:noFill/>
          </a:ln>
        </p:spPr>
      </p:sp>
      <p:sp>
        <p:nvSpPr>
          <p:cNvPr id="2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13"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D6BA805E-66B5-4608-930B-98E25C4D230D}"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6040" cy="3085920"/>
          </a:xfrm>
          <a:prstGeom prst="rect">
            <a:avLst/>
          </a:prstGeom>
          <a:ln w="0">
            <a:noFill/>
          </a:ln>
        </p:spPr>
      </p:sp>
      <p:sp>
        <p:nvSpPr>
          <p:cNvPr id="2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16"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49800A02-5830-4F95-8FD7-2FF4D096D2A5}"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6040" cy="3085920"/>
          </a:xfrm>
          <a:prstGeom prst="rect">
            <a:avLst/>
          </a:prstGeom>
          <a:ln w="0">
            <a:noFill/>
          </a:ln>
        </p:spPr>
      </p:sp>
      <p:sp>
        <p:nvSpPr>
          <p:cNvPr id="2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19"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069D8FB0-CC7A-473D-B410-E76BDB288350}"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6040" cy="3085920"/>
          </a:xfrm>
          <a:prstGeom prst="rect">
            <a:avLst/>
          </a:prstGeom>
          <a:ln w="0">
            <a:noFill/>
          </a:ln>
        </p:spPr>
      </p:sp>
      <p:sp>
        <p:nvSpPr>
          <p:cNvPr id="2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22"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17EB0065-690A-46DA-8A18-F7354E83D8FD}"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6040" cy="3085920"/>
          </a:xfrm>
          <a:prstGeom prst="rect">
            <a:avLst/>
          </a:prstGeom>
          <a:ln w="0">
            <a:noFill/>
          </a:ln>
        </p:spPr>
      </p:sp>
      <p:sp>
        <p:nvSpPr>
          <p:cNvPr id="2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25"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12FD2EBA-683D-470F-9F5A-EF2DAFB36770}"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6040" cy="3085920"/>
          </a:xfrm>
          <a:prstGeom prst="rect">
            <a:avLst/>
          </a:prstGeom>
          <a:ln w="0">
            <a:noFill/>
          </a:ln>
        </p:spPr>
      </p:sp>
      <p:sp>
        <p:nvSpPr>
          <p:cNvPr id="2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28"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66A39B75-E17A-4270-A626-8AF2E86C6304}"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6040" cy="308592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31"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5AA94117-CB5A-4244-8DA7-9D68FF615AAB}"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34"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D204F695-D701-4863-9229-FA45B8FE81BB}" type="slidenum">
              <a:rPr lang="en-AU" sz="1200" b="0" u="none" strike="noStrike">
                <a:solidFill>
                  <a:srgbClr val="000000"/>
                </a:solidFill>
                <a:effectLst/>
                <a:uFillTx/>
                <a:latin typeface="Times New Roman"/>
              </a:rPr>
              <a:t>32</a:t>
            </a:fld>
            <a:endParaRPr lang="en-AU"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37"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E4F942CC-5738-4559-98CB-F16CA3017425}"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6040" cy="3085920"/>
          </a:xfrm>
          <a:prstGeom prst="rect">
            <a:avLst/>
          </a:prstGeom>
          <a:ln w="0">
            <a:noFill/>
          </a:ln>
        </p:spPr>
      </p:sp>
      <p:sp>
        <p:nvSpPr>
          <p:cNvPr id="2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40"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922E29F1-34AC-4E26-8A1B-3FBE119E095C}"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43"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4DFF9069-8D0D-4562-86F7-0A9982DE63C2}"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46"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1B312976-FEEF-47B4-8BD7-318F6BB690B3}"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685800" y="1143000"/>
            <a:ext cx="5486040" cy="308592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49"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FC3A8EF2-2356-40E4-821D-941D8D359B78}"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685800" y="1143000"/>
            <a:ext cx="5486040" cy="3085920"/>
          </a:xfrm>
          <a:prstGeom prst="rect">
            <a:avLst/>
          </a:prstGeom>
          <a:ln w="0">
            <a:noFill/>
          </a:ln>
        </p:spPr>
      </p:sp>
      <p:sp>
        <p:nvSpPr>
          <p:cNvPr id="2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252"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5527BC87-B924-495D-B291-EBB743E12B1D}"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Aptos Display"/>
              </a:defRPr>
            </a:lvl1pPr>
          </a:lstStyle>
          <a:p>
            <a:pPr indent="0" algn="ctr"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F1F59BC4-006A-4630-A018-243B00510E57}"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D23DCF3C-41F8-417B-BFB3-6656BE49876E}"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5497A848-70C7-4E3E-93D7-39423AB369CE}"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0C2A3D5E-9A13-414A-B243-ACE95FBB49D2}"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Aptos Display"/>
              </a:defRPr>
            </a:lvl1pPr>
          </a:lstStyle>
          <a:p>
            <a:pPr indent="0" algn="l"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2D2842E9-78B8-4567-99E6-DBC8CC1A9F22}"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B61A1A67-AA77-4E72-8829-1F25EBC9E6CB}"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64E6BB01-EA6A-480F-854C-F277475C194E}"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A21935AA-1248-4D01-AEFA-4FB5EF7EB99E}"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E520D971-FAE9-4DA4-8A25-3AB18DAEACC4}"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FC97F6C1-44FD-4190-BA37-7D7279693DCD}"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200" b="0" u="none" strike="noStrike">
                <a:solidFill>
                  <a:schemeClr val="dk1"/>
                </a:solidFill>
                <a:effectLst/>
                <a:uFillTx/>
                <a:latin typeface="Aptos"/>
              </a:defRPr>
            </a:lvl1pPr>
          </a:lstStyle>
          <a:p>
            <a:pPr indent="0" algn="l" defTabSz="914400">
              <a:lnSpc>
                <a:spcPct val="100000"/>
              </a:lnSpc>
              <a:buNone/>
              <a:tabLst>
                <a:tab pos="0" algn="l"/>
              </a:tabLst>
            </a:pPr>
            <a:r>
              <a:rPr lang="en-US" sz="3200" b="0" u="none" strike="noStrike">
                <a:solidFill>
                  <a:schemeClr val="dk1"/>
                </a:solidFill>
                <a:effectLst/>
                <a:uFillTx/>
                <a:latin typeface="Aptos"/>
              </a:rPr>
              <a:t>Click icon to add picture</a:t>
            </a:r>
            <a:endParaRPr lang="en-US" sz="3200" b="0" u="none" strike="noStrike">
              <a:solidFill>
                <a:schemeClr val="dk1"/>
              </a:solidFill>
              <a:effectLst/>
              <a:uFillTx/>
              <a:latin typeface="Aptos"/>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F25E72FB-28CF-4948-AA92-4B5EFE0C4BF7}"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hyperlink" Target="https://packetpushers.net/blog/anatomy-of-gre-tunnels/" TargetMode="External"/><Relationship Id="rId2" Type="http://schemas.openxmlformats.org/officeDocument/2006/relationships/slideLayout" Target="../slideLayouts/slideLayout4.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hyperlink" Target="https://www.cisco.com/c/en/us/support/docs/security-vpn/ipsec-negotiation-ike-protocols/217432-understand-ipsec-ikev1-protocol.html" TargetMode="External"/><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4.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xml"/><Relationship Id="rId3" Type="http://schemas.openxmlformats.org/officeDocument/2006/relationships/notesSlide" Target="../notesSlides/notesSlide3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267840" y="1455840"/>
            <a:ext cx="3541680" cy="3667680"/>
          </a:xfrm>
          <a:prstGeom prst="rect">
            <a:avLst/>
          </a:prstGeom>
          <a:noFill/>
          <a:ln w="0">
            <a:noFill/>
          </a:ln>
        </p:spPr>
        <p:txBody>
          <a:bodyPr lIns="91440" tIns="45720" rIns="91440" bIns="45720" anchor="ctr">
            <a:normAutofit/>
          </a:bodyPr>
          <a:p>
            <a:pPr indent="0" algn="l" defTabSz="914400">
              <a:lnSpc>
                <a:spcPct val="90000"/>
              </a:lnSpc>
              <a:buNone/>
            </a:pPr>
            <a:r>
              <a:rPr lang="en-US" sz="5400" b="0" u="none" strike="noStrike">
                <a:solidFill>
                  <a:srgbClr val="C00000"/>
                </a:solidFill>
                <a:effectLst/>
                <a:uFillTx/>
                <a:latin typeface="Aptos Display"/>
              </a:rPr>
              <a:t>Overlay Tunnels</a:t>
            </a:r>
            <a:endParaRPr lang="en-US" sz="5400" b="0" u="none" strike="noStrike">
              <a:solidFill>
                <a:schemeClr val="dk1"/>
              </a:solidFill>
              <a:effectLst/>
              <a:uFillTx/>
              <a:latin typeface="Aptos Display"/>
            </a:endParaRPr>
          </a:p>
        </p:txBody>
      </p:sp>
      <p:sp>
        <p:nvSpPr>
          <p:cNvPr id="67" name="PlaceHolder 2"/>
          <p:cNvSpPr>
            <a:spLocks noGrp="1"/>
          </p:cNvSpPr>
          <p:nvPr>
            <p:ph type="subTitle"/>
          </p:nvPr>
        </p:nvSpPr>
        <p:spPr>
          <a:xfrm>
            <a:off x="4024080" y="127080"/>
            <a:ext cx="7887600" cy="6331320"/>
          </a:xfrm>
          <a:prstGeom prst="rect">
            <a:avLst/>
          </a:prstGeom>
          <a:noFill/>
          <a:ln w="0">
            <a:noFill/>
          </a:ln>
        </p:spPr>
        <p:txBody>
          <a:bodyPr lIns="91440" tIns="45720" rIns="91440" bIns="45720" anchor="ctr">
            <a:noAutofit/>
          </a:bodyPr>
          <a:p>
            <a:pPr indent="0" algn="l" defTabSz="914400">
              <a:lnSpc>
                <a:spcPct val="90000"/>
              </a:lnSpc>
              <a:spcBef>
                <a:spcPts val="1001"/>
              </a:spcBef>
              <a:buNone/>
              <a:tabLst>
                <a:tab pos="0" algn="l"/>
              </a:tabLst>
            </a:pPr>
            <a:endParaRPr lang="en-AU" sz="2800" b="0" u="none" strike="noStrike">
              <a:solidFill>
                <a:schemeClr val="dk1"/>
              </a:solidFill>
              <a:effectLst/>
              <a:uFillTx/>
              <a:latin typeface="Aptos"/>
            </a:endParaRPr>
          </a:p>
          <a:p>
            <a:pPr marL="285840" indent="-228600" algn="l" defTabSz="914400">
              <a:lnSpc>
                <a:spcPct val="90000"/>
              </a:lnSpc>
              <a:spcBef>
                <a:spcPts val="1001"/>
              </a:spcBef>
              <a:buClr>
                <a:srgbClr val="000000"/>
              </a:buClr>
              <a:buFont typeface="Arial,Sans-Serif"/>
              <a:buChar char="•"/>
              <a:tabLst>
                <a:tab pos="0" algn="l"/>
              </a:tabLst>
            </a:pPr>
            <a:r>
              <a:rPr lang="en-US" sz="2800" b="1" u="none" strike="noStrike">
                <a:solidFill>
                  <a:srgbClr val="000000"/>
                </a:solidFill>
                <a:effectLst/>
                <a:uFillTx/>
                <a:latin typeface="Aptos"/>
              </a:rPr>
              <a:t>Learning Outcomes: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Security Fundamentals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Generic Routing Encapsulation (GRE)</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IP Security Fundamentals (IPSec)</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Cisco Locator/ID Separation Protocol (LISP)</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Virtual Extensible Local Area Network (VXLAN)</a:t>
            </a:r>
            <a:endParaRPr lang="en-AU" sz="2800" b="0" u="none" strike="noStrike">
              <a:solidFill>
                <a:schemeClr val="dk1"/>
              </a:solidFill>
              <a:effectLst/>
              <a:uFillTx/>
              <a:latin typeface="Aptos"/>
            </a:endParaRPr>
          </a:p>
          <a:p>
            <a:pPr marL="743040" indent="0" algn="l" defTabSz="914400">
              <a:lnSpc>
                <a:spcPct val="90000"/>
              </a:lnSpc>
              <a:spcBef>
                <a:spcPts val="499"/>
              </a:spcBef>
              <a:buNone/>
              <a:tabLst>
                <a:tab pos="0" algn="l"/>
              </a:tabLst>
            </a:pPr>
            <a:endParaRPr lang="en-AU" sz="28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AU" sz="2800" b="0" u="none" strike="noStrike">
              <a:solidFill>
                <a:schemeClr val="dk1"/>
              </a:solidFill>
              <a:effectLst/>
              <a:uFillTx/>
              <a:latin typeface="Aptos"/>
            </a:endParaRPr>
          </a:p>
          <a:p>
            <a:pPr marL="743040" indent="0" algn="l" defTabSz="914400">
              <a:lnSpc>
                <a:spcPct val="90000"/>
              </a:lnSpc>
              <a:spcBef>
                <a:spcPts val="499"/>
              </a:spcBef>
              <a:buNone/>
              <a:tabLst>
                <a:tab pos="0" algn="l"/>
              </a:tabLst>
            </a:pPr>
            <a:endParaRPr lang="en-AU"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1. Security Fundamentals</a:t>
            </a:r>
            <a:endParaRPr lang="en-US" sz="4400" b="0" u="none" strike="noStrike">
              <a:solidFill>
                <a:schemeClr val="dk1"/>
              </a:solidFill>
              <a:effectLst/>
              <a:uFillTx/>
              <a:latin typeface="Aptos Display"/>
            </a:endParaRPr>
          </a:p>
        </p:txBody>
      </p:sp>
      <p:sp>
        <p:nvSpPr>
          <p:cNvPr id="69" name="PlaceHolder 2"/>
          <p:cNvSpPr>
            <a:spLocks noGrp="1"/>
          </p:cNvSpPr>
          <p:nvPr>
            <p:ph/>
          </p:nvPr>
        </p:nvSpPr>
        <p:spPr>
          <a:xfrm>
            <a:off x="4448520" y="239400"/>
            <a:ext cx="7412760" cy="6302520"/>
          </a:xfrm>
          <a:prstGeom prst="rect">
            <a:avLst/>
          </a:prstGeom>
          <a:noFill/>
          <a:ln w="0">
            <a:noFill/>
          </a:ln>
        </p:spPr>
        <p:txBody>
          <a:bodyPr lIns="91440" tIns="45720" rIns="91440" bIns="45720" anchor="t">
            <a:normAutofit lnSpcReduction="9999"/>
          </a:bodyPr>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ea typeface="Aptos"/>
              </a:rPr>
              <a:t>confidentiality:</a:t>
            </a:r>
            <a:r>
              <a:rPr lang="en-US" sz="2800" b="0" u="none" strike="noStrike">
                <a:solidFill>
                  <a:schemeClr val="dk1"/>
                </a:solidFill>
                <a:effectLst/>
                <a:uFillTx/>
                <a:latin typeface="Aptos"/>
                <a:ea typeface="Aptos"/>
              </a:rPr>
              <a:t> only sender, intended receiver should “understand” message contents</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ea typeface="Aptos"/>
              </a:rPr>
              <a:t>authentication:</a:t>
            </a:r>
            <a:r>
              <a:rPr lang="en-US" sz="2800" b="0" u="none" strike="noStrike">
                <a:solidFill>
                  <a:schemeClr val="dk1"/>
                </a:solidFill>
                <a:effectLst/>
                <a:uFillTx/>
                <a:latin typeface="Aptos"/>
                <a:ea typeface="Aptos"/>
              </a:rPr>
              <a:t> sender, receiver want to confirm identity of each other</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ea typeface="Aptos"/>
              </a:rPr>
              <a:t>message integrity:</a:t>
            </a:r>
            <a:r>
              <a:rPr lang="en-US" sz="2800" b="0" u="none" strike="noStrike">
                <a:solidFill>
                  <a:schemeClr val="dk1"/>
                </a:solidFill>
                <a:effectLst/>
                <a:uFillTx/>
                <a:latin typeface="Aptos"/>
                <a:ea typeface="Aptos"/>
              </a:rPr>
              <a:t> sender, receiver want to ensure message not altered (in transit, or afterwards) without detection</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ea typeface="Aptos"/>
              </a:rPr>
              <a:t>non-repudiation:</a:t>
            </a:r>
            <a:r>
              <a:rPr lang="en-US" sz="2800" b="0" u="none" strike="noStrike">
                <a:solidFill>
                  <a:schemeClr val="dk1"/>
                </a:solidFill>
                <a:effectLst/>
                <a:uFillTx/>
                <a:latin typeface="Aptos"/>
                <a:ea typeface="Aptos"/>
              </a:rPr>
              <a:t> no one (including the sender) can deny that message was sent by the sender</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ea typeface="Aptos"/>
              </a:rPr>
              <a:t>access and availability:</a:t>
            </a:r>
            <a:r>
              <a:rPr lang="en-US" sz="2800" b="0" u="none" strike="noStrike">
                <a:solidFill>
                  <a:schemeClr val="dk1"/>
                </a:solidFill>
                <a:effectLst/>
                <a:uFillTx/>
                <a:latin typeface="Aptos"/>
                <a:ea typeface="Aptos"/>
              </a:rPr>
              <a:t> services must be accessible and available to users</a:t>
            </a: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2. Generic Routing Encapsulation (GRE)</a:t>
            </a:r>
            <a:endParaRPr lang="en-US" sz="4400" b="0" u="none" strike="noStrike">
              <a:solidFill>
                <a:schemeClr val="dk1"/>
              </a:solidFill>
              <a:effectLst/>
              <a:uFillTx/>
              <a:latin typeface="Aptos Display"/>
            </a:endParaRPr>
          </a:p>
        </p:txBody>
      </p:sp>
      <p:sp>
        <p:nvSpPr>
          <p:cNvPr id="71" name="PlaceHolder 2"/>
          <p:cNvSpPr>
            <a:spLocks noGrp="1"/>
          </p:cNvSpPr>
          <p:nvPr>
            <p:ph/>
          </p:nvPr>
        </p:nvSpPr>
        <p:spPr>
          <a:xfrm>
            <a:off x="4448520" y="239400"/>
            <a:ext cx="7412760" cy="6302520"/>
          </a:xfrm>
          <a:prstGeom prst="rect">
            <a:avLst/>
          </a:prstGeom>
          <a:noFill/>
          <a:ln w="0">
            <a:noFill/>
          </a:ln>
        </p:spPr>
        <p:txBody>
          <a:bodyPr lIns="91440" tIns="45720" rIns="91440" bIns="45720" anchor="t">
            <a:normAutofit fontScale="85000" lnSpcReduction="9999"/>
          </a:bodyPr>
          <a:p>
            <a:pPr marL="457200" indent="-4572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Overlay network</a:t>
            </a:r>
            <a:r>
              <a:rPr lang="en-US" sz="2800" b="0" u="none" strike="noStrike">
                <a:solidFill>
                  <a:schemeClr val="dk1"/>
                </a:solidFill>
                <a:effectLst/>
                <a:uFillTx/>
                <a:latin typeface="Aptos"/>
              </a:rPr>
              <a:t> is a logical or virtual network built over physical transport network known as underlay network.</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Virtual Private Network (VPN)</a:t>
            </a:r>
            <a:r>
              <a:rPr lang="en-US" sz="2800" b="0" u="none" strike="noStrike">
                <a:solidFill>
                  <a:schemeClr val="dk1"/>
                </a:solidFill>
                <a:effectLst/>
                <a:uFillTx/>
                <a:latin typeface="Aptos"/>
              </a:rPr>
              <a:t> is an overlay network that enables private networks to communicate over untrusted underlay network (Internet).</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Generic Routing Encapsulation (GRE)</a:t>
            </a:r>
            <a:r>
              <a:rPr lang="en-US" sz="2800" b="0" u="none" strike="noStrike">
                <a:solidFill>
                  <a:schemeClr val="dk1"/>
                </a:solidFill>
                <a:effectLst/>
                <a:uFillTx/>
                <a:latin typeface="Aptos"/>
              </a:rPr>
              <a:t> </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Tunneling protocol that provides connectivity to variety of network-layer protocols by encapsulating and forwarding over IP networks.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Can be used to tunnel through Firewall or ACL.</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Used as duct tape to connect discontiguous networks or bad routing designs.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Most importantly used to create VPNs.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Protocol over which GRE is built is Transport protocol, such as IP.</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Protocol that uses GRE tunnel is known as passenger protocol, such as IPV4,IPv6, OSPF,EIGRP.</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pPr>
            <a:r>
              <a:rPr lang="en-US" sz="2400" b="0" u="sng" strike="noStrike">
                <a:solidFill>
                  <a:schemeClr val="dk1"/>
                </a:solidFill>
                <a:effectLst/>
                <a:uFillTx/>
                <a:latin typeface="Aptos"/>
                <a:hlinkClick r:id="rId1"/>
              </a:rPr>
              <a:t>Deep Dive</a:t>
            </a:r>
            <a:r>
              <a:rPr lang="en-US" sz="2400" b="0" u="none" strike="noStrike">
                <a:solidFill>
                  <a:schemeClr val="dk1"/>
                </a:solidFill>
                <a:effectLst/>
                <a:uFillTx/>
                <a:latin typeface="Aptos"/>
              </a:rPr>
              <a:t> ?</a:t>
            </a:r>
            <a:endParaRPr lang="en-US" sz="24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499"/>
              </a:spcBef>
              <a:buNone/>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2. Generic Routing Encapsulation (GRE)</a:t>
            </a:r>
            <a:endParaRPr lang="en-US" sz="4400" b="0" u="none" strike="noStrike">
              <a:solidFill>
                <a:schemeClr val="dk1"/>
              </a:solidFill>
              <a:effectLst/>
              <a:uFillTx/>
              <a:latin typeface="Aptos Display"/>
            </a:endParaRPr>
          </a:p>
        </p:txBody>
      </p:sp>
      <p:sp>
        <p:nvSpPr>
          <p:cNvPr id="73" name="PlaceHolder 2"/>
          <p:cNvSpPr>
            <a:spLocks noGrp="1"/>
          </p:cNvSpPr>
          <p:nvPr>
            <p:ph/>
          </p:nvPr>
        </p:nvSpPr>
        <p:spPr>
          <a:xfrm>
            <a:off x="4448520" y="239400"/>
            <a:ext cx="7412760" cy="6302520"/>
          </a:xfrm>
          <a:prstGeom prst="rect">
            <a:avLst/>
          </a:prstGeom>
          <a:noFill/>
          <a:ln w="0">
            <a:noFill/>
          </a:ln>
        </p:spPr>
        <p:txBody>
          <a:bodyPr lIns="91440" tIns="45720" rIns="91440" bIns="45720" anchor="t">
            <a:normAutofit fontScale="77500" lnSpcReduction="19999"/>
          </a:bodyPr>
          <a:p>
            <a:pPr marL="457200" indent="-4572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GRE Encapsulation: </a:t>
            </a:r>
            <a:r>
              <a:rPr lang="en-US" sz="2800" b="0" u="none" strike="noStrike">
                <a:solidFill>
                  <a:schemeClr val="dk1"/>
                </a:solidFill>
                <a:effectLst/>
                <a:uFillTx/>
                <a:latin typeface="Aptos"/>
              </a:rPr>
              <a:t>Adds new header(GRE header) over IP packet (IP header + payload)</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GRE De-encapsulation: </a:t>
            </a:r>
            <a:r>
              <a:rPr lang="en-US" sz="2800" b="0" u="none" strike="noStrike">
                <a:solidFill>
                  <a:schemeClr val="dk1"/>
                </a:solidFill>
                <a:effectLst/>
                <a:uFillTx/>
                <a:latin typeface="Aptos"/>
              </a:rPr>
              <a:t>Strips off the</a:t>
            </a:r>
            <a:r>
              <a:rPr lang="en-US" sz="2800" b="1" u="none" strike="noStrike">
                <a:solidFill>
                  <a:schemeClr val="dk1"/>
                </a:solidFill>
                <a:effectLst/>
                <a:uFillTx/>
                <a:latin typeface="Aptos"/>
              </a:rPr>
              <a:t> </a:t>
            </a:r>
            <a:r>
              <a:rPr lang="en-US" sz="2800" b="0" u="none" strike="noStrike">
                <a:solidFill>
                  <a:schemeClr val="dk1"/>
                </a:solidFill>
                <a:effectLst/>
                <a:uFillTx/>
                <a:latin typeface="Aptos"/>
              </a:rPr>
              <a:t>GRE header exposing IP packet (IP header + payload)</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ea typeface="Aptos"/>
              </a:rPr>
              <a:t>Original IP header could be IPV6 packet (</a:t>
            </a:r>
            <a:r>
              <a:rPr lang="en-US" sz="2800" b="1" u="none" strike="noStrike">
                <a:solidFill>
                  <a:schemeClr val="dk1"/>
                </a:solidFill>
                <a:effectLst/>
                <a:uFillTx/>
                <a:latin typeface="Aptos"/>
                <a:ea typeface="Aptos"/>
              </a:rPr>
              <a:t>Passenger</a:t>
            </a:r>
            <a:r>
              <a:rPr lang="en-US" sz="2800" b="0" u="none" strike="noStrike">
                <a:solidFill>
                  <a:schemeClr val="dk1"/>
                </a:solidFill>
                <a:effectLst/>
                <a:uFillTx/>
                <a:latin typeface="Aptos"/>
                <a:ea typeface="Aptos"/>
              </a:rPr>
              <a:t> protocol)</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ea typeface="Aptos"/>
              </a:rPr>
              <a:t>GRE as a </a:t>
            </a:r>
            <a:r>
              <a:rPr lang="en-US" sz="2800" b="1" u="none" strike="noStrike">
                <a:solidFill>
                  <a:schemeClr val="dk1"/>
                </a:solidFill>
                <a:effectLst/>
                <a:uFillTx/>
                <a:latin typeface="Aptos"/>
                <a:ea typeface="Aptos"/>
              </a:rPr>
              <a:t>Carrier</a:t>
            </a:r>
            <a:r>
              <a:rPr lang="en-US" sz="2800" b="0" u="none" strike="noStrike">
                <a:solidFill>
                  <a:schemeClr val="dk1"/>
                </a:solidFill>
                <a:effectLst/>
                <a:uFillTx/>
                <a:latin typeface="Aptos"/>
                <a:ea typeface="Aptos"/>
              </a:rPr>
              <a:t> protocol encapsulates IPV6 packet with GRE header.</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ea typeface="Aptos"/>
              </a:rPr>
              <a:t>GRE then encapsulates whole resulting packet with </a:t>
            </a:r>
            <a:r>
              <a:rPr lang="en-US" sz="2800" b="1" u="none" strike="noStrike">
                <a:solidFill>
                  <a:schemeClr val="dk1"/>
                </a:solidFill>
                <a:effectLst/>
                <a:uFillTx/>
                <a:latin typeface="Aptos"/>
                <a:ea typeface="Aptos"/>
              </a:rPr>
              <a:t>Transport</a:t>
            </a:r>
            <a:r>
              <a:rPr lang="en-US" sz="2800" b="0" u="none" strike="noStrike">
                <a:solidFill>
                  <a:schemeClr val="dk1"/>
                </a:solidFill>
                <a:effectLst/>
                <a:uFillTx/>
                <a:latin typeface="Aptos"/>
                <a:ea typeface="Aptos"/>
              </a:rPr>
              <a:t> protocol header (IPv4).</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ea typeface="Aptos"/>
              </a:rPr>
              <a:t>Uses protocol number 47 in IP header</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74" name="Picture 3" descr="A close-up of a label&#10;&#10;AI-generated content may be incorrect."/>
          <p:cNvPicPr/>
          <p:nvPr/>
        </p:nvPicPr>
        <p:blipFill>
          <a:blip r:embed="rId1"/>
          <a:stretch/>
        </p:blipFill>
        <p:spPr>
          <a:xfrm>
            <a:off x="5334120" y="1883520"/>
            <a:ext cx="4905000" cy="15523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2. GRE Configuration</a:t>
            </a:r>
            <a:endParaRPr lang="en-US" sz="4400" b="0" u="none" strike="noStrike">
              <a:solidFill>
                <a:schemeClr val="dk1"/>
              </a:solidFill>
              <a:effectLst/>
              <a:uFillTx/>
              <a:latin typeface="Aptos Display"/>
            </a:endParaRPr>
          </a:p>
        </p:txBody>
      </p:sp>
      <p:sp>
        <p:nvSpPr>
          <p:cNvPr id="76" name="PlaceHolder 2"/>
          <p:cNvSpPr>
            <a:spLocks noGrp="1"/>
          </p:cNvSpPr>
          <p:nvPr>
            <p:ph/>
          </p:nvPr>
        </p:nvSpPr>
        <p:spPr>
          <a:xfrm>
            <a:off x="4448520" y="239400"/>
            <a:ext cx="7412760" cy="6302520"/>
          </a:xfrm>
          <a:prstGeom prst="rect">
            <a:avLst/>
          </a:prstGeom>
          <a:noFill/>
          <a:ln w="0">
            <a:noFill/>
          </a:ln>
        </p:spPr>
        <p:txBody>
          <a:bodyPr lIns="91440" tIns="45720" rIns="91440" bIns="45720" anchor="t">
            <a:normAutofit fontScale="62500" lnSpcReduction="19999"/>
          </a:bodyPr>
          <a:p>
            <a:pPr indent="0" algn="l" defTabSz="914400">
              <a:lnSpc>
                <a:spcPct val="90000"/>
              </a:lnSpc>
              <a:spcBef>
                <a:spcPts val="1001"/>
              </a:spcBef>
              <a:buNone/>
              <a:tabLst>
                <a:tab pos="0" algn="l"/>
              </a:tabLst>
            </a:pPr>
            <a:endParaRPr lang="en-US" sz="11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1" u="none" strike="noStrike">
                <a:solidFill>
                  <a:schemeClr val="dk1"/>
                </a:solidFill>
                <a:effectLst/>
                <a:uFillTx/>
                <a:latin typeface="Aptos"/>
              </a:rPr>
              <a:t>R1:</a:t>
            </a:r>
            <a:endParaRPr lang="en-US" sz="2800" b="0" u="none" strike="noStrike">
              <a:solidFill>
                <a:schemeClr val="dk1"/>
              </a:solidFill>
              <a:effectLst/>
              <a:uFillTx/>
              <a:latin typeface="Aptos"/>
            </a:endParaRPr>
          </a:p>
          <a:p>
            <a:pPr marL="685800" indent="-228600" algn="l" defTabSz="914400">
              <a:lnSpc>
                <a:spcPct val="90000"/>
              </a:lnSpc>
              <a:spcBef>
                <a:spcPts val="499"/>
              </a:spcBef>
              <a:buNone/>
              <a:tabLst>
                <a:tab pos="0" algn="l"/>
              </a:tabLst>
            </a:pPr>
            <a:r>
              <a:rPr lang="en-US" sz="2400" b="0" u="none" strike="noStrike">
                <a:solidFill>
                  <a:schemeClr val="dk1"/>
                </a:solidFill>
                <a:effectLst/>
                <a:uFillTx/>
                <a:latin typeface="Courier New"/>
              </a:rPr>
              <a:t>! Create tunnel in global configuration</a:t>
            </a:r>
            <a:endParaRPr lang="en-US" sz="2400" b="0" u="none" strike="noStrike">
              <a:solidFill>
                <a:schemeClr val="dk1"/>
              </a:solidFill>
              <a:effectLst/>
              <a:uFillTx/>
              <a:latin typeface="Aptos"/>
            </a:endParaRPr>
          </a:p>
          <a:p>
            <a:pPr marL="685800" indent="-228600" algn="l" defTabSz="914400">
              <a:lnSpc>
                <a:spcPct val="90000"/>
              </a:lnSpc>
              <a:spcBef>
                <a:spcPts val="499"/>
              </a:spcBef>
              <a:buNone/>
              <a:tabLst>
                <a:tab pos="0" algn="l"/>
              </a:tabLst>
            </a:pPr>
            <a:r>
              <a:rPr lang="en-US" sz="2400" b="0" u="none" strike="noStrike">
                <a:solidFill>
                  <a:srgbClr val="C00000"/>
                </a:solidFill>
                <a:effectLst/>
                <a:uFillTx/>
                <a:latin typeface="Aptos"/>
              </a:rPr>
              <a:t>interface Tunnel </a:t>
            </a:r>
            <a:r>
              <a:rPr lang="en-US" sz="2400" b="0" u="none" strike="noStrike">
                <a:solidFill>
                  <a:schemeClr val="accent1"/>
                </a:solidFill>
                <a:effectLst/>
                <a:uFillTx/>
                <a:latin typeface="Aptos"/>
              </a:rPr>
              <a:t>10</a:t>
            </a:r>
            <a:r>
              <a:rPr lang="en-US" sz="2400" b="1" u="none" strike="noStrike">
                <a:solidFill>
                  <a:schemeClr val="accent1"/>
                </a:solidFill>
                <a:effectLst/>
                <a:uFillTx/>
                <a:latin typeface="Aptos"/>
              </a:rPr>
              <a:t> </a:t>
            </a:r>
            <a:r>
              <a:rPr lang="en-US" sz="2400" b="0" u="none" strike="noStrike">
                <a:solidFill>
                  <a:schemeClr val="accent1"/>
                </a:solidFill>
                <a:effectLst/>
                <a:uFillTx/>
                <a:latin typeface="Aptos"/>
              </a:rPr>
              <a:t>   </a:t>
            </a:r>
            <a:r>
              <a:rPr lang="en-US" sz="2400" b="0" u="none" strike="noStrike">
                <a:solidFill>
                  <a:schemeClr val="dk1"/>
                </a:solidFill>
                <a:effectLst/>
                <a:uFillTx/>
                <a:latin typeface="Aptos"/>
              </a:rPr>
              <a:t> </a:t>
            </a:r>
            <a:endParaRPr lang="en-US" sz="24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Courier New"/>
              </a:rPr>
              <a:t>! general description, make it sensible</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description</a:t>
            </a:r>
            <a:r>
              <a:rPr lang="en-US" sz="2000" b="0" u="none" strike="noStrike">
                <a:solidFill>
                  <a:schemeClr val="dk1"/>
                </a:solidFill>
                <a:effectLst/>
                <a:uFillTx/>
                <a:latin typeface="Aptos"/>
              </a:rPr>
              <a:t> </a:t>
            </a:r>
            <a:r>
              <a:rPr lang="en-US" sz="2000" b="0" u="none" strike="noStrike">
                <a:solidFill>
                  <a:schemeClr val="accent1"/>
                </a:solidFill>
                <a:effectLst/>
                <a:uFillTx/>
                <a:latin typeface="Aptos"/>
              </a:rPr>
              <a:t>tunnel-to-R2 </a:t>
            </a:r>
            <a:r>
              <a:rPr lang="en-US" sz="2000" b="1" u="none" strike="noStrike">
                <a:solidFill>
                  <a:schemeClr val="accent1"/>
                </a:solidFill>
                <a:effectLst/>
                <a:uFillTx/>
                <a:latin typeface="Aptos"/>
              </a:rPr>
              <a:t> </a:t>
            </a:r>
            <a:r>
              <a:rPr lang="en-US" sz="2000" b="0" u="none" strike="noStrike">
                <a:solidFill>
                  <a:schemeClr val="accent1"/>
                </a:solidFill>
                <a:effectLst/>
                <a:uFillTx/>
                <a:latin typeface="Aptos"/>
              </a:rPr>
              <a:t>  </a:t>
            </a:r>
            <a:r>
              <a:rPr lang="en-US" sz="2000" b="1" u="none" strike="noStrike">
                <a:solidFill>
                  <a:schemeClr val="accent1"/>
                </a:solidFill>
                <a:effectLst/>
                <a:uFillTx/>
                <a:latin typeface="Aptos"/>
              </a:rPr>
              <a:t> </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Courier New"/>
              </a:rPr>
              <a:t>! (Opt.)Bandwidth of tunnel in Kbps, virtual interface don't have bw, this is used for best path calculation in routing protocols.</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bandwidth</a:t>
            </a:r>
            <a:r>
              <a:rPr lang="en-US" sz="2000" b="0" u="none" strike="noStrike">
                <a:solidFill>
                  <a:schemeClr val="dk1"/>
                </a:solidFill>
                <a:effectLst/>
                <a:uFillTx/>
                <a:latin typeface="Aptos"/>
              </a:rPr>
              <a:t> </a:t>
            </a:r>
            <a:r>
              <a:rPr lang="en-US" sz="2000" b="0" u="none" strike="noStrike">
                <a:solidFill>
                  <a:schemeClr val="accent1"/>
                </a:solidFill>
                <a:effectLst/>
                <a:uFillTx/>
                <a:latin typeface="Aptos"/>
              </a:rPr>
              <a:t>1000000 </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Courier New"/>
              </a:rPr>
              <a:t>! IP address of the overlay tunnel</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ip address</a:t>
            </a:r>
            <a:r>
              <a:rPr lang="en-US" sz="2000" b="0" u="none" strike="noStrike">
                <a:solidFill>
                  <a:schemeClr val="dk1"/>
                </a:solidFill>
                <a:effectLst/>
                <a:uFillTx/>
                <a:latin typeface="Aptos"/>
              </a:rPr>
              <a:t> </a:t>
            </a:r>
            <a:r>
              <a:rPr lang="en-US" sz="2000" b="0" u="none" strike="noStrike">
                <a:solidFill>
                  <a:schemeClr val="accent1"/>
                </a:solidFill>
                <a:effectLst/>
                <a:uFillTx/>
                <a:latin typeface="Aptos"/>
              </a:rPr>
              <a:t>192.168.100.1 255.255.255.0    </a:t>
            </a:r>
            <a:r>
              <a:rPr lang="en-US" sz="2000" b="0" i="1" u="none" strike="noStrike">
                <a:solidFill>
                  <a:schemeClr val="dk1"/>
                </a:solidFill>
                <a:effectLst/>
                <a:uFillTx/>
                <a:latin typeface="Aptos"/>
              </a:rPr>
              <a:t> </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Courier New"/>
              </a:rPr>
              <a:t>! (Opt.)GRE encapsulation adds header bytes(Min. 24)</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ip mtu</a:t>
            </a:r>
            <a:r>
              <a:rPr lang="en-US" sz="2000" b="0" u="none" strike="noStrike">
                <a:solidFill>
                  <a:schemeClr val="dk1"/>
                </a:solidFill>
                <a:effectLst/>
                <a:uFillTx/>
                <a:latin typeface="Aptos"/>
              </a:rPr>
              <a:t> </a:t>
            </a:r>
            <a:r>
              <a:rPr lang="en-US" sz="2000" b="0" u="none" strike="noStrike">
                <a:solidFill>
                  <a:schemeClr val="accent1"/>
                </a:solidFill>
                <a:effectLst/>
                <a:uFillTx/>
                <a:latin typeface="Aptos"/>
              </a:rPr>
              <a:t>1400    </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Courier New"/>
              </a:rPr>
              <a:t>! (Opt.)Tunnel keepalive and retry value to keep the tunnel up</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keepalive</a:t>
            </a:r>
            <a:r>
              <a:rPr lang="en-US" sz="2000" b="0" u="none" strike="noStrike">
                <a:solidFill>
                  <a:schemeClr val="dk1"/>
                </a:solidFill>
                <a:effectLst/>
                <a:uFillTx/>
                <a:latin typeface="Aptos"/>
              </a:rPr>
              <a:t> </a:t>
            </a:r>
            <a:r>
              <a:rPr lang="en-US" sz="2000" b="0" u="none" strike="noStrike">
                <a:solidFill>
                  <a:schemeClr val="accent1"/>
                </a:solidFill>
                <a:effectLst/>
                <a:uFillTx/>
                <a:latin typeface="Aptos"/>
              </a:rPr>
              <a:t>5 3    </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Courier New"/>
              </a:rPr>
              <a:t>! Source IP/interface of the transport protocol,this ip is used to encapsulate/de-encapsulate GRE tunnel. Use loopbacks for stability</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tunnel source</a:t>
            </a:r>
            <a:r>
              <a:rPr lang="en-US" sz="2000" b="0" u="none" strike="noStrike">
                <a:solidFill>
                  <a:schemeClr val="dk1"/>
                </a:solidFill>
                <a:effectLst/>
                <a:uFillTx/>
                <a:latin typeface="Aptos"/>
              </a:rPr>
              <a:t> </a:t>
            </a:r>
            <a:r>
              <a:rPr lang="en-US" sz="2000" b="0" u="none" strike="noStrike">
                <a:solidFill>
                  <a:schemeClr val="accent1"/>
                </a:solidFill>
                <a:effectLst/>
                <a:uFillTx/>
                <a:latin typeface="Aptos"/>
              </a:rPr>
              <a:t>GigabitEthernet0/0  </a:t>
            </a:r>
            <a:r>
              <a:rPr lang="en-US" sz="2000" b="1" u="none" strike="noStrike">
                <a:solidFill>
                  <a:schemeClr val="accent1"/>
                </a:solidFill>
                <a:effectLst/>
                <a:uFillTx/>
                <a:latin typeface="Aptos"/>
              </a:rPr>
              <a:t>  </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Courier New"/>
              </a:rPr>
              <a:t>! Destination IP of the transport protocol toward which the encapsulated packets are sent to.</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tunnel destination</a:t>
            </a:r>
            <a:r>
              <a:rPr lang="en-US" sz="2000" b="0" u="none" strike="noStrike">
                <a:solidFill>
                  <a:schemeClr val="dk1"/>
                </a:solidFill>
                <a:effectLst/>
                <a:uFillTx/>
                <a:latin typeface="Aptos"/>
              </a:rPr>
              <a:t> </a:t>
            </a:r>
            <a:r>
              <a:rPr lang="en-US" sz="2000" b="0" u="none" strike="noStrike">
                <a:solidFill>
                  <a:schemeClr val="accent1"/>
                </a:solidFill>
                <a:effectLst/>
                <a:uFillTx/>
                <a:latin typeface="Aptos"/>
              </a:rPr>
              <a:t>100.64.2.2  </a:t>
            </a: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77" name="Picture 4"/>
          <p:cNvPicPr/>
          <p:nvPr/>
        </p:nvPicPr>
        <p:blipFill>
          <a:blip r:embed="rId1"/>
          <a:stretch/>
        </p:blipFill>
        <p:spPr>
          <a:xfrm>
            <a:off x="4584600" y="343440"/>
            <a:ext cx="7152120" cy="15040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2. GRE Configuration</a:t>
            </a:r>
            <a:endParaRPr lang="en-US" sz="4400" b="0" u="none" strike="noStrike">
              <a:solidFill>
                <a:schemeClr val="dk1"/>
              </a:solidFill>
              <a:effectLst/>
              <a:uFillTx/>
              <a:latin typeface="Aptos Display"/>
            </a:endParaRPr>
          </a:p>
        </p:txBody>
      </p:sp>
      <p:sp>
        <p:nvSpPr>
          <p:cNvPr id="79" name="PlaceHolder 2"/>
          <p:cNvSpPr>
            <a:spLocks noGrp="1"/>
          </p:cNvSpPr>
          <p:nvPr>
            <p:ph/>
          </p:nvPr>
        </p:nvSpPr>
        <p:spPr>
          <a:xfrm>
            <a:off x="4448520" y="239400"/>
            <a:ext cx="7412760" cy="6302520"/>
          </a:xfrm>
          <a:prstGeom prst="rect">
            <a:avLst/>
          </a:prstGeom>
          <a:noFill/>
          <a:ln w="0">
            <a:noFill/>
          </a:ln>
        </p:spPr>
        <p:txBody>
          <a:bodyPr lIns="91440" tIns="45720" rIns="91440" bIns="45720" anchor="t">
            <a:normAutofit fontScale="70000" lnSpcReduction="19999"/>
          </a:bodyPr>
          <a:p>
            <a:pPr indent="0" algn="l" defTabSz="914400">
              <a:lnSpc>
                <a:spcPct val="90000"/>
              </a:lnSpc>
              <a:spcBef>
                <a:spcPts val="1001"/>
              </a:spcBef>
              <a:buNone/>
              <a:tabLst>
                <a:tab pos="0" algn="l"/>
              </a:tabLst>
            </a:pPr>
            <a:endParaRPr lang="en-US" sz="11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1" u="none" strike="noStrike">
                <a:solidFill>
                  <a:schemeClr val="dk1"/>
                </a:solidFill>
                <a:effectLst/>
                <a:uFillTx/>
                <a:latin typeface="Aptos"/>
              </a:rPr>
              <a:t>R2:</a:t>
            </a:r>
            <a:endParaRPr lang="en-US" sz="2800" b="0" u="none" strike="noStrike">
              <a:solidFill>
                <a:schemeClr val="dk1"/>
              </a:solidFill>
              <a:effectLst/>
              <a:uFillTx/>
              <a:latin typeface="Aptos"/>
            </a:endParaRPr>
          </a:p>
          <a:p>
            <a:pPr marL="685800" indent="-228600" algn="l" defTabSz="914400">
              <a:lnSpc>
                <a:spcPct val="90000"/>
              </a:lnSpc>
              <a:spcBef>
                <a:spcPts val="499"/>
              </a:spcBef>
              <a:buNone/>
              <a:tabLst>
                <a:tab pos="0" algn="l"/>
              </a:tabLst>
            </a:pPr>
            <a:r>
              <a:rPr lang="en-US" sz="2400" b="0" u="none" strike="noStrike">
                <a:solidFill>
                  <a:srgbClr val="C00000"/>
                </a:solidFill>
                <a:effectLst/>
                <a:uFillTx/>
                <a:latin typeface="Aptos"/>
              </a:rPr>
              <a:t>interface Tunnel</a:t>
            </a:r>
            <a:r>
              <a:rPr lang="en-US" sz="2400" b="0" u="none" strike="noStrike">
                <a:solidFill>
                  <a:schemeClr val="accent1"/>
                </a:solidFill>
                <a:effectLst/>
                <a:uFillTx/>
                <a:latin typeface="Aptos"/>
              </a:rPr>
              <a:t>10</a:t>
            </a:r>
            <a:endParaRPr lang="en-US" sz="24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description </a:t>
            </a:r>
            <a:r>
              <a:rPr lang="en-US" sz="2000" b="0" u="none" strike="noStrike">
                <a:solidFill>
                  <a:schemeClr val="accent1"/>
                </a:solidFill>
                <a:effectLst/>
                <a:uFillTx/>
                <a:latin typeface="Aptos"/>
              </a:rPr>
              <a:t>tunnel-to-R1</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bandwidth </a:t>
            </a:r>
            <a:r>
              <a:rPr lang="en-US" sz="2000" b="0" u="none" strike="noStrike">
                <a:solidFill>
                  <a:schemeClr val="accent1"/>
                </a:solidFill>
                <a:effectLst/>
                <a:uFillTx/>
                <a:latin typeface="Aptos"/>
              </a:rPr>
              <a:t>1000000</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ip address </a:t>
            </a:r>
            <a:r>
              <a:rPr lang="en-US" sz="2000" b="0" u="none" strike="noStrike">
                <a:solidFill>
                  <a:schemeClr val="accent1"/>
                </a:solidFill>
                <a:effectLst/>
                <a:uFillTx/>
                <a:latin typeface="Aptos"/>
              </a:rPr>
              <a:t>192.168.100.2 255.255.255.0</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ip mtu </a:t>
            </a:r>
            <a:r>
              <a:rPr lang="en-US" sz="2000" b="0" u="none" strike="noStrike">
                <a:solidFill>
                  <a:schemeClr val="accent1"/>
                </a:solidFill>
                <a:effectLst/>
                <a:uFillTx/>
                <a:latin typeface="Aptos"/>
              </a:rPr>
              <a:t>1400</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keepalive </a:t>
            </a:r>
            <a:r>
              <a:rPr lang="en-US" sz="2000" b="0" u="none" strike="noStrike">
                <a:solidFill>
                  <a:schemeClr val="accent1"/>
                </a:solidFill>
                <a:effectLst/>
                <a:uFillTx/>
                <a:latin typeface="Aptos"/>
              </a:rPr>
              <a:t>5 3</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tunnel source </a:t>
            </a:r>
            <a:r>
              <a:rPr lang="en-US" sz="2000" b="0" u="none" strike="noStrike">
                <a:solidFill>
                  <a:schemeClr val="accent1"/>
                </a:solidFill>
                <a:effectLst/>
                <a:uFillTx/>
                <a:latin typeface="Aptos"/>
              </a:rPr>
              <a:t>GigabitEthernet0/0</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tunnel destination </a:t>
            </a:r>
            <a:r>
              <a:rPr lang="en-US" sz="2000" b="0" u="none" strike="noStrike">
                <a:solidFill>
                  <a:schemeClr val="accent1"/>
                </a:solidFill>
                <a:effectLst/>
                <a:uFillTx/>
                <a:latin typeface="Aptos"/>
              </a:rPr>
              <a:t>100.64.1.1</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endParaRPr lang="en-US" sz="20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Recursive Routing can occur in GRE tunnel when the route to tunnel endpoints is learned via tunnel itself.</a:t>
            </a:r>
            <a:endParaRPr lang="en-US" sz="2800" b="0" u="none" strike="noStrike">
              <a:solidFill>
                <a:schemeClr val="dk1"/>
              </a:solidFill>
              <a:effectLst/>
              <a:uFillTx/>
              <a:latin typeface="Aptos"/>
            </a:endParaRPr>
          </a:p>
          <a:p>
            <a:pPr marL="914400" lvl="1" indent="-2286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Tunnel comes up with default static route in RIB towards ISP to reach tunnel endpoint.</a:t>
            </a:r>
            <a:endParaRPr lang="en-US" sz="2400" b="0" u="none" strike="noStrike">
              <a:solidFill>
                <a:schemeClr val="dk1"/>
              </a:solidFill>
              <a:effectLst/>
              <a:uFillTx/>
              <a:latin typeface="Aptos"/>
            </a:endParaRPr>
          </a:p>
          <a:p>
            <a:pPr marL="914400" lvl="1" indent="-2286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OSPF misconfigured on R1 that will include 100.64.1.0/30 network. R1 won't form adjacency with ISP1 but will form with R2 over the tunnel.</a:t>
            </a:r>
            <a:endParaRPr lang="en-US" sz="2400" b="0" u="none" strike="noStrike">
              <a:solidFill>
                <a:schemeClr val="dk1"/>
              </a:solidFill>
              <a:effectLst/>
              <a:uFillTx/>
              <a:latin typeface="Aptos"/>
            </a:endParaRPr>
          </a:p>
          <a:p>
            <a:pPr marL="914400" lvl="1" indent="-2286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Router will prefer OSPF route over default static route as it is more specific. R1 installs OSPF route in RIB. </a:t>
            </a:r>
            <a:endParaRPr lang="en-US" sz="2400" b="0" u="none" strike="noStrike">
              <a:solidFill>
                <a:schemeClr val="dk1"/>
              </a:solidFill>
              <a:effectLst/>
              <a:uFillTx/>
              <a:latin typeface="Aptos"/>
            </a:endParaRPr>
          </a:p>
          <a:p>
            <a:pPr marL="914400" lvl="1" indent="-2286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Routers can identify such scenario and generate syslog messages and tears down the tunnel. Which removes OSPF route from RIB and installs static default route.</a:t>
            </a:r>
            <a:endParaRPr lang="en-US" sz="2400" b="0" u="none" strike="noStrike">
              <a:solidFill>
                <a:schemeClr val="dk1"/>
              </a:solidFill>
              <a:effectLst/>
              <a:uFillTx/>
              <a:latin typeface="Aptos"/>
            </a:endParaRPr>
          </a:p>
          <a:p>
            <a:pPr marL="1143000" indent="-228600" algn="l" defTabSz="914400">
              <a:lnSpc>
                <a:spcPct val="90000"/>
              </a:lnSpc>
              <a:spcBef>
                <a:spcPts val="1001"/>
              </a:spcBef>
              <a:buClr>
                <a:srgbClr val="FF0000"/>
              </a:buClr>
              <a:buFont typeface="Arial"/>
              <a:buChar char="•"/>
              <a:tabLst>
                <a:tab pos="0" algn="l"/>
              </a:tabLst>
            </a:pPr>
            <a:r>
              <a:rPr lang="en-US" sz="2400" b="0" u="none" strike="noStrike">
                <a:solidFill>
                  <a:srgbClr val="FF0000"/>
                </a:solidFill>
                <a:effectLst/>
                <a:uFillTx/>
                <a:latin typeface="Aptos"/>
              </a:rPr>
              <a:t>%TUN-5-RECURDOWN: Tunnel10 temporarily disabled due to recursive routing</a:t>
            </a:r>
            <a:endParaRPr lang="en-US" sz="2400" b="0" u="none" strike="noStrike">
              <a:solidFill>
                <a:schemeClr val="dk1"/>
              </a:solidFill>
              <a:effectLst/>
              <a:uFillTx/>
              <a:latin typeface="Aptos"/>
            </a:endParaRPr>
          </a:p>
          <a:p>
            <a:pPr marL="914400" lvl="1" indent="-2286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Above process repeats forever until the OSPF misconfiguration is removed.</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81" name="PlaceHolder 2"/>
          <p:cNvSpPr>
            <a:spLocks noGrp="1"/>
          </p:cNvSpPr>
          <p:nvPr>
            <p:ph/>
          </p:nvPr>
        </p:nvSpPr>
        <p:spPr>
          <a:xfrm>
            <a:off x="4441320" y="108720"/>
            <a:ext cx="7492680" cy="1149840"/>
          </a:xfrm>
          <a:prstGeom prst="rect">
            <a:avLst/>
          </a:prstGeom>
          <a:noFill/>
          <a:ln w="0">
            <a:noFill/>
          </a:ln>
        </p:spPr>
        <p:txBody>
          <a:bodyPr lIns="91440" tIns="45720" rIns="91440" bIns="45720" anchor="t">
            <a:normAutofit fontScale="70000" lnSpcReduction="1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IPSec is a framework of open standards to create highly secure VPN tunnels.</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IPSec provides below security services to make the VPN tunnel highly secure.</a:t>
            </a:r>
            <a:endParaRPr lang="en-US" sz="2800" b="0" u="none" strike="noStrike">
              <a:solidFill>
                <a:schemeClr val="dk1"/>
              </a:solidFill>
              <a:effectLst/>
              <a:uFillTx/>
              <a:latin typeface="Aptos"/>
            </a:endParaRPr>
          </a:p>
        </p:txBody>
      </p:sp>
      <p:graphicFrame>
        <p:nvGraphicFramePr>
          <p:cNvPr id="82" name="Table 3"/>
          <p:cNvGraphicFramePr/>
          <p:nvPr/>
        </p:nvGraphicFramePr>
        <p:xfrm>
          <a:off x="4189320" y="1190880"/>
          <a:ext cx="8002800" cy="5795640"/>
        </p:xfrm>
        <a:graphic>
          <a:graphicData uri="http://schemas.openxmlformats.org/drawingml/2006/table">
            <a:tbl>
              <a:tblPr/>
              <a:tblGrid>
                <a:gridCol w="2667600"/>
                <a:gridCol w="2667600"/>
                <a:gridCol w="2667600"/>
              </a:tblGrid>
              <a:tr h="305280">
                <a:tc>
                  <a:txBody>
                    <a:bodyPr anchor="t">
                      <a:noAutofit/>
                    </a:bodyPr>
                    <a:p>
                      <a:pPr defTabSz="914400">
                        <a:lnSpc>
                          <a:spcPct val="100000"/>
                        </a:lnSpc>
                      </a:pPr>
                      <a:r>
                        <a:rPr lang="en-US" sz="1400" b="1" u="none" strike="noStrike">
                          <a:solidFill>
                            <a:schemeClr val="lt1"/>
                          </a:solidFill>
                          <a:effectLst/>
                          <a:uFillTx/>
                          <a:latin typeface="Aptos"/>
                        </a:rPr>
                        <a:t>Services</a:t>
                      </a:r>
                      <a:endParaRPr lang="en-AU"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400" b="1" u="none" strike="noStrike">
                          <a:solidFill>
                            <a:schemeClr val="lt1"/>
                          </a:solidFill>
                          <a:effectLst/>
                          <a:uFillTx/>
                          <a:latin typeface="Aptos"/>
                        </a:rPr>
                        <a:t>Description</a:t>
                      </a:r>
                      <a:endParaRPr lang="en-AU"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400" b="1" u="none" strike="noStrike">
                          <a:solidFill>
                            <a:schemeClr val="lt1"/>
                          </a:solidFill>
                          <a:effectLst/>
                          <a:uFillTx/>
                          <a:latin typeface="Aptos"/>
                        </a:rPr>
                        <a:t>Methods Used</a:t>
                      </a:r>
                      <a:endParaRPr lang="en-AU"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518760">
                <a:tc>
                  <a:txBody>
                    <a:bodyPr anchor="t">
                      <a:noAutofit/>
                    </a:bodyPr>
                    <a:p>
                      <a:pPr defTabSz="914400">
                        <a:lnSpc>
                          <a:spcPct val="100000"/>
                        </a:lnSpc>
                      </a:pPr>
                      <a:r>
                        <a:rPr lang="en-US" sz="1400" b="1" u="none" strike="noStrike">
                          <a:solidFill>
                            <a:schemeClr val="dk1"/>
                          </a:solidFill>
                          <a:effectLst/>
                          <a:uFillTx/>
                          <a:latin typeface="Aptos"/>
                        </a:rPr>
                        <a:t>Peer Authentication</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Identity Verification</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marL="285840" indent="-285840" defTabSz="914400">
                        <a:lnSpc>
                          <a:spcPct val="100000"/>
                        </a:lnSpc>
                        <a:buClr>
                          <a:srgbClr val="000000"/>
                        </a:buClr>
                        <a:buFont typeface="Arial"/>
                        <a:buChar char="•"/>
                      </a:pPr>
                      <a:r>
                        <a:rPr lang="en-US" sz="1400" b="0" u="none" strike="noStrike">
                          <a:solidFill>
                            <a:schemeClr val="dk1"/>
                          </a:solidFill>
                          <a:effectLst/>
                          <a:uFillTx/>
                          <a:latin typeface="Aptos"/>
                        </a:rPr>
                        <a:t>Pre-Shared Keys</a:t>
                      </a:r>
                      <a:endParaRPr lang="en-AU"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400" b="0" u="none" strike="noStrike">
                          <a:solidFill>
                            <a:schemeClr val="dk1"/>
                          </a:solidFill>
                          <a:effectLst/>
                          <a:uFillTx/>
                          <a:latin typeface="Aptos"/>
                        </a:rPr>
                        <a:t>Digital Certificates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799640">
                <a:tc>
                  <a:txBody>
                    <a:bodyPr anchor="t">
                      <a:noAutofit/>
                    </a:bodyPr>
                    <a:p>
                      <a:pPr defTabSz="914400">
                        <a:lnSpc>
                          <a:spcPct val="100000"/>
                        </a:lnSpc>
                      </a:pPr>
                      <a:r>
                        <a:rPr lang="en-US" sz="1400" b="1" u="none" strike="noStrike">
                          <a:solidFill>
                            <a:schemeClr val="dk1"/>
                          </a:solidFill>
                          <a:effectLst/>
                          <a:uFillTx/>
                          <a:latin typeface="Aptos"/>
                        </a:rPr>
                        <a:t>Confidentiality</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Encryption of plaintext data to ciphertext. Prevents eavesdropping.</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marL="285840" indent="-285840" defTabSz="914400">
                        <a:lnSpc>
                          <a:spcPct val="100000"/>
                        </a:lnSpc>
                        <a:buClr>
                          <a:srgbClr val="000000"/>
                        </a:buClr>
                        <a:buFont typeface="Arial"/>
                        <a:buChar char="•"/>
                      </a:pPr>
                      <a:r>
                        <a:rPr lang="en-US" sz="1400" b="0" u="none" strike="noStrike">
                          <a:solidFill>
                            <a:schemeClr val="dk1"/>
                          </a:solidFill>
                          <a:effectLst/>
                          <a:uFillTx/>
                          <a:latin typeface="Aptos"/>
                        </a:rPr>
                        <a:t>Data Encryption Standard /Triple (DES/3DES)</a:t>
                      </a:r>
                      <a:endParaRPr lang="en-AU"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400" b="0" u="none" strike="noStrike">
                          <a:solidFill>
                            <a:schemeClr val="dk1"/>
                          </a:solidFill>
                          <a:effectLst/>
                          <a:uFillTx/>
                          <a:latin typeface="Aptos"/>
                        </a:rPr>
                        <a:t>Advanced Encryption Standard(AES)</a:t>
                      </a:r>
                      <a:endParaRPr lang="en-AU" sz="14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400" b="0" u="none" strike="noStrike">
                          <a:solidFill>
                            <a:schemeClr val="dk1"/>
                          </a:solidFill>
                          <a:effectLst/>
                          <a:uFillTx/>
                          <a:latin typeface="Aptos"/>
                        </a:rPr>
                        <a:t>DES/3DES not recommended.</a:t>
                      </a: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2226600">
                <a:tc>
                  <a:txBody>
                    <a:bodyPr anchor="t">
                      <a:noAutofit/>
                    </a:bodyPr>
                    <a:p>
                      <a:pPr defTabSz="914400">
                        <a:lnSpc>
                          <a:spcPct val="100000"/>
                        </a:lnSpc>
                      </a:pPr>
                      <a:r>
                        <a:rPr lang="en-US" sz="1400" b="1" u="none" strike="noStrike">
                          <a:solidFill>
                            <a:schemeClr val="dk1"/>
                          </a:solidFill>
                          <a:effectLst/>
                          <a:uFillTx/>
                          <a:latin typeface="Aptos"/>
                        </a:rPr>
                        <a:t>Integrity</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Prevents data tempering/alterations with Man-in-the-Middle (MitM) attacks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tabLst>
                          <a:tab pos="0" algn="l"/>
                        </a:tabLst>
                      </a:pPr>
                      <a:r>
                        <a:rPr lang="en-US" sz="1400" b="0" u="none" strike="noStrike">
                          <a:solidFill>
                            <a:schemeClr val="dk1"/>
                          </a:solidFill>
                          <a:effectLst/>
                          <a:uFillTx/>
                          <a:latin typeface="Aptos"/>
                        </a:rPr>
                        <a:t>Hash Message Authentication Functions (HMAC)</a:t>
                      </a:r>
                      <a:endParaRPr lang="en-AU" sz="14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400" b="0" u="none" strike="noStrike">
                          <a:solidFill>
                            <a:schemeClr val="dk1"/>
                          </a:solidFill>
                          <a:effectLst/>
                          <a:uFillTx/>
                          <a:latin typeface="Aptos"/>
                        </a:rPr>
                        <a:t>Message Digest 5 (MD5)</a:t>
                      </a:r>
                      <a:endParaRPr lang="en-AU" sz="14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400" b="0" u="none" strike="noStrike">
                          <a:solidFill>
                            <a:schemeClr val="dk1"/>
                          </a:solidFill>
                          <a:effectLst/>
                          <a:uFillTx/>
                          <a:latin typeface="Aptos"/>
                        </a:rPr>
                        <a:t>Secure Hash Algorithm (SHA1,SHA256,SHA384,SHA512)</a:t>
                      </a:r>
                      <a:endParaRPr lang="en-AU" sz="14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400" b="0" u="none" strike="noStrike">
                          <a:solidFill>
                            <a:schemeClr val="dk1"/>
                          </a:solidFill>
                          <a:effectLst/>
                          <a:uFillTx/>
                          <a:latin typeface="Aptos"/>
                        </a:rPr>
                        <a:t>MD5 not recommended</a:t>
                      </a:r>
                      <a:endParaRPr lang="en-AU" sz="1400" b="0" u="none" strike="noStrike">
                        <a:solidFill>
                          <a:srgbClr val="000000"/>
                        </a:solidFill>
                        <a:effectLst/>
                        <a:uFillTx/>
                        <a:latin typeface="Arial"/>
                      </a:endParaRPr>
                    </a:p>
                    <a:p>
                      <a:pPr defTabSz="914400">
                        <a:lnSpc>
                          <a:spcPct val="100000"/>
                        </a:lnSpc>
                        <a:tabLst>
                          <a:tab pos="0" algn="l"/>
                        </a:tabLst>
                      </a:pP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45720">
                <a:tc>
                  <a:txBody>
                    <a:bodyPr anchor="t">
                      <a:noAutofit/>
                    </a:bodyPr>
                    <a:p>
                      <a:pPr defTabSz="914400">
                        <a:lnSpc>
                          <a:spcPct val="100000"/>
                        </a:lnSpc>
                      </a:pPr>
                      <a:r>
                        <a:rPr lang="en-US" sz="1400" b="1" u="none" strike="noStrike">
                          <a:solidFill>
                            <a:schemeClr val="dk1"/>
                          </a:solidFill>
                          <a:effectLst/>
                          <a:uFillTx/>
                          <a:latin typeface="Aptos"/>
                        </a:rPr>
                        <a:t> (Replay Detection)</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MitM can replay the messages(ciphertext) appearing as a genuine sender.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Sequence numbering the messages.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84" name="PlaceHolder 2"/>
          <p:cNvSpPr>
            <a:spLocks noGrp="1"/>
          </p:cNvSpPr>
          <p:nvPr>
            <p:ph/>
          </p:nvPr>
        </p:nvSpPr>
        <p:spPr>
          <a:xfrm>
            <a:off x="4441320" y="108720"/>
            <a:ext cx="7492680" cy="6462000"/>
          </a:xfrm>
          <a:prstGeom prst="rect">
            <a:avLst/>
          </a:prstGeom>
          <a:noFill/>
          <a:ln w="0">
            <a:noFill/>
          </a:ln>
        </p:spPr>
        <p:txBody>
          <a:bodyPr lIns="91440" tIns="45720" rIns="91440" bIns="45720" anchor="t">
            <a:normAutofit fontScale="92500" lnSpcReduction="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IPSec Offers security services in two modes:</a:t>
            </a:r>
            <a:endParaRPr lang="en-US" sz="2800" b="0" u="none" strike="noStrike">
              <a:solidFill>
                <a:schemeClr val="dk1"/>
              </a:solidFill>
              <a:effectLst/>
              <a:uFillTx/>
              <a:latin typeface="Aptos"/>
            </a:endParaRPr>
          </a:p>
          <a:p>
            <a:pPr marL="971640" lvl="1" indent="-514440" algn="l" defTabSz="914400">
              <a:lnSpc>
                <a:spcPct val="90000"/>
              </a:lnSpc>
              <a:spcBef>
                <a:spcPts val="499"/>
              </a:spcBef>
              <a:buClr>
                <a:srgbClr val="000000"/>
              </a:buClr>
              <a:buFont typeface="Arial"/>
              <a:buAutoNum type="arabicPeriod"/>
            </a:pPr>
            <a:r>
              <a:rPr lang="en-US" sz="2400" b="1" u="none" strike="noStrike">
                <a:solidFill>
                  <a:schemeClr val="dk1"/>
                </a:solidFill>
                <a:effectLst/>
                <a:uFillTx/>
                <a:latin typeface="Aptos"/>
              </a:rPr>
              <a:t>Authentication Header (AH)</a:t>
            </a:r>
            <a:endParaRPr lang="en-US" sz="2400" b="0" u="none" strike="noStrike">
              <a:solidFill>
                <a:schemeClr val="dk1"/>
              </a:solidFill>
              <a:effectLst/>
              <a:uFillTx/>
              <a:latin typeface="Aptos"/>
            </a:endParaRPr>
          </a:p>
          <a:p>
            <a:pPr marL="1428840" lvl="2" indent="-514440" algn="l" defTabSz="914400">
              <a:lnSpc>
                <a:spcPct val="90000"/>
              </a:lnSpc>
              <a:spcBef>
                <a:spcPts val="499"/>
              </a:spcBef>
              <a:buClr>
                <a:srgbClr val="000000"/>
              </a:buClr>
              <a:buFont typeface="Wingdings" charset="2"/>
              <a:buChar char=""/>
            </a:pPr>
            <a:r>
              <a:rPr lang="en-US" sz="2000" b="0" u="none" strike="noStrike">
                <a:solidFill>
                  <a:schemeClr val="dk1"/>
                </a:solidFill>
                <a:effectLst/>
                <a:uFillTx/>
                <a:latin typeface="Aptos"/>
              </a:rPr>
              <a:t>Only provides authentication, data integrity and replay detection. </a:t>
            </a:r>
            <a:endParaRPr lang="en-US" sz="2000" b="0" u="none" strike="noStrike">
              <a:solidFill>
                <a:schemeClr val="dk1"/>
              </a:solidFill>
              <a:effectLst/>
              <a:uFillTx/>
              <a:latin typeface="Aptos"/>
            </a:endParaRPr>
          </a:p>
          <a:p>
            <a:pPr marL="1428840" lvl="2" indent="-514440" algn="l" defTabSz="914400">
              <a:lnSpc>
                <a:spcPct val="90000"/>
              </a:lnSpc>
              <a:spcBef>
                <a:spcPts val="499"/>
              </a:spcBef>
              <a:buClr>
                <a:srgbClr val="000000"/>
              </a:buClr>
              <a:buFont typeface="Wingdings" charset="2"/>
              <a:buChar char=""/>
            </a:pPr>
            <a:r>
              <a:rPr lang="en-US" sz="2000" b="0" u="none" strike="noStrike">
                <a:solidFill>
                  <a:schemeClr val="dk1"/>
                </a:solidFill>
                <a:effectLst/>
                <a:uFillTx/>
                <a:latin typeface="Aptos"/>
              </a:rPr>
              <a:t>No mechanism of encryption and does not support Network Address Translation Traversal (NAT-T). </a:t>
            </a:r>
            <a:endParaRPr lang="en-US" sz="2000" b="0" u="none" strike="noStrike">
              <a:solidFill>
                <a:schemeClr val="dk1"/>
              </a:solidFill>
              <a:effectLst/>
              <a:uFillTx/>
              <a:latin typeface="Aptos"/>
            </a:endParaRPr>
          </a:p>
          <a:p>
            <a:pPr marL="1428840" lvl="2" indent="-514440" algn="l" defTabSz="914400">
              <a:lnSpc>
                <a:spcPct val="90000"/>
              </a:lnSpc>
              <a:spcBef>
                <a:spcPts val="499"/>
              </a:spcBef>
              <a:buClr>
                <a:srgbClr val="000000"/>
              </a:buClr>
              <a:buFont typeface="Wingdings" charset="2"/>
              <a:buChar char=""/>
            </a:pPr>
            <a:r>
              <a:rPr lang="en-US" sz="2000" b="0" u="none" strike="noStrike">
                <a:solidFill>
                  <a:schemeClr val="dk1"/>
                </a:solidFill>
                <a:effectLst/>
                <a:uFillTx/>
                <a:latin typeface="Aptos"/>
              </a:rPr>
              <a:t>Uses protocol number 51 in IP header.</a:t>
            </a:r>
            <a:endParaRPr lang="en-US" sz="2000" b="0" u="none" strike="noStrike">
              <a:solidFill>
                <a:schemeClr val="dk1"/>
              </a:solidFill>
              <a:effectLst/>
              <a:uFillTx/>
              <a:latin typeface="Aptos"/>
            </a:endParaRPr>
          </a:p>
          <a:p>
            <a:pPr marL="971640" lvl="1" indent="-514440" algn="l" defTabSz="914400">
              <a:lnSpc>
                <a:spcPct val="90000"/>
              </a:lnSpc>
              <a:spcBef>
                <a:spcPts val="499"/>
              </a:spcBef>
              <a:buClr>
                <a:srgbClr val="000000"/>
              </a:buClr>
              <a:buFont typeface="Arial"/>
              <a:buAutoNum type="arabicPeriod"/>
            </a:pPr>
            <a:r>
              <a:rPr lang="en-US" sz="2400" b="1" u="none" strike="noStrike">
                <a:solidFill>
                  <a:schemeClr val="dk1"/>
                </a:solidFill>
                <a:effectLst/>
                <a:uFillTx/>
                <a:latin typeface="Aptos"/>
              </a:rPr>
              <a:t>Encapsulating Security Payload (ESP)</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Wingdings" charset="2"/>
              <a:buChar char=""/>
            </a:pPr>
            <a:r>
              <a:rPr lang="en-US" sz="2000" b="0" u="none" strike="noStrike">
                <a:solidFill>
                  <a:schemeClr val="dk1"/>
                </a:solidFill>
                <a:effectLst/>
                <a:uFillTx/>
                <a:latin typeface="Aptos"/>
              </a:rPr>
              <a:t>Provides encryption, Integrity, replay detection and authentication.</a:t>
            </a:r>
            <a:endParaRPr lang="en-US" sz="20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Wingdings" charset="2"/>
              <a:buChar char=""/>
            </a:pPr>
            <a:r>
              <a:rPr lang="en-US" sz="2000" b="0" u="none" strike="noStrike">
                <a:solidFill>
                  <a:schemeClr val="dk1"/>
                </a:solidFill>
                <a:effectLst/>
                <a:uFillTx/>
                <a:latin typeface="Aptos"/>
              </a:rPr>
              <a:t>Supports NAT-T and uses protocol number 50 in IP header.</a:t>
            </a:r>
            <a:endParaRPr lang="en-US" sz="20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Wingdings" charset="2"/>
              <a:buChar char=""/>
            </a:pPr>
            <a:r>
              <a:rPr lang="en-US" sz="2000" b="0" u="none" strike="noStrike">
                <a:solidFill>
                  <a:schemeClr val="dk1"/>
                </a:solidFill>
                <a:effectLst/>
                <a:uFillTx/>
                <a:latin typeface="Aptos"/>
              </a:rPr>
              <a:t>IPSec can operate in two modes.</a:t>
            </a:r>
            <a:endParaRPr lang="en-US" sz="20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Wingdings" charset="2"/>
              <a:buChar char=""/>
            </a:pPr>
            <a:r>
              <a:rPr lang="en-US" sz="2000" b="0" u="none" strike="noStrike">
                <a:solidFill>
                  <a:schemeClr val="dk1"/>
                </a:solidFill>
                <a:effectLst/>
                <a:uFillTx/>
                <a:latin typeface="Aptos"/>
              </a:rPr>
              <a:t>While using with another tunneling technique such as GRE, use it in transport mode only.</a:t>
            </a:r>
            <a:endParaRPr lang="en-US" sz="20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Wingdings" charset="2"/>
              <a:buChar char=""/>
            </a:pPr>
            <a:r>
              <a:rPr lang="en-US" sz="2000" b="0" u="none" strike="noStrike">
                <a:solidFill>
                  <a:schemeClr val="dk1"/>
                </a:solidFill>
                <a:effectLst/>
                <a:uFillTx/>
                <a:latin typeface="Aptos"/>
              </a:rPr>
              <a:t>While using without any other tunneling technique such as IPSec Virtual Tunnel Interfaces (VTI) use it in tunnel mode.</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1600" b="0" u="none" strike="noStrike">
                <a:solidFill>
                  <a:schemeClr val="dk1"/>
                </a:solidFill>
                <a:effectLst/>
                <a:uFillTx/>
                <a:latin typeface="Aptos"/>
              </a:rPr>
              <a:t>Protocol number mnemonics : GRE starts with 7th letter of alphabet so 47, AH starts with 1st letter so 51 and ESP starts with 5th letter so 50</a:t>
            </a:r>
            <a:endParaRPr lang="en-US" sz="1600" b="0" u="none" strike="noStrike">
              <a:solidFill>
                <a:schemeClr val="dk1"/>
              </a:solidFill>
              <a:effectLst/>
              <a:uFillTx/>
              <a:latin typeface="Aptos"/>
            </a:endParaRPr>
          </a:p>
          <a:p>
            <a:pPr indent="0" algn="l" defTabSz="914400">
              <a:lnSpc>
                <a:spcPct val="90000"/>
              </a:lnSpc>
              <a:spcBef>
                <a:spcPts val="499"/>
              </a:spcBef>
              <a:buNone/>
            </a:pPr>
            <a:endParaRPr lang="en-US" sz="20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86" name="PlaceHolder 2"/>
          <p:cNvSpPr>
            <a:spLocks noGrp="1"/>
          </p:cNvSpPr>
          <p:nvPr>
            <p:ph/>
          </p:nvPr>
        </p:nvSpPr>
        <p:spPr>
          <a:xfrm>
            <a:off x="4441320" y="108720"/>
            <a:ext cx="7492680" cy="6462000"/>
          </a:xfrm>
          <a:prstGeom prst="rect">
            <a:avLst/>
          </a:prstGeom>
          <a:noFill/>
          <a:ln w="0">
            <a:noFill/>
          </a:ln>
        </p:spPr>
        <p:txBody>
          <a:bodyPr lIns="91440" tIns="45720" rIns="91440" bIns="45720" anchor="t">
            <a:normAutofit/>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IPSec encapsulation in two modes:</a:t>
            </a:r>
            <a:endParaRPr lang="en-US" sz="2800" b="0" u="none" strike="noStrike">
              <a:solidFill>
                <a:schemeClr val="dk1"/>
              </a:solidFill>
              <a:effectLst/>
              <a:uFillTx/>
              <a:latin typeface="Aptos"/>
            </a:endParaRPr>
          </a:p>
          <a:p>
            <a:pPr marL="743040" lvl="1" indent="-285840" algn="l" defTabSz="914400">
              <a:lnSpc>
                <a:spcPct val="90000"/>
              </a:lnSpc>
              <a:spcBef>
                <a:spcPts val="499"/>
              </a:spcBef>
              <a:buClr>
                <a:srgbClr val="000000"/>
              </a:buClr>
              <a:buFont typeface="Wingdings" charset="2"/>
              <a:buChar char=""/>
            </a:pPr>
            <a:r>
              <a:rPr lang="en-US" sz="2000" b="1" u="none" strike="noStrike">
                <a:solidFill>
                  <a:schemeClr val="dk1"/>
                </a:solidFill>
                <a:effectLst/>
                <a:uFillTx/>
                <a:latin typeface="Aptos"/>
              </a:rPr>
              <a:t>Tunnel mode</a:t>
            </a:r>
            <a:r>
              <a:rPr lang="en-US" sz="2000" b="0" u="none" strike="noStrike">
                <a:solidFill>
                  <a:schemeClr val="dk1"/>
                </a:solidFill>
                <a:effectLst/>
                <a:uFillTx/>
                <a:latin typeface="Aptos"/>
              </a:rPr>
              <a:t>: Encrypts whole IP packet along with IP header and adds new IPSec header. New IPSec header is used to provide overlay functions.</a:t>
            </a:r>
            <a:endParaRPr lang="en-US" sz="2000" b="0" u="none" strike="noStrike">
              <a:solidFill>
                <a:schemeClr val="dk1"/>
              </a:solidFill>
              <a:effectLst/>
              <a:uFillTx/>
              <a:latin typeface="Aptos"/>
            </a:endParaRPr>
          </a:p>
          <a:p>
            <a:pPr marL="743040" lvl="1" indent="-285840" algn="l" defTabSz="914400">
              <a:lnSpc>
                <a:spcPct val="90000"/>
              </a:lnSpc>
              <a:spcBef>
                <a:spcPts val="499"/>
              </a:spcBef>
              <a:buClr>
                <a:srgbClr val="000000"/>
              </a:buClr>
              <a:buFont typeface="Wingdings" charset="2"/>
              <a:buChar char=""/>
            </a:pPr>
            <a:r>
              <a:rPr lang="en-US" sz="2000" b="1" u="none" strike="noStrike">
                <a:solidFill>
                  <a:schemeClr val="dk1"/>
                </a:solidFill>
                <a:effectLst/>
                <a:uFillTx/>
                <a:latin typeface="Aptos"/>
              </a:rPr>
              <a:t>Transport mode</a:t>
            </a:r>
            <a:r>
              <a:rPr lang="en-US" sz="2000" b="0" u="none" strike="noStrike">
                <a:solidFill>
                  <a:schemeClr val="dk1"/>
                </a:solidFill>
                <a:effectLst/>
                <a:uFillTx/>
                <a:latin typeface="Aptos"/>
              </a:rPr>
              <a:t>: Encrypts only payload and uses same IP header to forward packets. This does not provide overlay function.</a:t>
            </a:r>
            <a:endParaRPr lang="en-US" sz="2000" b="0" u="none" strike="noStrike">
              <a:solidFill>
                <a:schemeClr val="dk1"/>
              </a:solidFill>
              <a:effectLst/>
              <a:uFillTx/>
              <a:latin typeface="Aptos"/>
            </a:endParaRPr>
          </a:p>
        </p:txBody>
      </p:sp>
      <p:pic>
        <p:nvPicPr>
          <p:cNvPr id="87" name="Picture 3" descr="A diagram of a system&#10;&#10;AI-generated content may be incorrect."/>
          <p:cNvPicPr/>
          <p:nvPr/>
        </p:nvPicPr>
        <p:blipFill>
          <a:blip r:embed="rId1"/>
          <a:stretch/>
        </p:blipFill>
        <p:spPr>
          <a:xfrm>
            <a:off x="4916160" y="2491560"/>
            <a:ext cx="5915160" cy="38268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0" y="0"/>
            <a:ext cx="4161600" cy="120420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89" name="PlaceHolder 2"/>
          <p:cNvSpPr>
            <a:spLocks noGrp="1"/>
          </p:cNvSpPr>
          <p:nvPr>
            <p:ph/>
          </p:nvPr>
        </p:nvSpPr>
        <p:spPr>
          <a:xfrm>
            <a:off x="4404960" y="145080"/>
            <a:ext cx="7194960" cy="910440"/>
          </a:xfrm>
          <a:prstGeom prst="rect">
            <a:avLst/>
          </a:prstGeom>
          <a:noFill/>
          <a:ln w="0">
            <a:noFill/>
          </a:ln>
        </p:spPr>
        <p:txBody>
          <a:bodyPr lIns="91440" tIns="45720" rIns="91440" bIns="45720" anchor="t">
            <a:normAutofit fontScale="85000" lnSpcReduction="19999"/>
          </a:bodyPr>
          <a:p>
            <a:pPr marL="2286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IPSec supports below technologies to provide highly secure services</a:t>
            </a:r>
            <a:endParaRPr lang="en-US" sz="20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IPSec provides variety of below technologies using transform set</a:t>
            </a:r>
            <a:endParaRPr lang="en-US" sz="2000" b="0" u="none" strike="noStrike">
              <a:solidFill>
                <a:schemeClr val="dk1"/>
              </a:solidFill>
              <a:effectLst/>
              <a:uFillTx/>
              <a:latin typeface="Aptos"/>
            </a:endParaRPr>
          </a:p>
        </p:txBody>
      </p:sp>
      <p:graphicFrame>
        <p:nvGraphicFramePr>
          <p:cNvPr id="90" name="Table 5"/>
          <p:cNvGraphicFramePr/>
          <p:nvPr/>
        </p:nvGraphicFramePr>
        <p:xfrm>
          <a:off x="102600" y="1270440"/>
          <a:ext cx="11763360" cy="5568480"/>
        </p:xfrm>
        <a:graphic>
          <a:graphicData uri="http://schemas.openxmlformats.org/drawingml/2006/table">
            <a:tbl>
              <a:tblPr/>
              <a:tblGrid>
                <a:gridCol w="2288160"/>
                <a:gridCol w="9475200"/>
              </a:tblGrid>
              <a:tr h="489960">
                <a:tc>
                  <a:txBody>
                    <a:bodyPr anchor="t">
                      <a:noAutofit/>
                    </a:bodyPr>
                    <a:p>
                      <a:pPr defTabSz="914400">
                        <a:lnSpc>
                          <a:spcPct val="100000"/>
                        </a:lnSpc>
                      </a:pPr>
                      <a:r>
                        <a:rPr lang="en-US" sz="1400" b="1" u="none" strike="noStrike">
                          <a:solidFill>
                            <a:schemeClr val="lt1"/>
                          </a:solidFill>
                          <a:effectLst/>
                          <a:uFillTx/>
                          <a:latin typeface="Aptos"/>
                        </a:rPr>
                        <a:t>Technologies</a:t>
                      </a:r>
                      <a:endParaRPr lang="en-AU"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400" b="1" u="none" strike="noStrike">
                          <a:solidFill>
                            <a:schemeClr val="lt1"/>
                          </a:solidFill>
                          <a:effectLst/>
                          <a:uFillTx/>
                          <a:latin typeface="Aptos"/>
                        </a:rPr>
                        <a:t>Description</a:t>
                      </a:r>
                      <a:endParaRPr lang="en-AU" sz="14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499680">
                <a:tc>
                  <a:txBody>
                    <a:bodyPr anchor="t">
                      <a:noAutofit/>
                    </a:bodyPr>
                    <a:p>
                      <a:pPr defTabSz="914400">
                        <a:lnSpc>
                          <a:spcPct val="100000"/>
                        </a:lnSpc>
                      </a:pPr>
                      <a:r>
                        <a:rPr lang="en-US" sz="1400" b="1" u="none" strike="noStrike">
                          <a:solidFill>
                            <a:schemeClr val="dk1"/>
                          </a:solidFill>
                          <a:effectLst/>
                          <a:uFillTx/>
                          <a:latin typeface="Aptos"/>
                        </a:rPr>
                        <a:t>Data Encryption Standard (DES)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90000"/>
                        </a:lnSpc>
                        <a:spcBef>
                          <a:spcPts val="499"/>
                        </a:spcBef>
                        <a:tabLst>
                          <a:tab pos="0" algn="l"/>
                        </a:tabLst>
                      </a:pPr>
                      <a:r>
                        <a:rPr lang="en-US" sz="1600" b="0" u="none" strike="noStrike">
                          <a:solidFill>
                            <a:schemeClr val="dk1"/>
                          </a:solidFill>
                          <a:effectLst/>
                          <a:uFillTx/>
                          <a:latin typeface="Aptos"/>
                        </a:rPr>
                        <a:t>56 bit symmetric data encryption technique. This is weak encryption and should be avoided</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73840">
                <a:tc>
                  <a:txBody>
                    <a:bodyPr anchor="t">
                      <a:noAutofit/>
                    </a:bodyPr>
                    <a:p>
                      <a:pPr defTabSz="914400">
                        <a:lnSpc>
                          <a:spcPct val="100000"/>
                        </a:lnSpc>
                      </a:pPr>
                      <a:r>
                        <a:rPr lang="en-US" sz="1400" b="1" u="none" strike="noStrike">
                          <a:solidFill>
                            <a:schemeClr val="dk1"/>
                          </a:solidFill>
                          <a:effectLst/>
                          <a:uFillTx/>
                          <a:latin typeface="Aptos"/>
                        </a:rPr>
                        <a:t>3DES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90000"/>
                        </a:lnSpc>
                        <a:spcBef>
                          <a:spcPts val="499"/>
                        </a:spcBef>
                        <a:tabLst>
                          <a:tab pos="0" algn="l"/>
                        </a:tabLst>
                      </a:pPr>
                      <a:r>
                        <a:rPr lang="en-US" sz="1600" b="0" u="none" strike="noStrike">
                          <a:solidFill>
                            <a:schemeClr val="dk1"/>
                          </a:solidFill>
                          <a:effectLst/>
                          <a:uFillTx/>
                          <a:latin typeface="Aptos"/>
                        </a:rPr>
                        <a:t>Same as DES but uses 3 different keys to encrypt, decrypt and encrypt again before sending. Weak and should be avoided.</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99680">
                <a:tc>
                  <a:txBody>
                    <a:bodyPr anchor="t">
                      <a:noAutofit/>
                    </a:bodyPr>
                    <a:p>
                      <a:pPr defTabSz="914400">
                        <a:lnSpc>
                          <a:spcPct val="100000"/>
                        </a:lnSpc>
                      </a:pPr>
                      <a:r>
                        <a:rPr lang="en-US" sz="1400" b="1" u="none" strike="noStrike">
                          <a:solidFill>
                            <a:schemeClr val="dk1"/>
                          </a:solidFill>
                          <a:effectLst/>
                          <a:uFillTx/>
                          <a:latin typeface="Aptos"/>
                        </a:rPr>
                        <a:t>Advanced Encryption Standard (AES)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600" b="0" u="none" strike="noStrike">
                          <a:solidFill>
                            <a:schemeClr val="dk1"/>
                          </a:solidFill>
                          <a:effectLst/>
                          <a:uFillTx/>
                          <a:latin typeface="Aptos"/>
                        </a:rPr>
                        <a:t>Symmetric encryption developed to replace  DES. Supports 128 bits, 196 bits or 256 bits.</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15240">
                <a:tc>
                  <a:txBody>
                    <a:bodyPr anchor="t">
                      <a:noAutofit/>
                    </a:bodyPr>
                    <a:p>
                      <a:pPr defTabSz="914400">
                        <a:lnSpc>
                          <a:spcPct val="100000"/>
                        </a:lnSpc>
                      </a:pPr>
                      <a:r>
                        <a:rPr lang="en-US" sz="1400" b="1" u="none" strike="noStrike">
                          <a:solidFill>
                            <a:schemeClr val="dk1"/>
                          </a:solidFill>
                          <a:effectLst/>
                          <a:uFillTx/>
                          <a:latin typeface="Aptos"/>
                        </a:rPr>
                        <a:t> Message Digest 5 (MD5)</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600" b="0" u="none" strike="noStrike">
                          <a:solidFill>
                            <a:schemeClr val="dk1"/>
                          </a:solidFill>
                          <a:effectLst/>
                          <a:uFillTx/>
                          <a:latin typeface="Aptos"/>
                        </a:rPr>
                        <a:t>128 bit one way hash function to provide authentication and integrity. Cisco uses HMAC version of MD5. Should be avoided and use SHA </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15240">
                <a:tc>
                  <a:txBody>
                    <a:bodyPr anchor="t">
                      <a:noAutofit/>
                    </a:bodyPr>
                    <a:p>
                      <a:pPr defTabSz="914400">
                        <a:lnSpc>
                          <a:spcPct val="100000"/>
                        </a:lnSpc>
                      </a:pPr>
                      <a:r>
                        <a:rPr lang="en-US" sz="1400" b="1" u="none" strike="noStrike">
                          <a:solidFill>
                            <a:schemeClr val="dk1"/>
                          </a:solidFill>
                          <a:effectLst/>
                          <a:uFillTx/>
                          <a:latin typeface="Aptos"/>
                        </a:rPr>
                        <a:t>Secure Hash Algorithm (SHA)</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600" b="0" u="none" strike="noStrike">
                          <a:solidFill>
                            <a:schemeClr val="dk1"/>
                          </a:solidFill>
                          <a:effectLst/>
                          <a:uFillTx/>
                          <a:latin typeface="Aptos"/>
                        </a:rPr>
                        <a:t>160 bit one way has function to provide authentication and integrity. Cisco uses SHA1-HMAC to prevent MitM. Variety includes SHA256, SHA384 and SHA 512</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038240">
                <a:tc>
                  <a:txBody>
                    <a:bodyPr anchor="t">
                      <a:noAutofit/>
                    </a:bodyPr>
                    <a:p>
                      <a:pPr defTabSz="914400">
                        <a:lnSpc>
                          <a:spcPct val="100000"/>
                        </a:lnSpc>
                      </a:pPr>
                      <a:r>
                        <a:rPr lang="en-US" sz="1400" b="1" u="none" strike="noStrike">
                          <a:solidFill>
                            <a:schemeClr val="dk1"/>
                          </a:solidFill>
                          <a:effectLst/>
                          <a:uFillTx/>
                          <a:latin typeface="Aptos"/>
                        </a:rPr>
                        <a:t>Diffie-Hellman (DH)</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600" b="0" u="none" strike="noStrike">
                          <a:solidFill>
                            <a:schemeClr val="dk1"/>
                          </a:solidFill>
                          <a:effectLst/>
                          <a:uFillTx/>
                          <a:latin typeface="Aptos"/>
                        </a:rPr>
                        <a:t>Asymmetric key exchange protocol that enables two endpoints to create/exchange a key used by encryption algorithm such as AES over an unsecure channel. DH group refers to length of key (modulus size) used to create a key. Ex. Group 2 is 1024 bits long. Cisco recommends using groups 14 or higher. DH based on Elliptic Curve is known as ECDH.</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36240">
                <a:tc>
                  <a:txBody>
                    <a:bodyPr anchor="t">
                      <a:noAutofit/>
                    </a:bodyPr>
                    <a:p>
                      <a:pPr defTabSz="914400">
                        <a:lnSpc>
                          <a:spcPct val="100000"/>
                        </a:lnSpc>
                      </a:pPr>
                      <a:r>
                        <a:rPr lang="en-US" sz="1400" b="1" u="none" strike="noStrike">
                          <a:solidFill>
                            <a:schemeClr val="dk1"/>
                          </a:solidFill>
                          <a:effectLst/>
                          <a:uFillTx/>
                          <a:latin typeface="Aptos"/>
                        </a:rPr>
                        <a:t>RSA Signatures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600" b="0" u="none" strike="noStrike">
                          <a:solidFill>
                            <a:schemeClr val="dk1"/>
                          </a:solidFill>
                          <a:effectLst/>
                          <a:uFillTx/>
                          <a:latin typeface="Aptos"/>
                        </a:rPr>
                        <a:t>Public-key (digital certificates) cryptographic system used to mutu-ally authenticate the peers.</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47920">
                <a:tc>
                  <a:txBody>
                    <a:bodyPr anchor="t">
                      <a:noAutofit/>
                    </a:bodyPr>
                    <a:p>
                      <a:pPr defTabSz="914400">
                        <a:lnSpc>
                          <a:spcPct val="100000"/>
                        </a:lnSpc>
                      </a:pPr>
                      <a:r>
                        <a:rPr lang="en-US" sz="1400" b="1" u="none" strike="noStrike">
                          <a:solidFill>
                            <a:schemeClr val="dk1"/>
                          </a:solidFill>
                          <a:effectLst/>
                          <a:uFillTx/>
                          <a:latin typeface="Aptos"/>
                        </a:rPr>
                        <a:t>Pre-Shared Key</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600" b="0" u="none" strike="noStrike">
                          <a:solidFill>
                            <a:schemeClr val="dk1"/>
                          </a:solidFill>
                          <a:effectLst/>
                          <a:uFillTx/>
                          <a:latin typeface="Aptos"/>
                        </a:rPr>
                        <a:t>Authentication mechanism where locally configured key is used to mutually authenticate peers.</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0" y="0"/>
            <a:ext cx="4118040" cy="156708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92" name="PlaceHolder 2"/>
          <p:cNvSpPr>
            <a:spLocks noGrp="1"/>
          </p:cNvSpPr>
          <p:nvPr>
            <p:ph/>
          </p:nvPr>
        </p:nvSpPr>
        <p:spPr>
          <a:xfrm>
            <a:off x="4361400" y="340920"/>
            <a:ext cx="7688520" cy="6201000"/>
          </a:xfrm>
          <a:prstGeom prst="rect">
            <a:avLst/>
          </a:prstGeom>
          <a:noFill/>
          <a:ln w="0">
            <a:noFill/>
          </a:ln>
        </p:spPr>
        <p:txBody>
          <a:bodyPr lIns="91440" tIns="45720" rIns="91440" bIns="45720" anchor="t">
            <a:noAutofit/>
          </a:bodyPr>
          <a:p>
            <a:pPr marL="228600" lvl="2" indent="-228600" algn="l" defTabSz="914400">
              <a:lnSpc>
                <a:spcPct val="90000"/>
              </a:lnSpc>
              <a:spcBef>
                <a:spcPts val="499"/>
              </a:spcBef>
              <a:buClr>
                <a:srgbClr val="000000"/>
              </a:buClr>
              <a:buFont typeface="Arial"/>
              <a:buChar char="•"/>
            </a:pPr>
            <a:r>
              <a:rPr lang="en-US" sz="1800" b="1" u="none" strike="noStrike">
                <a:solidFill>
                  <a:schemeClr val="dk1"/>
                </a:solidFill>
                <a:effectLst/>
                <a:uFillTx/>
                <a:latin typeface="Aptos"/>
              </a:rPr>
              <a:t>Internet Key Exchange (IKE)</a:t>
            </a:r>
            <a:r>
              <a:rPr lang="en-US" sz="1800" b="0" u="none" strike="noStrike">
                <a:solidFill>
                  <a:schemeClr val="dk1"/>
                </a:solidFill>
                <a:effectLst/>
                <a:uFillTx/>
                <a:latin typeface="Aptos"/>
              </a:rPr>
              <a:t> is a protocol that authenticates two endpoints to establish Security Associations (SA) also known as IKE tunnel. </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pPr>
            <a:r>
              <a:rPr lang="en-US" sz="1800" b="1" u="none" strike="noStrike">
                <a:solidFill>
                  <a:schemeClr val="dk1"/>
                </a:solidFill>
                <a:effectLst/>
                <a:uFillTx/>
                <a:latin typeface="Aptos"/>
              </a:rPr>
              <a:t>Internet Security Association Key Management Protocol (ISAKMP)</a:t>
            </a:r>
            <a:r>
              <a:rPr lang="en-US" sz="1800" b="0" u="none" strike="noStrike">
                <a:solidFill>
                  <a:schemeClr val="dk1"/>
                </a:solidFill>
                <a:effectLst/>
                <a:uFillTx/>
                <a:latin typeface="Aptos"/>
              </a:rPr>
              <a:t> is a framework for authentication and key exchange between peers to establish, modify and tear down SAs. </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IKE is Cisco's implementation  of ISAKMP framework to provide services defined in ISAKMP using Oakley and SKEME key exchange techniques.</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For Cisco IKE and ISAKMP are interchangeable.</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IKE has two versions: IKEv1 and IKEv2</a:t>
            </a:r>
            <a:endParaRPr lang="en-US" sz="18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1800" b="1" u="none" strike="noStrike">
                <a:solidFill>
                  <a:schemeClr val="dk1"/>
                </a:solidFill>
                <a:effectLst/>
                <a:uFillTx/>
                <a:latin typeface="Aptos"/>
              </a:rPr>
              <a:t>IKEv1/ISAKMP  </a:t>
            </a:r>
            <a:r>
              <a:rPr lang="en-US" sz="1800" b="0" u="sng" strike="noStrike">
                <a:solidFill>
                  <a:schemeClr val="dk1"/>
                </a:solidFill>
                <a:effectLst/>
                <a:uFillTx/>
                <a:latin typeface="Aptos"/>
                <a:hlinkClick r:id="rId1"/>
              </a:rPr>
              <a:t>Deepdive ?</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Defines two phases of key negotiation and IPSec establishment</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tabLst>
                <a:tab pos="0" algn="l"/>
              </a:tabLst>
            </a:pPr>
            <a:r>
              <a:rPr lang="en-US" sz="1800" b="1" u="none" strike="noStrike">
                <a:solidFill>
                  <a:schemeClr val="dk1"/>
                </a:solidFill>
                <a:effectLst/>
                <a:uFillTx/>
                <a:latin typeface="Aptos"/>
              </a:rPr>
              <a:t>Phase 1</a:t>
            </a:r>
            <a:r>
              <a:rPr lang="en-US" sz="1800" b="0" u="none" strike="noStrike">
                <a:solidFill>
                  <a:schemeClr val="dk1"/>
                </a:solidFill>
                <a:effectLst/>
                <a:uFillTx/>
                <a:latin typeface="Aptos"/>
              </a:rPr>
              <a:t>: Protects control plane packets such as negotiation, keepalive or information packages by creating ISAKMP tunnel. </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Uses UDP port 500/4500 to establish ISAKMP tunnel.</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Creates a bi-directional SA between peers known as ISAKMP SA</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Then any peer can initiate negotiations for phase 2  (IPSec SA)</a:t>
            </a:r>
            <a:endParaRPr lang="en-US" sz="18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Security Parameter Index (SPI) identifies SA between peers.</a:t>
            </a:r>
            <a:endParaRPr lang="en-US" sz="1800" b="0" u="none" strike="noStrike">
              <a:solidFill>
                <a:schemeClr val="dk1"/>
              </a:solidFill>
              <a:effectLst/>
              <a:uFillTx/>
              <a:latin typeface="Aptos"/>
            </a:endParaRPr>
          </a:p>
        </p:txBody>
      </p:sp>
      <p:pic>
        <p:nvPicPr>
          <p:cNvPr id="93" name="Picture 3" descr="A diagram of a tunnel&#10;&#10;AI-generated content may be incorrect."/>
          <p:cNvPicPr/>
          <p:nvPr/>
        </p:nvPicPr>
        <p:blipFill>
          <a:blip r:embed="rId2"/>
          <a:stretch/>
        </p:blipFill>
        <p:spPr>
          <a:xfrm>
            <a:off x="191520" y="2050920"/>
            <a:ext cx="3927240" cy="35035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0" y="0"/>
            <a:ext cx="4118040" cy="156708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95" name="PlaceHolder 2"/>
          <p:cNvSpPr>
            <a:spLocks noGrp="1"/>
          </p:cNvSpPr>
          <p:nvPr>
            <p:ph/>
          </p:nvPr>
        </p:nvSpPr>
        <p:spPr>
          <a:xfrm>
            <a:off x="4390560" y="137880"/>
            <a:ext cx="7579800" cy="6462000"/>
          </a:xfrm>
          <a:prstGeom prst="rect">
            <a:avLst/>
          </a:prstGeom>
          <a:noFill/>
          <a:ln w="0">
            <a:noFill/>
          </a:ln>
        </p:spPr>
        <p:txBody>
          <a:bodyPr lIns="91440" tIns="45720" rIns="91440" bIns="45720" anchor="t">
            <a:normAutofit fontScale="92500" lnSpcReduction="9999"/>
          </a:bodyPr>
          <a:p>
            <a:pPr marL="228600" lvl="2" indent="-228600" algn="l" defTabSz="914400">
              <a:lnSpc>
                <a:spcPct val="90000"/>
              </a:lnSpc>
              <a:spcBef>
                <a:spcPts val="499"/>
              </a:spcBef>
              <a:buClr>
                <a:srgbClr val="000000"/>
              </a:buClr>
              <a:buFont typeface="Arial"/>
              <a:buChar char="•"/>
            </a:pPr>
            <a:r>
              <a:rPr lang="en-US" sz="2400" b="1" u="none" strike="noStrike">
                <a:solidFill>
                  <a:schemeClr val="dk1"/>
                </a:solidFill>
                <a:effectLst/>
                <a:uFillTx/>
                <a:latin typeface="Aptos"/>
              </a:rPr>
              <a:t>Main Mode (MM) : </a:t>
            </a:r>
            <a:r>
              <a:rPr lang="en-US" sz="2400" b="0" u="none" strike="noStrike">
                <a:solidFill>
                  <a:schemeClr val="dk1"/>
                </a:solidFill>
                <a:effectLst/>
                <a:uFillTx/>
                <a:latin typeface="Aptos"/>
              </a:rPr>
              <a:t>Six messages exchanged between pairs to establish ISAKMP SA.</a:t>
            </a:r>
            <a:endParaRPr lang="en-US" sz="2400" b="0" u="none" strike="noStrike">
              <a:solidFill>
                <a:schemeClr val="dk1"/>
              </a:solidFill>
              <a:effectLst/>
              <a:uFillTx/>
              <a:latin typeface="Aptos"/>
            </a:endParaRPr>
          </a:p>
          <a:p>
            <a:pPr marL="228600" lvl="2" indent="-228600" algn="l" defTabSz="914400">
              <a:lnSpc>
                <a:spcPct val="90000"/>
              </a:lnSpc>
              <a:spcBef>
                <a:spcPts val="499"/>
              </a:spcBef>
              <a:buClr>
                <a:srgbClr val="000000"/>
              </a:buClr>
              <a:buFont typeface="Arial"/>
              <a:buChar char="•"/>
            </a:pPr>
            <a:r>
              <a:rPr lang="en-US" sz="2400" b="1" u="none" strike="noStrike">
                <a:solidFill>
                  <a:schemeClr val="dk1"/>
                </a:solidFill>
                <a:effectLst/>
                <a:uFillTx/>
                <a:latin typeface="Aptos"/>
              </a:rPr>
              <a:t>MM1</a:t>
            </a:r>
            <a:r>
              <a:rPr lang="en-US" sz="2400" b="0" u="none" strike="noStrike">
                <a:solidFill>
                  <a:schemeClr val="dk1"/>
                </a:solidFill>
                <a:effectLst/>
                <a:uFillTx/>
                <a:latin typeface="Aptos"/>
              </a:rPr>
              <a:t>: First </a:t>
            </a:r>
            <a:r>
              <a:rPr lang="en-US" sz="2400" b="0" u="none" strike="noStrike">
                <a:solidFill>
                  <a:schemeClr val="dk1"/>
                </a:solidFill>
                <a:effectLst/>
                <a:uFillTx/>
                <a:latin typeface="Aptos"/>
                <a:ea typeface="Aptos"/>
              </a:rPr>
              <a:t>message initiator (Init SPI : random value)  sends to responder (resp SPI: all zeroes) that includes one or more proposals defined as ISAKMP policy. Responder should match at least one proposal. The Policy contains: </a:t>
            </a:r>
            <a:endParaRPr lang="en-US" sz="2400" b="0" u="none" strike="noStrike">
              <a:solidFill>
                <a:schemeClr val="dk1"/>
              </a:solidFill>
              <a:effectLst/>
              <a:uFillTx/>
              <a:latin typeface="Aptos"/>
            </a:endParaRPr>
          </a:p>
          <a:p>
            <a:pPr marL="685800" lvl="1" indent="-28584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ea typeface="Aptos"/>
              </a:rPr>
              <a:t>An </a:t>
            </a:r>
            <a:r>
              <a:rPr lang="en-US" sz="2000" b="1" u="none" strike="noStrike">
                <a:solidFill>
                  <a:schemeClr val="dk1"/>
                </a:solidFill>
                <a:effectLst/>
                <a:uFillTx/>
                <a:latin typeface="Aptos"/>
                <a:ea typeface="Aptos"/>
              </a:rPr>
              <a:t>encryption</a:t>
            </a:r>
            <a:r>
              <a:rPr lang="en-US" sz="2000" b="0" u="none" strike="noStrike">
                <a:solidFill>
                  <a:schemeClr val="dk1"/>
                </a:solidFill>
                <a:effectLst/>
                <a:uFillTx/>
                <a:latin typeface="Aptos"/>
                <a:ea typeface="Aptos"/>
              </a:rPr>
              <a:t> method, to protect the data and ensure privacy. (AES 256, AES 384)</a:t>
            </a:r>
            <a:endParaRPr lang="en-US" sz="2000" b="0" u="none" strike="noStrike">
              <a:solidFill>
                <a:schemeClr val="dk1"/>
              </a:solidFill>
              <a:effectLst/>
              <a:uFillTx/>
              <a:latin typeface="Aptos"/>
            </a:endParaRPr>
          </a:p>
          <a:p>
            <a:pPr marL="685800" lvl="1" indent="-28584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ea typeface="Aptos"/>
              </a:rPr>
              <a:t>An </a:t>
            </a:r>
            <a:r>
              <a:rPr lang="en-US" sz="2000" b="1" u="none" strike="noStrike">
                <a:solidFill>
                  <a:schemeClr val="dk1"/>
                </a:solidFill>
                <a:effectLst/>
                <a:uFillTx/>
                <a:latin typeface="Aptos"/>
                <a:ea typeface="Aptos"/>
              </a:rPr>
              <a:t>authentication</a:t>
            </a:r>
            <a:r>
              <a:rPr lang="en-US" sz="2000" b="0" u="none" strike="noStrike">
                <a:solidFill>
                  <a:schemeClr val="dk1"/>
                </a:solidFill>
                <a:effectLst/>
                <a:uFillTx/>
                <a:latin typeface="Aptos"/>
                <a:ea typeface="Aptos"/>
              </a:rPr>
              <a:t> method (Pre-shared key or digital certificates)</a:t>
            </a:r>
            <a:endParaRPr lang="en-US" sz="2000" b="0" u="none" strike="noStrike">
              <a:solidFill>
                <a:schemeClr val="dk1"/>
              </a:solidFill>
              <a:effectLst/>
              <a:uFillTx/>
              <a:latin typeface="Aptos"/>
            </a:endParaRPr>
          </a:p>
          <a:p>
            <a:pPr marL="685800" lvl="1" indent="-28584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ea typeface="Aptos"/>
              </a:rPr>
              <a:t>A </a:t>
            </a:r>
            <a:r>
              <a:rPr lang="en-US" sz="2000" b="1" u="none" strike="noStrike">
                <a:solidFill>
                  <a:schemeClr val="dk1"/>
                </a:solidFill>
                <a:effectLst/>
                <a:uFillTx/>
                <a:latin typeface="Aptos"/>
                <a:ea typeface="Aptos"/>
              </a:rPr>
              <a:t>Hashed</a:t>
            </a:r>
            <a:r>
              <a:rPr lang="en-US" sz="2000" b="0" u="none" strike="noStrike">
                <a:solidFill>
                  <a:schemeClr val="dk1"/>
                </a:solidFill>
                <a:effectLst/>
                <a:uFillTx/>
                <a:latin typeface="Aptos"/>
                <a:ea typeface="Aptos"/>
              </a:rPr>
              <a:t> Message Authentication Codes (HMAC) method to ensure the identity of the sender, and to ensure that the message has not been modified in transit. (SHA1)</a:t>
            </a:r>
            <a:endParaRPr lang="en-US" sz="2000" b="0" u="none" strike="noStrike">
              <a:solidFill>
                <a:schemeClr val="dk1"/>
              </a:solidFill>
              <a:effectLst/>
              <a:uFillTx/>
              <a:latin typeface="Aptos"/>
            </a:endParaRPr>
          </a:p>
          <a:p>
            <a:pPr marL="685800" lvl="1" indent="-28584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ea typeface="Aptos"/>
              </a:rPr>
              <a:t>A </a:t>
            </a:r>
            <a:r>
              <a:rPr lang="en-US" sz="2000" b="1" u="none" strike="noStrike">
                <a:solidFill>
                  <a:schemeClr val="dk1"/>
                </a:solidFill>
                <a:effectLst/>
                <a:uFillTx/>
                <a:latin typeface="Aptos"/>
                <a:ea typeface="Aptos"/>
              </a:rPr>
              <a:t>Diffie-Hellman group</a:t>
            </a:r>
            <a:r>
              <a:rPr lang="en-US" sz="2000" b="0" u="none" strike="noStrike">
                <a:solidFill>
                  <a:schemeClr val="dk1"/>
                </a:solidFill>
                <a:effectLst/>
                <a:uFillTx/>
                <a:latin typeface="Aptos"/>
                <a:ea typeface="Aptos"/>
              </a:rPr>
              <a:t> to determine the strength of the encryption-key-determination algorithm. The security appliance uses this algorithm to derive the encryption and hash keys. (DH Group 14)</a:t>
            </a:r>
            <a:endParaRPr lang="en-US" sz="2000" b="0" u="none" strike="noStrike">
              <a:solidFill>
                <a:schemeClr val="dk1"/>
              </a:solidFill>
              <a:effectLst/>
              <a:uFillTx/>
              <a:latin typeface="Aptos"/>
            </a:endParaRPr>
          </a:p>
          <a:p>
            <a:pPr marL="685800" lvl="1" indent="-28584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ea typeface="Aptos"/>
              </a:rPr>
              <a:t>A </a:t>
            </a:r>
            <a:r>
              <a:rPr lang="en-US" sz="2000" b="1" u="none" strike="noStrike">
                <a:solidFill>
                  <a:schemeClr val="dk1"/>
                </a:solidFill>
                <a:effectLst/>
                <a:uFillTx/>
                <a:latin typeface="Aptos"/>
                <a:ea typeface="Aptos"/>
              </a:rPr>
              <a:t>limit to the time</a:t>
            </a:r>
            <a:r>
              <a:rPr lang="en-US" sz="2000" b="0" u="none" strike="noStrike">
                <a:solidFill>
                  <a:schemeClr val="dk1"/>
                </a:solidFill>
                <a:effectLst/>
                <a:uFillTx/>
                <a:latin typeface="Aptos"/>
                <a:ea typeface="Aptos"/>
              </a:rPr>
              <a:t> the security appliance uses an encryption key before it gets replaced. This does not need to be same on both peers. One with less lifetime is used.</a:t>
            </a:r>
            <a:endParaRPr lang="en-US" sz="2000" b="0" u="none" strike="noStrike">
              <a:solidFill>
                <a:schemeClr val="dk1"/>
              </a:solidFill>
              <a:effectLst/>
              <a:uFillTx/>
              <a:latin typeface="Aptos"/>
            </a:endParaRPr>
          </a:p>
          <a:p>
            <a:pPr indent="0" algn="l" defTabSz="914400">
              <a:lnSpc>
                <a:spcPct val="90000"/>
              </a:lnSpc>
              <a:spcBef>
                <a:spcPts val="499"/>
              </a:spcBef>
              <a:buNone/>
            </a:pPr>
            <a:endParaRPr lang="en-US" sz="2000" b="0" u="none" strike="noStrike">
              <a:solidFill>
                <a:schemeClr val="dk1"/>
              </a:solidFill>
              <a:effectLst/>
              <a:uFillTx/>
              <a:latin typeface="Aptos"/>
            </a:endParaRPr>
          </a:p>
        </p:txBody>
      </p:sp>
      <p:pic>
        <p:nvPicPr>
          <p:cNvPr id="96" name="Picture 4"/>
          <p:cNvPicPr/>
          <p:nvPr/>
        </p:nvPicPr>
        <p:blipFill>
          <a:blip r:embed="rId1"/>
          <a:stretch/>
        </p:blipFill>
        <p:spPr>
          <a:xfrm>
            <a:off x="-1440" y="1713960"/>
            <a:ext cx="4124880" cy="425016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0" y="0"/>
            <a:ext cx="4118040" cy="156708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98" name="PlaceHolder 2"/>
          <p:cNvSpPr>
            <a:spLocks noGrp="1"/>
          </p:cNvSpPr>
          <p:nvPr>
            <p:ph/>
          </p:nvPr>
        </p:nvSpPr>
        <p:spPr>
          <a:xfrm>
            <a:off x="4390560" y="137880"/>
            <a:ext cx="7579800" cy="6462000"/>
          </a:xfrm>
          <a:prstGeom prst="rect">
            <a:avLst/>
          </a:prstGeom>
          <a:noFill/>
          <a:ln w="0">
            <a:noFill/>
          </a:ln>
        </p:spPr>
        <p:txBody>
          <a:bodyPr lIns="91440" tIns="45720" rIns="91440" bIns="45720" anchor="t">
            <a:normAutofit/>
          </a:bodyPr>
          <a:p>
            <a:pPr indent="0" algn="l" defTabSz="914400">
              <a:lnSpc>
                <a:spcPct val="90000"/>
              </a:lnSpc>
              <a:spcBef>
                <a:spcPts val="499"/>
              </a:spcBef>
              <a:buNone/>
              <a:tabLst>
                <a:tab pos="0" algn="l"/>
              </a:tabLst>
            </a:pPr>
            <a:r>
              <a:rPr lang="en-US" sz="2500" b="1" u="none" strike="noStrike">
                <a:solidFill>
                  <a:schemeClr val="dk1"/>
                </a:solidFill>
                <a:effectLst/>
                <a:uFillTx/>
                <a:latin typeface="Aptos"/>
              </a:rPr>
              <a:t>MM2</a:t>
            </a:r>
            <a:r>
              <a:rPr lang="en-US" sz="2500" b="0" u="none" strike="noStrike">
                <a:solidFill>
                  <a:schemeClr val="dk1"/>
                </a:solidFill>
                <a:effectLst/>
                <a:uFillTx/>
                <a:latin typeface="Aptos"/>
              </a:rPr>
              <a:t>: </a:t>
            </a:r>
            <a:r>
              <a:rPr lang="en-US" sz="2500" b="0" u="none" strike="noStrike">
                <a:solidFill>
                  <a:schemeClr val="dk1"/>
                </a:solidFill>
                <a:effectLst/>
                <a:uFillTx/>
                <a:latin typeface="Aptos"/>
                <a:ea typeface="Aptos"/>
              </a:rPr>
              <a:t>Responder sends the selected policy for the proposals matched, and the responder SPI is set to a random value.</a:t>
            </a:r>
            <a:endParaRPr lang="en-US" sz="25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2500" b="1" u="none" strike="noStrike">
                <a:solidFill>
                  <a:schemeClr val="dk1"/>
                </a:solidFill>
                <a:effectLst/>
                <a:uFillTx/>
                <a:latin typeface="Aptos"/>
                <a:ea typeface="Aptos"/>
              </a:rPr>
              <a:t>MM3:</a:t>
            </a:r>
            <a:r>
              <a:rPr lang="en-US" sz="2500" b="0" u="none" strike="noStrike">
                <a:solidFill>
                  <a:schemeClr val="dk1"/>
                </a:solidFill>
                <a:effectLst/>
                <a:uFillTx/>
                <a:latin typeface="Aptos"/>
                <a:ea typeface="Aptos"/>
              </a:rPr>
              <a:t>  Based on responder match in MM2, Initiator starts DH key exchange.</a:t>
            </a:r>
            <a:endParaRPr lang="en-US" sz="25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2300" b="1" u="none" strike="noStrike">
                <a:solidFill>
                  <a:schemeClr val="dk1"/>
                </a:solidFill>
                <a:effectLst/>
                <a:uFillTx/>
                <a:latin typeface="Aptos"/>
                <a:ea typeface="Aptos"/>
              </a:rPr>
              <a:t>MM4: </a:t>
            </a:r>
            <a:r>
              <a:rPr lang="en-US" sz="2500" b="0" u="none" strike="noStrike">
                <a:solidFill>
                  <a:schemeClr val="dk1"/>
                </a:solidFill>
                <a:effectLst/>
                <a:uFillTx/>
                <a:latin typeface="Aptos"/>
                <a:ea typeface="Aptos"/>
              </a:rPr>
              <a:t>Responder sends its own DH public key to initiator. Both peer calculate symmetric DH key after this step.</a:t>
            </a:r>
            <a:endParaRPr lang="en-US" sz="25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2500" b="1" u="none" strike="noStrike">
                <a:solidFill>
                  <a:schemeClr val="dk1"/>
                </a:solidFill>
                <a:effectLst/>
                <a:uFillTx/>
                <a:latin typeface="Aptos"/>
                <a:ea typeface="Aptos"/>
              </a:rPr>
              <a:t>MM5:</a:t>
            </a:r>
            <a:r>
              <a:rPr lang="en-US" sz="2500" b="0" u="none" strike="noStrike">
                <a:solidFill>
                  <a:schemeClr val="dk1"/>
                </a:solidFill>
                <a:effectLst/>
                <a:uFillTx/>
                <a:latin typeface="Aptos"/>
                <a:ea typeface="Aptos"/>
              </a:rPr>
              <a:t> Initiator Authenticates itself with responder by sending it's ID/IP address and agreed authentication parameters in MM1 and MM2. This message is encrypted with symmetric DH key generated in above step.</a:t>
            </a:r>
            <a:endParaRPr lang="en-US" sz="25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2500" b="1" u="none" strike="noStrike">
                <a:solidFill>
                  <a:schemeClr val="dk1"/>
                </a:solidFill>
                <a:effectLst/>
                <a:uFillTx/>
                <a:latin typeface="Aptos"/>
                <a:ea typeface="Aptos"/>
              </a:rPr>
              <a:t>MM6:</a:t>
            </a:r>
            <a:r>
              <a:rPr lang="en-US" sz="2500" b="0" u="none" strike="noStrike">
                <a:solidFill>
                  <a:schemeClr val="dk1"/>
                </a:solidFill>
                <a:effectLst/>
                <a:uFillTx/>
                <a:latin typeface="Aptos"/>
                <a:ea typeface="Aptos"/>
              </a:rPr>
              <a:t> Responder authenticates itself by sending exactly same encrypted packet as MM5 to initiator but with its own parameters.</a:t>
            </a:r>
            <a:endParaRPr lang="en-US" sz="2500" b="0" u="none" strike="noStrike">
              <a:solidFill>
                <a:schemeClr val="dk1"/>
              </a:solidFill>
              <a:effectLst/>
              <a:uFillTx/>
              <a:latin typeface="Aptos"/>
            </a:endParaRPr>
          </a:p>
        </p:txBody>
      </p:sp>
      <p:pic>
        <p:nvPicPr>
          <p:cNvPr id="99" name="Picture 4"/>
          <p:cNvPicPr/>
          <p:nvPr/>
        </p:nvPicPr>
        <p:blipFill>
          <a:blip r:embed="rId1"/>
          <a:stretch/>
        </p:blipFill>
        <p:spPr>
          <a:xfrm>
            <a:off x="49320" y="1713960"/>
            <a:ext cx="4139280" cy="3996000"/>
          </a:xfrm>
          <a:prstGeom prst="rect">
            <a:avLst/>
          </a:prstGeom>
          <a:noFill/>
          <a:ln w="0">
            <a:noFill/>
          </a:ln>
        </p:spPr>
      </p:pic>
      <p:sp>
        <p:nvSpPr>
          <p:cNvPr id="100" name="TextBox 3"/>
          <p:cNvSpPr/>
          <p:nvPr/>
        </p:nvSpPr>
        <p:spPr>
          <a:xfrm>
            <a:off x="223560" y="5954040"/>
            <a:ext cx="2359080" cy="64584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lang="en-US" sz="1200" b="1" u="none" strike="noStrike">
                <a:solidFill>
                  <a:schemeClr val="dk1"/>
                </a:solidFill>
                <a:effectLst/>
                <a:uFillTx/>
                <a:latin typeface="Aptos"/>
              </a:rPr>
              <a:t>VID</a:t>
            </a:r>
            <a:r>
              <a:rPr lang="en-US" sz="1200" b="0" u="none" strike="noStrike">
                <a:solidFill>
                  <a:schemeClr val="dk1"/>
                </a:solidFill>
                <a:effectLst/>
                <a:uFillTx/>
                <a:latin typeface="Aptos"/>
              </a:rPr>
              <a:t>: Vendor ID (feature support)</a:t>
            </a:r>
            <a:endParaRPr lang="en-AU" sz="1200" b="0" u="none" strike="noStrike">
              <a:solidFill>
                <a:srgbClr val="000000"/>
              </a:solidFill>
              <a:effectLst/>
              <a:uFillTx/>
              <a:latin typeface="Arial"/>
            </a:endParaRPr>
          </a:p>
          <a:p>
            <a:pPr defTabSz="914400">
              <a:lnSpc>
                <a:spcPct val="100000"/>
              </a:lnSpc>
            </a:pPr>
            <a:r>
              <a:rPr lang="en-US" sz="1200" b="1" u="none" strike="noStrike">
                <a:solidFill>
                  <a:schemeClr val="dk1"/>
                </a:solidFill>
                <a:effectLst/>
                <a:uFillTx/>
                <a:latin typeface="Aptos"/>
              </a:rPr>
              <a:t>KE</a:t>
            </a:r>
            <a:r>
              <a:rPr lang="en-US" sz="1200" b="0" u="none" strike="noStrike">
                <a:solidFill>
                  <a:schemeClr val="dk1"/>
                </a:solidFill>
                <a:effectLst/>
                <a:uFillTx/>
                <a:latin typeface="Aptos"/>
              </a:rPr>
              <a:t>: Key Exchange</a:t>
            </a:r>
            <a:endParaRPr lang="en-AU" sz="1200" b="0" u="none" strike="noStrike">
              <a:solidFill>
                <a:srgbClr val="000000"/>
              </a:solidFill>
              <a:effectLst/>
              <a:uFillTx/>
              <a:latin typeface="Arial"/>
            </a:endParaRPr>
          </a:p>
          <a:p>
            <a:pPr defTabSz="914400">
              <a:lnSpc>
                <a:spcPct val="100000"/>
              </a:lnSpc>
            </a:pPr>
            <a:r>
              <a:rPr lang="en-US" sz="1200" b="1" u="none" strike="noStrike">
                <a:solidFill>
                  <a:schemeClr val="dk1"/>
                </a:solidFill>
                <a:effectLst/>
                <a:uFillTx/>
                <a:latin typeface="Aptos"/>
              </a:rPr>
              <a:t>IDi</a:t>
            </a:r>
            <a:r>
              <a:rPr lang="en-US" sz="1200" b="0" u="none" strike="noStrike">
                <a:solidFill>
                  <a:schemeClr val="dk1"/>
                </a:solidFill>
                <a:effectLst/>
                <a:uFillTx/>
                <a:latin typeface="Aptos"/>
              </a:rPr>
              <a:t>/</a:t>
            </a:r>
            <a:r>
              <a:rPr lang="en-US" sz="1200" b="1" u="none" strike="noStrike">
                <a:solidFill>
                  <a:schemeClr val="dk1"/>
                </a:solidFill>
                <a:effectLst/>
                <a:uFillTx/>
                <a:latin typeface="Aptos"/>
              </a:rPr>
              <a:t>IDr</a:t>
            </a:r>
            <a:r>
              <a:rPr lang="en-US" sz="1200" b="0" u="none" strike="noStrike">
                <a:solidFill>
                  <a:schemeClr val="dk1"/>
                </a:solidFill>
                <a:effectLst/>
                <a:uFillTx/>
                <a:latin typeface="Aptos"/>
              </a:rPr>
              <a:t>: ID initiator, ID responder</a:t>
            </a:r>
            <a:endParaRPr lang="en-AU"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0"/>
            <a:ext cx="4118040" cy="156708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102" name="PlaceHolder 2"/>
          <p:cNvSpPr>
            <a:spLocks noGrp="1"/>
          </p:cNvSpPr>
          <p:nvPr>
            <p:ph/>
          </p:nvPr>
        </p:nvSpPr>
        <p:spPr>
          <a:xfrm>
            <a:off x="4673520" y="478800"/>
            <a:ext cx="7260480" cy="5852520"/>
          </a:xfrm>
          <a:prstGeom prst="rect">
            <a:avLst/>
          </a:prstGeom>
          <a:noFill/>
          <a:ln w="0">
            <a:noFill/>
          </a:ln>
        </p:spPr>
        <p:txBody>
          <a:bodyPr lIns="91440" tIns="45720" rIns="91440" bIns="45720" anchor="t">
            <a:normAutofit fontScale="92500" lnSpcReduction="9999"/>
          </a:bodyPr>
          <a:p>
            <a:pPr indent="0" algn="l" defTabSz="914400">
              <a:lnSpc>
                <a:spcPct val="90000"/>
              </a:lnSpc>
              <a:spcBef>
                <a:spcPts val="499"/>
              </a:spcBef>
              <a:buNone/>
              <a:tabLst>
                <a:tab pos="0" algn="l"/>
              </a:tabLst>
            </a:pPr>
            <a:r>
              <a:rPr lang="en-US" sz="2400" b="1" u="none" strike="noStrike">
                <a:solidFill>
                  <a:schemeClr val="dk1"/>
                </a:solidFill>
                <a:effectLst/>
                <a:uFillTx/>
                <a:latin typeface="Aptos"/>
              </a:rPr>
              <a:t>Aggressive Mode (AM) : </a:t>
            </a:r>
            <a:r>
              <a:rPr lang="en-US" sz="2400" b="0" u="none" strike="noStrike">
                <a:solidFill>
                  <a:schemeClr val="dk1"/>
                </a:solidFill>
                <a:effectLst/>
                <a:uFillTx/>
                <a:latin typeface="Aptos"/>
              </a:rPr>
              <a:t>6 messages from MM are compressed into</a:t>
            </a:r>
            <a:r>
              <a:rPr lang="en-US" sz="2400" b="1" u="none" strike="noStrike">
                <a:solidFill>
                  <a:schemeClr val="dk1"/>
                </a:solidFill>
                <a:effectLst/>
                <a:uFillTx/>
                <a:latin typeface="Aptos"/>
              </a:rPr>
              <a:t> </a:t>
            </a:r>
            <a:r>
              <a:rPr lang="en-US" sz="2400" b="0" u="none" strike="noStrike">
                <a:solidFill>
                  <a:schemeClr val="dk1"/>
                </a:solidFill>
                <a:effectLst/>
                <a:uFillTx/>
                <a:latin typeface="Aptos"/>
              </a:rPr>
              <a:t>3 message exchanges between peers to establish ISAKMP SA. </a:t>
            </a: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2400" b="1" u="none" strike="noStrike">
                <a:solidFill>
                  <a:schemeClr val="dk1"/>
                </a:solidFill>
                <a:effectLst/>
                <a:uFillTx/>
                <a:latin typeface="Aptos"/>
              </a:rPr>
              <a:t>AM1:</a:t>
            </a:r>
            <a:r>
              <a:rPr lang="en-US" sz="2400" b="0" u="none" strike="noStrike">
                <a:solidFill>
                  <a:schemeClr val="dk1"/>
                </a:solidFill>
                <a:effectLst/>
                <a:uFillTx/>
                <a:latin typeface="Aptos"/>
              </a:rPr>
              <a:t> Initiator combines information sent in MM1, MM2, MM3 &amp; MM5 and sends it as AM1.</a:t>
            </a: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2400" b="1" u="none" strike="noStrike">
                <a:solidFill>
                  <a:schemeClr val="dk1"/>
                </a:solidFill>
                <a:effectLst/>
                <a:uFillTx/>
                <a:latin typeface="Aptos"/>
              </a:rPr>
              <a:t>AM2:</a:t>
            </a:r>
            <a:r>
              <a:rPr lang="en-US" sz="2400" b="0" u="none" strike="noStrike">
                <a:solidFill>
                  <a:schemeClr val="dk1"/>
                </a:solidFill>
                <a:effectLst/>
                <a:uFillTx/>
                <a:latin typeface="Aptos"/>
              </a:rPr>
              <a:t> Responder combines information sent in MM2,MM4 and MM6 and sends it as AM2. Both peers can create DH secret key after this message exchange. IDr and AUTH unencrypted.</a:t>
            </a: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2400" b="1" u="none" strike="noStrike">
                <a:solidFill>
                  <a:schemeClr val="dk1"/>
                </a:solidFill>
                <a:effectLst/>
                <a:uFillTx/>
                <a:latin typeface="Aptos"/>
              </a:rPr>
              <a:t>AM3:</a:t>
            </a:r>
            <a:r>
              <a:rPr lang="en-US" sz="2400" b="0" u="none" strike="noStrike">
                <a:solidFill>
                  <a:schemeClr val="dk1"/>
                </a:solidFill>
                <a:effectLst/>
                <a:uFillTx/>
                <a:latin typeface="Aptos"/>
              </a:rPr>
              <a:t> Initiator sends its ID and authentication parameter to authenticate. Packet similar to MM5. </a:t>
            </a: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r>
              <a:rPr lang="en-US" sz="2400" b="0" u="none" strike="noStrike">
                <a:solidFill>
                  <a:schemeClr val="dk1"/>
                </a:solidFill>
                <a:effectLst/>
                <a:uFillTx/>
                <a:latin typeface="Aptos"/>
              </a:rPr>
              <a:t>Aggressive mode is quicker than Main Mode, but sends ID and authentication parameters in clear text.</a:t>
            </a: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1900" b="0" u="none" strike="noStrike">
              <a:solidFill>
                <a:schemeClr val="dk1"/>
              </a:solidFill>
              <a:effectLst/>
              <a:uFillTx/>
              <a:latin typeface="Aptos"/>
            </a:endParaRPr>
          </a:p>
        </p:txBody>
      </p:sp>
      <p:pic>
        <p:nvPicPr>
          <p:cNvPr id="103" name="Picture 5"/>
          <p:cNvPicPr/>
          <p:nvPr/>
        </p:nvPicPr>
        <p:blipFill>
          <a:blip r:embed="rId1"/>
          <a:stretch/>
        </p:blipFill>
        <p:spPr>
          <a:xfrm>
            <a:off x="1440" y="1892160"/>
            <a:ext cx="4518000" cy="44373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0" y="5050800"/>
            <a:ext cx="4517280" cy="18068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105" name="PlaceHolder 2"/>
          <p:cNvSpPr>
            <a:spLocks noGrp="1"/>
          </p:cNvSpPr>
          <p:nvPr>
            <p:ph/>
          </p:nvPr>
        </p:nvSpPr>
        <p:spPr>
          <a:xfrm>
            <a:off x="384480" y="239400"/>
            <a:ext cx="11433240" cy="3428640"/>
          </a:xfrm>
          <a:prstGeom prst="rect">
            <a:avLst/>
          </a:prstGeom>
          <a:noFill/>
          <a:ln w="0">
            <a:noFill/>
          </a:ln>
        </p:spPr>
        <p:txBody>
          <a:bodyPr lIns="91440" tIns="45720" rIns="91440" bIns="45720" anchor="t">
            <a:normAutofit fontScale="70000" lnSpcReduction="19999"/>
          </a:bodyPr>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Quick Mode (QM) : </a:t>
            </a:r>
            <a:r>
              <a:rPr lang="en-US" sz="2400" b="0" u="none" strike="noStrike">
                <a:solidFill>
                  <a:schemeClr val="dk1"/>
                </a:solidFill>
                <a:effectLst/>
                <a:uFillTx/>
                <a:latin typeface="Aptos"/>
              </a:rPr>
              <a:t>After phase 1 is completed,</a:t>
            </a:r>
            <a:r>
              <a:rPr lang="en-US" sz="2400" b="1" u="none" strike="noStrike">
                <a:solidFill>
                  <a:schemeClr val="dk1"/>
                </a:solidFill>
                <a:effectLst/>
                <a:uFillTx/>
                <a:latin typeface="Aptos"/>
              </a:rPr>
              <a:t> </a:t>
            </a:r>
            <a:r>
              <a:rPr lang="en-US" sz="2400" b="0" u="none" strike="noStrike">
                <a:solidFill>
                  <a:schemeClr val="dk1"/>
                </a:solidFill>
                <a:effectLst/>
                <a:uFillTx/>
                <a:latin typeface="Aptos"/>
              </a:rPr>
              <a:t> Phase 2 (IPSec SA establishment) is started by exchanging 3 Quick Mode messages. Phase 1 is bidirectional SA, thus any peer can initiate phase 2. After phase 2 is completed, two unidirectional IPSec SAs are created.</a:t>
            </a:r>
            <a:endParaRPr lang="en-US" sz="2400" b="0" u="none" strike="noStrike">
              <a:solidFill>
                <a:schemeClr val="dk1"/>
              </a:solidFill>
              <a:effectLst/>
              <a:uFillTx/>
              <a:latin typeface="Aptos"/>
            </a:endParaRPr>
          </a:p>
          <a:p>
            <a:pPr indent="0" algn="l" defTabSz="914400">
              <a:lnSpc>
                <a:spcPct val="120000"/>
              </a:lnSpc>
              <a:spcBef>
                <a:spcPts val="1001"/>
              </a:spcBef>
              <a:buNone/>
              <a:tabLst>
                <a:tab pos="0" algn="l"/>
              </a:tabLst>
            </a:pPr>
            <a:r>
              <a:rPr lang="en-US" sz="2400" b="1" u="none" strike="noStrike">
                <a:solidFill>
                  <a:schemeClr val="dk1"/>
                </a:solidFill>
                <a:effectLst/>
                <a:uFillTx/>
                <a:latin typeface="Aptos"/>
              </a:rPr>
              <a:t>QM1:</a:t>
            </a:r>
            <a:r>
              <a:rPr lang="en-US" sz="2400" b="0" u="none" strike="noStrike">
                <a:solidFill>
                  <a:schemeClr val="dk1"/>
                </a:solidFill>
                <a:effectLst/>
                <a:uFillTx/>
                <a:latin typeface="Aptos"/>
                <a:ea typeface="Aptos"/>
              </a:rPr>
              <a:t>This message includes agreed-upon algorithms for encryption and integrity decided as part of phase 1, as well as what traffic is to be encrypted or secured .</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1" u="none" strike="noStrike">
                <a:solidFill>
                  <a:schemeClr val="dk1"/>
                </a:solidFill>
                <a:effectLst/>
                <a:uFillTx/>
                <a:latin typeface="Aptos"/>
                <a:ea typeface="Aptos"/>
              </a:rPr>
              <a:t>QM2:</a:t>
            </a:r>
            <a:r>
              <a:rPr lang="en-US" sz="2400" b="0" u="none" strike="noStrike">
                <a:solidFill>
                  <a:schemeClr val="dk1"/>
                </a:solidFill>
                <a:effectLst/>
                <a:uFillTx/>
                <a:latin typeface="Aptos"/>
                <a:ea typeface="Aptos"/>
              </a:rPr>
              <a:t> This message from the responder has matching IPsec parameters</a:t>
            </a:r>
            <a:endParaRPr lang="en-US" sz="2400" b="0" u="none" strike="noStrike">
              <a:solidFill>
                <a:schemeClr val="dk1"/>
              </a:solidFill>
              <a:effectLst/>
              <a:uFillTx/>
              <a:latin typeface="Aptos"/>
            </a:endParaRPr>
          </a:p>
          <a:p>
            <a:pPr indent="0" algn="l" defTabSz="914400">
              <a:lnSpc>
                <a:spcPct val="120000"/>
              </a:lnSpc>
              <a:spcBef>
                <a:spcPts val="1001"/>
              </a:spcBef>
              <a:buNone/>
              <a:tabLst>
                <a:tab pos="0" algn="l"/>
              </a:tabLst>
            </a:pPr>
            <a:r>
              <a:rPr lang="en-US" sz="2400" b="1" u="none" strike="noStrike">
                <a:solidFill>
                  <a:schemeClr val="dk1"/>
                </a:solidFill>
                <a:effectLst/>
                <a:uFillTx/>
                <a:latin typeface="Aptos"/>
                <a:ea typeface="Aptos"/>
              </a:rPr>
              <a:t>QM3:</a:t>
            </a:r>
            <a:r>
              <a:rPr lang="en-US" sz="2400" b="0" u="none" strike="noStrike">
                <a:solidFill>
                  <a:schemeClr val="dk1"/>
                </a:solidFill>
                <a:effectLst/>
                <a:uFillTx/>
                <a:latin typeface="Aptos"/>
                <a:ea typeface="Aptos"/>
              </a:rPr>
              <a:t> After this message, there should be two unidirectional IPsec SAs between the two peers.</a:t>
            </a:r>
            <a:endParaRPr lang="en-US" sz="2400" b="0" u="none" strike="noStrike">
              <a:solidFill>
                <a:schemeClr val="dk1"/>
              </a:solidFill>
              <a:effectLst/>
              <a:uFillTx/>
              <a:latin typeface="Aptos"/>
            </a:endParaRPr>
          </a:p>
          <a:p>
            <a:pPr indent="0" algn="l" defTabSz="914400">
              <a:lnSpc>
                <a:spcPct val="120000"/>
              </a:lnSpc>
              <a:spcBef>
                <a:spcPts val="1001"/>
              </a:spcBef>
              <a:buNone/>
              <a:tabLst>
                <a:tab pos="0" algn="l"/>
              </a:tabLst>
            </a:pPr>
            <a:r>
              <a:rPr lang="en-US" sz="2400" b="0" u="none" strike="noStrike">
                <a:solidFill>
                  <a:schemeClr val="dk1"/>
                </a:solidFill>
                <a:effectLst/>
                <a:uFillTx/>
                <a:latin typeface="Aptos"/>
                <a:ea typeface="Aptos"/>
              </a:rPr>
              <a:t>Perfect Forward Secrecy (PFS) is a key generation mechanism that is independent of previously generated keys. Thus, even if any previous keys were compromised no future keys will be compromised.</a:t>
            </a:r>
            <a:endParaRPr lang="en-US" sz="2400" b="0" u="none" strike="noStrike">
              <a:solidFill>
                <a:schemeClr val="dk1"/>
              </a:solidFill>
              <a:effectLst/>
              <a:uFillTx/>
              <a:latin typeface="Aptos"/>
            </a:endParaRPr>
          </a:p>
        </p:txBody>
      </p:sp>
      <p:pic>
        <p:nvPicPr>
          <p:cNvPr id="106" name="Picture 3" descr="A screenshot of a computer screen&#10;&#10;AI-generated content may be incorrect."/>
          <p:cNvPicPr/>
          <p:nvPr/>
        </p:nvPicPr>
        <p:blipFill>
          <a:blip r:embed="rId1"/>
          <a:stretch/>
        </p:blipFill>
        <p:spPr>
          <a:xfrm>
            <a:off x="6271920" y="3977280"/>
            <a:ext cx="5540400" cy="2538720"/>
          </a:xfrm>
          <a:prstGeom prst="rect">
            <a:avLst/>
          </a:prstGeom>
          <a:noFill/>
          <a:ln w="0">
            <a:noFill/>
          </a:ln>
        </p:spPr>
      </p:pic>
      <p:sp>
        <p:nvSpPr>
          <p:cNvPr id="107" name="TextBox 4"/>
          <p:cNvSpPr/>
          <p:nvPr/>
        </p:nvSpPr>
        <p:spPr>
          <a:xfrm>
            <a:off x="385920" y="3670200"/>
            <a:ext cx="5693400" cy="101520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lang="en-US" sz="2000" b="0" u="none" strike="noStrike">
                <a:solidFill>
                  <a:srgbClr val="000000"/>
                </a:solidFill>
                <a:effectLst/>
                <a:uFillTx/>
                <a:latin typeface="Aptos"/>
              </a:rPr>
              <a:t>Minimum messages to establish secure IPSec SA: </a:t>
            </a:r>
            <a:r>
              <a:rPr lang="en-US" sz="2000" b="0" u="none" strike="noStrike">
                <a:solidFill>
                  <a:schemeClr val="dk1"/>
                </a:solidFill>
                <a:effectLst/>
                <a:uFillTx/>
                <a:latin typeface="Aptos"/>
              </a:rPr>
              <a:t>​</a:t>
            </a:r>
            <a:endParaRPr lang="en-AU" sz="2000" b="0" u="none" strike="noStrike">
              <a:solidFill>
                <a:srgbClr val="000000"/>
              </a:solidFill>
              <a:effectLst/>
              <a:uFillTx/>
              <a:latin typeface="Arial"/>
            </a:endParaRPr>
          </a:p>
          <a:p>
            <a:pPr defTabSz="914400">
              <a:lnSpc>
                <a:spcPct val="100000"/>
              </a:lnSpc>
            </a:pPr>
            <a:r>
              <a:rPr lang="en-US" sz="2000" b="0" u="none" strike="noStrike">
                <a:solidFill>
                  <a:srgbClr val="000000"/>
                </a:solidFill>
                <a:effectLst/>
                <a:uFillTx/>
                <a:latin typeface="Aptos"/>
              </a:rPr>
              <a:t>6 MM and 3 QM  = 9</a:t>
            </a:r>
            <a:r>
              <a:rPr lang="en-US" sz="2000" b="0" u="none" strike="noStrike">
                <a:solidFill>
                  <a:schemeClr val="dk1"/>
                </a:solidFill>
                <a:effectLst/>
                <a:uFillTx/>
                <a:latin typeface="Aptos"/>
              </a:rPr>
              <a:t>​</a:t>
            </a:r>
            <a:endParaRPr lang="en-AU" sz="2000" b="0" u="none" strike="noStrike">
              <a:solidFill>
                <a:srgbClr val="000000"/>
              </a:solidFill>
              <a:effectLst/>
              <a:uFillTx/>
              <a:latin typeface="Arial"/>
            </a:endParaRPr>
          </a:p>
          <a:p>
            <a:pPr defTabSz="914400">
              <a:lnSpc>
                <a:spcPct val="100000"/>
              </a:lnSpc>
            </a:pPr>
            <a:r>
              <a:rPr lang="en-US" sz="2000" b="0" u="none" strike="noStrike">
                <a:solidFill>
                  <a:srgbClr val="000000"/>
                </a:solidFill>
                <a:effectLst/>
                <a:uFillTx/>
                <a:latin typeface="Aptos"/>
              </a:rPr>
              <a:t>3 AM and 3 QM = 6</a:t>
            </a:r>
            <a:endParaRPr lang="en-AU"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0" y="0"/>
            <a:ext cx="3515760" cy="1814040"/>
          </a:xfrm>
          <a:prstGeom prst="rect">
            <a:avLst/>
          </a:prstGeom>
          <a:solidFill>
            <a:schemeClr val="accent2"/>
          </a:solidFill>
          <a:ln w="0">
            <a:noFill/>
          </a:ln>
        </p:spPr>
        <p:txBody>
          <a:bodyPr lIns="91440" tIns="45720" rIns="91440" bIns="45720" anchor="ctr">
            <a:normAutofit lnSpcReduction="9999"/>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109" name="PlaceHolder 2"/>
          <p:cNvSpPr>
            <a:spLocks noGrp="1"/>
          </p:cNvSpPr>
          <p:nvPr>
            <p:ph/>
          </p:nvPr>
        </p:nvSpPr>
        <p:spPr>
          <a:xfrm>
            <a:off x="4129200" y="268560"/>
            <a:ext cx="7913520" cy="6244560"/>
          </a:xfrm>
          <a:prstGeom prst="rect">
            <a:avLst/>
          </a:prstGeom>
          <a:noFill/>
          <a:ln w="0">
            <a:noFill/>
          </a:ln>
        </p:spPr>
        <p:txBody>
          <a:bodyPr lIns="91440" tIns="45720" rIns="91440" bIns="45720" anchor="t">
            <a:normAutofit fontScale="85000" lnSpcReduction="19999"/>
          </a:bodyPr>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IKEv2 : </a:t>
            </a:r>
            <a:r>
              <a:rPr lang="en-US" sz="2400" b="0" u="none" strike="noStrike">
                <a:solidFill>
                  <a:schemeClr val="dk1"/>
                </a:solidFill>
                <a:effectLst/>
                <a:uFillTx/>
                <a:latin typeface="Aptos"/>
              </a:rPr>
              <a:t>Developed to overcome limitations of IKEv1.</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Messages exchanged as request and response pairs.</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Total four messages exchanged to complete both phase 1 and phase 2.</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1" u="none" strike="noStrike">
                <a:solidFill>
                  <a:schemeClr val="dk1"/>
                </a:solidFill>
                <a:effectLst/>
                <a:uFillTx/>
                <a:latin typeface="Aptos"/>
              </a:rPr>
              <a:t>IKE_SA_INIT</a:t>
            </a:r>
            <a:r>
              <a:rPr lang="en-US" sz="2400" b="0" u="none" strike="noStrike">
                <a:solidFill>
                  <a:schemeClr val="dk1"/>
                </a:solidFill>
                <a:effectLst/>
                <a:uFillTx/>
                <a:latin typeface="Aptos"/>
              </a:rPr>
              <a:t> pairs exchanges SA (Cryptographic algo), Key (DH public key), nonce and features supported.</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1" u="none" strike="noStrike">
                <a:solidFill>
                  <a:schemeClr val="dk1"/>
                </a:solidFill>
                <a:effectLst/>
                <a:uFillTx/>
                <a:latin typeface="Aptos"/>
              </a:rPr>
              <a:t>IKE_AUTH</a:t>
            </a:r>
            <a:r>
              <a:rPr lang="en-US" sz="2400" b="0" u="none" strike="noStrike">
                <a:solidFill>
                  <a:schemeClr val="dk1"/>
                </a:solidFill>
                <a:effectLst/>
                <a:uFillTx/>
                <a:latin typeface="Aptos"/>
              </a:rPr>
              <a:t> pairs exchanges IDs, Authentication parameters and Transform Set (TS) encrypted with DH symmetric key derived in first pair exchange.</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With this four messages, it establishes a bidirectional IKE SA and unidirectional child SA (IPSec SA).</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If any further IPSec SAs are required, they exchange </a:t>
            </a:r>
            <a:r>
              <a:rPr lang="en-US" sz="2400" b="1" u="none" strike="noStrike">
                <a:solidFill>
                  <a:schemeClr val="dk1"/>
                </a:solidFill>
                <a:effectLst/>
                <a:uFillTx/>
                <a:latin typeface="Aptos"/>
              </a:rPr>
              <a:t>CREATE_CHILD_SA</a:t>
            </a:r>
            <a:r>
              <a:rPr lang="en-US" sz="2400" b="0" u="none" strike="noStrike">
                <a:solidFill>
                  <a:schemeClr val="dk1"/>
                </a:solidFill>
                <a:effectLst/>
                <a:uFillTx/>
                <a:latin typeface="Aptos"/>
              </a:rPr>
              <a:t> pairs. (request &amp; response)</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For </a:t>
            </a:r>
            <a:r>
              <a:rPr lang="en-US" sz="2400" b="1" u="none" strike="noStrike">
                <a:solidFill>
                  <a:schemeClr val="dk1"/>
                </a:solidFill>
                <a:effectLst/>
                <a:uFillTx/>
                <a:latin typeface="Aptos"/>
              </a:rPr>
              <a:t>N</a:t>
            </a:r>
            <a:r>
              <a:rPr lang="en-US" sz="2400" b="0" u="none" strike="noStrike">
                <a:solidFill>
                  <a:schemeClr val="dk1"/>
                </a:solidFill>
                <a:effectLst/>
                <a:uFillTx/>
                <a:latin typeface="Aptos"/>
              </a:rPr>
              <a:t>otification, SA </a:t>
            </a:r>
            <a:r>
              <a:rPr lang="en-US" sz="2400" b="1" u="none" strike="noStrike">
                <a:solidFill>
                  <a:schemeClr val="dk1"/>
                </a:solidFill>
                <a:effectLst/>
                <a:uFillTx/>
                <a:latin typeface="Aptos"/>
              </a:rPr>
              <a:t>D</a:t>
            </a:r>
            <a:r>
              <a:rPr lang="en-US" sz="2400" b="0" u="none" strike="noStrike">
                <a:solidFill>
                  <a:schemeClr val="dk1"/>
                </a:solidFill>
                <a:effectLst/>
                <a:uFillTx/>
                <a:latin typeface="Aptos"/>
              </a:rPr>
              <a:t>eletion and </a:t>
            </a:r>
            <a:r>
              <a:rPr lang="en-US" sz="2400" b="1" u="none" strike="noStrike">
                <a:solidFill>
                  <a:schemeClr val="dk1"/>
                </a:solidFill>
                <a:effectLst/>
                <a:uFillTx/>
                <a:latin typeface="Aptos"/>
              </a:rPr>
              <a:t>C</a:t>
            </a:r>
            <a:r>
              <a:rPr lang="en-US" sz="2400" b="0" u="none" strike="noStrike">
                <a:solidFill>
                  <a:schemeClr val="dk1"/>
                </a:solidFill>
                <a:effectLst/>
                <a:uFillTx/>
                <a:latin typeface="Aptos"/>
              </a:rPr>
              <a:t>onfiguration during IPSec session, </a:t>
            </a:r>
            <a:r>
              <a:rPr lang="en-US" sz="2400" b="1" u="none" strike="noStrike">
                <a:solidFill>
                  <a:schemeClr val="dk1"/>
                </a:solidFill>
                <a:effectLst/>
                <a:uFillTx/>
                <a:latin typeface="Aptos"/>
              </a:rPr>
              <a:t>INFORMATIONAL</a:t>
            </a:r>
            <a:r>
              <a:rPr lang="en-US" sz="2400" b="0" u="none" strike="noStrike">
                <a:solidFill>
                  <a:schemeClr val="dk1"/>
                </a:solidFill>
                <a:effectLst/>
                <a:uFillTx/>
                <a:latin typeface="Aptos"/>
              </a:rPr>
              <a:t> exchange pairs are used.</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Because of message format and numbers IKEv1 and IKEv2 are incompatible.</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10" name="Picture 5" descr="A diagram of a packet exchange&#10;&#10;AI-generated content may be incorrect."/>
          <p:cNvPicPr/>
          <p:nvPr/>
        </p:nvPicPr>
        <p:blipFill>
          <a:blip r:embed="rId1"/>
          <a:stretch/>
        </p:blipFill>
        <p:spPr>
          <a:xfrm>
            <a:off x="142920" y="2010960"/>
            <a:ext cx="3639960" cy="393156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0"/>
            <a:ext cx="36392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112" name="PlaceHolder 2"/>
          <p:cNvSpPr>
            <a:spLocks noGrp="1"/>
          </p:cNvSpPr>
          <p:nvPr>
            <p:ph/>
          </p:nvPr>
        </p:nvSpPr>
        <p:spPr>
          <a:xfrm>
            <a:off x="3824640" y="297720"/>
            <a:ext cx="8218440" cy="6338880"/>
          </a:xfrm>
          <a:prstGeom prst="rect">
            <a:avLst/>
          </a:prstGeom>
          <a:noFill/>
          <a:ln w="0">
            <a:noFill/>
          </a:ln>
        </p:spPr>
        <p:txBody>
          <a:bodyPr lIns="91440" tIns="45720" rIns="91440" bIns="45720" anchor="t">
            <a:normAutofit fontScale="85000" lnSpcReduction="9999"/>
          </a:bodyPr>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Cisco IPSec VPN Types:</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Site-to-Site IPSec VPN : </a:t>
            </a:r>
            <a:r>
              <a:rPr lang="en-US" sz="2400" b="0" u="none" strike="noStrike">
                <a:solidFill>
                  <a:schemeClr val="dk1"/>
                </a:solidFill>
                <a:effectLst/>
                <a:uFillTx/>
                <a:latin typeface="Aptos"/>
              </a:rPr>
              <a:t>Multivendor support, difficult to manage in large deployments</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Dynamic Multipoint VPN (DMVPN) : </a:t>
            </a:r>
            <a:r>
              <a:rPr lang="en-US" sz="2400" b="0" u="none" strike="noStrike">
                <a:solidFill>
                  <a:schemeClr val="dk1"/>
                </a:solidFill>
                <a:effectLst/>
                <a:uFillTx/>
                <a:latin typeface="Aptos"/>
              </a:rPr>
              <a:t>Simplifies configuration for hub-and-spoke and spoke-to-spoke VPNs. Uses multipoint GRE (mGRE), Next Hop Resolution Protocol (NHRP) and IPSec.</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Group Encrypted Transport (GET) VPN : </a:t>
            </a:r>
            <a:r>
              <a:rPr lang="en-US" sz="2400" b="0" u="none" strike="noStrike">
                <a:solidFill>
                  <a:schemeClr val="dk1"/>
                </a:solidFill>
                <a:effectLst/>
                <a:uFillTx/>
                <a:latin typeface="Aptos"/>
              </a:rPr>
              <a:t>Enterprise grade VPN over private transport network(underlay) such as MPLS. Good for regulatory requirements to encrypt data in private WAN networks.</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FlexVPN : </a:t>
            </a:r>
            <a:r>
              <a:rPr lang="en-US" sz="2400" b="0" u="none" strike="noStrike">
                <a:solidFill>
                  <a:schemeClr val="dk1"/>
                </a:solidFill>
                <a:effectLst/>
                <a:uFillTx/>
                <a:latin typeface="Aptos"/>
              </a:rPr>
              <a:t>IKEv2 based VPN solution that provides variety of VPN topologies (remote access, site-to-site, Hub-and-spoke, and partial meshes spoke-to-spoke).</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Remote VPN : </a:t>
            </a:r>
            <a:r>
              <a:rPr lang="en-US" sz="2400" b="0" u="none" strike="noStrike">
                <a:solidFill>
                  <a:schemeClr val="dk1"/>
                </a:solidFill>
                <a:effectLst/>
                <a:uFillTx/>
                <a:latin typeface="Aptos"/>
              </a:rPr>
              <a:t>Remote workers securely VPN into corporate network. Supported on IOS with FlexVPN, ASA 5500 X and FirePOWER. </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0"/>
            <a:ext cx="372636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114" name="PlaceHolder 2"/>
          <p:cNvSpPr>
            <a:spLocks noGrp="1"/>
          </p:cNvSpPr>
          <p:nvPr>
            <p:ph/>
          </p:nvPr>
        </p:nvSpPr>
        <p:spPr>
          <a:xfrm>
            <a:off x="3824640" y="297720"/>
            <a:ext cx="8218440" cy="6338880"/>
          </a:xfrm>
          <a:prstGeom prst="rect">
            <a:avLst/>
          </a:prstGeom>
          <a:noFill/>
          <a:ln w="0">
            <a:noFill/>
          </a:ln>
        </p:spPr>
        <p:txBody>
          <a:bodyPr lIns="91440" tIns="45720" rIns="91440" bIns="45720" anchor="t">
            <a:normAutofit/>
          </a:bodyPr>
          <a:p>
            <a:pPr indent="0" algn="l" defTabSz="914400">
              <a:lnSpc>
                <a:spcPct val="120000"/>
              </a:lnSpc>
              <a:spcBef>
                <a:spcPts val="499"/>
              </a:spcBef>
              <a:buNone/>
              <a:tabLst>
                <a:tab pos="0" algn="l"/>
              </a:tabLst>
            </a:pPr>
            <a:r>
              <a:rPr lang="en-US" sz="2000" b="1" u="none" strike="noStrike">
                <a:solidFill>
                  <a:schemeClr val="dk1"/>
                </a:solidFill>
                <a:effectLst/>
                <a:uFillTx/>
                <a:latin typeface="Aptos"/>
              </a:rPr>
              <a:t>Site-to-Site IPSec VPN </a:t>
            </a: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000" b="1" u="none" strike="noStrike">
                <a:solidFill>
                  <a:schemeClr val="dk1"/>
                </a:solidFill>
                <a:effectLst/>
                <a:uFillTx/>
                <a:latin typeface="Aptos"/>
              </a:rPr>
              <a:t>GRE over IPSec:</a:t>
            </a:r>
            <a:r>
              <a:rPr lang="en-US" sz="2400" b="1" u="none" strike="noStrike">
                <a:solidFill>
                  <a:schemeClr val="dk1"/>
                </a:solidFill>
                <a:effectLst/>
                <a:uFillTx/>
                <a:latin typeface="Aptos"/>
              </a:rPr>
              <a:t> </a:t>
            </a:r>
            <a:r>
              <a:rPr lang="en-US" sz="1800" b="0" u="none" strike="noStrike">
                <a:solidFill>
                  <a:schemeClr val="dk1"/>
                </a:solidFill>
                <a:effectLst/>
                <a:uFillTx/>
                <a:latin typeface="Aptos"/>
              </a:rPr>
              <a:t>GRE over IPSec with transport mode is used mostly, as there is no double header (GRE IP &amp; IPSec).</a:t>
            </a: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1800" b="0" u="none" strike="noStrike">
                <a:solidFill>
                  <a:schemeClr val="dk1"/>
                </a:solidFill>
                <a:effectLst/>
                <a:uFillTx/>
                <a:latin typeface="Aptos"/>
              </a:rPr>
              <a:t>GRE over IPSec Tunnel mode (IPSec over GRE) has (GRE IP &amp; IPSec header) thus not recommended.</a:t>
            </a: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15" name="Picture 4" descr="A diagram of a network&#10;&#10;AI-generated content may be incorrect."/>
          <p:cNvPicPr/>
          <p:nvPr/>
        </p:nvPicPr>
        <p:blipFill>
          <a:blip r:embed="rId1"/>
          <a:stretch/>
        </p:blipFill>
        <p:spPr>
          <a:xfrm>
            <a:off x="4228560" y="2349720"/>
            <a:ext cx="7508520" cy="442224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0" y="0"/>
            <a:ext cx="36680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IPSec Fundamentals</a:t>
            </a:r>
            <a:endParaRPr lang="en-US" sz="4400" b="0" u="none" strike="noStrike">
              <a:solidFill>
                <a:schemeClr val="dk1"/>
              </a:solidFill>
              <a:effectLst/>
              <a:uFillTx/>
              <a:latin typeface="Aptos Display"/>
            </a:endParaRPr>
          </a:p>
        </p:txBody>
      </p:sp>
      <p:sp>
        <p:nvSpPr>
          <p:cNvPr id="117" name="PlaceHolder 2"/>
          <p:cNvSpPr>
            <a:spLocks noGrp="1"/>
          </p:cNvSpPr>
          <p:nvPr>
            <p:ph/>
          </p:nvPr>
        </p:nvSpPr>
        <p:spPr>
          <a:xfrm>
            <a:off x="3824640" y="297720"/>
            <a:ext cx="8218440" cy="6338880"/>
          </a:xfrm>
          <a:prstGeom prst="rect">
            <a:avLst/>
          </a:prstGeom>
          <a:noFill/>
          <a:ln w="0">
            <a:noFill/>
          </a:ln>
        </p:spPr>
        <p:txBody>
          <a:bodyPr lIns="91440" tIns="45720" rIns="91440" bIns="45720" anchor="t">
            <a:normAutofit lnSpcReduction="9999"/>
          </a:bodyPr>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GRE over IPSec can be configured in two ways:</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1" u="none" strike="noStrike">
                <a:solidFill>
                  <a:schemeClr val="dk1"/>
                </a:solidFill>
                <a:effectLst/>
                <a:uFillTx/>
                <a:latin typeface="Aptos"/>
              </a:rPr>
              <a:t>Using Crypto map : </a:t>
            </a:r>
            <a:r>
              <a:rPr lang="en-US" sz="2400" b="0" u="none" strike="noStrike">
                <a:solidFill>
                  <a:schemeClr val="dk1"/>
                </a:solidFill>
                <a:effectLst/>
                <a:uFillTx/>
                <a:latin typeface="Aptos"/>
              </a:rPr>
              <a:t>This method is old but still deployed. It requires ACLs and Crypto Maps to be created. Which are then applied to physical interfaces (underlay interfaces) of the tunnel.</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1" u="none" strike="noStrike">
                <a:solidFill>
                  <a:schemeClr val="dk1"/>
                </a:solidFill>
                <a:effectLst/>
                <a:uFillTx/>
                <a:latin typeface="Aptos"/>
              </a:rPr>
              <a:t>IPSec profile : </a:t>
            </a:r>
            <a:r>
              <a:rPr lang="en-US" sz="2400" b="0" u="none" strike="noStrike">
                <a:solidFill>
                  <a:schemeClr val="dk1"/>
                </a:solidFill>
                <a:effectLst/>
                <a:uFillTx/>
                <a:latin typeface="Aptos"/>
              </a:rPr>
              <a:t>This is recommended method of creating GRE over IPSec VPN. This method is straight forward as it does not require ACLs and Crypto Maps. IPSec profile is applied under tunnel configuration.</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Static Virtual Tunnel Interface (SVTI) over IPSec:</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0" u="none" strike="noStrike">
                <a:solidFill>
                  <a:schemeClr val="dk1"/>
                </a:solidFill>
                <a:effectLst/>
                <a:uFillTx/>
                <a:latin typeface="Aptos"/>
              </a:rPr>
              <a:t>This VPN tunnel is created with virtual tunnel interface in IPSec over IPv4/IPv6 mode. </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0" u="none" strike="noStrike">
                <a:solidFill>
                  <a:schemeClr val="dk1"/>
                </a:solidFill>
                <a:effectLst/>
                <a:uFillTx/>
                <a:latin typeface="Aptos"/>
              </a:rPr>
              <a:t>The IPSec profile is then applied to VTI.</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0" y="0"/>
            <a:ext cx="362448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a:t>
            </a:r>
            <a:endParaRPr lang="en-US" sz="4400" b="0" u="none" strike="noStrike">
              <a:solidFill>
                <a:schemeClr val="dk1"/>
              </a:solidFill>
              <a:effectLst/>
              <a:uFillTx/>
              <a:latin typeface="Aptos Display"/>
            </a:endParaRPr>
          </a:p>
        </p:txBody>
      </p:sp>
      <p:sp>
        <p:nvSpPr>
          <p:cNvPr id="119" name="PlaceHolder 2"/>
          <p:cNvSpPr>
            <a:spLocks noGrp="1"/>
          </p:cNvSpPr>
          <p:nvPr>
            <p:ph/>
          </p:nvPr>
        </p:nvSpPr>
        <p:spPr>
          <a:xfrm>
            <a:off x="3824640" y="297720"/>
            <a:ext cx="8218440" cy="6338880"/>
          </a:xfrm>
          <a:prstGeom prst="rect">
            <a:avLst/>
          </a:prstGeom>
          <a:noFill/>
          <a:ln w="0">
            <a:noFill/>
          </a:ln>
        </p:spPr>
        <p:txBody>
          <a:bodyPr lIns="91440" tIns="45720" rIns="91440" bIns="45720" anchor="t">
            <a:normAutofit fontScale="85000" lnSpcReduction="9999"/>
          </a:bodyPr>
          <a:p>
            <a:pPr indent="0" algn="l" defTabSz="914400">
              <a:lnSpc>
                <a:spcPct val="120000"/>
              </a:lnSpc>
              <a:spcBef>
                <a:spcPts val="499"/>
              </a:spcBef>
              <a:buNone/>
              <a:tabLst>
                <a:tab pos="0" algn="l"/>
              </a:tabLst>
            </a:pPr>
            <a:r>
              <a:rPr lang="en-US" sz="2400" b="0" u="none" strike="noStrike">
                <a:solidFill>
                  <a:schemeClr val="dk1"/>
                </a:solidFill>
                <a:effectLst/>
                <a:uFillTx/>
                <a:latin typeface="Aptos"/>
              </a:rPr>
              <a:t>A Default-Free Zone (DFZ) is number/collection of routers connected to internet that does not rely on default routes.</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0" u="none" strike="noStrike">
                <a:solidFill>
                  <a:schemeClr val="dk1"/>
                </a:solidFill>
                <a:effectLst/>
                <a:uFillTx/>
                <a:latin typeface="Aptos"/>
              </a:rPr>
              <a:t>Instead they run routing protocol such as BGP and has Full Internet Routing Table (FIRT) updates (around 1 million route entries). </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400" b="1" u="none" strike="noStrike">
                <a:solidFill>
                  <a:schemeClr val="dk1"/>
                </a:solidFill>
                <a:effectLst/>
                <a:uFillTx/>
                <a:latin typeface="Aptos"/>
              </a:rPr>
              <a:t>Challenges</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1" u="none" strike="noStrike">
                <a:solidFill>
                  <a:schemeClr val="dk1"/>
                </a:solidFill>
                <a:effectLst/>
                <a:uFillTx/>
                <a:latin typeface="Aptos"/>
              </a:rPr>
              <a:t>Aggregation Issues: </a:t>
            </a:r>
            <a:r>
              <a:rPr lang="en-US" sz="2400" b="0" u="none" strike="noStrike">
                <a:solidFill>
                  <a:schemeClr val="dk1"/>
                </a:solidFill>
                <a:effectLst/>
                <a:uFillTx/>
                <a:latin typeface="Aptos"/>
              </a:rPr>
              <a:t>Routes on FIRT come from variety of AS, thus cannot be aggregated to reduce IRT size.</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1" u="none" strike="noStrike">
                <a:solidFill>
                  <a:schemeClr val="dk1"/>
                </a:solidFill>
                <a:effectLst/>
                <a:uFillTx/>
                <a:latin typeface="Aptos"/>
              </a:rPr>
              <a:t>Traffic Engineering: </a:t>
            </a:r>
            <a:r>
              <a:rPr lang="en-US" sz="2400" b="0" u="none" strike="noStrike">
                <a:solidFill>
                  <a:schemeClr val="dk1"/>
                </a:solidFill>
                <a:effectLst/>
                <a:uFillTx/>
                <a:latin typeface="Aptos"/>
              </a:rPr>
              <a:t>Injecting more specific routes into FIRT for ingress traffic manipulation makes aggregation harder.</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1" u="none" strike="noStrike">
                <a:solidFill>
                  <a:schemeClr val="dk1"/>
                </a:solidFill>
                <a:effectLst/>
                <a:uFillTx/>
                <a:latin typeface="Aptos"/>
              </a:rPr>
              <a:t>Multihoming: </a:t>
            </a:r>
            <a:r>
              <a:rPr lang="en-US" sz="2400" b="0" u="none" strike="noStrike">
                <a:solidFill>
                  <a:schemeClr val="dk1"/>
                </a:solidFill>
                <a:effectLst/>
                <a:uFillTx/>
                <a:latin typeface="Aptos"/>
              </a:rPr>
              <a:t>Even small site multihoming would require router that can hold FIRT.</a:t>
            </a:r>
            <a:endParaRPr lang="en-US" sz="24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2400" b="1" u="none" strike="noStrike">
                <a:solidFill>
                  <a:schemeClr val="dk1"/>
                </a:solidFill>
                <a:effectLst/>
                <a:uFillTx/>
                <a:latin typeface="Aptos"/>
              </a:rPr>
              <a:t>Routing Instability: </a:t>
            </a:r>
            <a:r>
              <a:rPr lang="en-US" sz="2400" b="0" u="none" strike="noStrike">
                <a:solidFill>
                  <a:schemeClr val="dk1"/>
                </a:solidFill>
                <a:effectLst/>
                <a:uFillTx/>
                <a:latin typeface="Aptos"/>
              </a:rPr>
              <a:t>Routing instability in FIRT requires powerful routers.</a:t>
            </a: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0" y="0"/>
            <a:ext cx="362448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a:t>
            </a:r>
            <a:endParaRPr lang="en-US" sz="4400" b="0" u="none" strike="noStrike">
              <a:solidFill>
                <a:schemeClr val="dk1"/>
              </a:solidFill>
              <a:effectLst/>
              <a:uFillTx/>
              <a:latin typeface="Aptos Display"/>
            </a:endParaRPr>
          </a:p>
        </p:txBody>
      </p:sp>
      <p:sp>
        <p:nvSpPr>
          <p:cNvPr id="121" name="PlaceHolder 2"/>
          <p:cNvSpPr>
            <a:spLocks noGrp="1"/>
          </p:cNvSpPr>
          <p:nvPr>
            <p:ph/>
          </p:nvPr>
        </p:nvSpPr>
        <p:spPr>
          <a:xfrm>
            <a:off x="3750840" y="51840"/>
            <a:ext cx="8441280" cy="884160"/>
          </a:xfrm>
          <a:prstGeom prst="rect">
            <a:avLst/>
          </a:prstGeom>
          <a:noFill/>
          <a:ln w="0">
            <a:noFill/>
          </a:ln>
        </p:spPr>
        <p:txBody>
          <a:bodyPr lIns="91440" tIns="45720" rIns="91440" bIns="45720" anchor="t">
            <a:normAutofit fontScale="85000" lnSpcReduction="19999"/>
          </a:bodyPr>
          <a:p>
            <a:pPr indent="0" algn="l" defTabSz="914400">
              <a:lnSpc>
                <a:spcPct val="120000"/>
              </a:lnSpc>
              <a:spcBef>
                <a:spcPts val="499"/>
              </a:spcBef>
              <a:buNone/>
              <a:tabLst>
                <a:tab pos="0" algn="l"/>
              </a:tabLst>
            </a:pPr>
            <a:r>
              <a:rPr lang="en-US" sz="1800" b="1" u="none" strike="noStrike">
                <a:solidFill>
                  <a:schemeClr val="dk1"/>
                </a:solidFill>
                <a:effectLst/>
                <a:uFillTx/>
                <a:latin typeface="Aptos"/>
              </a:rPr>
              <a:t>Solution : </a:t>
            </a:r>
            <a:endParaRPr lang="en-US" sz="18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New paradigm that uses Endpoint Identifier and Routing locator (EID,RLOC) to identify endpoints in the network.</a:t>
            </a: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22" name="Picture 3" descr="Diagram of a cloud computing diagram&#10;&#10;AI-generated content may be incorrect."/>
          <p:cNvPicPr/>
          <p:nvPr/>
        </p:nvPicPr>
        <p:blipFill>
          <a:blip r:embed="rId1"/>
          <a:stretch/>
        </p:blipFill>
        <p:spPr>
          <a:xfrm>
            <a:off x="1800" y="2064600"/>
            <a:ext cx="3778200" cy="3700800"/>
          </a:xfrm>
          <a:prstGeom prst="rect">
            <a:avLst/>
          </a:prstGeom>
          <a:noFill/>
          <a:ln w="0">
            <a:noFill/>
          </a:ln>
        </p:spPr>
      </p:pic>
      <p:graphicFrame>
        <p:nvGraphicFramePr>
          <p:cNvPr id="123" name="Table 4"/>
          <p:cNvGraphicFramePr/>
          <p:nvPr/>
        </p:nvGraphicFramePr>
        <p:xfrm>
          <a:off x="3888000" y="844560"/>
          <a:ext cx="8241840" cy="6225480"/>
        </p:xfrm>
        <a:graphic>
          <a:graphicData uri="http://schemas.openxmlformats.org/drawingml/2006/table">
            <a:tbl>
              <a:tblPr/>
              <a:tblGrid>
                <a:gridCol w="1890720"/>
                <a:gridCol w="6351120"/>
              </a:tblGrid>
              <a:tr h="333360">
                <a:tc>
                  <a:txBody>
                    <a:bodyPr anchor="t">
                      <a:noAutofit/>
                    </a:bodyPr>
                    <a:p>
                      <a:pPr defTabSz="914400">
                        <a:lnSpc>
                          <a:spcPct val="100000"/>
                        </a:lnSpc>
                      </a:pPr>
                      <a:r>
                        <a:rPr lang="en-US" sz="1600" b="1" u="none" strike="noStrike">
                          <a:solidFill>
                            <a:schemeClr val="lt1"/>
                          </a:solidFill>
                          <a:effectLst/>
                          <a:uFillTx/>
                          <a:latin typeface="Aptos"/>
                        </a:rPr>
                        <a:t>Key Terms</a:t>
                      </a:r>
                      <a:endParaRPr lang="en-AU"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600" b="1" u="none" strike="noStrike">
                          <a:solidFill>
                            <a:schemeClr val="lt1"/>
                          </a:solidFill>
                          <a:effectLst/>
                          <a:uFillTx/>
                          <a:latin typeface="Aptos"/>
                        </a:rPr>
                        <a:t>Description</a:t>
                      </a:r>
                      <a:endParaRPr lang="en-AU"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66840">
                <a:tc>
                  <a:txBody>
                    <a:bodyPr anchor="t">
                      <a:noAutofit/>
                    </a:bodyPr>
                    <a:p>
                      <a:pPr defTabSz="914400">
                        <a:lnSpc>
                          <a:spcPct val="100000"/>
                        </a:lnSpc>
                      </a:pPr>
                      <a:r>
                        <a:rPr lang="en-US" sz="1400" b="1" u="none" strike="noStrike">
                          <a:solidFill>
                            <a:schemeClr val="dk1"/>
                          </a:solidFill>
                          <a:effectLst/>
                          <a:uFillTx/>
                          <a:latin typeface="Aptos"/>
                        </a:rPr>
                        <a:t>Endpoint ID (EID)</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IP (IPv4/IPv6) address of the endpoint.</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6840">
                <a:tc>
                  <a:txBody>
                    <a:bodyPr anchor="t">
                      <a:noAutofit/>
                    </a:bodyPr>
                    <a:p>
                      <a:pPr defTabSz="914400">
                        <a:lnSpc>
                          <a:spcPct val="100000"/>
                        </a:lnSpc>
                      </a:pPr>
                      <a:r>
                        <a:rPr lang="en-US" sz="1400" b="1" u="none" strike="noStrike">
                          <a:solidFill>
                            <a:schemeClr val="dk1"/>
                          </a:solidFill>
                          <a:effectLst/>
                          <a:uFillTx/>
                          <a:latin typeface="Aptos"/>
                        </a:rPr>
                        <a:t>LISP Site</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Site where LISP EIDs and routers reside</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507960">
                <a:tc>
                  <a:txBody>
                    <a:bodyPr anchor="t">
                      <a:noAutofit/>
                    </a:bodyPr>
                    <a:p>
                      <a:pPr defTabSz="914400">
                        <a:lnSpc>
                          <a:spcPct val="100000"/>
                        </a:lnSpc>
                      </a:pPr>
                      <a:r>
                        <a:rPr lang="en-US" sz="1400" b="1" u="none" strike="noStrike">
                          <a:solidFill>
                            <a:schemeClr val="dk1"/>
                          </a:solidFill>
                          <a:effectLst/>
                          <a:uFillTx/>
                          <a:latin typeface="Aptos"/>
                        </a:rPr>
                        <a:t>Ingress Tunnel Router (ITR)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LISP routers that LISP-encapsulate IP packets coming from EID and destined out of LISP site.</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07960">
                <a:tc>
                  <a:txBody>
                    <a:bodyPr anchor="t">
                      <a:noAutofit/>
                    </a:bodyPr>
                    <a:p>
                      <a:pPr defTabSz="914400">
                        <a:lnSpc>
                          <a:spcPct val="100000"/>
                        </a:lnSpc>
                      </a:pPr>
                      <a:r>
                        <a:rPr lang="en-US" sz="1400" b="1" u="none" strike="noStrike">
                          <a:solidFill>
                            <a:schemeClr val="dk1"/>
                          </a:solidFill>
                          <a:effectLst/>
                          <a:uFillTx/>
                          <a:latin typeface="Aptos"/>
                        </a:rPr>
                        <a:t>Egress Tunnel Router (ETR)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LISP routers that de-encapsulate LISP packets coming from outside the LISP site and are destined to EIDs in the LISP site. </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6840">
                <a:tc>
                  <a:txBody>
                    <a:bodyPr anchor="t">
                      <a:noAutofit/>
                    </a:bodyPr>
                    <a:p>
                      <a:pPr defTabSz="914400">
                        <a:lnSpc>
                          <a:spcPct val="100000"/>
                        </a:lnSpc>
                      </a:pPr>
                      <a:r>
                        <a:rPr lang="en-US" sz="1400" b="1" u="none" strike="noStrike">
                          <a:solidFill>
                            <a:schemeClr val="dk1"/>
                          </a:solidFill>
                          <a:effectLst/>
                          <a:uFillTx/>
                          <a:latin typeface="Aptos"/>
                        </a:rPr>
                        <a:t>Tunnel Router (xTR)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Routers that perform both ITR and ETR functions.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6840">
                <a:tc>
                  <a:txBody>
                    <a:bodyPr anchor="t">
                      <a:noAutofit/>
                    </a:bodyPr>
                    <a:p>
                      <a:pPr defTabSz="914400">
                        <a:lnSpc>
                          <a:spcPct val="100000"/>
                        </a:lnSpc>
                      </a:pPr>
                      <a:r>
                        <a:rPr lang="en-US" sz="1400" b="1" u="none" strike="noStrike">
                          <a:solidFill>
                            <a:schemeClr val="dk1"/>
                          </a:solidFill>
                          <a:effectLst/>
                          <a:uFillTx/>
                          <a:latin typeface="Aptos"/>
                        </a:rPr>
                        <a:t>Proxy ITR (PITR)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ITRs in non-LISP site that forward traffic to EIDs.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6840">
                <a:tc>
                  <a:txBody>
                    <a:bodyPr anchor="t">
                      <a:noAutofit/>
                    </a:bodyPr>
                    <a:p>
                      <a:pPr defTabSz="914400">
                        <a:lnSpc>
                          <a:spcPct val="100000"/>
                        </a:lnSpc>
                      </a:pPr>
                      <a:r>
                        <a:rPr lang="en-US" sz="1400" b="1" u="none" strike="noStrike">
                          <a:solidFill>
                            <a:schemeClr val="dk1"/>
                          </a:solidFill>
                          <a:effectLst/>
                          <a:uFillTx/>
                          <a:latin typeface="Aptos"/>
                        </a:rPr>
                        <a:t>Proxy ETR (PETR)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ETRs at non-LISP site that receive LISP packets and deliver to destinations at non-LISP site.</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6840">
                <a:tc>
                  <a:txBody>
                    <a:bodyPr anchor="t">
                      <a:noAutofit/>
                    </a:bodyPr>
                    <a:p>
                      <a:pPr defTabSz="914400">
                        <a:lnSpc>
                          <a:spcPct val="100000"/>
                        </a:lnSpc>
                      </a:pPr>
                      <a:r>
                        <a:rPr lang="en-US" sz="1400" b="1" u="none" strike="noStrike">
                          <a:solidFill>
                            <a:schemeClr val="dk1"/>
                          </a:solidFill>
                          <a:effectLst/>
                          <a:uFillTx/>
                          <a:latin typeface="Aptos"/>
                        </a:rPr>
                        <a:t>Proxy xTR (PxTR)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Routers that perform both PITR and PETR functions.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6840">
                <a:tc>
                  <a:txBody>
                    <a:bodyPr anchor="t">
                      <a:noAutofit/>
                    </a:bodyPr>
                    <a:p>
                      <a:pPr defTabSz="914400">
                        <a:lnSpc>
                          <a:spcPct val="100000"/>
                        </a:lnSpc>
                      </a:pPr>
                      <a:r>
                        <a:rPr lang="en-US" sz="1400" b="1" u="none" strike="noStrike">
                          <a:solidFill>
                            <a:schemeClr val="dk1"/>
                          </a:solidFill>
                          <a:effectLst/>
                          <a:uFillTx/>
                          <a:latin typeface="Aptos"/>
                        </a:rPr>
                        <a:t>RLOC</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IP address of LISP router that has ETR functions.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07960">
                <a:tc>
                  <a:txBody>
                    <a:bodyPr anchor="t">
                      <a:noAutofit/>
                    </a:bodyPr>
                    <a:p>
                      <a:pPr defTabSz="914400">
                        <a:lnSpc>
                          <a:spcPct val="100000"/>
                        </a:lnSpc>
                      </a:pPr>
                      <a:r>
                        <a:rPr lang="en-US" sz="1600" b="1" u="none" strike="noStrike">
                          <a:solidFill>
                            <a:schemeClr val="dk1"/>
                          </a:solidFill>
                          <a:effectLst/>
                          <a:uFillTx/>
                          <a:latin typeface="Aptos"/>
                        </a:rPr>
                        <a:t>Map Server (MS)</a:t>
                      </a:r>
                      <a:endParaRPr lang="en-AU"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Learns EID-to-Prefix mapping from ETR and stores in local EID-to- RLOC mapping database.</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573840">
                <a:tc>
                  <a:txBody>
                    <a:bodyPr anchor="t">
                      <a:noAutofit/>
                    </a:bodyPr>
                    <a:p>
                      <a:pPr defTabSz="914400">
                        <a:lnSpc>
                          <a:spcPct val="100000"/>
                        </a:lnSpc>
                      </a:pPr>
                      <a:r>
                        <a:rPr lang="en-US" sz="1400" b="1" u="none" strike="noStrike">
                          <a:solidFill>
                            <a:schemeClr val="dk1"/>
                          </a:solidFill>
                          <a:effectLst/>
                          <a:uFillTx/>
                          <a:latin typeface="Aptos"/>
                        </a:rPr>
                        <a:t>Map Resolver (MR)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Receives LISP encapsulated map requests from ITR and finds ETR to answer those requests by consulting MS</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6840">
                <a:tc>
                  <a:txBody>
                    <a:bodyPr anchor="t">
                      <a:noAutofit/>
                    </a:bodyPr>
                    <a:p>
                      <a:pPr defTabSz="914400">
                        <a:lnSpc>
                          <a:spcPct val="100000"/>
                        </a:lnSpc>
                      </a:pPr>
                      <a:r>
                        <a:rPr lang="en-US" sz="1400" b="1" u="none" strike="noStrike">
                          <a:solidFill>
                            <a:schemeClr val="dk1"/>
                          </a:solidFill>
                          <a:effectLst/>
                          <a:uFillTx/>
                          <a:latin typeface="Aptos"/>
                        </a:rPr>
                        <a:t>MS/MR</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400" b="0" u="none" strike="noStrike">
                          <a:solidFill>
                            <a:schemeClr val="dk1"/>
                          </a:solidFill>
                          <a:effectLst/>
                          <a:uFillTx/>
                          <a:latin typeface="Aptos"/>
                        </a:rPr>
                        <a:t>Device that has both MS and MR implemented</a:t>
                      </a:r>
                      <a:endParaRPr lang="en-AU"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0" y="0"/>
            <a:ext cx="362448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a:t>
            </a:r>
            <a:endParaRPr lang="en-US" sz="4400" b="0" u="none" strike="noStrike">
              <a:solidFill>
                <a:schemeClr val="dk1"/>
              </a:solidFill>
              <a:effectLst/>
              <a:uFillTx/>
              <a:latin typeface="Aptos Display"/>
            </a:endParaRPr>
          </a:p>
        </p:txBody>
      </p:sp>
      <p:sp>
        <p:nvSpPr>
          <p:cNvPr id="125" name="PlaceHolder 2"/>
          <p:cNvSpPr>
            <a:spLocks noGrp="1"/>
          </p:cNvSpPr>
          <p:nvPr>
            <p:ph/>
          </p:nvPr>
        </p:nvSpPr>
        <p:spPr>
          <a:xfrm>
            <a:off x="3947760" y="340920"/>
            <a:ext cx="7848360" cy="6128280"/>
          </a:xfrm>
          <a:prstGeom prst="rect">
            <a:avLst/>
          </a:prstGeom>
          <a:noFill/>
          <a:ln w="0">
            <a:noFill/>
          </a:ln>
        </p:spPr>
        <p:txBody>
          <a:bodyPr lIns="91440" tIns="45720" rIns="91440" bIns="45720" anchor="t">
            <a:noAutofit/>
          </a:bodyPr>
          <a:p>
            <a:pPr indent="0" algn="l" defTabSz="914400">
              <a:lnSpc>
                <a:spcPct val="120000"/>
              </a:lnSpc>
              <a:spcBef>
                <a:spcPts val="499"/>
              </a:spcBef>
              <a:buNone/>
              <a:tabLst>
                <a:tab pos="0" algn="l"/>
              </a:tabLst>
            </a:pPr>
            <a:r>
              <a:rPr lang="en-US" sz="2200" b="1" u="none" strike="noStrike">
                <a:solidFill>
                  <a:schemeClr val="dk1"/>
                </a:solidFill>
                <a:effectLst/>
                <a:uFillTx/>
                <a:latin typeface="Aptos"/>
              </a:rPr>
              <a:t>Routing Architecture </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In traditional routing endpoint's IP address represents its identity and location in the network.</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LISP separates IP addresses as (EID,RLOC), If endpoint roams/changes location, it's RLOC changes but EID remains same.</a:t>
            </a: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200" b="1" u="none" strike="noStrike">
                <a:solidFill>
                  <a:schemeClr val="dk1"/>
                </a:solidFill>
                <a:effectLst/>
                <a:uFillTx/>
                <a:latin typeface="Aptos"/>
              </a:rPr>
              <a:t>Control Plane</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Operates similar to DNS system.</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LISP can resolve EID to RLOC by sending map request to MR.</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Thus, similar to DNS, LISP operates in pull model. Only required info is requested and is on demand.</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Traditional routing operates in push model as they advertise everything irrespective of information relevance.</a:t>
            </a: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26" name="Picture 3" descr="A diagram of a map&#10;&#10;AI-generated content may be incorrect."/>
          <p:cNvPicPr/>
          <p:nvPr/>
        </p:nvPicPr>
        <p:blipFill>
          <a:blip r:embed="rId1"/>
          <a:stretch/>
        </p:blipFill>
        <p:spPr>
          <a:xfrm>
            <a:off x="118080" y="2196000"/>
            <a:ext cx="3747960" cy="28864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0" y="0"/>
            <a:ext cx="400932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a:t>
            </a:r>
            <a:endParaRPr lang="en-US" sz="4400" b="0" u="none" strike="noStrike">
              <a:solidFill>
                <a:schemeClr val="dk1"/>
              </a:solidFill>
              <a:effectLst/>
              <a:uFillTx/>
              <a:latin typeface="Aptos Display"/>
            </a:endParaRPr>
          </a:p>
        </p:txBody>
      </p:sp>
      <p:sp>
        <p:nvSpPr>
          <p:cNvPr id="128" name="PlaceHolder 2"/>
          <p:cNvSpPr>
            <a:spLocks noGrp="1"/>
          </p:cNvSpPr>
          <p:nvPr>
            <p:ph/>
          </p:nvPr>
        </p:nvSpPr>
        <p:spPr>
          <a:xfrm>
            <a:off x="4289040" y="254160"/>
            <a:ext cx="7630560" cy="6367680"/>
          </a:xfrm>
          <a:prstGeom prst="rect">
            <a:avLst/>
          </a:prstGeom>
          <a:noFill/>
          <a:ln w="0">
            <a:noFill/>
          </a:ln>
        </p:spPr>
        <p:txBody>
          <a:bodyPr lIns="91440" tIns="45720" rIns="91440" bIns="45720" anchor="t">
            <a:normAutofit fontScale="85000" lnSpcReduction="9999"/>
          </a:bodyPr>
          <a:p>
            <a:pPr indent="0" algn="l" defTabSz="914400">
              <a:lnSpc>
                <a:spcPct val="120000"/>
              </a:lnSpc>
              <a:spcBef>
                <a:spcPts val="499"/>
              </a:spcBef>
              <a:buNone/>
              <a:tabLst>
                <a:tab pos="0" algn="l"/>
              </a:tabLst>
            </a:pPr>
            <a:r>
              <a:rPr lang="en-US" sz="2000" b="1" u="none" strike="noStrike">
                <a:solidFill>
                  <a:schemeClr val="dk1"/>
                </a:solidFill>
                <a:effectLst/>
                <a:uFillTx/>
                <a:latin typeface="Aptos"/>
              </a:rPr>
              <a:t>Data Plane</a:t>
            </a:r>
            <a:endParaRPr lang="en-US" sz="20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Original IP packet (IP header +payload) is encapsulated</a:t>
            </a:r>
            <a:r>
              <a:rPr lang="en-US" sz="2200" b="1" u="none" strike="noStrike">
                <a:solidFill>
                  <a:schemeClr val="dk1"/>
                </a:solidFill>
                <a:effectLst/>
                <a:uFillTx/>
                <a:latin typeface="Aptos"/>
              </a:rPr>
              <a:t>  </a:t>
            </a:r>
            <a:r>
              <a:rPr lang="en-US" sz="2200" b="0" u="none" strike="noStrike">
                <a:solidFill>
                  <a:schemeClr val="dk1"/>
                </a:solidFill>
                <a:effectLst/>
                <a:uFillTx/>
                <a:latin typeface="Aptos"/>
              </a:rPr>
              <a:t>with IP/UDP header forming a IP-in-IP/UDP encapsulation.</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Outer IP/UDP header is called Outer Header (OH) and original IP packet is called Inner Header (IH).</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IH contains IP addresses of EIDs, OH contains IP addresses of ITR &amp; ETR from RLOC space.</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LISP uses UDP destination port 4341 for data transmission.</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Outer LISP UDP source port is tactically selected by ITR to make sure load sharing in ECMP.</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Instance ID in LISP Header is a 24 bit field that provides device and path level network virtualization.</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200" b="0" u="none" strike="noStrike">
                <a:solidFill>
                  <a:schemeClr val="dk1"/>
                </a:solidFill>
                <a:effectLst/>
                <a:uFillTx/>
                <a:latin typeface="Aptos"/>
              </a:rPr>
              <a:t>As LISP supports both ipv4 and ipv6 passenger and transport protocol, combination of ipv4 EID in ipv4 RLOC, ipv4 EID in ipv6 RLOC, ipv6 EID in ipv6 RLOC and ipv6 EID in ipv4 RLOC encapsulation is supported.</a:t>
            </a: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29" name="Picture 3" descr="A diagram of a computer&#10;&#10;AI-generated content may be incorrect."/>
          <p:cNvPicPr/>
          <p:nvPr/>
        </p:nvPicPr>
        <p:blipFill>
          <a:blip r:embed="rId1"/>
          <a:stretch/>
        </p:blipFill>
        <p:spPr>
          <a:xfrm>
            <a:off x="1800" y="2206080"/>
            <a:ext cx="4009320" cy="2989440"/>
          </a:xfrm>
          <a:prstGeom prst="rect">
            <a:avLst/>
          </a:prstGeom>
          <a:noFill/>
          <a:ln w="0">
            <a:noFill/>
          </a:ln>
        </p:spPr>
      </p:pic>
      <p:sp>
        <p:nvSpPr>
          <p:cNvPr id="130" name="TextBox 5"/>
          <p:cNvSpPr/>
          <p:nvPr/>
        </p:nvSpPr>
        <p:spPr>
          <a:xfrm>
            <a:off x="181080" y="5362560"/>
            <a:ext cx="2800080" cy="36900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lang="en-US" sz="1800" b="0" u="none" strike="noStrike">
                <a:solidFill>
                  <a:schemeClr val="dk1"/>
                </a:solidFill>
                <a:effectLst/>
                <a:uFillTx/>
                <a:latin typeface="Aptos"/>
              </a:rPr>
              <a:t>LISP Packet Format</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0" y="0"/>
            <a:ext cx="448092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 Operation</a:t>
            </a:r>
            <a:endParaRPr lang="en-US" sz="4400" b="0" u="none" strike="noStrike">
              <a:solidFill>
                <a:schemeClr val="dk1"/>
              </a:solidFill>
              <a:effectLst/>
              <a:uFillTx/>
              <a:latin typeface="Aptos Display"/>
            </a:endParaRPr>
          </a:p>
        </p:txBody>
      </p:sp>
      <p:sp>
        <p:nvSpPr>
          <p:cNvPr id="132" name="PlaceHolder 2"/>
          <p:cNvSpPr>
            <a:spLocks noGrp="1"/>
          </p:cNvSpPr>
          <p:nvPr>
            <p:ph/>
          </p:nvPr>
        </p:nvSpPr>
        <p:spPr>
          <a:xfrm>
            <a:off x="4905720" y="232200"/>
            <a:ext cx="7064640" cy="6389640"/>
          </a:xfrm>
          <a:prstGeom prst="rect">
            <a:avLst/>
          </a:prstGeom>
          <a:noFill/>
          <a:ln w="0">
            <a:noFill/>
          </a:ln>
        </p:spPr>
        <p:txBody>
          <a:bodyPr lIns="91440" tIns="45720" rIns="91440" bIns="45720" anchor="t">
            <a:noAutofit/>
          </a:bodyPr>
          <a:p>
            <a:pPr indent="0" algn="l" defTabSz="914400">
              <a:lnSpc>
                <a:spcPct val="120000"/>
              </a:lnSpc>
              <a:spcBef>
                <a:spcPts val="499"/>
              </a:spcBef>
              <a:buNone/>
              <a:tabLst>
                <a:tab pos="0" algn="l"/>
              </a:tabLst>
            </a:pPr>
            <a:r>
              <a:rPr lang="en-US" sz="2200" b="1" u="none" strike="noStrike">
                <a:solidFill>
                  <a:schemeClr val="dk1"/>
                </a:solidFill>
                <a:effectLst/>
                <a:uFillTx/>
                <a:latin typeface="Aptos"/>
              </a:rPr>
              <a:t>Map Registration and Notification</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ETR router needs to be configured with prefixes of EIDs within the site. </a:t>
            </a:r>
            <a:endParaRPr lang="en-US" sz="24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Any EIDs prefixes not registered with ETR are forwarded natively (underlay).</a:t>
            </a:r>
            <a:endParaRPr lang="en-US" sz="2400" b="0" u="none" strike="noStrike">
              <a:solidFill>
                <a:schemeClr val="dk1"/>
              </a:solidFill>
              <a:effectLst/>
              <a:uFillTx/>
              <a:latin typeface="Aptos"/>
            </a:endParaRPr>
          </a:p>
          <a:p>
            <a:pPr marL="571680" lvl="3" indent="-343080" algn="l" defTabSz="914400">
              <a:lnSpc>
                <a:spcPct val="120000"/>
              </a:lnSpc>
              <a:spcBef>
                <a:spcPts val="499"/>
              </a:spcBef>
              <a:buClr>
                <a:srgbClr val="000000"/>
              </a:buClr>
              <a:buFont typeface="Arial"/>
              <a:buAutoNum type="arabicPeriod"/>
              <a:tabLst>
                <a:tab pos="0" algn="l"/>
              </a:tabLst>
            </a:pPr>
            <a:r>
              <a:rPr lang="en-US" sz="2000" b="0" u="none" strike="noStrike">
                <a:solidFill>
                  <a:schemeClr val="dk1"/>
                </a:solidFill>
                <a:effectLst/>
                <a:uFillTx/>
                <a:latin typeface="Aptos"/>
              </a:rPr>
              <a:t>ETR sends Map-Register message to MS to register it's LISP prefix 10.1.2.0/24 .In addition, it instructs MS to forward Map-Requests for EIDs in that prefix to </a:t>
            </a:r>
            <a:r>
              <a:rPr lang="en-US" sz="2000" b="0" u="none" strike="noStrike">
                <a:solidFill>
                  <a:schemeClr val="dk1"/>
                </a:solidFill>
                <a:effectLst/>
                <a:uFillTx/>
                <a:latin typeface="Aptos"/>
                <a:ea typeface="Aptos"/>
              </a:rPr>
              <a:t>its RLOC  (100.64.2.2) and may set proxy map reply flag (P-bit) to act as proxy for itself.</a:t>
            </a:r>
            <a:endParaRPr lang="en-US" sz="2000" b="0" u="none" strike="noStrike">
              <a:solidFill>
                <a:schemeClr val="dk1"/>
              </a:solidFill>
              <a:effectLst/>
              <a:uFillTx/>
              <a:latin typeface="Aptos"/>
            </a:endParaRPr>
          </a:p>
          <a:p>
            <a:pPr marL="571680" lvl="3" indent="-343080" algn="l" defTabSz="914400">
              <a:lnSpc>
                <a:spcPct val="120000"/>
              </a:lnSpc>
              <a:spcBef>
                <a:spcPts val="499"/>
              </a:spcBef>
              <a:buClr>
                <a:srgbClr val="000000"/>
              </a:buClr>
              <a:buFont typeface="Arial"/>
              <a:buAutoNum type="arabicPeriod"/>
              <a:tabLst>
                <a:tab pos="0" algn="l"/>
              </a:tabLst>
            </a:pPr>
            <a:r>
              <a:rPr lang="en-US" sz="2000" b="0" u="none" strike="noStrike">
                <a:solidFill>
                  <a:schemeClr val="dk1"/>
                </a:solidFill>
                <a:effectLst/>
                <a:uFillTx/>
                <a:latin typeface="Aptos"/>
                <a:ea typeface="Aptos"/>
              </a:rPr>
              <a:t>MS sends Map-Notify message to ETR to notify that the Map-Register message has been received and processed. Map-Notify message has both source and destination UDP port 4342.</a:t>
            </a: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33" name="Picture 3" descr="A diagram of a cloud&#10;&#10;AI-generated content may be incorrect."/>
          <p:cNvPicPr/>
          <p:nvPr/>
        </p:nvPicPr>
        <p:blipFill>
          <a:blip r:embed="rId1"/>
          <a:stretch/>
        </p:blipFill>
        <p:spPr>
          <a:xfrm>
            <a:off x="1800" y="1911240"/>
            <a:ext cx="4473720" cy="396432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0" y="0"/>
            <a:ext cx="387864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 Operation</a:t>
            </a:r>
            <a:endParaRPr lang="en-US" sz="4400" b="0" u="none" strike="noStrike">
              <a:solidFill>
                <a:schemeClr val="dk1"/>
              </a:solidFill>
              <a:effectLst/>
              <a:uFillTx/>
              <a:latin typeface="Aptos Display"/>
            </a:endParaRPr>
          </a:p>
        </p:txBody>
      </p:sp>
      <p:sp>
        <p:nvSpPr>
          <p:cNvPr id="135" name="PlaceHolder 2"/>
          <p:cNvSpPr>
            <a:spLocks noGrp="1"/>
          </p:cNvSpPr>
          <p:nvPr>
            <p:ph/>
          </p:nvPr>
        </p:nvSpPr>
        <p:spPr>
          <a:xfrm>
            <a:off x="4179960" y="268560"/>
            <a:ext cx="7790040" cy="6353280"/>
          </a:xfrm>
          <a:prstGeom prst="rect">
            <a:avLst/>
          </a:prstGeom>
          <a:noFill/>
          <a:ln w="0">
            <a:noFill/>
          </a:ln>
        </p:spPr>
        <p:txBody>
          <a:bodyPr lIns="91440" tIns="45720" rIns="91440" bIns="45720" anchor="t">
            <a:noAutofit/>
          </a:bodyPr>
          <a:p>
            <a:pPr indent="0" algn="l" defTabSz="914400">
              <a:lnSpc>
                <a:spcPct val="120000"/>
              </a:lnSpc>
              <a:spcBef>
                <a:spcPts val="499"/>
              </a:spcBef>
              <a:buNone/>
              <a:tabLst>
                <a:tab pos="0" algn="l"/>
              </a:tabLst>
            </a:pPr>
            <a:r>
              <a:rPr lang="en-US" sz="2200" b="1" u="none" strike="noStrike">
                <a:solidFill>
                  <a:schemeClr val="dk1"/>
                </a:solidFill>
                <a:effectLst/>
                <a:uFillTx/>
                <a:latin typeface="Aptos"/>
              </a:rPr>
              <a:t>Map Request and Reply</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Within the LISP site, traditional routing with IGP is used to forward the packets until it reaches ITR.</a:t>
            </a:r>
            <a:endParaRPr lang="en-US" sz="18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For a packet destined out of the LISP site, below steps are followed:</a:t>
            </a:r>
            <a:endParaRPr lang="en-US" sz="1800" b="0" u="none" strike="noStrike">
              <a:solidFill>
                <a:schemeClr val="dk1"/>
              </a:solidFill>
              <a:effectLst/>
              <a:uFillTx/>
              <a:latin typeface="Aptos"/>
            </a:endParaRPr>
          </a:p>
          <a:p>
            <a:pPr marL="85716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Host1 sends DNS request for host2 and receives host2's EID (10.1.2.2). Packet from host1 destined for host2 reaches ITR (default gateway for host1).</a:t>
            </a:r>
            <a:endParaRPr lang="en-US" sz="1800" b="0" u="none" strike="noStrike">
              <a:solidFill>
                <a:schemeClr val="dk1"/>
              </a:solidFill>
              <a:effectLst/>
              <a:uFillTx/>
              <a:latin typeface="Aptos"/>
            </a:endParaRPr>
          </a:p>
          <a:p>
            <a:pPr marL="85716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When ITR receives that packet it performs FIB lookup and evaluates following rules:</a:t>
            </a:r>
            <a:endParaRPr lang="en-US" sz="1800" b="0" u="none" strike="noStrike">
              <a:solidFill>
                <a:schemeClr val="dk1"/>
              </a:solidFill>
              <a:effectLst/>
              <a:uFillTx/>
              <a:latin typeface="Aptos"/>
            </a:endParaRPr>
          </a:p>
          <a:p>
            <a:pPr marL="1143000" lvl="4" indent="-285840" algn="l" defTabSz="914400">
              <a:lnSpc>
                <a:spcPct val="120000"/>
              </a:lnSpc>
              <a:spcBef>
                <a:spcPts val="499"/>
              </a:spcBef>
              <a:buClr>
                <a:srgbClr val="000000"/>
              </a:buClr>
              <a:buFont typeface="Wingdings" charset="2"/>
              <a:buChar char=""/>
              <a:tabLst>
                <a:tab pos="0" algn="l"/>
              </a:tabLst>
            </a:pPr>
            <a:r>
              <a:rPr lang="en-US" sz="1800" b="0" u="none" strike="noStrike">
                <a:solidFill>
                  <a:schemeClr val="dk1"/>
                </a:solidFill>
                <a:effectLst/>
                <a:uFillTx/>
                <a:latin typeface="Aptos"/>
              </a:rPr>
              <a:t>Did the packet match default route as there is no more specific route to 10.1.2.2?</a:t>
            </a:r>
            <a:endParaRPr lang="en-US" sz="1800" b="0" u="none" strike="noStrike">
              <a:solidFill>
                <a:schemeClr val="dk1"/>
              </a:solidFill>
              <a:effectLst/>
              <a:uFillTx/>
              <a:latin typeface="Aptos"/>
            </a:endParaRPr>
          </a:p>
          <a:p>
            <a:pPr marL="1771560" lvl="5" indent="-457200" algn="l" defTabSz="914400">
              <a:lnSpc>
                <a:spcPct val="120000"/>
              </a:lnSpc>
              <a:spcBef>
                <a:spcPts val="499"/>
              </a:spcBef>
              <a:buClr>
                <a:srgbClr val="000000"/>
              </a:buClr>
              <a:buFont typeface="Arial"/>
              <a:buChar char="•"/>
              <a:tabLst>
                <a:tab pos="0" algn="l"/>
              </a:tabLst>
            </a:pPr>
            <a:r>
              <a:rPr lang="en-US" sz="1600" b="0" u="none" strike="noStrike">
                <a:solidFill>
                  <a:schemeClr val="dk1"/>
                </a:solidFill>
                <a:effectLst/>
                <a:uFillTx/>
                <a:latin typeface="Aptos"/>
              </a:rPr>
              <a:t>If Yes, continue to next step.</a:t>
            </a:r>
            <a:endParaRPr lang="en-US" sz="1600" b="0" u="none" strike="noStrike">
              <a:solidFill>
                <a:schemeClr val="dk1"/>
              </a:solidFill>
              <a:effectLst/>
              <a:uFillTx/>
              <a:latin typeface="Aptos"/>
            </a:endParaRPr>
          </a:p>
          <a:p>
            <a:pPr marL="1771560" lvl="5" indent="-457200" algn="l" defTabSz="914400">
              <a:lnSpc>
                <a:spcPct val="120000"/>
              </a:lnSpc>
              <a:spcBef>
                <a:spcPts val="499"/>
              </a:spcBef>
              <a:buClr>
                <a:srgbClr val="000000"/>
              </a:buClr>
              <a:buFont typeface="Arial"/>
              <a:buChar char="•"/>
              <a:tabLst>
                <a:tab pos="0" algn="l"/>
              </a:tabLst>
            </a:pPr>
            <a:r>
              <a:rPr lang="en-US" sz="1600" b="0" u="none" strike="noStrike">
                <a:solidFill>
                  <a:schemeClr val="dk1"/>
                </a:solidFill>
                <a:effectLst/>
                <a:uFillTx/>
                <a:latin typeface="Aptos"/>
              </a:rPr>
              <a:t>If No, forward it natively using the matched route.</a:t>
            </a:r>
            <a:endParaRPr lang="en-US" sz="1600" b="0" u="none" strike="noStrike">
              <a:solidFill>
                <a:schemeClr val="dk1"/>
              </a:solidFill>
              <a:effectLst/>
              <a:uFillTx/>
              <a:latin typeface="Aptos"/>
            </a:endParaRPr>
          </a:p>
          <a:p>
            <a:pPr marL="1143000" lvl="4" indent="-285840" algn="l" defTabSz="914400">
              <a:lnSpc>
                <a:spcPct val="120000"/>
              </a:lnSpc>
              <a:spcBef>
                <a:spcPts val="499"/>
              </a:spcBef>
              <a:buClr>
                <a:srgbClr val="000000"/>
              </a:buClr>
              <a:buFont typeface="Wingdings" charset="2"/>
              <a:buChar char=""/>
              <a:tabLst>
                <a:tab pos="0" algn="l"/>
              </a:tabLst>
            </a:pPr>
            <a:r>
              <a:rPr lang="en-US" sz="1800" b="0" u="none" strike="noStrike">
                <a:solidFill>
                  <a:schemeClr val="dk1"/>
                </a:solidFill>
                <a:effectLst/>
                <a:uFillTx/>
                <a:latin typeface="Aptos"/>
              </a:rPr>
              <a:t>Is the source ip registered EID prefix in local cache?</a:t>
            </a:r>
            <a:endParaRPr lang="en-US" sz="1800" b="0" u="none" strike="noStrike">
              <a:solidFill>
                <a:schemeClr val="dk1"/>
              </a:solidFill>
              <a:effectLst/>
              <a:uFillTx/>
              <a:latin typeface="Aptos"/>
            </a:endParaRPr>
          </a:p>
          <a:p>
            <a:pPr marL="1600200" lvl="5" indent="-285840" algn="l" defTabSz="914400">
              <a:lnSpc>
                <a:spcPct val="120000"/>
              </a:lnSpc>
              <a:spcBef>
                <a:spcPts val="499"/>
              </a:spcBef>
              <a:buClr>
                <a:srgbClr val="000000"/>
              </a:buClr>
              <a:buFont typeface="Arial"/>
              <a:buChar char="•"/>
              <a:tabLst>
                <a:tab pos="0" algn="l"/>
              </a:tabLst>
            </a:pPr>
            <a:r>
              <a:rPr lang="en-US" sz="1600" b="0" u="none" strike="noStrike">
                <a:solidFill>
                  <a:schemeClr val="dk1"/>
                </a:solidFill>
                <a:effectLst/>
                <a:uFillTx/>
                <a:latin typeface="Aptos"/>
              </a:rPr>
              <a:t>If Yes, continue to next step.</a:t>
            </a:r>
            <a:endParaRPr lang="en-US" sz="1600" b="0" u="none" strike="noStrike">
              <a:solidFill>
                <a:schemeClr val="dk1"/>
              </a:solidFill>
              <a:effectLst/>
              <a:uFillTx/>
              <a:latin typeface="Aptos"/>
            </a:endParaRPr>
          </a:p>
          <a:p>
            <a:pPr marL="1600200" lvl="5" indent="-285840" algn="l" defTabSz="914400">
              <a:lnSpc>
                <a:spcPct val="120000"/>
              </a:lnSpc>
              <a:spcBef>
                <a:spcPts val="499"/>
              </a:spcBef>
              <a:buClr>
                <a:srgbClr val="000000"/>
              </a:buClr>
              <a:buFont typeface="Arial"/>
              <a:buChar char="•"/>
              <a:tabLst>
                <a:tab pos="0" algn="l"/>
              </a:tabLst>
            </a:pPr>
            <a:r>
              <a:rPr lang="en-US" sz="1600" b="0" u="none" strike="noStrike">
                <a:solidFill>
                  <a:schemeClr val="dk1"/>
                </a:solidFill>
                <a:effectLst/>
                <a:uFillTx/>
                <a:latin typeface="Aptos"/>
              </a:rPr>
              <a:t>If No, forward it natively using the default route.</a:t>
            </a: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36" name="Picture 3" descr="A diagram of a cloud&#10;&#10;AI-generated content may be incorrect."/>
          <p:cNvPicPr/>
          <p:nvPr/>
        </p:nvPicPr>
        <p:blipFill>
          <a:blip r:embed="rId1"/>
          <a:stretch/>
        </p:blipFill>
        <p:spPr>
          <a:xfrm>
            <a:off x="1800" y="2162520"/>
            <a:ext cx="3871440" cy="338868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0" y="0"/>
            <a:ext cx="387864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 Operation</a:t>
            </a:r>
            <a:endParaRPr lang="en-US" sz="4400" b="0" u="none" strike="noStrike">
              <a:solidFill>
                <a:schemeClr val="dk1"/>
              </a:solidFill>
              <a:effectLst/>
              <a:uFillTx/>
              <a:latin typeface="Aptos Display"/>
            </a:endParaRPr>
          </a:p>
        </p:txBody>
      </p:sp>
      <p:sp>
        <p:nvSpPr>
          <p:cNvPr id="138" name="PlaceHolder 2"/>
          <p:cNvSpPr>
            <a:spLocks noGrp="1"/>
          </p:cNvSpPr>
          <p:nvPr>
            <p:ph/>
          </p:nvPr>
        </p:nvSpPr>
        <p:spPr>
          <a:xfrm>
            <a:off x="4404960" y="645840"/>
            <a:ext cx="7565040" cy="5293800"/>
          </a:xfrm>
          <a:prstGeom prst="rect">
            <a:avLst/>
          </a:prstGeom>
          <a:noFill/>
          <a:ln w="0">
            <a:noFill/>
          </a:ln>
        </p:spPr>
        <p:txBody>
          <a:bodyPr lIns="91440" tIns="45720" rIns="91440" bIns="45720" anchor="t">
            <a:noAutofit/>
          </a:bodyPr>
          <a:p>
            <a:pPr indent="0" algn="l" defTabSz="914400">
              <a:lnSpc>
                <a:spcPct val="120000"/>
              </a:lnSpc>
              <a:spcBef>
                <a:spcPts val="499"/>
              </a:spcBef>
              <a:buNone/>
              <a:tabLst>
                <a:tab pos="0" algn="l"/>
              </a:tabLst>
            </a:pPr>
            <a:r>
              <a:rPr lang="en-US" sz="2200" b="1" u="none" strike="noStrike">
                <a:solidFill>
                  <a:schemeClr val="dk1"/>
                </a:solidFill>
                <a:effectLst/>
                <a:uFillTx/>
                <a:latin typeface="Aptos"/>
              </a:rPr>
              <a:t>Map Request and Reply</a:t>
            </a: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000" b="1" u="none" strike="noStrike">
                <a:solidFill>
                  <a:schemeClr val="dk1"/>
                </a:solidFill>
                <a:effectLst/>
                <a:uFillTx/>
                <a:latin typeface="Aptos"/>
              </a:rPr>
              <a:t>3.</a:t>
            </a:r>
            <a:r>
              <a:rPr lang="en-US" sz="2000" b="0" u="none" strike="noStrike">
                <a:solidFill>
                  <a:schemeClr val="dk1"/>
                </a:solidFill>
                <a:effectLst/>
                <a:uFillTx/>
                <a:latin typeface="Aptos"/>
              </a:rPr>
              <a:t>    ITR sends a Map-Request message to MS for destination 10.1.2.2 . The Map-Request message UDP destination port is 4342 and source port is chosen by ITR.</a:t>
            </a: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000" b="1" u="none" strike="noStrike">
                <a:solidFill>
                  <a:schemeClr val="dk1"/>
                </a:solidFill>
                <a:effectLst/>
                <a:uFillTx/>
                <a:latin typeface="Aptos"/>
              </a:rPr>
              <a:t>4. </a:t>
            </a:r>
            <a:r>
              <a:rPr lang="en-US" sz="2000" b="0" u="none" strike="noStrike">
                <a:solidFill>
                  <a:schemeClr val="dk1"/>
                </a:solidFill>
                <a:effectLst/>
                <a:uFillTx/>
                <a:latin typeface="Aptos"/>
              </a:rPr>
              <a:t>   MS/MR  forwards the Map-Request to Authoritative (source of truth) ETR. If MR and MS are on separate device, then ITR sends to MR, MR sends to MS and MS sends to ETR.</a:t>
            </a: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000" b="1" u="none" strike="noStrike">
                <a:solidFill>
                  <a:schemeClr val="dk1"/>
                </a:solidFill>
                <a:effectLst/>
                <a:uFillTx/>
                <a:latin typeface="Aptos"/>
              </a:rPr>
              <a:t>5.</a:t>
            </a:r>
            <a:r>
              <a:rPr lang="en-US" sz="2000" b="0" u="none" strike="noStrike">
                <a:solidFill>
                  <a:schemeClr val="dk1"/>
                </a:solidFill>
                <a:effectLst/>
                <a:uFillTx/>
                <a:latin typeface="Aptos"/>
              </a:rPr>
              <a:t>    ETR sends a Map-Reply message to ITR with EID-to-RLOC  (10.1.2.2 -to-100.64.2.2) mapping. Map-Reply message source port is 4342 and destination port as chosen by ITR in Map-Request message. </a:t>
            </a: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000" b="1" u="none" strike="noStrike">
                <a:solidFill>
                  <a:schemeClr val="dk1"/>
                </a:solidFill>
                <a:effectLst/>
                <a:uFillTx/>
                <a:latin typeface="Aptos"/>
              </a:rPr>
              <a:t>6. </a:t>
            </a:r>
            <a:r>
              <a:rPr lang="en-US" sz="2000" b="0" u="none" strike="noStrike">
                <a:solidFill>
                  <a:schemeClr val="dk1"/>
                </a:solidFill>
                <a:effectLst/>
                <a:uFillTx/>
                <a:latin typeface="Aptos"/>
              </a:rPr>
              <a:t>   ITR caches the EID-to-RLOC mapping and programs it's FIB accordingly to start forwarding LISP traffic for this path.</a:t>
            </a: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39" name="Picture 3" descr="A diagram of a cloud&#10;&#10;AI-generated content may be incorrect."/>
          <p:cNvPicPr/>
          <p:nvPr/>
        </p:nvPicPr>
        <p:blipFill>
          <a:blip r:embed="rId1"/>
          <a:stretch/>
        </p:blipFill>
        <p:spPr>
          <a:xfrm>
            <a:off x="1800" y="1901520"/>
            <a:ext cx="4168800" cy="365004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0" y="0"/>
            <a:ext cx="420516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 </a:t>
            </a:r>
            <a:endParaRPr lang="en-US" sz="4400" b="0" u="none" strike="noStrike">
              <a:solidFill>
                <a:schemeClr val="dk1"/>
              </a:solidFill>
              <a:effectLst/>
              <a:uFillTx/>
              <a:latin typeface="Aptos Display"/>
            </a:endParaRPr>
          </a:p>
        </p:txBody>
      </p:sp>
      <p:sp>
        <p:nvSpPr>
          <p:cNvPr id="141" name="PlaceHolder 2"/>
          <p:cNvSpPr>
            <a:spLocks noGrp="1"/>
          </p:cNvSpPr>
          <p:nvPr>
            <p:ph/>
          </p:nvPr>
        </p:nvSpPr>
        <p:spPr>
          <a:xfrm>
            <a:off x="4448520" y="268560"/>
            <a:ext cx="7521840" cy="6447600"/>
          </a:xfrm>
          <a:prstGeom prst="rect">
            <a:avLst/>
          </a:prstGeom>
          <a:noFill/>
          <a:ln w="0">
            <a:noFill/>
          </a:ln>
        </p:spPr>
        <p:txBody>
          <a:bodyPr lIns="91440" tIns="45720" rIns="91440" bIns="45720" anchor="t">
            <a:noAutofit/>
          </a:bodyPr>
          <a:p>
            <a:pPr indent="0" algn="l" defTabSz="914400">
              <a:lnSpc>
                <a:spcPct val="120000"/>
              </a:lnSpc>
              <a:spcBef>
                <a:spcPts val="499"/>
              </a:spcBef>
              <a:buNone/>
              <a:tabLst>
                <a:tab pos="0" algn="l"/>
              </a:tabLst>
            </a:pPr>
            <a:r>
              <a:rPr lang="en-US" sz="2200" b="1" u="none" strike="noStrike">
                <a:solidFill>
                  <a:schemeClr val="dk1"/>
                </a:solidFill>
                <a:effectLst/>
                <a:uFillTx/>
                <a:latin typeface="Aptos"/>
              </a:rPr>
              <a:t>LISP Data Path</a:t>
            </a: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2200" b="0" u="none" strike="noStrike">
                <a:solidFill>
                  <a:schemeClr val="dk1"/>
                </a:solidFill>
                <a:effectLst/>
                <a:uFillTx/>
                <a:latin typeface="Aptos"/>
              </a:rPr>
              <a:t>Once ITR receives EID-to-RLOC mapping from ETR or MS (if ETR set proxy map-reply flag P-bit in Map-Register), LISP traffic takes below data path:</a:t>
            </a:r>
            <a:endParaRPr lang="en-US" sz="2200" b="0" u="none" strike="noStrike">
              <a:solidFill>
                <a:schemeClr val="dk1"/>
              </a:solidFill>
              <a:effectLst/>
              <a:uFillTx/>
              <a:latin typeface="Aptos"/>
            </a:endParaRPr>
          </a:p>
          <a:p>
            <a:pPr marL="457200" lvl="2" indent="-457200" algn="l" defTabSz="914400">
              <a:lnSpc>
                <a:spcPct val="120000"/>
              </a:lnSpc>
              <a:spcBef>
                <a:spcPts val="499"/>
              </a:spcBef>
              <a:buClr>
                <a:srgbClr val="000000"/>
              </a:buClr>
              <a:buFont typeface="Arial"/>
              <a:buAutoNum type="arabicPeriod"/>
              <a:tabLst>
                <a:tab pos="0" algn="l"/>
              </a:tabLst>
            </a:pPr>
            <a:r>
              <a:rPr lang="en-US" sz="2200" b="0" u="none" strike="noStrike">
                <a:solidFill>
                  <a:schemeClr val="dk1"/>
                </a:solidFill>
                <a:effectLst/>
                <a:uFillTx/>
                <a:latin typeface="Aptos"/>
              </a:rPr>
              <a:t>ITR receives a packet from EID host1 (10.1.1.1) destined to 10.1.2.2 .</a:t>
            </a:r>
            <a:endParaRPr lang="en-US" sz="2200" b="0" u="none" strike="noStrike">
              <a:solidFill>
                <a:schemeClr val="dk1"/>
              </a:solidFill>
              <a:effectLst/>
              <a:uFillTx/>
              <a:latin typeface="Aptos"/>
            </a:endParaRPr>
          </a:p>
          <a:p>
            <a:pPr marL="457200" lvl="2" indent="-457200" algn="l" defTabSz="914400">
              <a:lnSpc>
                <a:spcPct val="120000"/>
              </a:lnSpc>
              <a:spcBef>
                <a:spcPts val="499"/>
              </a:spcBef>
              <a:buClr>
                <a:srgbClr val="000000"/>
              </a:buClr>
              <a:buFont typeface="Arial"/>
              <a:buAutoNum type="arabicPeriod"/>
              <a:tabLst>
                <a:tab pos="0" algn="l"/>
              </a:tabLst>
            </a:pPr>
            <a:r>
              <a:rPr lang="en-US" sz="2200" b="0" u="none" strike="noStrike">
                <a:solidFill>
                  <a:schemeClr val="dk1"/>
                </a:solidFill>
                <a:effectLst/>
                <a:uFillTx/>
                <a:latin typeface="Aptos"/>
              </a:rPr>
              <a:t>ITR does FIB lookup and finds a match. It encapsulates received packet with Outer Header (OH) with source IP as ITR's RLOC (100.64.1.1) destination IP as ETR's RLOC (100.64.2.2). ITR selects UDP source port tactically to make sure load sharing in ECMP and UDP destination port as 4342.</a:t>
            </a:r>
            <a:endParaRPr lang="en-US" sz="2200" b="0" u="none" strike="noStrike">
              <a:solidFill>
                <a:schemeClr val="dk1"/>
              </a:solidFill>
              <a:effectLst/>
              <a:uFillTx/>
              <a:latin typeface="Aptos"/>
            </a:endParaRPr>
          </a:p>
          <a:p>
            <a:pPr marL="457200" lvl="2" indent="-457200" algn="l" defTabSz="914400">
              <a:lnSpc>
                <a:spcPct val="120000"/>
              </a:lnSpc>
              <a:spcBef>
                <a:spcPts val="499"/>
              </a:spcBef>
              <a:buClr>
                <a:srgbClr val="000000"/>
              </a:buClr>
              <a:buFont typeface="Arial"/>
              <a:buAutoNum type="arabicPeriod"/>
              <a:tabLst>
                <a:tab pos="0" algn="l"/>
              </a:tabLst>
            </a:pPr>
            <a:r>
              <a:rPr lang="en-US" sz="2200" b="0" u="none" strike="noStrike">
                <a:solidFill>
                  <a:schemeClr val="dk1"/>
                </a:solidFill>
                <a:effectLst/>
                <a:uFillTx/>
                <a:latin typeface="Aptos"/>
              </a:rPr>
              <a:t>ETR receives the packet and de-encapsulates and forwards it to 10.1.2.2 .</a:t>
            </a: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42" name="Picture 3" descr="A diagram of a cloud&#10;&#10;AI-generated content may be incorrect."/>
          <p:cNvPicPr/>
          <p:nvPr/>
        </p:nvPicPr>
        <p:blipFill>
          <a:blip r:embed="rId1"/>
          <a:stretch/>
        </p:blipFill>
        <p:spPr>
          <a:xfrm>
            <a:off x="66960" y="2117520"/>
            <a:ext cx="4132440" cy="369684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0" y="0"/>
            <a:ext cx="420516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 </a:t>
            </a:r>
            <a:endParaRPr lang="en-US" sz="4400" b="0" u="none" strike="noStrike">
              <a:solidFill>
                <a:schemeClr val="dk1"/>
              </a:solidFill>
              <a:effectLst/>
              <a:uFillTx/>
              <a:latin typeface="Aptos Display"/>
            </a:endParaRPr>
          </a:p>
        </p:txBody>
      </p:sp>
      <p:sp>
        <p:nvSpPr>
          <p:cNvPr id="144" name="PlaceHolder 2"/>
          <p:cNvSpPr>
            <a:spLocks noGrp="1"/>
          </p:cNvSpPr>
          <p:nvPr>
            <p:ph/>
          </p:nvPr>
        </p:nvSpPr>
        <p:spPr>
          <a:xfrm>
            <a:off x="4448520" y="268560"/>
            <a:ext cx="7521840" cy="6447600"/>
          </a:xfrm>
          <a:prstGeom prst="rect">
            <a:avLst/>
          </a:prstGeom>
          <a:noFill/>
          <a:ln w="0">
            <a:noFill/>
          </a:ln>
        </p:spPr>
        <p:txBody>
          <a:bodyPr lIns="91440" tIns="45720" rIns="91440" bIns="45720" anchor="t">
            <a:noAutofit/>
          </a:bodyPr>
          <a:p>
            <a:pPr indent="0" algn="l" defTabSz="914400">
              <a:lnSpc>
                <a:spcPct val="120000"/>
              </a:lnSpc>
              <a:spcBef>
                <a:spcPts val="499"/>
              </a:spcBef>
              <a:buNone/>
              <a:tabLst>
                <a:tab pos="0" algn="l"/>
              </a:tabLst>
            </a:pPr>
            <a:r>
              <a:rPr lang="en-US" sz="2200" b="1" u="none" strike="noStrike">
                <a:solidFill>
                  <a:schemeClr val="dk1"/>
                </a:solidFill>
                <a:effectLst/>
                <a:uFillTx/>
                <a:latin typeface="Aptos"/>
              </a:rPr>
              <a:t>Proxy ETR (PETR)</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PETR connects non-LISP site to RLOC space and does not register any EIDs.</a:t>
            </a:r>
            <a:endParaRPr lang="en-US" sz="18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ITR that sends Map-Request message for EIDs that are not registered in MS database receive Negative-Map-Reply message.</a:t>
            </a:r>
            <a:endParaRPr lang="en-US" sz="18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Negative-Map-Reply message contains shortest prefix that matches the requested destination.</a:t>
            </a:r>
            <a:endParaRPr lang="en-US" sz="18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ITR installs the prefix in its local cache and FIB, so that any destination matching the prefix are forwarded to PETR directly.</a:t>
            </a: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1800" b="0" u="none" strike="noStrike">
                <a:solidFill>
                  <a:schemeClr val="dk1"/>
                </a:solidFill>
                <a:effectLst/>
                <a:uFillTx/>
                <a:latin typeface="Aptos"/>
              </a:rPr>
              <a:t>Following steps are followed to forward traffic to non-LISP site through PETR:</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Host1 receives destination address 100.64.254.254 for cisco.com from DNS.</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ITR sends Map-Request for 100.64.254.254 to MS</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ITR receives Negative-Map-Reply with calculated shortest prefix.</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ITR now sends encapsulated packets to PETR</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PETR de-encapsulates the packet and sends to cisco.com</a:t>
            </a: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45" name="Picture 3" descr="A diagram of a cloud network&#10;&#10;AI-generated content may be incorrect."/>
          <p:cNvPicPr/>
          <p:nvPr/>
        </p:nvPicPr>
        <p:blipFill>
          <a:blip r:embed="rId1"/>
          <a:stretch/>
        </p:blipFill>
        <p:spPr>
          <a:xfrm>
            <a:off x="66960" y="1932120"/>
            <a:ext cx="4132440" cy="3864600"/>
          </a:xfrm>
          <a:prstGeom prst="rect">
            <a:avLst/>
          </a:prstGeom>
          <a:noFill/>
          <a:ln w="0">
            <a:noFill/>
          </a:ln>
        </p:spPr>
      </p:pic>
      <p:sp>
        <p:nvSpPr>
          <p:cNvPr id="146" name="TextBox 4"/>
          <p:cNvSpPr/>
          <p:nvPr/>
        </p:nvSpPr>
        <p:spPr>
          <a:xfrm>
            <a:off x="181080" y="6067440"/>
            <a:ext cx="4009680" cy="36900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lang="en-US" sz="1800" b="0" u="none" strike="noStrike">
                <a:solidFill>
                  <a:schemeClr val="dk1"/>
                </a:solidFill>
                <a:effectLst/>
                <a:uFillTx/>
                <a:latin typeface="Aptos"/>
              </a:rPr>
              <a:t>How does cisco.com reply? </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0" y="0"/>
            <a:ext cx="420516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LISP </a:t>
            </a:r>
            <a:endParaRPr lang="en-US" sz="4400" b="0" u="none" strike="noStrike">
              <a:solidFill>
                <a:schemeClr val="dk1"/>
              </a:solidFill>
              <a:effectLst/>
              <a:uFillTx/>
              <a:latin typeface="Aptos Display"/>
            </a:endParaRPr>
          </a:p>
        </p:txBody>
      </p:sp>
      <p:sp>
        <p:nvSpPr>
          <p:cNvPr id="148" name="PlaceHolder 2"/>
          <p:cNvSpPr>
            <a:spLocks noGrp="1"/>
          </p:cNvSpPr>
          <p:nvPr>
            <p:ph/>
          </p:nvPr>
        </p:nvSpPr>
        <p:spPr>
          <a:xfrm>
            <a:off x="4448520" y="268560"/>
            <a:ext cx="7521840" cy="6447600"/>
          </a:xfrm>
          <a:prstGeom prst="rect">
            <a:avLst/>
          </a:prstGeom>
          <a:noFill/>
          <a:ln w="0">
            <a:noFill/>
          </a:ln>
        </p:spPr>
        <p:txBody>
          <a:bodyPr lIns="91440" tIns="45720" rIns="91440" bIns="45720" anchor="t">
            <a:noAutofit/>
          </a:bodyPr>
          <a:p>
            <a:pPr indent="0" algn="l" defTabSz="914400">
              <a:lnSpc>
                <a:spcPct val="120000"/>
              </a:lnSpc>
              <a:spcBef>
                <a:spcPts val="499"/>
              </a:spcBef>
              <a:buNone/>
              <a:tabLst>
                <a:tab pos="0" algn="l"/>
              </a:tabLst>
            </a:pPr>
            <a:r>
              <a:rPr lang="en-US" sz="2200" b="1" u="none" strike="noStrike">
                <a:solidFill>
                  <a:schemeClr val="dk1"/>
                </a:solidFill>
                <a:effectLst/>
                <a:uFillTx/>
                <a:latin typeface="Aptos"/>
              </a:rPr>
              <a:t>Proxy ITR (PITR)</a:t>
            </a:r>
            <a:endParaRPr lang="en-US" sz="22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PITR connects non-LISP site to RLOC space and does not register any EIDs.</a:t>
            </a:r>
            <a:endParaRPr lang="en-US" sz="18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They receive packets from non-LISP site destined for EIDs.</a:t>
            </a:r>
            <a:endParaRPr lang="en-US" sz="1800" b="0" u="none" strike="noStrike">
              <a:solidFill>
                <a:schemeClr val="dk1"/>
              </a:solidFill>
              <a:effectLst/>
              <a:uFillTx/>
              <a:latin typeface="Aptos"/>
            </a:endParaRPr>
          </a:p>
          <a:p>
            <a:pPr marL="285840" lvl="2" indent="-285840" algn="l" defTabSz="914400">
              <a:lnSpc>
                <a:spcPct val="12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Unlike ITR,  PITR does not follow Map-Request Reply steps 1 &amp; 2. Step 3 onwards is followed exactly. </a:t>
            </a: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r>
              <a:rPr lang="en-US" sz="1800" b="0" u="none" strike="noStrike">
                <a:solidFill>
                  <a:schemeClr val="dk1"/>
                </a:solidFill>
                <a:effectLst/>
                <a:uFillTx/>
                <a:latin typeface="Aptos"/>
              </a:rPr>
              <a:t>Following steps are followed to forward traffic from non-LISP site through PITR:</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Traffic/Reply from cisco.com is received by PITR destined for 10.1.1.1</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PITR sends Map-Request to MR for 10.1.1.1</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MS forwards the Map-Request to ETR.</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ETR sends Map-Reply message with EID-to-RLOC (10.1.1.1-to-100.64.1.1) to PITR. It installs the mapping into local cache and FIB.</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PITR sends encapsulated LISP packet to ETR.</a:t>
            </a:r>
            <a:endParaRPr lang="en-US" sz="1800" b="0" u="none" strike="noStrike">
              <a:solidFill>
                <a:schemeClr val="dk1"/>
              </a:solidFill>
              <a:effectLst/>
              <a:uFillTx/>
              <a:latin typeface="Aptos"/>
            </a:endParaRPr>
          </a:p>
          <a:p>
            <a:pPr marL="914400" lvl="3" indent="-457200" algn="l" defTabSz="914400">
              <a:lnSpc>
                <a:spcPct val="12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rPr>
              <a:t>ETR de-encapsulates the packet and forwards it to 10.1.1.1 .</a:t>
            </a: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49" name="Picture 3" descr="A diagram of a cloud computing network&#10;&#10;AI-generated content may be incorrect."/>
          <p:cNvPicPr/>
          <p:nvPr/>
        </p:nvPicPr>
        <p:blipFill>
          <a:blip r:embed="rId1"/>
          <a:stretch/>
        </p:blipFill>
        <p:spPr>
          <a:xfrm>
            <a:off x="66960" y="1852200"/>
            <a:ext cx="4132440" cy="353808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0" y="0"/>
            <a:ext cx="420516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5. VXLAN  </a:t>
            </a:r>
            <a:endParaRPr lang="en-US" sz="4400" b="0" u="none" strike="noStrike">
              <a:solidFill>
                <a:schemeClr val="dk1"/>
              </a:solidFill>
              <a:effectLst/>
              <a:uFillTx/>
              <a:latin typeface="Aptos Display"/>
            </a:endParaRPr>
          </a:p>
        </p:txBody>
      </p:sp>
      <p:sp>
        <p:nvSpPr>
          <p:cNvPr id="151" name="PlaceHolder 2"/>
          <p:cNvSpPr>
            <a:spLocks noGrp="1"/>
          </p:cNvSpPr>
          <p:nvPr>
            <p:ph/>
          </p:nvPr>
        </p:nvSpPr>
        <p:spPr>
          <a:xfrm>
            <a:off x="4448520" y="268560"/>
            <a:ext cx="7521840" cy="6447600"/>
          </a:xfrm>
          <a:prstGeom prst="rect">
            <a:avLst/>
          </a:prstGeom>
          <a:noFill/>
          <a:ln w="0">
            <a:noFill/>
          </a:ln>
        </p:spPr>
        <p:txBody>
          <a:bodyPr lIns="91440" tIns="45720" rIns="91440" bIns="45720" anchor="t">
            <a:noAutofit/>
          </a:bodyPr>
          <a:p>
            <a:pPr marL="34308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Server virtualization has increased the number of VMs in a bare metal server and thus the increase in number of MAC addresses.</a:t>
            </a:r>
            <a:endParaRPr lang="en-US" sz="22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VXLAN is an overlay technology that extends layer 2 and layer 3 services over a layer 3 underlay by encapsulating packets with MAC-in-IP/UDP.</a:t>
            </a:r>
            <a:endParaRPr lang="en-US" sz="22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Internet Association of Number Assignment (IANA) has assigned UDP destination port 4789.</a:t>
            </a:r>
            <a:endParaRPr lang="en-US" sz="22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Whereas Linux uses port number 8472 as it started using before IANA assigned UDP port for VXLAN.</a:t>
            </a:r>
            <a:endParaRPr lang="en-US" sz="22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Unlike VLAN ID that has only 12 bits, VXLAN has 24 bit for VXLAN Network Identifier (VNI) that allows for 16 million overlay networks within same infrastructure.</a:t>
            </a:r>
            <a:endParaRPr lang="en-US" sz="22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The VNI located in VXLAN shim header encapsulates the original ethernet frame originated by end device.</a:t>
            </a:r>
            <a:endParaRPr lang="en-US" sz="2200" b="0" u="none" strike="noStrike">
              <a:solidFill>
                <a:schemeClr val="dk1"/>
              </a:solidFill>
              <a:effectLst/>
              <a:uFillTx/>
              <a:latin typeface="Aptos"/>
            </a:endParaRPr>
          </a:p>
          <a:p>
            <a:pPr indent="0" algn="l" defTabSz="914400">
              <a:lnSpc>
                <a:spcPct val="120000"/>
              </a:lnSpc>
              <a:spcBef>
                <a:spcPts val="499"/>
              </a:spcBef>
              <a:buNone/>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52" name="Picture 3" descr="A diagram of a network connection&#10;&#10;AI-generated content may be incorrect."/>
          <p:cNvPicPr/>
          <p:nvPr/>
        </p:nvPicPr>
        <p:blipFill>
          <a:blip r:embed="rId1"/>
          <a:stretch/>
        </p:blipFill>
        <p:spPr>
          <a:xfrm>
            <a:off x="16200" y="2167200"/>
            <a:ext cx="4263120" cy="324144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0" y="0"/>
            <a:ext cx="420516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5. VXLAN  </a:t>
            </a:r>
            <a:endParaRPr lang="en-US" sz="4400" b="0" u="none" strike="noStrike">
              <a:solidFill>
                <a:schemeClr val="dk1"/>
              </a:solidFill>
              <a:effectLst/>
              <a:uFillTx/>
              <a:latin typeface="Aptos Display"/>
            </a:endParaRPr>
          </a:p>
        </p:txBody>
      </p:sp>
      <p:sp>
        <p:nvSpPr>
          <p:cNvPr id="154" name="PlaceHolder 2"/>
          <p:cNvSpPr>
            <a:spLocks noGrp="1"/>
          </p:cNvSpPr>
          <p:nvPr>
            <p:ph/>
          </p:nvPr>
        </p:nvSpPr>
        <p:spPr>
          <a:xfrm>
            <a:off x="4470480" y="500760"/>
            <a:ext cx="7521840" cy="5859720"/>
          </a:xfrm>
          <a:prstGeom prst="rect">
            <a:avLst/>
          </a:prstGeom>
          <a:noFill/>
          <a:ln w="0">
            <a:noFill/>
          </a:ln>
        </p:spPr>
        <p:txBody>
          <a:bodyPr lIns="91440" tIns="45720" rIns="91440" bIns="45720" anchor="t">
            <a:noAutofit/>
          </a:bodyPr>
          <a:p>
            <a:pPr marL="34308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To facilitate the discovery of VNI located in shim VXLAN header in between Outer IP/UDP header and inner ethernet header, Virtual Tunnel Endpoints (VTEPs) are used. </a:t>
            </a:r>
            <a:endParaRPr lang="en-US" sz="2200" b="0" u="none" strike="noStrike">
              <a:solidFill>
                <a:schemeClr val="dk1"/>
              </a:solidFill>
              <a:effectLst/>
              <a:uFillTx/>
              <a:latin typeface="Aptos"/>
            </a:endParaRPr>
          </a:p>
          <a:p>
            <a:pPr marL="34308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A VTEP has two types of interface :</a:t>
            </a:r>
            <a:endParaRPr lang="en-US" sz="2200" b="0" u="none" strike="noStrike">
              <a:solidFill>
                <a:schemeClr val="dk1"/>
              </a:solidFill>
              <a:effectLst/>
              <a:uFillTx/>
              <a:latin typeface="Aptos"/>
            </a:endParaRPr>
          </a:p>
          <a:p>
            <a:pPr marL="800280" lvl="3" indent="-457200" algn="l" defTabSz="914400">
              <a:lnSpc>
                <a:spcPct val="120000"/>
              </a:lnSpc>
              <a:spcBef>
                <a:spcPts val="499"/>
              </a:spcBef>
              <a:buClr>
                <a:srgbClr val="000000"/>
              </a:buClr>
              <a:buFont typeface="Arial"/>
              <a:buChar char="•"/>
            </a:pPr>
            <a:r>
              <a:rPr lang="en-US" sz="2000" b="0" u="none" strike="noStrike">
                <a:solidFill>
                  <a:schemeClr val="dk1"/>
                </a:solidFill>
                <a:effectLst/>
                <a:uFillTx/>
                <a:latin typeface="Aptos"/>
              </a:rPr>
              <a:t>IP interface: Core facing network interface for VXLAN. This interface encapsulates and de-encapsulates VXLAN traffic and helps to identify VTEP in the network. </a:t>
            </a:r>
            <a:endParaRPr lang="en-US" sz="2000" b="0" u="none" strike="noStrike">
              <a:solidFill>
                <a:schemeClr val="dk1"/>
              </a:solidFill>
              <a:effectLst/>
              <a:uFillTx/>
              <a:latin typeface="Aptos"/>
            </a:endParaRPr>
          </a:p>
          <a:p>
            <a:pPr marL="800280" lvl="3" indent="-457200" algn="l" defTabSz="914400">
              <a:lnSpc>
                <a:spcPct val="120000"/>
              </a:lnSpc>
              <a:spcBef>
                <a:spcPts val="499"/>
              </a:spcBef>
              <a:buClr>
                <a:srgbClr val="000000"/>
              </a:buClr>
              <a:buFont typeface="Arial"/>
              <a:buChar char="•"/>
            </a:pPr>
            <a:r>
              <a:rPr lang="en-US" sz="2000" b="0" u="none" strike="noStrike">
                <a:solidFill>
                  <a:schemeClr val="dk1"/>
                </a:solidFill>
                <a:effectLst/>
                <a:uFillTx/>
                <a:latin typeface="Aptos"/>
              </a:rPr>
              <a:t>Local LAN Interfaces : Interfaces that provide bridging between local endpoints.</a:t>
            </a:r>
            <a:endParaRPr lang="en-US" sz="2000" b="0" u="none" strike="noStrike">
              <a:solidFill>
                <a:schemeClr val="dk1"/>
              </a:solidFill>
              <a:effectLst/>
              <a:uFillTx/>
              <a:latin typeface="Aptos"/>
            </a:endParaRPr>
          </a:p>
          <a:p>
            <a:pPr marL="228600" lvl="2" indent="-343080" algn="l" defTabSz="914400">
              <a:lnSpc>
                <a:spcPct val="120000"/>
              </a:lnSpc>
              <a:spcBef>
                <a:spcPts val="499"/>
              </a:spcBef>
              <a:buClr>
                <a:srgbClr val="000000"/>
              </a:buClr>
              <a:buFont typeface="Arial"/>
              <a:buChar char="•"/>
            </a:pPr>
            <a:r>
              <a:rPr lang="en-US" sz="2200" b="0" u="none" strike="noStrike">
                <a:solidFill>
                  <a:schemeClr val="dk1"/>
                </a:solidFill>
                <a:effectLst/>
                <a:uFillTx/>
                <a:latin typeface="Aptos"/>
              </a:rPr>
              <a:t>A VXLAN gateway is a type of VTEP that combines traditional VLAN and VXLAN into a common layer 2 segment for devices that do not support VXLAN.</a:t>
            </a: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55" name="Picture 3" descr="A diagram of a cloud with text&#10;&#10;AI-generated content may be incorrect."/>
          <p:cNvPicPr/>
          <p:nvPr/>
        </p:nvPicPr>
        <p:blipFill>
          <a:blip r:embed="rId1"/>
          <a:stretch/>
        </p:blipFill>
        <p:spPr>
          <a:xfrm>
            <a:off x="147960" y="1572120"/>
            <a:ext cx="4050720" cy="372060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0" y="0"/>
            <a:ext cx="4205160" cy="15163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5. VXLAN  </a:t>
            </a:r>
            <a:endParaRPr lang="en-US" sz="4400" b="0" u="none" strike="noStrike">
              <a:solidFill>
                <a:schemeClr val="dk1"/>
              </a:solidFill>
              <a:effectLst/>
              <a:uFillTx/>
              <a:latin typeface="Aptos Display"/>
            </a:endParaRPr>
          </a:p>
        </p:txBody>
      </p:sp>
      <p:sp>
        <p:nvSpPr>
          <p:cNvPr id="157" name="PlaceHolder 2"/>
          <p:cNvSpPr>
            <a:spLocks noGrp="1"/>
          </p:cNvSpPr>
          <p:nvPr>
            <p:ph/>
          </p:nvPr>
        </p:nvSpPr>
        <p:spPr>
          <a:xfrm>
            <a:off x="4340520" y="16560"/>
            <a:ext cx="7521840" cy="6447600"/>
          </a:xfrm>
          <a:prstGeom prst="rect">
            <a:avLst/>
          </a:prstGeom>
          <a:noFill/>
          <a:ln w="0">
            <a:noFill/>
          </a:ln>
        </p:spPr>
        <p:txBody>
          <a:bodyPr lIns="91440" tIns="45720" rIns="91440" bIns="45720" anchor="t">
            <a:noAutofit/>
          </a:bodyPr>
          <a:p>
            <a:pPr marL="343080" lvl="2" indent="-343080" algn="l" defTabSz="914400">
              <a:lnSpc>
                <a:spcPct val="120000"/>
              </a:lnSpc>
              <a:spcBef>
                <a:spcPts val="215"/>
              </a:spcBef>
              <a:buClr>
                <a:srgbClr val="000000"/>
              </a:buClr>
              <a:buFont typeface="Arial"/>
              <a:buChar char="•"/>
            </a:pPr>
            <a:r>
              <a:rPr lang="en-US" sz="2000" b="0" u="none" strike="noStrike">
                <a:solidFill>
                  <a:schemeClr val="dk1"/>
                </a:solidFill>
                <a:effectLst/>
                <a:uFillTx/>
                <a:latin typeface="Aptos"/>
              </a:rPr>
              <a:t>VXLAN is data plane only protocol and has no control plane defined, so that it can be used with other overlay control plane such as :</a:t>
            </a:r>
            <a:endParaRPr lang="en-US" sz="2000" b="0" u="none" strike="noStrike">
              <a:solidFill>
                <a:schemeClr val="dk1"/>
              </a:solidFill>
              <a:effectLst/>
              <a:uFillTx/>
              <a:latin typeface="Aptos"/>
            </a:endParaRPr>
          </a:p>
          <a:p>
            <a:pPr marL="743040" lvl="3" indent="-285840" algn="l" defTabSz="914400">
              <a:lnSpc>
                <a:spcPct val="120000"/>
              </a:lnSpc>
              <a:spcBef>
                <a:spcPts val="215"/>
              </a:spcBef>
              <a:buClr>
                <a:srgbClr val="000000"/>
              </a:buClr>
              <a:buFont typeface="Arial"/>
              <a:buChar char="•"/>
            </a:pPr>
            <a:r>
              <a:rPr lang="en-US" sz="1800" b="0" u="none" strike="noStrike">
                <a:solidFill>
                  <a:schemeClr val="dk1"/>
                </a:solidFill>
                <a:effectLst/>
                <a:uFillTx/>
                <a:latin typeface="Aptos"/>
              </a:rPr>
              <a:t>VXLAN with multicast underlay</a:t>
            </a:r>
            <a:endParaRPr lang="en-US" sz="1800" b="0" u="none" strike="noStrike">
              <a:solidFill>
                <a:schemeClr val="dk1"/>
              </a:solidFill>
              <a:effectLst/>
              <a:uFillTx/>
              <a:latin typeface="Aptos"/>
            </a:endParaRPr>
          </a:p>
          <a:p>
            <a:pPr marL="743040" lvl="3" indent="-285840" algn="l" defTabSz="914400">
              <a:lnSpc>
                <a:spcPct val="120000"/>
              </a:lnSpc>
              <a:spcBef>
                <a:spcPts val="215"/>
              </a:spcBef>
              <a:buClr>
                <a:srgbClr val="000000"/>
              </a:buClr>
              <a:buFont typeface="Arial"/>
              <a:buChar char="•"/>
            </a:pPr>
            <a:r>
              <a:rPr lang="en-US" sz="1800" b="0" u="none" strike="noStrike">
                <a:solidFill>
                  <a:schemeClr val="dk1"/>
                </a:solidFill>
                <a:effectLst/>
                <a:uFillTx/>
                <a:latin typeface="Aptos"/>
              </a:rPr>
              <a:t>VXLAN with static unicast VXLAN tunnels</a:t>
            </a:r>
            <a:endParaRPr lang="en-US" sz="1800" b="0" u="none" strike="noStrike">
              <a:solidFill>
                <a:schemeClr val="dk1"/>
              </a:solidFill>
              <a:effectLst/>
              <a:uFillTx/>
              <a:latin typeface="Aptos"/>
            </a:endParaRPr>
          </a:p>
          <a:p>
            <a:pPr marL="743040" lvl="3" indent="-285840" algn="l" defTabSz="914400">
              <a:lnSpc>
                <a:spcPct val="120000"/>
              </a:lnSpc>
              <a:spcBef>
                <a:spcPts val="215"/>
              </a:spcBef>
              <a:buClr>
                <a:srgbClr val="000000"/>
              </a:buClr>
              <a:buFont typeface="Arial"/>
              <a:buChar char="•"/>
            </a:pPr>
            <a:r>
              <a:rPr lang="en-US" sz="1800" b="0" u="none" strike="noStrike">
                <a:solidFill>
                  <a:schemeClr val="dk1"/>
                </a:solidFill>
                <a:effectLst/>
                <a:uFillTx/>
                <a:latin typeface="Aptos"/>
              </a:rPr>
              <a:t>VXLAN with MP-BGP EVPN</a:t>
            </a:r>
            <a:endParaRPr lang="en-US" sz="1800" b="0" u="none" strike="noStrike">
              <a:solidFill>
                <a:schemeClr val="dk1"/>
              </a:solidFill>
              <a:effectLst/>
              <a:uFillTx/>
              <a:latin typeface="Aptos"/>
            </a:endParaRPr>
          </a:p>
          <a:p>
            <a:pPr marL="743040" lvl="3" indent="-285840" algn="l" defTabSz="914400">
              <a:lnSpc>
                <a:spcPct val="120000"/>
              </a:lnSpc>
              <a:spcBef>
                <a:spcPts val="215"/>
              </a:spcBef>
              <a:buClr>
                <a:srgbClr val="000000"/>
              </a:buClr>
              <a:buFont typeface="Arial"/>
              <a:buChar char="•"/>
            </a:pPr>
            <a:r>
              <a:rPr lang="en-US" sz="1800" b="0" u="none" strike="noStrike">
                <a:solidFill>
                  <a:schemeClr val="dk1"/>
                </a:solidFill>
                <a:effectLst/>
                <a:uFillTx/>
                <a:latin typeface="Aptos"/>
              </a:rPr>
              <a:t>VXLAN with LISP control plane</a:t>
            </a:r>
            <a:endParaRPr lang="en-US" sz="1800" b="0" u="none" strike="noStrike">
              <a:solidFill>
                <a:schemeClr val="dk1"/>
              </a:solidFill>
              <a:effectLst/>
              <a:uFillTx/>
              <a:latin typeface="Aptos"/>
            </a:endParaRPr>
          </a:p>
          <a:p>
            <a:pPr marL="343080" lvl="2" indent="-343080" algn="l" defTabSz="914400">
              <a:lnSpc>
                <a:spcPct val="120000"/>
              </a:lnSpc>
              <a:spcBef>
                <a:spcPts val="215"/>
              </a:spcBef>
              <a:buClr>
                <a:srgbClr val="000000"/>
              </a:buClr>
              <a:buFont typeface="Arial"/>
              <a:buChar char="•"/>
            </a:pPr>
            <a:r>
              <a:rPr lang="en-US" sz="2000" b="0" u="none" strike="noStrike">
                <a:solidFill>
                  <a:schemeClr val="dk1"/>
                </a:solidFill>
                <a:effectLst/>
                <a:uFillTx/>
                <a:latin typeface="Aptos"/>
              </a:rPr>
              <a:t>VXLAN with MP-BGP EVPN and Multicast are mostly used in data center and service provider environments.</a:t>
            </a:r>
            <a:endParaRPr lang="en-US" sz="2000" b="0" u="none" strike="noStrike">
              <a:solidFill>
                <a:schemeClr val="dk1"/>
              </a:solidFill>
              <a:effectLst/>
              <a:uFillTx/>
              <a:latin typeface="Aptos"/>
            </a:endParaRPr>
          </a:p>
          <a:p>
            <a:pPr marL="343080" lvl="2" indent="-343080" algn="l" defTabSz="914400">
              <a:lnSpc>
                <a:spcPct val="120000"/>
              </a:lnSpc>
              <a:spcBef>
                <a:spcPts val="215"/>
              </a:spcBef>
              <a:buClr>
                <a:srgbClr val="000000"/>
              </a:buClr>
              <a:buFont typeface="Arial"/>
              <a:buChar char="•"/>
            </a:pPr>
            <a:r>
              <a:rPr lang="en-US" sz="2000" b="0" u="none" strike="noStrike">
                <a:solidFill>
                  <a:schemeClr val="dk1"/>
                </a:solidFill>
                <a:effectLst/>
                <a:uFillTx/>
                <a:latin typeface="Aptos"/>
              </a:rPr>
              <a:t>VXLAN with LISP control plane is preferred for campus environments.</a:t>
            </a:r>
            <a:endParaRPr lang="en-US" sz="2000" b="0" u="none" strike="noStrike">
              <a:solidFill>
                <a:schemeClr val="dk1"/>
              </a:solidFill>
              <a:effectLst/>
              <a:uFillTx/>
              <a:latin typeface="Aptos"/>
            </a:endParaRPr>
          </a:p>
          <a:p>
            <a:pPr marL="343080" lvl="2" indent="-343080" algn="l" defTabSz="914400">
              <a:lnSpc>
                <a:spcPct val="120000"/>
              </a:lnSpc>
              <a:spcBef>
                <a:spcPts val="215"/>
              </a:spcBef>
              <a:buClr>
                <a:srgbClr val="000000"/>
              </a:buClr>
              <a:buFont typeface="Arial"/>
              <a:buChar char="•"/>
            </a:pPr>
            <a:r>
              <a:rPr lang="en-US" sz="2000" b="0" u="none" strike="noStrike">
                <a:solidFill>
                  <a:schemeClr val="dk1"/>
                </a:solidFill>
                <a:effectLst/>
                <a:uFillTx/>
                <a:latin typeface="Aptos"/>
              </a:rPr>
              <a:t>Cisco Software Defined Access (SDA) is an implementation of VXLAN with LISP control plane.</a:t>
            </a:r>
            <a:endParaRPr lang="en-US" sz="2000" b="0" u="none" strike="noStrike">
              <a:solidFill>
                <a:schemeClr val="dk1"/>
              </a:solidFill>
              <a:effectLst/>
              <a:uFillTx/>
              <a:latin typeface="Aptos"/>
            </a:endParaRPr>
          </a:p>
          <a:p>
            <a:pPr marL="343080" lvl="2" indent="-343080" algn="l" defTabSz="914400">
              <a:lnSpc>
                <a:spcPct val="120000"/>
              </a:lnSpc>
              <a:spcBef>
                <a:spcPts val="215"/>
              </a:spcBef>
              <a:buClr>
                <a:srgbClr val="000000"/>
              </a:buClr>
              <a:buFont typeface="Arial"/>
              <a:buChar char="•"/>
            </a:pPr>
            <a:r>
              <a:rPr lang="en-US" sz="2000" b="0" u="none" strike="noStrike">
                <a:solidFill>
                  <a:schemeClr val="dk1"/>
                </a:solidFill>
                <a:effectLst/>
                <a:uFillTx/>
                <a:latin typeface="Aptos"/>
              </a:rPr>
              <a:t>LISP encapsulates IP packet thus only provides layer 3 overlay.</a:t>
            </a:r>
            <a:endParaRPr lang="en-US" sz="2000" b="0" u="none" strike="noStrike">
              <a:solidFill>
                <a:schemeClr val="dk1"/>
              </a:solidFill>
              <a:effectLst/>
              <a:uFillTx/>
              <a:latin typeface="Aptos"/>
            </a:endParaRPr>
          </a:p>
          <a:p>
            <a:pPr marL="343080" lvl="2" indent="-343080" algn="l" defTabSz="914400">
              <a:lnSpc>
                <a:spcPct val="120000"/>
              </a:lnSpc>
              <a:spcBef>
                <a:spcPts val="215"/>
              </a:spcBef>
              <a:buClr>
                <a:srgbClr val="000000"/>
              </a:buClr>
              <a:buFont typeface="Arial"/>
              <a:buChar char="•"/>
            </a:pPr>
            <a:r>
              <a:rPr lang="en-US" sz="2000" b="0" u="none" strike="noStrike">
                <a:solidFill>
                  <a:schemeClr val="dk1"/>
                </a:solidFill>
                <a:effectLst/>
                <a:uFillTx/>
                <a:latin typeface="Aptos"/>
              </a:rPr>
              <a:t>Whereas VXLAN encapsulates ethernet frame thus can provide both layer 2 and layer 3 overlay.</a:t>
            </a:r>
            <a:endParaRPr lang="en-US" sz="2000" b="0" u="none" strike="noStrike">
              <a:solidFill>
                <a:schemeClr val="dk1"/>
              </a:solidFill>
              <a:effectLst/>
              <a:uFillTx/>
              <a:latin typeface="Aptos"/>
            </a:endParaRPr>
          </a:p>
          <a:p>
            <a:pPr indent="0" algn="l" defTabSz="914400">
              <a:lnSpc>
                <a:spcPct val="120000"/>
              </a:lnSpc>
              <a:spcBef>
                <a:spcPts val="499"/>
              </a:spcBef>
              <a:buNone/>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2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6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120000"/>
              </a:lnSpc>
              <a:spcBef>
                <a:spcPts val="499"/>
              </a:spcBef>
              <a:buNone/>
              <a:tabLst>
                <a:tab pos="0" algn="l"/>
              </a:tabLst>
            </a:pPr>
            <a:endParaRPr lang="en-US" sz="2400" b="0" u="none" strike="noStrike">
              <a:solidFill>
                <a:schemeClr val="dk1"/>
              </a:solidFill>
              <a:effectLst/>
              <a:uFillTx/>
              <a:latin typeface="Aptos"/>
            </a:endParaRPr>
          </a:p>
        </p:txBody>
      </p:sp>
      <p:pic>
        <p:nvPicPr>
          <p:cNvPr id="158" name="Picture 3"/>
          <p:cNvPicPr/>
          <p:nvPr/>
        </p:nvPicPr>
        <p:blipFill>
          <a:blip r:embed="rId1"/>
          <a:stretch/>
        </p:blipFill>
        <p:spPr>
          <a:xfrm>
            <a:off x="147960" y="1720800"/>
            <a:ext cx="4050720" cy="3183840"/>
          </a:xfrm>
          <a:prstGeom prst="rect">
            <a:avLst/>
          </a:prstGeom>
          <a:noFill/>
          <a:ln w="0">
            <a:noFill/>
          </a:ln>
        </p:spPr>
      </p:pic>
      <p:sp>
        <p:nvSpPr>
          <p:cNvPr id="159" name="TextBox 4"/>
          <p:cNvSpPr/>
          <p:nvPr/>
        </p:nvSpPr>
        <p:spPr>
          <a:xfrm>
            <a:off x="52200" y="4887000"/>
            <a:ext cx="3943080" cy="1918440"/>
          </a:xfrm>
          <a:prstGeom prst="rect">
            <a:avLst/>
          </a:prstGeom>
          <a:noFill/>
          <a:ln w="0">
            <a:noFill/>
          </a:ln>
        </p:spPr>
        <p:style>
          <a:lnRef idx="0"/>
          <a:fillRef idx="0"/>
          <a:effectRef idx="0"/>
          <a:fontRef idx="minor"/>
        </p:style>
        <p:txBody>
          <a:bodyPr numCol="1" spcCol="0" horzOverflow="overflow" anchor="t">
            <a:spAutoFit/>
          </a:bodyPr>
          <a:p>
            <a:pPr defTabSz="914400">
              <a:lnSpc>
                <a:spcPct val="120000"/>
              </a:lnSpc>
            </a:pPr>
            <a:r>
              <a:rPr lang="en-US" sz="1600" b="0" u="none" strike="noStrike">
                <a:solidFill>
                  <a:srgbClr val="000000"/>
                </a:solidFill>
                <a:effectLst/>
                <a:uFillTx/>
                <a:latin typeface="Aptos"/>
                <a:ea typeface="Arial"/>
              </a:rPr>
              <a:t>VXLAN is designed from LISP layer 2 specification and the packet structure of two looks similar with VXLAN header field that were not imported from LISP are left as reserved.</a:t>
            </a:r>
            <a:r>
              <a:rPr lang="en-US" sz="2000" b="0" u="none" strike="noStrike">
                <a:solidFill>
                  <a:schemeClr val="dk1"/>
                </a:solidFill>
                <a:effectLst/>
                <a:uFillTx/>
                <a:latin typeface="Aptos"/>
                <a:ea typeface="Arial"/>
              </a:rPr>
              <a:t>​</a:t>
            </a:r>
            <a:endParaRPr lang="en-AU"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pitchFamily="0" charset="1"/>
        <a:ea typeface=""/>
        <a:cs typeface=""/>
      </a:majorFont>
      <a:minorFont>
        <a:latin typeface="Aptos" panose="020B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49</TotalTime>
  <Application>LibreOffice/26.2.5.2$Windows_X86_64 LibreOffice_project/cd7284b4cbbfeb507e630c1aac019f4157393acb</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2013-07-15T20:26:40Z</dcterms:created>
  <dc:creator/>
  <dc:description/>
  <dc:language>en-AU</dc:language>
  <cp:lastModifiedBy/>
  <dcterms:modified xsi:type="dcterms:W3CDTF">2026-08-24T15:31:00Z</dcterms:modified>
  <cp:revision>3557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31</vt:i4>
  </property>
  <property fmtid="{D5CDD505-2E9C-101B-9397-08002B2CF9AE}" pid="3" name="PresentationFormat">
    <vt:lpwstr>Widescreen</vt:lpwstr>
  </property>
  <property fmtid="{D5CDD505-2E9C-101B-9397-08002B2CF9AE}" pid="4" name="Slides">
    <vt:i4>32</vt:i4>
  </property>
</Properties>
</file>