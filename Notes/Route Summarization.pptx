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64" r:id="rId2"/>
    <p:sldId id="258" r:id="rId3"/>
    <p:sldId id="265" r:id="rId4"/>
    <p:sldId id="266" r:id="rId5"/>
    <p:sldId id="26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22EA27-63B8-EB8A-9D5D-2C5D3FB2F5B9}" v="828" dt="2026-06-04T08:01:36.535"/>
    <p1510:client id="{F2F1087D-D56F-F41B-0498-5BBA14C50FE8}" v="35" dt="2026-06-04T06:38:09.0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ran Shahi" userId="9e80e87edecd0726" providerId="Windows Live" clId="Web-{0922EA27-63B8-EB8A-9D5D-2C5D3FB2F5B9}"/>
    <pc:docChg chg="addSld modSld">
      <pc:chgData name="Toran Shahi" userId="9e80e87edecd0726" providerId="Windows Live" clId="Web-{0922EA27-63B8-EB8A-9D5D-2C5D3FB2F5B9}" dt="2026-06-04T08:02:56.459" v="863"/>
      <pc:docMkLst>
        <pc:docMk/>
      </pc:docMkLst>
      <pc:sldChg chg="modSp add">
        <pc:chgData name="Toran Shahi" userId="9e80e87edecd0726" providerId="Windows Live" clId="Web-{0922EA27-63B8-EB8A-9D5D-2C5D3FB2F5B9}" dt="2026-06-04T07:05:15.065" v="328" actId="20577"/>
        <pc:sldMkLst>
          <pc:docMk/>
          <pc:sldMk cId="1516740404" sldId="258"/>
        </pc:sldMkLst>
        <pc:spChg chg="mod">
          <ac:chgData name="Toran Shahi" userId="9e80e87edecd0726" providerId="Windows Live" clId="Web-{0922EA27-63B8-EB8A-9D5D-2C5D3FB2F5B9}" dt="2026-06-04T07:05:15.065" v="328" actId="20577"/>
          <ac:spMkLst>
            <pc:docMk/>
            <pc:sldMk cId="1516740404" sldId="258"/>
            <ac:spMk id="2" creationId="{8254306B-2FA9-DBD0-4879-2F0F9F640255}"/>
          </ac:spMkLst>
        </pc:spChg>
        <pc:spChg chg="mod">
          <ac:chgData name="Toran Shahi" userId="9e80e87edecd0726" providerId="Windows Live" clId="Web-{0922EA27-63B8-EB8A-9D5D-2C5D3FB2F5B9}" dt="2026-06-04T07:02:50.248" v="263" actId="14100"/>
          <ac:spMkLst>
            <pc:docMk/>
            <pc:sldMk cId="1516740404" sldId="258"/>
            <ac:spMk id="3" creationId="{19642708-C46C-0C1F-6CBC-B422CA064D0D}"/>
          </ac:spMkLst>
        </pc:spChg>
      </pc:sldChg>
      <pc:sldChg chg="modSp">
        <pc:chgData name="Toran Shahi" userId="9e80e87edecd0726" providerId="Windows Live" clId="Web-{0922EA27-63B8-EB8A-9D5D-2C5D3FB2F5B9}" dt="2026-06-04T07:34:55.217" v="521" actId="14100"/>
        <pc:sldMkLst>
          <pc:docMk/>
          <pc:sldMk cId="2028896172" sldId="264"/>
        </pc:sldMkLst>
        <pc:spChg chg="mod">
          <ac:chgData name="Toran Shahi" userId="9e80e87edecd0726" providerId="Windows Live" clId="Web-{0922EA27-63B8-EB8A-9D5D-2C5D3FB2F5B9}" dt="2026-06-04T07:34:55.217" v="521" actId="14100"/>
          <ac:spMkLst>
            <pc:docMk/>
            <pc:sldMk cId="2028896172" sldId="264"/>
            <ac:spMk id="2" creationId="{C57AAFDA-F4A5-D0EE-C884-F2F4D1C46CBA}"/>
          </ac:spMkLst>
        </pc:spChg>
        <pc:spChg chg="mod">
          <ac:chgData name="Toran Shahi" userId="9e80e87edecd0726" providerId="Windows Live" clId="Web-{0922EA27-63B8-EB8A-9D5D-2C5D3FB2F5B9}" dt="2026-06-04T07:34:48.170" v="520" actId="14100"/>
          <ac:spMkLst>
            <pc:docMk/>
            <pc:sldMk cId="2028896172" sldId="264"/>
            <ac:spMk id="3" creationId="{EF11D623-E612-AE09-C358-96D356FF3BF3}"/>
          </ac:spMkLst>
        </pc:spChg>
      </pc:sldChg>
      <pc:sldChg chg="modSp add replId">
        <pc:chgData name="Toran Shahi" userId="9e80e87edecd0726" providerId="Windows Live" clId="Web-{0922EA27-63B8-EB8A-9D5D-2C5D3FB2F5B9}" dt="2026-06-04T07:34:28.403" v="517" actId="20577"/>
        <pc:sldMkLst>
          <pc:docMk/>
          <pc:sldMk cId="2464906799" sldId="265"/>
        </pc:sldMkLst>
        <pc:spChg chg="mod">
          <ac:chgData name="Toran Shahi" userId="9e80e87edecd0726" providerId="Windows Live" clId="Web-{0922EA27-63B8-EB8A-9D5D-2C5D3FB2F5B9}" dt="2026-06-04T07:34:28.403" v="517" actId="20577"/>
          <ac:spMkLst>
            <pc:docMk/>
            <pc:sldMk cId="2464906799" sldId="265"/>
            <ac:spMk id="2" creationId="{F510CA62-DEFD-3855-1E27-3D896DC89F4A}"/>
          </ac:spMkLst>
        </pc:spChg>
        <pc:spChg chg="mod">
          <ac:chgData name="Toran Shahi" userId="9e80e87edecd0726" providerId="Windows Live" clId="Web-{0922EA27-63B8-EB8A-9D5D-2C5D3FB2F5B9}" dt="2026-06-04T07:23:15.662" v="455" actId="20577"/>
          <ac:spMkLst>
            <pc:docMk/>
            <pc:sldMk cId="2464906799" sldId="265"/>
            <ac:spMk id="3" creationId="{707205BA-37C6-CD05-F00A-CAA646C3BFD9}"/>
          </ac:spMkLst>
        </pc:spChg>
      </pc:sldChg>
      <pc:sldChg chg="modSp add replId">
        <pc:chgData name="Toran Shahi" userId="9e80e87edecd0726" providerId="Windows Live" clId="Web-{0922EA27-63B8-EB8A-9D5D-2C5D3FB2F5B9}" dt="2026-06-04T07:48:38.947" v="746" actId="20577"/>
        <pc:sldMkLst>
          <pc:docMk/>
          <pc:sldMk cId="1330979585" sldId="266"/>
        </pc:sldMkLst>
        <pc:spChg chg="mod">
          <ac:chgData name="Toran Shahi" userId="9e80e87edecd0726" providerId="Windows Live" clId="Web-{0922EA27-63B8-EB8A-9D5D-2C5D3FB2F5B9}" dt="2026-06-04T07:34:33.247" v="519" actId="20577"/>
          <ac:spMkLst>
            <pc:docMk/>
            <pc:sldMk cId="1330979585" sldId="266"/>
            <ac:spMk id="2" creationId="{612D6B96-4D73-7C83-A8BF-84AD574E799E}"/>
          </ac:spMkLst>
        </pc:spChg>
        <pc:spChg chg="mod">
          <ac:chgData name="Toran Shahi" userId="9e80e87edecd0726" providerId="Windows Live" clId="Web-{0922EA27-63B8-EB8A-9D5D-2C5D3FB2F5B9}" dt="2026-06-04T07:48:38.947" v="746" actId="20577"/>
          <ac:spMkLst>
            <pc:docMk/>
            <pc:sldMk cId="1330979585" sldId="266"/>
            <ac:spMk id="3" creationId="{9709A16B-CF58-158C-A2C9-812E78E19AE6}"/>
          </ac:spMkLst>
        </pc:spChg>
      </pc:sldChg>
      <pc:sldChg chg="modSp add replId modNotes">
        <pc:chgData name="Toran Shahi" userId="9e80e87edecd0726" providerId="Windows Live" clId="Web-{0922EA27-63B8-EB8A-9D5D-2C5D3FB2F5B9}" dt="2026-06-04T08:02:56.459" v="863"/>
        <pc:sldMkLst>
          <pc:docMk/>
          <pc:sldMk cId="1606356706" sldId="267"/>
        </pc:sldMkLst>
        <pc:spChg chg="mod">
          <ac:chgData name="Toran Shahi" userId="9e80e87edecd0726" providerId="Windows Live" clId="Web-{0922EA27-63B8-EB8A-9D5D-2C5D3FB2F5B9}" dt="2026-06-04T08:01:36.535" v="846" actId="20577"/>
          <ac:spMkLst>
            <pc:docMk/>
            <pc:sldMk cId="1606356706" sldId="267"/>
            <ac:spMk id="3" creationId="{11EBD967-420C-0AEC-D8FF-2D0B706B2153}"/>
          </ac:spMkLst>
        </pc:spChg>
      </pc:sldChg>
    </pc:docChg>
  </pc:docChgLst>
  <pc:docChgLst>
    <pc:chgData name="Toran Shahi" userId="9e80e87edecd0726" providerId="Windows Live" clId="Web-{F2F1087D-D56F-F41B-0498-5BBA14C50FE8}"/>
    <pc:docChg chg="addSld delSld modSld">
      <pc:chgData name="Toran Shahi" userId="9e80e87edecd0726" providerId="Windows Live" clId="Web-{F2F1087D-D56F-F41B-0498-5BBA14C50FE8}" dt="2026-06-04T06:38:09.058" v="34" actId="14100"/>
      <pc:docMkLst>
        <pc:docMk/>
      </pc:docMkLst>
      <pc:sldChg chg="del">
        <pc:chgData name="Toran Shahi" userId="9e80e87edecd0726" providerId="Windows Live" clId="Web-{F2F1087D-D56F-F41B-0498-5BBA14C50FE8}" dt="2026-06-04T06:36:18.009" v="3"/>
        <pc:sldMkLst>
          <pc:docMk/>
          <pc:sldMk cId="109857222" sldId="256"/>
        </pc:sldMkLst>
      </pc:sldChg>
      <pc:sldChg chg="modSp add del">
        <pc:chgData name="Toran Shahi" userId="9e80e87edecd0726" providerId="Windows Live" clId="Web-{F2F1087D-D56F-F41B-0498-5BBA14C50FE8}" dt="2026-06-04T06:38:09.058" v="34" actId="14100"/>
        <pc:sldMkLst>
          <pc:docMk/>
          <pc:sldMk cId="2028896172" sldId="264"/>
        </pc:sldMkLst>
        <pc:spChg chg="mod">
          <ac:chgData name="Toran Shahi" userId="9e80e87edecd0726" providerId="Windows Live" clId="Web-{F2F1087D-D56F-F41B-0498-5BBA14C50FE8}" dt="2026-06-04T06:38:09.058" v="34" actId="14100"/>
          <ac:spMkLst>
            <pc:docMk/>
            <pc:sldMk cId="2028896172" sldId="264"/>
            <ac:spMk id="2" creationId="{C57AAFDA-F4A5-D0EE-C884-F2F4D1C46CB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FF837E-A607-42E9-85D3-9054DF0BF81F}" type="datetimeFigureOut"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8154D4-F69C-4E2C-9ABF-D89C865455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45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64EF9-F507-43D1-85DB-FEE40D9637BC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88557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597A9-EC1C-DF76-02B8-94B520468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E7B950-2BD2-EE4C-0CDE-84841ABB39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4D6E85-17C9-229A-2E05-35B2C0829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0AC24-0D2F-0EE9-0CA7-251AB01BD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64EF9-F507-43D1-85DB-FEE40D9637BC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50982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3FB39-DE16-DBB3-7A87-079F73D2F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50F0DC-ED63-5306-B726-B0A3E47267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BB2AA0-AD71-196D-6F72-76D148F34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73F0E-F3AF-4F37-768B-72315CC5C0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64EF9-F507-43D1-85DB-FEE40D9637BC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2023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718A0-21EC-E176-711A-5F4AE364E5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D01549-3D7C-F31F-03CF-AB6D196696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12818B-0A28-9111-53BA-FFDC2AB59A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>
                <a:ea typeface="Calibri"/>
                <a:cs typeface="Calibri"/>
              </a:rPr>
              <a:t>Practice exercises Appendix O.</a:t>
            </a: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78483D-4539-E914-61EE-60085B66E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B64EF9-F507-43D1-85DB-FEE40D9637BC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0899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7EB2D3-BDF9-9298-ED42-678A0A7C0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AAFDA-F4A5-D0EE-C884-F2F4D1C46C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049" y="522647"/>
            <a:ext cx="4453722" cy="56082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400">
                <a:solidFill>
                  <a:srgbClr val="C00000"/>
                </a:solidFill>
              </a:rPr>
              <a:t>Route Summarization </a:t>
            </a:r>
            <a:r>
              <a:rPr lang="en-US" sz="5400" dirty="0">
                <a:solidFill>
                  <a:srgbClr val="C00000"/>
                </a:solidFill>
              </a:rPr>
              <a:t> 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1D623-E612-AE09-C358-96D356FF3B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0626" y="436850"/>
            <a:ext cx="6308796" cy="5706794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US" sz="2800" b="1" dirty="0"/>
              <a:t>Learning </a:t>
            </a:r>
            <a:r>
              <a:rPr lang="en-US" sz="2800" b="1"/>
              <a:t>Outcomes:</a:t>
            </a:r>
            <a:endParaRPr lang="en-US" sz="2800" b="1">
              <a:solidFill>
                <a:schemeClr val="accent6"/>
              </a:solidFill>
            </a:endParaRPr>
          </a:p>
          <a:p>
            <a:pPr marL="514350" indent="-514350" algn="l">
              <a:buAutoNum type="arabicPeriod"/>
            </a:pPr>
            <a:r>
              <a:rPr lang="en-US" sz="2800" b="1">
                <a:solidFill>
                  <a:schemeClr val="accent6"/>
                </a:solidFill>
              </a:rPr>
              <a:t>Foundation</a:t>
            </a:r>
            <a:endParaRPr lang="en-US" sz="2800">
              <a:solidFill>
                <a:schemeClr val="accent6"/>
              </a:solidFill>
            </a:endParaRPr>
          </a:p>
          <a:p>
            <a:pPr marL="514350" indent="-514350" algn="l">
              <a:buAutoNum type="arabicPeriod"/>
            </a:pPr>
            <a:r>
              <a:rPr lang="en-US" sz="2800" b="1">
                <a:solidFill>
                  <a:schemeClr val="accent6"/>
                </a:solidFill>
              </a:rPr>
              <a:t>Choosing Best Summary Routes</a:t>
            </a:r>
            <a:endParaRPr lang="en-US" sz="2800" b="1" dirty="0">
              <a:solidFill>
                <a:schemeClr val="accent6"/>
              </a:solidFill>
            </a:endParaRPr>
          </a:p>
          <a:p>
            <a:pPr marL="742950" lvl="1" algn="l"/>
            <a:endParaRPr 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889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4306B-2FA9-DBD0-4879-2F0F9F640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4103914" cy="68580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1. </a:t>
            </a:r>
            <a:r>
              <a:rPr lang="en-US" b="1">
                <a:solidFill>
                  <a:schemeClr val="bg1"/>
                </a:solidFill>
              </a:rPr>
              <a:t>Foundation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42708-C46C-0C1F-6CBC-B422CA064D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6658" y="1715165"/>
            <a:ext cx="7194604" cy="44328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b="1" dirty="0"/>
              <a:t>Route Summari</a:t>
            </a:r>
            <a:r>
              <a:rPr lang="en-US" b="1"/>
              <a:t>zation need:</a:t>
            </a:r>
            <a:endParaRPr lang="en-US" b="1" dirty="0"/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/>
              <a:t>Decreases the size of the routing table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Longer routing tables consume more </a:t>
            </a:r>
            <a:r>
              <a:rPr lang="en-US"/>
              <a:t>memory and takes up more CPU</a:t>
            </a:r>
            <a:r>
              <a:rPr lang="en-US" dirty="0"/>
              <a:t> cycles for </a:t>
            </a:r>
            <a:r>
              <a:rPr lang="en-US"/>
              <a:t>route lookups.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Helps engineers with troubleshooting routing problems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Decreases the number of routing protocol updates</a:t>
            </a:r>
            <a:endParaRPr lang="en-US" dirty="0"/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/>
              <a:t>Helps with convergence of routing protocols</a:t>
            </a:r>
            <a:endParaRPr lang="en-US" dirty="0"/>
          </a:p>
          <a:p>
            <a:pPr algn="just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16740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ADC8E-81A6-6069-7C6F-EE8040FB4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0CA62-DEFD-3855-1E27-3D896DC89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4103914" cy="68580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2. </a:t>
            </a:r>
            <a:r>
              <a:rPr lang="en-US" b="1" dirty="0">
                <a:solidFill>
                  <a:schemeClr val="bg1"/>
                </a:solidFill>
              </a:rPr>
              <a:t>Choosing </a:t>
            </a:r>
            <a:r>
              <a:rPr lang="en-US" b="1">
                <a:solidFill>
                  <a:schemeClr val="bg1"/>
                </a:solidFill>
              </a:rPr>
              <a:t> Best Summary Routes</a:t>
            </a:r>
            <a:endParaRPr lang="en-US" b="1" dirty="0" err="1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205BA-37C6-CD05-F00A-CAA646C3B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4571" y="367861"/>
            <a:ext cx="7216691" cy="5780179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algn="just"/>
            <a:r>
              <a:rPr lang="en-US" b="1"/>
              <a:t>Choosing the best summary routes</a:t>
            </a:r>
            <a:r>
              <a:rPr lang="en-US" b="1" dirty="0"/>
              <a:t>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/>
              <a:t>Works best if during subnetting, conti</a:t>
            </a:r>
            <a:r>
              <a:rPr lang="en-US"/>
              <a:t>guous subnets are used in single router/location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/>
              <a:t>The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>
                <a:ea typeface="+mn-lt"/>
                <a:cs typeface="+mn-lt"/>
              </a:rPr>
              <a:t>word best, when applied to </a:t>
            </a:r>
            <a:r>
              <a:rPr lang="en-US" sz="2400" dirty="0">
                <a:ea typeface="+mn-lt"/>
                <a:cs typeface="+mn-lt"/>
              </a:rPr>
              <a:t>choosing </a:t>
            </a:r>
            <a:r>
              <a:rPr lang="en-US" dirty="0">
                <a:ea typeface="+mn-lt"/>
                <a:cs typeface="+mn-lt"/>
              </a:rPr>
              <a:t>what summary route to configure, means that the summary should include all the </a:t>
            </a:r>
            <a:r>
              <a:rPr lang="en-US">
                <a:ea typeface="+mn-lt"/>
                <a:cs typeface="+mn-lt"/>
              </a:rPr>
              <a:t>subordinate</a:t>
            </a:r>
            <a:r>
              <a:rPr lang="en-US" dirty="0">
                <a:ea typeface="+mn-lt"/>
                <a:cs typeface="+mn-lt"/>
              </a:rPr>
              <a:t> subnets, but with as few other addresses as is </a:t>
            </a:r>
            <a:r>
              <a:rPr lang="en-US">
                <a:ea typeface="+mn-lt"/>
                <a:cs typeface="+mn-lt"/>
              </a:rPr>
              <a:t>possible. </a:t>
            </a:r>
          </a:p>
          <a:p>
            <a:pPr marL="0" indent="0">
              <a:buNone/>
            </a:pPr>
            <a:r>
              <a:rPr lang="en-US" b="1"/>
              <a:t>Example : </a:t>
            </a:r>
            <a:r>
              <a:rPr lang="en-US">
                <a:ea typeface="+mn-lt"/>
                <a:cs typeface="+mn-lt"/>
              </a:rPr>
              <a:t>subnets 10.3.4.0/24, 10.3.5.0/24,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10.3.6.0/24, and 10.3.7.0/24</a:t>
            </a:r>
            <a:endParaRPr lang="en-US"/>
          </a:p>
          <a:p>
            <a:pPr marL="0" indent="0">
              <a:buNone/>
            </a:pPr>
            <a:r>
              <a:rPr lang="en-US" dirty="0"/>
              <a:t>Can be summarized with 10.3.0.0/16 which </a:t>
            </a:r>
            <a:r>
              <a:rPr lang="en-US"/>
              <a:t>includes all the above subnets and many more.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Summarizing with 10.3.4.0/22, includes exactly above subnets only. </a:t>
            </a:r>
            <a:r>
              <a:rPr lang="en-US"/>
              <a:t>Thus,</a:t>
            </a:r>
            <a:r>
              <a:rPr lang="en-US" dirty="0"/>
              <a:t> this is best summary route.</a:t>
            </a:r>
          </a:p>
          <a:p>
            <a:pPr lvl="1">
              <a:buFont typeface="Courier New" panose="020B0604020202020204" pitchFamily="34" charset="0"/>
              <a:buChar char="o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64906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84865-4071-FCF7-29B5-594798081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D6B96-4D73-7C83-A8BF-84AD574E7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4103914" cy="68580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2. </a:t>
            </a:r>
            <a:r>
              <a:rPr lang="en-US" b="1" dirty="0">
                <a:solidFill>
                  <a:schemeClr val="bg1"/>
                </a:solidFill>
              </a:rPr>
              <a:t>Choosing </a:t>
            </a:r>
            <a:r>
              <a:rPr lang="en-US" b="1">
                <a:solidFill>
                  <a:schemeClr val="bg1"/>
                </a:solidFill>
              </a:rPr>
              <a:t> Best Summary Routes</a:t>
            </a:r>
            <a:endParaRPr lang="en-US" b="1" dirty="0" err="1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9A16B-CF58-158C-A2C9-812E78E19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4571" y="367861"/>
            <a:ext cx="7216691" cy="604522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2600" b="1"/>
              <a:t>Choosing the best summary routes:</a:t>
            </a:r>
            <a:endParaRPr lang="en-US" sz="2600"/>
          </a:p>
          <a:p>
            <a:pPr marL="457200" indent="-457200">
              <a:buAutoNum type="arabicPeriod"/>
            </a:pPr>
            <a:r>
              <a:rPr lang="en-US" sz="2400"/>
              <a:t>List all to-be-summarized (subordinate) subnet numbers in </a:t>
            </a:r>
            <a:r>
              <a:rPr lang="en-US" sz="2400" dirty="0"/>
              <a:t>decimal, in order, from lowest to highest, along with their matching subnet broadcast addresses. </a:t>
            </a:r>
            <a:endParaRPr lang="en-AU" sz="2400"/>
          </a:p>
          <a:p>
            <a:pPr marL="457200" indent="-457200" algn="just">
              <a:buAutoNum type="arabicPeriod"/>
            </a:pPr>
            <a:r>
              <a:rPr lang="en-US" sz="2400"/>
              <a:t>Note the low and high end of the range of addresses for all </a:t>
            </a:r>
            <a:r>
              <a:rPr lang="en-US" sz="2400" dirty="0"/>
              <a:t>combined subnets by noting the numerically lowest subnet ID and numerically highest subnet broadcast address. </a:t>
            </a:r>
            <a:endParaRPr lang="en-AU" sz="2400"/>
          </a:p>
          <a:p>
            <a:pPr marL="457200" indent="-457200" algn="just">
              <a:buAutoNum type="arabicPeriod"/>
            </a:pPr>
            <a:r>
              <a:rPr lang="en-US" sz="2400" dirty="0"/>
              <a:t>Pick a starting point prefix length /P for Step 4, as follows: Pick the shortest prefix length mask of all the subordinate </a:t>
            </a:r>
            <a:r>
              <a:rPr lang="en-US" sz="2400"/>
              <a:t>subnets and</a:t>
            </a:r>
            <a:r>
              <a:rPr lang="en-US" sz="2400" dirty="0"/>
              <a:t> then subtract 1. </a:t>
            </a:r>
            <a:endParaRPr lang="en-AU" sz="2400"/>
          </a:p>
          <a:p>
            <a:pPr marL="457200" indent="-457200">
              <a:buAutoNum type="arabicPeriod"/>
            </a:pPr>
            <a:r>
              <a:rPr lang="en-US" sz="2400"/>
              <a:t>Calculate a new potential summary subnet/mask, with </a:t>
            </a:r>
            <a:r>
              <a:rPr lang="en-US" sz="2400" dirty="0"/>
              <a:t>matching broadcast address, based on the lowest subordinate subnet ID from the original list and the current prefix length. </a:t>
            </a:r>
            <a:endParaRPr lang="en-AU" sz="2400"/>
          </a:p>
          <a:p>
            <a:pPr marL="914400" lvl="2" algn="just">
              <a:buNone/>
            </a:pPr>
            <a:r>
              <a:rPr lang="en-US"/>
              <a:t>A. </a:t>
            </a:r>
            <a:r>
              <a:rPr lang="en-US" sz="1800"/>
              <a:t>If </a:t>
            </a:r>
            <a:r>
              <a:rPr lang="en-US" sz="1800" dirty="0"/>
              <a:t>the calculated range of addresses includes the entire range from Step 2, you have found the best summary route. </a:t>
            </a:r>
            <a:endParaRPr lang="en-AU" sz="1800"/>
          </a:p>
          <a:p>
            <a:pPr marL="914400" lvl="2" algn="just">
              <a:buNone/>
            </a:pPr>
            <a:r>
              <a:rPr lang="en-US" sz="1800"/>
              <a:t>B. If not, </a:t>
            </a:r>
            <a:r>
              <a:rPr lang="en-US" sz="1800" dirty="0"/>
              <a:t>subtract 1 from the prefix length used in the most recent calculation and repeat Step 4.</a:t>
            </a:r>
            <a:endParaRPr lang="en-AU" sz="1800"/>
          </a:p>
        </p:txBody>
      </p:sp>
    </p:spTree>
    <p:extLst>
      <p:ext uri="{BB962C8B-B14F-4D97-AF65-F5344CB8AC3E}">
        <p14:creationId xmlns:p14="http://schemas.microsoft.com/office/powerpoint/2010/main" val="1330979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BF90F-D39F-B501-F8E2-3B5AA83FE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6989C-D1FD-800F-CB81-2BA843D74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4103914" cy="6858000"/>
          </a:xfrm>
          <a:solidFill>
            <a:schemeClr val="accent2"/>
          </a:solidFill>
        </p:spPr>
        <p:txBody>
          <a:bodyPr>
            <a:normAutofit/>
          </a:bodyPr>
          <a:lstStyle/>
          <a:p>
            <a:pPr algn="ctr"/>
            <a:r>
              <a:rPr lang="en-US" b="1">
                <a:solidFill>
                  <a:schemeClr val="bg1"/>
                </a:solidFill>
              </a:rPr>
              <a:t>2. </a:t>
            </a:r>
            <a:r>
              <a:rPr lang="en-US" b="1" dirty="0">
                <a:solidFill>
                  <a:schemeClr val="bg1"/>
                </a:solidFill>
              </a:rPr>
              <a:t>Choosing </a:t>
            </a:r>
            <a:r>
              <a:rPr lang="en-US" b="1">
                <a:solidFill>
                  <a:schemeClr val="bg1"/>
                </a:solidFill>
              </a:rPr>
              <a:t> Best Summary Routes</a:t>
            </a:r>
            <a:endParaRPr lang="en-US" b="1" dirty="0" err="1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BD967-420C-0AEC-D8FF-2D0B706B2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4571" y="367861"/>
            <a:ext cx="7216691" cy="6045222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US" sz="2600" b="1"/>
              <a:t>Choosing the best summary routes: Example</a:t>
            </a:r>
            <a:endParaRPr lang="en-US" sz="2600"/>
          </a:p>
          <a:p>
            <a:pPr marL="0" indent="0" algn="just">
              <a:buNone/>
            </a:pPr>
            <a:r>
              <a:rPr lang="en-US" sz="2600"/>
              <a:t>Routes:</a:t>
            </a:r>
            <a:r>
              <a:rPr lang="en-US" sz="2600">
                <a:ea typeface="+mn-lt"/>
                <a:cs typeface="+mn-lt"/>
              </a:rPr>
              <a:t>10.1.50.0/23,10.1.48.0/23,10.1.46.0/23,</a:t>
            </a:r>
            <a:endParaRPr lang="en-US" sz="2600" dirty="0">
              <a:ea typeface="+mn-lt"/>
              <a:cs typeface="+mn-lt"/>
            </a:endParaRPr>
          </a:p>
          <a:p>
            <a:pPr marL="0" indent="0" algn="just">
              <a:buNone/>
            </a:pPr>
            <a:r>
              <a:rPr lang="en-US" sz="2600">
                <a:ea typeface="+mn-lt"/>
                <a:cs typeface="+mn-lt"/>
              </a:rPr>
              <a:t>10.1.52.0/23</a:t>
            </a:r>
            <a:endParaRPr lang="en-US" sz="2600"/>
          </a:p>
          <a:p>
            <a:pPr marL="0" indent="0" algn="just">
              <a:buNone/>
            </a:pPr>
            <a:r>
              <a:rPr lang="en-US" sz="2600" dirty="0"/>
              <a:t>Lowest subnet ID = 10.1.46.0/23, Highest subnet </a:t>
            </a:r>
            <a:r>
              <a:rPr lang="en-US" sz="2600"/>
              <a:t>ID = 10.1.52.0/23</a:t>
            </a:r>
            <a:endParaRPr lang="en-US" sz="2600" dirty="0"/>
          </a:p>
          <a:p>
            <a:pPr marL="0" indent="0" algn="just">
              <a:buNone/>
            </a:pPr>
            <a:r>
              <a:rPr lang="en-US" sz="2600" dirty="0"/>
              <a:t>Highest broadcast </a:t>
            </a:r>
            <a:r>
              <a:rPr lang="en-US" sz="2600"/>
              <a:t>address = 10.1.53.255</a:t>
            </a:r>
          </a:p>
          <a:p>
            <a:pPr marL="0" indent="0" algn="just">
              <a:buNone/>
            </a:pPr>
            <a:r>
              <a:rPr lang="en-US" sz="2600"/>
              <a:t>Lowest prefix = /23</a:t>
            </a:r>
            <a:endParaRPr lang="en-US" sz="2600" dirty="0"/>
          </a:p>
          <a:p>
            <a:pPr marL="0" indent="0" algn="just">
              <a:buNone/>
            </a:pPr>
            <a:r>
              <a:rPr lang="en-US" sz="2600"/>
              <a:t>New possible best summary route = 10.1.46.0/22</a:t>
            </a:r>
            <a:endParaRPr lang="en-US" sz="2600" dirty="0"/>
          </a:p>
          <a:p>
            <a:pPr marL="0" indent="0">
              <a:buNone/>
            </a:pPr>
            <a:r>
              <a:rPr lang="en-US" sz="2600"/>
              <a:t>Check if it includes all the subordinate routes if not decrease prefix :</a:t>
            </a:r>
            <a:endParaRPr lang="en-US" sz="2600" dirty="0"/>
          </a:p>
          <a:p>
            <a:pPr marL="571500" lvl="1" indent="-342900"/>
            <a:r>
              <a:rPr lang="en-US" sz="2200" dirty="0"/>
              <a:t>Subnet ID = 10.1.44.0/22, subnet </a:t>
            </a:r>
            <a:r>
              <a:rPr lang="en-US" sz="2200" err="1"/>
              <a:t>broadcas</a:t>
            </a:r>
            <a:r>
              <a:rPr lang="en-US" sz="2200"/>
              <a:t>t address = 10.1.47.255. Does not include all subordinate routes.</a:t>
            </a:r>
            <a:endParaRPr lang="en-US" sz="2200" dirty="0"/>
          </a:p>
          <a:p>
            <a:pPr marL="228600" lvl="1" indent="0" algn="just">
              <a:buNone/>
            </a:pPr>
            <a:r>
              <a:rPr lang="en-US" sz="2200"/>
              <a:t>New possible best summary route = 10.1.44.0/21</a:t>
            </a:r>
          </a:p>
          <a:p>
            <a:pPr marL="571500" lvl="1" indent="-342900"/>
            <a:r>
              <a:rPr lang="en-US" sz="2200" dirty="0"/>
              <a:t>Subnet ID = 10.1.40.0/21, subnet broadcast address </a:t>
            </a:r>
            <a:r>
              <a:rPr lang="en-US" sz="2200"/>
              <a:t>= 10.1.47.255. Does not include all subordinate </a:t>
            </a:r>
            <a:r>
              <a:rPr lang="en-US" sz="2200" dirty="0"/>
              <a:t>routes.</a:t>
            </a:r>
          </a:p>
          <a:p>
            <a:pPr marL="228600" lvl="1" indent="0" algn="just">
              <a:buNone/>
            </a:pPr>
            <a:r>
              <a:rPr lang="en-US" sz="2200"/>
              <a:t>New possible best summary route = 10.1.40.0/20</a:t>
            </a:r>
          </a:p>
          <a:p>
            <a:pPr marL="571500" lvl="1" indent="-342900"/>
            <a:r>
              <a:rPr lang="en-US" sz="2200"/>
              <a:t>Subnet ID = 10.1.32.0/20, subnet broadcast address = 10.1.47.255. Does not include all subordinate routes.</a:t>
            </a:r>
          </a:p>
          <a:p>
            <a:pPr marL="228600" lvl="1" indent="0" algn="just">
              <a:buNone/>
            </a:pPr>
            <a:r>
              <a:rPr lang="en-US" sz="2200"/>
              <a:t>New possible best summary route = 10.1.32.0/19</a:t>
            </a:r>
          </a:p>
          <a:p>
            <a:pPr marL="571500" lvl="1" indent="-342900">
              <a:buFont typeface="Arial"/>
              <a:buChar char="•"/>
            </a:pPr>
            <a:r>
              <a:rPr lang="en-US" sz="2200"/>
              <a:t>Subnet ID = 10.1.32.0/19, subnet broadcast address = 10.1.63.255. Does  include all subordinate routes.</a:t>
            </a:r>
          </a:p>
          <a:p>
            <a:pPr marL="0">
              <a:buNone/>
            </a:pPr>
            <a:r>
              <a:rPr lang="en-US" sz="2600"/>
              <a:t>Best summary route is 10.1.32.0/19</a:t>
            </a: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0" indent="0" algn="just">
              <a:buNone/>
            </a:pPr>
            <a:endParaRPr lang="en-US" sz="2600" dirty="0"/>
          </a:p>
          <a:p>
            <a:pPr marL="0" indent="0">
              <a:buNone/>
            </a:pPr>
            <a:endParaRPr lang="en-US" sz="2600" dirty="0"/>
          </a:p>
          <a:p>
            <a:pPr marL="457200" indent="-457200" algn="just">
              <a:buAutoNum type="arabicPeriod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06356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Route Summarization  </vt:lpstr>
      <vt:lpstr>1. Foundation</vt:lpstr>
      <vt:lpstr>2. Choosing  Best Summary Routes</vt:lpstr>
      <vt:lpstr>2. Choosing  Best Summary Routes</vt:lpstr>
      <vt:lpstr>2. Choosing  Best Summary Routes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 </cp:lastModifiedBy>
  <cp:revision>259</cp:revision>
  <dcterms:created xsi:type="dcterms:W3CDTF">2013-07-15T20:26:40Z</dcterms:created>
  <dcterms:modified xsi:type="dcterms:W3CDTF">2026-06-04T08:02:57Z</dcterms:modified>
</cp:coreProperties>
</file>