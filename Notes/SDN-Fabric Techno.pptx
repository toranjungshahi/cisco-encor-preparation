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presProps.xml" ContentType="application/vnd.openxmlformats-officedocument.presentationml.presProps+xml"/>
  <Override PartName="/ppt/slides/slide18.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0080625" cy="567055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6" name="PlaceHolder 1"/>
          <p:cNvSpPr>
            <a:spLocks noGrp="1"/>
          </p:cNvSpPr>
          <p:nvPr>
            <p:ph type="title"/>
          </p:nvPr>
        </p:nvSpPr>
        <p:spPr>
          <a:xfrm>
            <a:off x="692640" y="301680"/>
            <a:ext cx="8691120" cy="1093320"/>
          </a:xfrm>
          <a:prstGeom prst="rect">
            <a:avLst/>
          </a:prstGeom>
          <a:noFill/>
          <a:ln w="0">
            <a:noFill/>
          </a:ln>
        </p:spPr>
        <p:txBody>
          <a:bodyPr lIns="0" tIns="0" rIns="0" bIns="0" anchor="ctr">
            <a:spAutoFit/>
          </a:bodyPr>
          <a:p>
            <a:pPr indent="0" algn="l" defTabSz="914400">
              <a:lnSpc>
                <a:spcPct val="90000"/>
              </a:lnSpc>
              <a:buNone/>
              <a:tabLst>
                <a:tab pos="0" algn="l"/>
              </a:tabLst>
            </a:pPr>
            <a:endParaRPr lang="en-US" sz="4400" b="0" u="none" strike="noStrike">
              <a:solidFill>
                <a:schemeClr val="dk1"/>
              </a:solidFill>
              <a:effectLst/>
              <a:uFillTx/>
              <a:latin typeface="Aptos Display"/>
            </a:endParaRPr>
          </a:p>
        </p:txBody>
      </p:sp>
      <p:sp>
        <p:nvSpPr>
          <p:cNvPr id="7" name="PlaceHolder 2"/>
          <p:cNvSpPr>
            <a:spLocks noGrp="1"/>
          </p:cNvSpPr>
          <p:nvPr>
            <p:ph type="subTitle"/>
          </p:nvPr>
        </p:nvSpPr>
        <p:spPr>
          <a:xfrm>
            <a:off x="692640" y="1509120"/>
            <a:ext cx="8691120" cy="3594960"/>
          </a:xfrm>
          <a:prstGeom prst="rect">
            <a:avLst/>
          </a:prstGeom>
          <a:noFill/>
          <a:ln w="0">
            <a:noFill/>
          </a:ln>
        </p:spPr>
        <p:txBody>
          <a:bodyPr lIns="0" tIns="0" rIns="0" bIns="0" anchor="ctr">
            <a:spAutoFit/>
          </a:bodyPr>
          <a:p>
            <a:pPr indent="0" algn="ctr">
              <a:buNone/>
            </a:pPr>
            <a:endParaRPr lang="en-AU" sz="3200" b="0" u="none" strike="noStrike">
              <a:solidFill>
                <a:srgbClr val="000000"/>
              </a:solidFill>
              <a:effectLst/>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2E0E3633-9218-4C15-A18F-9898DC24A656}" type="slidenum">
              <a:t>&lt;#&gt;</a:t>
            </a:fld>
          </a:p>
        </p:txBody>
      </p:sp>
      <p:sp>
        <p:nvSpPr>
          <p:cNvPr id="6" name="PlaceHolder 5"/>
          <p:cNvSpPr>
            <a:spLocks noGrp="1"/>
          </p:cNvSpPr>
          <p:nvPr>
            <p:ph type="dt" idx="3"/>
          </p:nvPr>
        </p:nvSpPr>
        <p:spPr/>
        <p:txBody>
          <a:bodyPr/>
          <a:p>
            <a:r>
              <a:rPr lang="en-AU"/>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692640" y="301680"/>
            <a:ext cx="8691120" cy="109332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9" name="PlaceHolder 2"/>
          <p:cNvSpPr>
            <a:spLocks noGrp="1"/>
          </p:cNvSpPr>
          <p:nvPr>
            <p:ph type="body"/>
          </p:nvPr>
        </p:nvSpPr>
        <p:spPr>
          <a:xfrm>
            <a:off x="692640" y="1509120"/>
            <a:ext cx="8691120" cy="3594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10" name="PlaceHolder 3"/>
          <p:cNvSpPr>
            <a:spLocks noGrp="1"/>
          </p:cNvSpPr>
          <p:nvPr>
            <p:ph type="dt" idx="4"/>
          </p:nvPr>
        </p:nvSpPr>
        <p:spPr>
          <a:xfrm>
            <a:off x="692640" y="5255280"/>
            <a:ext cx="2265120" cy="2991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AU" sz="1200" b="0" u="none" strike="noStrike">
                <a:solidFill>
                  <a:schemeClr val="dk1">
                    <a:tint val="82000"/>
                  </a:schemeClr>
                </a:solidFill>
                <a:effectLst/>
                <a:uFillTx/>
                <a:latin typeface="Aptos"/>
              </a:rPr>
              <a:t> </a:t>
            </a:r>
            <a:endParaRPr lang="en-AU" sz="1200" b="0" u="none" strike="noStrike">
              <a:solidFill>
                <a:srgbClr val="000000"/>
              </a:solidFill>
              <a:effectLst/>
              <a:uFillTx/>
              <a:latin typeface="Times New Roman"/>
            </a:endParaRPr>
          </a:p>
        </p:txBody>
      </p:sp>
      <p:sp>
        <p:nvSpPr>
          <p:cNvPr id="11" name="PlaceHolder 4"/>
          <p:cNvSpPr>
            <a:spLocks noGrp="1"/>
          </p:cNvSpPr>
          <p:nvPr>
            <p:ph type="ftr" idx="5"/>
          </p:nvPr>
        </p:nvSpPr>
        <p:spPr>
          <a:xfrm>
            <a:off x="3338640" y="5255280"/>
            <a:ext cx="3399120" cy="299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 </a:t>
            </a:r>
            <a:endParaRPr lang="en-AU" sz="1400" b="0" u="none" strike="noStrike">
              <a:solidFill>
                <a:srgbClr val="000000"/>
              </a:solidFill>
              <a:effectLst/>
              <a:uFillTx/>
              <a:latin typeface="Times New Roman"/>
            </a:endParaRPr>
          </a:p>
        </p:txBody>
      </p:sp>
      <p:sp>
        <p:nvSpPr>
          <p:cNvPr id="12" name="PlaceHolder 5"/>
          <p:cNvSpPr>
            <a:spLocks noGrp="1"/>
          </p:cNvSpPr>
          <p:nvPr>
            <p:ph type="sldNum" idx="6"/>
          </p:nvPr>
        </p:nvSpPr>
        <p:spPr>
          <a:xfrm>
            <a:off x="7118640" y="5255280"/>
            <a:ext cx="2265120" cy="2991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F48A2B9F-0708-49CE-A129-3CAB307C4FCE}" type="slidenum">
              <a:rPr lang="en-AU" sz="1200" b="0" u="none" strike="noStrike">
                <a:solidFill>
                  <a:schemeClr val="dk1">
                    <a:tint val="82000"/>
                  </a:schemeClr>
                </a:solidFill>
                <a:effectLst/>
                <a:uFillTx/>
                <a:latin typeface="Aptos"/>
              </a:rPr>
              <a:t>1</a:t>
            </a:fld>
            <a:endParaRPr lang="en-AU"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and Content">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692640" y="301680"/>
            <a:ext cx="8691120" cy="109332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14" name="PlaceHolder 2"/>
          <p:cNvSpPr>
            <a:spLocks noGrp="1"/>
          </p:cNvSpPr>
          <p:nvPr>
            <p:ph type="body"/>
          </p:nvPr>
        </p:nvSpPr>
        <p:spPr>
          <a:xfrm>
            <a:off x="692640" y="1509120"/>
            <a:ext cx="8691120" cy="3594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15" name="PlaceHolder 3"/>
          <p:cNvSpPr>
            <a:spLocks noGrp="1"/>
          </p:cNvSpPr>
          <p:nvPr>
            <p:ph type="dt" idx="7"/>
          </p:nvPr>
        </p:nvSpPr>
        <p:spPr>
          <a:xfrm>
            <a:off x="692640" y="5255280"/>
            <a:ext cx="2265120" cy="2991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AU" sz="1200" b="0" u="none" strike="noStrike">
                <a:solidFill>
                  <a:schemeClr val="dk1">
                    <a:tint val="82000"/>
                  </a:schemeClr>
                </a:solidFill>
                <a:effectLst/>
                <a:uFillTx/>
                <a:latin typeface="Aptos"/>
              </a:rPr>
              <a:t> </a:t>
            </a:r>
            <a:endParaRPr lang="en-AU" sz="1200" b="0" u="none" strike="noStrike">
              <a:solidFill>
                <a:srgbClr val="000000"/>
              </a:solidFill>
              <a:effectLst/>
              <a:uFillTx/>
              <a:latin typeface="Times New Roman"/>
            </a:endParaRPr>
          </a:p>
        </p:txBody>
      </p:sp>
      <p:sp>
        <p:nvSpPr>
          <p:cNvPr id="16" name="PlaceHolder 4"/>
          <p:cNvSpPr>
            <a:spLocks noGrp="1"/>
          </p:cNvSpPr>
          <p:nvPr>
            <p:ph type="ftr" idx="8"/>
          </p:nvPr>
        </p:nvSpPr>
        <p:spPr>
          <a:xfrm>
            <a:off x="3338640" y="5255280"/>
            <a:ext cx="3399120" cy="299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 </a:t>
            </a:r>
            <a:endParaRPr lang="en-AU" sz="1400" b="0" u="none" strike="noStrike">
              <a:solidFill>
                <a:srgbClr val="000000"/>
              </a:solidFill>
              <a:effectLst/>
              <a:uFillTx/>
              <a:latin typeface="Times New Roman"/>
            </a:endParaRPr>
          </a:p>
        </p:txBody>
      </p:sp>
      <p:sp>
        <p:nvSpPr>
          <p:cNvPr id="17" name="PlaceHolder 5"/>
          <p:cNvSpPr>
            <a:spLocks noGrp="1"/>
          </p:cNvSpPr>
          <p:nvPr>
            <p:ph type="sldNum" idx="9"/>
          </p:nvPr>
        </p:nvSpPr>
        <p:spPr>
          <a:xfrm>
            <a:off x="7118640" y="5255280"/>
            <a:ext cx="2265120" cy="2991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BCE1A144-020F-45C1-B27D-EF478977BE9A}" type="slidenum">
              <a:rPr lang="en-AU" sz="1200" b="0" u="none" strike="noStrike">
                <a:solidFill>
                  <a:schemeClr val="dk1">
                    <a:tint val="82000"/>
                  </a:schemeClr>
                </a:solidFill>
                <a:effectLst/>
                <a:uFillTx/>
                <a:latin typeface="Aptos"/>
              </a:rPr>
              <a:t>1</a:t>
            </a:fld>
            <a:endParaRPr lang="en-AU"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
    <p:bg>
      <p:bgPr>
        <a:solidFill>
          <a:srgbClr val="FFFFFF"/>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692640" y="301680"/>
            <a:ext cx="8691120" cy="109332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19" name="PlaceHolder 2"/>
          <p:cNvSpPr>
            <a:spLocks noGrp="1"/>
          </p:cNvSpPr>
          <p:nvPr>
            <p:ph type="body"/>
          </p:nvPr>
        </p:nvSpPr>
        <p:spPr>
          <a:xfrm>
            <a:off x="692640" y="1509120"/>
            <a:ext cx="8691120" cy="3594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20" name="PlaceHolder 3"/>
          <p:cNvSpPr>
            <a:spLocks noGrp="1"/>
          </p:cNvSpPr>
          <p:nvPr>
            <p:ph type="dt" idx="10"/>
          </p:nvPr>
        </p:nvSpPr>
        <p:spPr>
          <a:xfrm>
            <a:off x="692640" y="5255280"/>
            <a:ext cx="2265120" cy="2991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AU" sz="1200" b="0" u="none" strike="noStrike">
                <a:solidFill>
                  <a:schemeClr val="dk1">
                    <a:tint val="82000"/>
                  </a:schemeClr>
                </a:solidFill>
                <a:effectLst/>
                <a:uFillTx/>
                <a:latin typeface="Aptos"/>
              </a:rPr>
              <a:t> </a:t>
            </a:r>
            <a:endParaRPr lang="en-AU" sz="1200" b="0" u="none" strike="noStrike">
              <a:solidFill>
                <a:srgbClr val="000000"/>
              </a:solidFill>
              <a:effectLst/>
              <a:uFillTx/>
              <a:latin typeface="Times New Roman"/>
            </a:endParaRPr>
          </a:p>
        </p:txBody>
      </p:sp>
      <p:sp>
        <p:nvSpPr>
          <p:cNvPr id="21" name="PlaceHolder 4"/>
          <p:cNvSpPr>
            <a:spLocks noGrp="1"/>
          </p:cNvSpPr>
          <p:nvPr>
            <p:ph type="ftr" idx="11"/>
          </p:nvPr>
        </p:nvSpPr>
        <p:spPr>
          <a:xfrm>
            <a:off x="3338640" y="5255280"/>
            <a:ext cx="3399120" cy="299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 </a:t>
            </a:r>
            <a:endParaRPr lang="en-AU" sz="1400" b="0" u="none" strike="noStrike">
              <a:solidFill>
                <a:srgbClr val="000000"/>
              </a:solidFill>
              <a:effectLst/>
              <a:uFillTx/>
              <a:latin typeface="Times New Roman"/>
            </a:endParaRPr>
          </a:p>
        </p:txBody>
      </p:sp>
      <p:sp>
        <p:nvSpPr>
          <p:cNvPr id="22" name="PlaceHolder 5"/>
          <p:cNvSpPr>
            <a:spLocks noGrp="1"/>
          </p:cNvSpPr>
          <p:nvPr>
            <p:ph type="sldNum" idx="12"/>
          </p:nvPr>
        </p:nvSpPr>
        <p:spPr>
          <a:xfrm>
            <a:off x="7118640" y="5255280"/>
            <a:ext cx="2265120" cy="2991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EA9A2FE8-1C8C-4245-912A-680FA333A615}" type="slidenum">
              <a:rPr lang="en-AU" sz="1200" b="0" u="none" strike="noStrike">
                <a:solidFill>
                  <a:schemeClr val="dk1">
                    <a:tint val="82000"/>
                  </a:schemeClr>
                </a:solidFill>
                <a:effectLst/>
                <a:uFillTx/>
                <a:latin typeface="Aptos"/>
              </a:rPr>
              <a:t>1</a:t>
            </a:fld>
            <a:endParaRPr lang="en-AU"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692640" y="301680"/>
            <a:ext cx="8691120" cy="109332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24" name="PlaceHolder 2"/>
          <p:cNvSpPr>
            <a:spLocks noGrp="1"/>
          </p:cNvSpPr>
          <p:nvPr>
            <p:ph type="body"/>
          </p:nvPr>
        </p:nvSpPr>
        <p:spPr>
          <a:xfrm>
            <a:off x="692640" y="1509120"/>
            <a:ext cx="8691120" cy="3594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25" name="PlaceHolder 3"/>
          <p:cNvSpPr>
            <a:spLocks noGrp="1"/>
          </p:cNvSpPr>
          <p:nvPr>
            <p:ph type="dt" idx="13"/>
          </p:nvPr>
        </p:nvSpPr>
        <p:spPr>
          <a:xfrm>
            <a:off x="692640" y="5255280"/>
            <a:ext cx="2265120" cy="2991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AU" sz="1200" b="0" u="none" strike="noStrike">
                <a:solidFill>
                  <a:schemeClr val="dk1">
                    <a:tint val="82000"/>
                  </a:schemeClr>
                </a:solidFill>
                <a:effectLst/>
                <a:uFillTx/>
                <a:latin typeface="Aptos"/>
              </a:rPr>
              <a:t> </a:t>
            </a:r>
            <a:endParaRPr lang="en-AU" sz="1200" b="0" u="none" strike="noStrike">
              <a:solidFill>
                <a:srgbClr val="000000"/>
              </a:solidFill>
              <a:effectLst/>
              <a:uFillTx/>
              <a:latin typeface="Times New Roman"/>
            </a:endParaRPr>
          </a:p>
        </p:txBody>
      </p:sp>
      <p:sp>
        <p:nvSpPr>
          <p:cNvPr id="26" name="PlaceHolder 4"/>
          <p:cNvSpPr>
            <a:spLocks noGrp="1"/>
          </p:cNvSpPr>
          <p:nvPr>
            <p:ph type="ftr" idx="14"/>
          </p:nvPr>
        </p:nvSpPr>
        <p:spPr>
          <a:xfrm>
            <a:off x="3338640" y="5255280"/>
            <a:ext cx="3399120" cy="299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 </a:t>
            </a:r>
            <a:endParaRPr lang="en-AU" sz="1400" b="0" u="none" strike="noStrike">
              <a:solidFill>
                <a:srgbClr val="000000"/>
              </a:solidFill>
              <a:effectLst/>
              <a:uFillTx/>
              <a:latin typeface="Times New Roman"/>
            </a:endParaRPr>
          </a:p>
        </p:txBody>
      </p:sp>
      <p:sp>
        <p:nvSpPr>
          <p:cNvPr id="27" name="PlaceHolder 5"/>
          <p:cNvSpPr>
            <a:spLocks noGrp="1"/>
          </p:cNvSpPr>
          <p:nvPr>
            <p:ph type="sldNum" idx="15"/>
          </p:nvPr>
        </p:nvSpPr>
        <p:spPr>
          <a:xfrm>
            <a:off x="7118640" y="5255280"/>
            <a:ext cx="2265120" cy="2991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B318B655-889D-43FA-8A94-DB14B0D4515B}" type="slidenum">
              <a:rPr lang="en-AU" sz="1200" b="0" u="none" strike="noStrike">
                <a:solidFill>
                  <a:schemeClr val="dk1">
                    <a:tint val="82000"/>
                  </a:schemeClr>
                </a:solidFill>
                <a:effectLst/>
                <a:uFillTx/>
                <a:latin typeface="Aptos"/>
              </a:rPr>
              <a:t>1</a:t>
            </a:fld>
            <a:endParaRPr lang="en-AU"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692640" y="301680"/>
            <a:ext cx="8691120" cy="109332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29" name="PlaceHolder 2"/>
          <p:cNvSpPr>
            <a:spLocks noGrp="1"/>
          </p:cNvSpPr>
          <p:nvPr>
            <p:ph type="body"/>
          </p:nvPr>
        </p:nvSpPr>
        <p:spPr>
          <a:xfrm>
            <a:off x="692640" y="1509120"/>
            <a:ext cx="8691120" cy="3594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30" name="PlaceHolder 3"/>
          <p:cNvSpPr>
            <a:spLocks noGrp="1"/>
          </p:cNvSpPr>
          <p:nvPr>
            <p:ph type="dt" idx="16"/>
          </p:nvPr>
        </p:nvSpPr>
        <p:spPr>
          <a:xfrm>
            <a:off x="692640" y="5255280"/>
            <a:ext cx="2265120" cy="2991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AU" sz="1200" b="0" u="none" strike="noStrike">
                <a:solidFill>
                  <a:schemeClr val="dk1">
                    <a:tint val="82000"/>
                  </a:schemeClr>
                </a:solidFill>
                <a:effectLst/>
                <a:uFillTx/>
                <a:latin typeface="Aptos"/>
              </a:rPr>
              <a:t> </a:t>
            </a:r>
            <a:endParaRPr lang="en-AU" sz="1200" b="0" u="none" strike="noStrike">
              <a:solidFill>
                <a:srgbClr val="000000"/>
              </a:solidFill>
              <a:effectLst/>
              <a:uFillTx/>
              <a:latin typeface="Times New Roman"/>
            </a:endParaRPr>
          </a:p>
        </p:txBody>
      </p:sp>
      <p:sp>
        <p:nvSpPr>
          <p:cNvPr id="31" name="PlaceHolder 4"/>
          <p:cNvSpPr>
            <a:spLocks noGrp="1"/>
          </p:cNvSpPr>
          <p:nvPr>
            <p:ph type="ftr" idx="17"/>
          </p:nvPr>
        </p:nvSpPr>
        <p:spPr>
          <a:xfrm>
            <a:off x="3338640" y="5255280"/>
            <a:ext cx="3399120" cy="299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 </a:t>
            </a:r>
            <a:endParaRPr lang="en-AU" sz="1400" b="0" u="none" strike="noStrike">
              <a:solidFill>
                <a:srgbClr val="000000"/>
              </a:solidFill>
              <a:effectLst/>
              <a:uFillTx/>
              <a:latin typeface="Times New Roman"/>
            </a:endParaRPr>
          </a:p>
        </p:txBody>
      </p:sp>
      <p:sp>
        <p:nvSpPr>
          <p:cNvPr id="32" name="PlaceHolder 5"/>
          <p:cNvSpPr>
            <a:spLocks noGrp="1"/>
          </p:cNvSpPr>
          <p:nvPr>
            <p:ph type="sldNum" idx="18"/>
          </p:nvPr>
        </p:nvSpPr>
        <p:spPr>
          <a:xfrm>
            <a:off x="7118640" y="5255280"/>
            <a:ext cx="2265120" cy="2991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4EAFCBDC-ADC1-412C-A512-A42C89A900CF}" type="slidenum">
              <a:rPr lang="en-AU" sz="1200" b="0" u="none" strike="noStrike">
                <a:solidFill>
                  <a:schemeClr val="dk1">
                    <a:tint val="82000"/>
                  </a:schemeClr>
                </a:solidFill>
                <a:effectLst/>
                <a:uFillTx/>
                <a:latin typeface="Aptos"/>
              </a:rPr>
              <a:t>1</a:t>
            </a:fld>
            <a:endParaRPr lang="en-AU"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4">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692640" y="301680"/>
            <a:ext cx="8691120" cy="109332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34" name="PlaceHolder 2"/>
          <p:cNvSpPr>
            <a:spLocks noGrp="1"/>
          </p:cNvSpPr>
          <p:nvPr>
            <p:ph type="body"/>
          </p:nvPr>
        </p:nvSpPr>
        <p:spPr>
          <a:xfrm>
            <a:off x="692640" y="1509120"/>
            <a:ext cx="8691120" cy="3594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35" name="PlaceHolder 3"/>
          <p:cNvSpPr>
            <a:spLocks noGrp="1"/>
          </p:cNvSpPr>
          <p:nvPr>
            <p:ph type="dt" idx="19"/>
          </p:nvPr>
        </p:nvSpPr>
        <p:spPr>
          <a:xfrm>
            <a:off x="692640" y="5255280"/>
            <a:ext cx="2265120" cy="2991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AU" sz="1200" b="0" u="none" strike="noStrike">
                <a:solidFill>
                  <a:schemeClr val="dk1">
                    <a:tint val="82000"/>
                  </a:schemeClr>
                </a:solidFill>
                <a:effectLst/>
                <a:uFillTx/>
                <a:latin typeface="Aptos"/>
              </a:rPr>
              <a:t> </a:t>
            </a:r>
            <a:endParaRPr lang="en-AU" sz="1200" b="0" u="none" strike="noStrike">
              <a:solidFill>
                <a:srgbClr val="000000"/>
              </a:solidFill>
              <a:effectLst/>
              <a:uFillTx/>
              <a:latin typeface="Times New Roman"/>
            </a:endParaRPr>
          </a:p>
        </p:txBody>
      </p:sp>
      <p:sp>
        <p:nvSpPr>
          <p:cNvPr id="36" name="PlaceHolder 4"/>
          <p:cNvSpPr>
            <a:spLocks noGrp="1"/>
          </p:cNvSpPr>
          <p:nvPr>
            <p:ph type="ftr" idx="20"/>
          </p:nvPr>
        </p:nvSpPr>
        <p:spPr>
          <a:xfrm>
            <a:off x="3338640" y="5255280"/>
            <a:ext cx="3399120" cy="299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 </a:t>
            </a:r>
            <a:endParaRPr lang="en-AU" sz="1400" b="0" u="none" strike="noStrike">
              <a:solidFill>
                <a:srgbClr val="000000"/>
              </a:solidFill>
              <a:effectLst/>
              <a:uFillTx/>
              <a:latin typeface="Times New Roman"/>
            </a:endParaRPr>
          </a:p>
        </p:txBody>
      </p:sp>
      <p:sp>
        <p:nvSpPr>
          <p:cNvPr id="37" name="PlaceHolder 5"/>
          <p:cNvSpPr>
            <a:spLocks noGrp="1"/>
          </p:cNvSpPr>
          <p:nvPr>
            <p:ph type="sldNum" idx="21"/>
          </p:nvPr>
        </p:nvSpPr>
        <p:spPr>
          <a:xfrm>
            <a:off x="7118640" y="5255280"/>
            <a:ext cx="2265120" cy="2991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97DACF03-5CD6-4100-BB42-2B1837064C37}" type="slidenum">
              <a:rPr lang="en-AU" sz="1200" b="0" u="none" strike="noStrike">
                <a:solidFill>
                  <a:schemeClr val="dk1">
                    <a:tint val="82000"/>
                  </a:schemeClr>
                </a:solidFill>
                <a:effectLst/>
                <a:uFillTx/>
                <a:latin typeface="Aptos"/>
              </a:rPr>
              <a:t>1</a:t>
            </a:fld>
            <a:endParaRPr lang="en-AU"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1523880" y="1122480"/>
            <a:ext cx="9141120" cy="2384640"/>
          </a:xfrm>
          <a:prstGeom prst="rect">
            <a:avLst/>
          </a:prstGeom>
          <a:noFill/>
          <a:ln w="0">
            <a:noFill/>
          </a:ln>
        </p:spPr>
        <p:txBody>
          <a:bodyPr lIns="91440" tIns="45720" rIns="91440" bIns="45720" anchor="b">
            <a:noAutofit/>
          </a:bodyPr>
          <a:lstStyle>
            <a:lvl1pPr indent="0" algn="ctr" defTabSz="914400">
              <a:lnSpc>
                <a:spcPct val="90000"/>
              </a:lnSpc>
              <a:buNone/>
              <a:tabLst>
                <a:tab pos="0" algn="l"/>
              </a:tabLst>
              <a:defRPr lang="en-US" sz="6000" b="0" u="none" strike="noStrike">
                <a:solidFill>
                  <a:schemeClr val="dk1"/>
                </a:solidFill>
                <a:effectLst/>
                <a:uFillTx/>
                <a:latin typeface="Aptos Display"/>
              </a:defRPr>
            </a:lvl1pPr>
          </a:lstStyle>
          <a:p>
            <a:pPr indent="0" algn="ctr" defTabSz="914400">
              <a:lnSpc>
                <a:spcPct val="90000"/>
              </a:lnSpc>
              <a:buNone/>
              <a:tabLst>
                <a:tab pos="0" algn="l"/>
              </a:tabLst>
            </a:pPr>
            <a:r>
              <a:rPr lang="en-US" sz="6000" b="0" u="none" strike="noStrike">
                <a:solidFill>
                  <a:schemeClr val="dk1"/>
                </a:solidFill>
                <a:effectLst/>
                <a:uFillTx/>
                <a:latin typeface="Aptos Display"/>
              </a:rPr>
              <a:t>Click to edit Master title style</a:t>
            </a:r>
            <a:endParaRPr lang="en-US" sz="6000" b="0" u="none" strike="noStrike">
              <a:solidFill>
                <a:schemeClr val="dk1"/>
              </a:solidFill>
              <a:effectLst/>
              <a:uFillTx/>
              <a:latin typeface="Aptos Display"/>
            </a:endParaRPr>
          </a:p>
        </p:txBody>
      </p:sp>
      <p:sp>
        <p:nvSpPr>
          <p:cNvPr id="39" name="PlaceHolder 2"/>
          <p:cNvSpPr>
            <a:spLocks noGrp="1"/>
          </p:cNvSpPr>
          <p:nvPr>
            <p:ph type="dt" idx="22"/>
          </p:nvPr>
        </p:nvSpPr>
        <p:spPr>
          <a:xfrm>
            <a:off x="838080" y="6356520"/>
            <a:ext cx="2740320" cy="36216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AU" sz="1200" b="0" u="none" strike="noStrike">
                <a:solidFill>
                  <a:schemeClr val="dk1">
                    <a:tint val="82000"/>
                  </a:schemeClr>
                </a:solidFill>
                <a:effectLst/>
                <a:uFillTx/>
                <a:latin typeface="Aptos"/>
              </a:rPr>
              <a:t> </a:t>
            </a:r>
            <a:endParaRPr lang="en-AU" sz="1200" b="0" u="none" strike="noStrike">
              <a:solidFill>
                <a:srgbClr val="000000"/>
              </a:solidFill>
              <a:effectLst/>
              <a:uFillTx/>
              <a:latin typeface="Times New Roman"/>
            </a:endParaRPr>
          </a:p>
        </p:txBody>
      </p:sp>
      <p:sp>
        <p:nvSpPr>
          <p:cNvPr id="40" name="PlaceHolder 3"/>
          <p:cNvSpPr>
            <a:spLocks noGrp="1"/>
          </p:cNvSpPr>
          <p:nvPr>
            <p:ph type="ftr" idx="23"/>
          </p:nvPr>
        </p:nvSpPr>
        <p:spPr>
          <a:xfrm>
            <a:off x="4038480" y="6356520"/>
            <a:ext cx="4111920" cy="362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 </a:t>
            </a:r>
            <a:endParaRPr lang="en-AU" sz="1400" b="0" u="none" strike="noStrike">
              <a:solidFill>
                <a:srgbClr val="000000"/>
              </a:solidFill>
              <a:effectLst/>
              <a:uFillTx/>
              <a:latin typeface="Times New Roman"/>
            </a:endParaRPr>
          </a:p>
        </p:txBody>
      </p:sp>
      <p:sp>
        <p:nvSpPr>
          <p:cNvPr id="41" name="PlaceHolder 4"/>
          <p:cNvSpPr>
            <a:spLocks noGrp="1"/>
          </p:cNvSpPr>
          <p:nvPr>
            <p:ph type="sldNum" idx="24"/>
          </p:nvPr>
        </p:nvSpPr>
        <p:spPr>
          <a:xfrm>
            <a:off x="8610480" y="6356520"/>
            <a:ext cx="2740320" cy="3621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4777CB98-17AE-4303-90AE-D20E3D5CCFC6}" type="slidenum">
              <a:rPr lang="en-AU" sz="1200" b="0" u="none" strike="noStrike">
                <a:solidFill>
                  <a:schemeClr val="dk1">
                    <a:tint val="82000"/>
                  </a:schemeClr>
                </a:solidFill>
                <a:effectLst/>
                <a:uFillTx/>
                <a:latin typeface="Aptos"/>
              </a:rPr>
              <a:t>1</a:t>
            </a:fld>
            <a:endParaRPr lang="en-AU" sz="1200" b="0" u="none" strike="noStrike">
              <a:solidFill>
                <a:srgbClr val="000000"/>
              </a:solidFill>
              <a:effectLst/>
              <a:uFillTx/>
              <a:latin typeface="Times New Roman"/>
            </a:endParaRPr>
          </a:p>
        </p:txBody>
      </p:sp>
      <p:sp>
        <p:nvSpPr>
          <p:cNvPr id="42" name="PlaceHolder 5"/>
          <p:cNvSpPr>
            <a:spLocks noGrp="1"/>
          </p:cNvSpPr>
          <p:nvPr>
            <p:ph type="body"/>
          </p:nvPr>
        </p:nvSpPr>
        <p:spPr>
          <a:xfrm>
            <a:off x="609480" y="1604520"/>
            <a:ext cx="10969920" cy="397476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US" sz="1800" b="0" u="none" strike="noStrike">
              <a:solidFill>
                <a:schemeClr val="dk1"/>
              </a:solidFill>
              <a:effectLst/>
              <a:uFillTx/>
              <a:latin typeface="Aptos"/>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ptos"/>
              </a:rPr>
              <a:t>Fifth Outline Level</a:t>
            </a:r>
            <a:endParaRPr lang="en-US" sz="1800" b="0" u="none" strike="noStrike">
              <a:solidFill>
                <a:schemeClr val="dk1"/>
              </a:solidFill>
              <a:effectLst/>
              <a:uFillTx/>
              <a:latin typeface="Aptos"/>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title"/>
          </p:nvPr>
        </p:nvSpPr>
        <p:spPr>
          <a:xfrm>
            <a:off x="692640" y="513000"/>
            <a:ext cx="8691120" cy="670680"/>
          </a:xfrm>
          <a:prstGeom prst="rect">
            <a:avLst/>
          </a:prstGeom>
          <a:noFill/>
          <a:ln w="0">
            <a:noFill/>
          </a:ln>
        </p:spPr>
        <p:txBody>
          <a:bodyPr lIns="0" tIns="0" rIns="0" bIns="0" anchor="ctr">
            <a:spAutoFit/>
          </a:bodyPr>
          <a:lstStyle>
            <a:lvl1pPr indent="0" algn="l">
              <a:buNone/>
              <a:tabLst>
                <a:tab pos="0" algn="l"/>
              </a:tabLst>
              <a:defRPr lang="en-AU" sz="4400" b="0" u="none" strike="noStrike">
                <a:solidFill>
                  <a:srgbClr val="000000"/>
                </a:solidFill>
                <a:effectLst/>
                <a:uFillTx/>
                <a:latin typeface="Arial"/>
              </a:defRPr>
            </a:lvl1pPr>
          </a:lstStyle>
          <a:p>
            <a:pPr indent="0" algn="l">
              <a:buNone/>
              <a:tabLst>
                <a:tab pos="0" algn="l"/>
              </a:tabLst>
            </a:pPr>
            <a:r>
              <a:rPr lang="en-AU" sz="4400" b="0" u="none" strike="noStrike">
                <a:solidFill>
                  <a:srgbClr val="000000"/>
                </a:solidFill>
                <a:effectLst/>
                <a:uFillTx/>
                <a:latin typeface="Arial"/>
              </a:rPr>
              <a:t>Click to edit the title text format</a:t>
            </a:r>
            <a:endParaRPr lang="en-AU" sz="4400" b="0" u="none" strike="noStrike">
              <a:solidFill>
                <a:srgbClr val="000000"/>
              </a:solidFill>
              <a:effectLst/>
              <a:uFillTx/>
              <a:latin typeface="Arial"/>
            </a:endParaRPr>
          </a:p>
        </p:txBody>
      </p:sp>
      <p:sp>
        <p:nvSpPr>
          <p:cNvPr id="3" name="PlaceHolder 2"/>
          <p:cNvSpPr>
            <a:spLocks noGrp="1"/>
          </p:cNvSpPr>
          <p:nvPr>
            <p:ph type="ftr" idx="1"/>
          </p:nvPr>
        </p:nvSpPr>
        <p:spPr>
          <a:xfrm>
            <a:off x="3447360" y="5165280"/>
            <a:ext cx="3193200" cy="388800"/>
          </a:xfrm>
          <a:prstGeom prst="rect">
            <a:avLst/>
          </a:prstGeom>
          <a:noFill/>
          <a:ln w="0">
            <a:noFill/>
          </a:ln>
        </p:spPr>
        <p:txBody>
          <a:bodyPr lIns="0" tIns="0" rIns="0" bIns="0" anchor="t">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4" name="PlaceHolder 3"/>
          <p:cNvSpPr>
            <a:spLocks noGrp="1"/>
          </p:cNvSpPr>
          <p:nvPr>
            <p:ph type="sldNum" idx="2"/>
          </p:nvPr>
        </p:nvSpPr>
        <p:spPr>
          <a:xfrm>
            <a:off x="7227360" y="5165280"/>
            <a:ext cx="2346480" cy="388800"/>
          </a:xfrm>
          <a:prstGeom prst="rect">
            <a:avLst/>
          </a:prstGeom>
          <a:noFill/>
          <a:ln w="0">
            <a:noFill/>
          </a:ln>
        </p:spPr>
        <p:txBody>
          <a:bodyPr lIns="0" tIns="0" rIns="0" bIns="0" anchor="t">
            <a:noAutofit/>
          </a:bodyPr>
          <a:lstStyle>
            <a:lvl1pPr indent="0" algn="r">
              <a:lnSpc>
                <a:spcPct val="100000"/>
              </a:lnSpc>
              <a:buNone/>
              <a:tabLst>
                <a:tab pos="0" algn="l"/>
              </a:tabLst>
              <a:defRPr lang="en-AU" sz="1400" b="0" u="none" strike="noStrike">
                <a:solidFill>
                  <a:srgbClr val="000000"/>
                </a:solidFill>
                <a:effectLst/>
                <a:uFillTx/>
                <a:latin typeface="Times New Roman"/>
              </a:defRPr>
            </a:lvl1pPr>
          </a:lstStyle>
          <a:p>
            <a:pPr indent="0" algn="r">
              <a:lnSpc>
                <a:spcPct val="100000"/>
              </a:lnSpc>
              <a:buNone/>
              <a:tabLst>
                <a:tab pos="0" algn="l"/>
              </a:tabLst>
            </a:pPr>
            <a:fld id="{F2EBE5F5-6260-4511-AD5E-63A0CC71368F}" type="slidenum">
              <a:rPr lang="en-AU" sz="1400" b="0" u="none" strike="noStrike">
                <a:solidFill>
                  <a:srgbClr val="000000"/>
                </a:solidFill>
                <a:effectLst/>
                <a:uFillTx/>
                <a:latin typeface="Times New Roman"/>
              </a:rPr>
              <a:t>&lt;number&gt;</a:t>
            </a:fld>
            <a:endParaRPr lang="en-AU" sz="1400" b="0" u="none" strike="noStrike">
              <a:solidFill>
                <a:srgbClr val="000000"/>
              </a:solidFill>
              <a:effectLst/>
              <a:uFillTx/>
              <a:latin typeface="Times New Roman"/>
            </a:endParaRPr>
          </a:p>
        </p:txBody>
      </p:sp>
      <p:sp>
        <p:nvSpPr>
          <p:cNvPr id="5" name="PlaceHolder 4"/>
          <p:cNvSpPr>
            <a:spLocks noGrp="1"/>
          </p:cNvSpPr>
          <p:nvPr>
            <p:ph type="dt" idx="3"/>
          </p:nvPr>
        </p:nvSpPr>
        <p:spPr>
          <a:xfrm>
            <a:off x="504000" y="5165280"/>
            <a:ext cx="2346480" cy="388800"/>
          </a:xfrm>
          <a:prstGeom prst="rect">
            <a:avLst/>
          </a:prstGeom>
          <a:noFill/>
          <a:ln w="0">
            <a:noFill/>
          </a:ln>
        </p:spPr>
        <p:txBody>
          <a:bodyPr lIns="0" tIns="0" rIns="0" bIns="0" anchor="t">
            <a:noAutofit/>
          </a:bodyPr>
          <a:lstStyle>
            <a:lvl1pPr indent="0" algn="l">
              <a:buNone/>
              <a:defRPr lang="en-AU" sz="1400" b="0" u="none" strike="noStrike">
                <a:solidFill>
                  <a:srgbClr val="000000"/>
                </a:solidFill>
                <a:effectLst/>
                <a:uFillTx/>
                <a:latin typeface="Times New Roman"/>
              </a:defRPr>
            </a:lvl1pPr>
          </a:lstStyle>
          <a:p>
            <a:pPr indent="0" algn="l">
              <a:buNone/>
            </a:pPr>
            <a:r>
              <a:rPr lang="en-AU" sz="1400" b="0" u="none" strike="noStrike">
                <a:solidFill>
                  <a:srgbClr val="000000"/>
                </a:solidFill>
                <a:effectLst/>
                <a:uFillTx/>
                <a:latin typeface="Times New Roman"/>
              </a:rPr>
              <a:t>&lt;date/time&gt;</a:t>
            </a:r>
            <a:endParaRPr lang="en-AU"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 id="2147483655" r:id="rId6"/>
    <p:sldLayoutId id="2147483656" r:id="rId7"/>
    <p:sldLayoutId id="2147483657" r:id="rId8"/>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2.xml"/>
</Relationships>
</file>

<file path=ppt/slides/_rels/slide18.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xml"/>
</Relationships>
</file>

<file path=ppt/slides/_rels/slide19.xml.rels><?xml version="1.0" encoding="UTF-8"?>
<Relationships xmlns="http://schemas.openxmlformats.org/package/2006/relationships"><Relationship Id="rId1" Type="http://schemas.openxmlformats.org/officeDocument/2006/relationships/hyperlink" Target="https://www.ciscopress.com/articles/article.asp?p=3203553" TargetMode="External"/><Relationship Id="rId2" Type="http://schemas.openxmlformats.org/officeDocument/2006/relationships/image" Target="../media/image11.png"/><Relationship Id="rId3"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43" name="Rectangle 20">
            <a:extLst>
              <a:ext uri="{C183D7F6-B498-43B3-948B-1728B52AA6E4}">
                <adec:decorative xmlns:adec="http://schemas.microsoft.com/office/drawing/2017/decorative" val="1"/>
              </a:ext>
            </a:extLst>
          </p:cNvPr>
          <p:cNvSpPr/>
          <p:nvPr/>
        </p:nvSpPr>
        <p:spPr>
          <a:xfrm>
            <a:off x="0" y="0"/>
            <a:ext cx="12186000" cy="685512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ptos"/>
            </a:endParaRPr>
          </a:p>
        </p:txBody>
      </p:sp>
      <p:sp>
        <p:nvSpPr>
          <p:cNvPr id="44" name="PlaceHolder 1"/>
          <p:cNvSpPr>
            <a:spLocks noGrp="1"/>
          </p:cNvSpPr>
          <p:nvPr>
            <p:ph type="title"/>
          </p:nvPr>
        </p:nvSpPr>
        <p:spPr>
          <a:xfrm>
            <a:off x="36000" y="180000"/>
            <a:ext cx="3562200" cy="5428800"/>
          </a:xfrm>
          <a:prstGeom prst="rect">
            <a:avLst/>
          </a:prstGeom>
          <a:noFill/>
          <a:ln w="0">
            <a:noFill/>
          </a:ln>
        </p:spPr>
        <p:txBody>
          <a:bodyPr lIns="91440" tIns="45720" rIns="91440" bIns="45720" anchor="ctr">
            <a:normAutofit/>
          </a:bodyPr>
          <a:p>
            <a:pPr indent="0" algn="l" defTabSz="914400">
              <a:lnSpc>
                <a:spcPct val="90000"/>
              </a:lnSpc>
              <a:buNone/>
              <a:tabLst>
                <a:tab pos="0" algn="l"/>
              </a:tabLst>
            </a:pPr>
            <a:r>
              <a:rPr lang="en-US" sz="4400" b="0" u="none" strike="noStrike">
                <a:solidFill>
                  <a:srgbClr val="C00000"/>
                </a:solidFill>
                <a:effectLst/>
                <a:uFillTx/>
                <a:latin typeface="Arial"/>
              </a:rPr>
              <a:t>Fabric Technologies</a:t>
            </a:r>
            <a:endParaRPr lang="en-US" sz="4400" b="0" u="none" strike="noStrike">
              <a:solidFill>
                <a:schemeClr val="dk1"/>
              </a:solidFill>
              <a:effectLst/>
              <a:uFillTx/>
              <a:latin typeface="Aptos Display"/>
            </a:endParaRPr>
          </a:p>
        </p:txBody>
      </p:sp>
      <p:sp>
        <p:nvSpPr>
          <p:cNvPr id="45" name="sketch line 2">
            <a:extLst>
              <a:ext uri="{C183D7F6-B498-43B3-948B-1728B52AA6E4}">
                <adec:decorative xmlns:adec="http://schemas.microsoft.com/office/drawing/2017/decorative" val="1"/>
              </a:ext>
            </a:extLst>
          </p:cNvPr>
          <p:cNvSpPr/>
          <p:nvPr/>
        </p:nvSpPr>
        <p:spPr>
          <a:xfrm rot="5400000">
            <a:off x="2546640" y="3258360"/>
            <a:ext cx="4477680" cy="15480"/>
          </a:xfrm>
          <a:custGeom>
            <a:avLst/>
            <a:gdLst>
              <a:gd name="textAreaLeft" fmla="*/ 0 w 4477680"/>
              <a:gd name="textAreaRight" fmla="*/ 4480560 w 4477680"/>
              <a:gd name="textAreaTop" fmla="*/ 0 h 15480"/>
              <a:gd name="textAreaBottom" fmla="*/ 18360 h 15480"/>
              <a:gd name="GluePoint1X" fmla="*/ 0 w 4480560"/>
              <a:gd name="GluePoint1Y" fmla="*/ 0 h 18288"/>
              <a:gd name="GluePoint2X" fmla="*/ 595274 w 4480560"/>
              <a:gd name="GluePoint2Y" fmla="*/ 0 h 18288"/>
              <a:gd name="GluePoint3X" fmla="*/ 1100938 w 4480560"/>
              <a:gd name="GluePoint3Y" fmla="*/ 0 h 18288"/>
              <a:gd name="GluePoint4X" fmla="*/ 1651406 w 4480560"/>
              <a:gd name="GluePoint4Y" fmla="*/ 0 h 18288"/>
              <a:gd name="GluePoint5X" fmla="*/ 2336292 w 4480560"/>
              <a:gd name="GluePoint5Y" fmla="*/ 0 h 18288"/>
              <a:gd name="GluePoint6X" fmla="*/ 2931566 w 4480560"/>
              <a:gd name="GluePoint6Y" fmla="*/ 0 h 18288"/>
              <a:gd name="GluePoint7X" fmla="*/ 3482035 w 4480560"/>
              <a:gd name="GluePoint7Y" fmla="*/ 0 h 18288"/>
              <a:gd name="GluePoint8X" fmla="*/ 4480560 w 4480560"/>
              <a:gd name="GluePoint8Y" fmla="*/ 0 h 18288"/>
              <a:gd name="GluePoint9X" fmla="*/ 4480560 w 4480560"/>
              <a:gd name="GluePoint9Y" fmla="*/ 18288 h 18288"/>
              <a:gd name="GluePoint10X" fmla="*/ 3840480 w 4480560"/>
              <a:gd name="GluePoint10Y" fmla="*/ 18288 h 18288"/>
              <a:gd name="GluePoint11X" fmla="*/ 3290011 w 4480560"/>
              <a:gd name="GluePoint11Y" fmla="*/ 18288 h 18288"/>
              <a:gd name="GluePoint12X" fmla="*/ 2560320 w 4480560"/>
              <a:gd name="GluePoint12Y" fmla="*/ 18288 h 18288"/>
              <a:gd name="GluePoint13X" fmla="*/ 1965046 w 4480560"/>
              <a:gd name="GluePoint13Y" fmla="*/ 18288 h 18288"/>
              <a:gd name="GluePoint14X" fmla="*/ 1459382 w 4480560"/>
              <a:gd name="GluePoint14Y" fmla="*/ 18288 h 18288"/>
              <a:gd name="GluePoint15X" fmla="*/ 774497 w 4480560"/>
              <a:gd name="GluePoint15Y" fmla="*/ 18288 h 18288"/>
              <a:gd name="GluePoint16X" fmla="*/ 0 w 4480560"/>
              <a:gd name="GluePoint16Y" fmla="*/ 18288 h 18288"/>
              <a:gd name="GluePoint17X" fmla="*/ 0 w 4480560"/>
              <a:gd name="GluePoint17Y" fmla="*/ 0 h 182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Lst>
            <a:rect l="textAreaLeft" t="textAreaTop" r="textAreaRight" b="textAreaBottom"/>
            <a:pathLst>
              <a:path fill="none" w="4480560" h="18288">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stroke="0" w="4480560" h="18288">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cap="rnd" w="41275">
            <a:solidFill>
              <a:srgbClr val="E97132"/>
            </a:solidFill>
            <a:round/>
          </a:ln>
        </p:spPr>
        <p:style>
          <a:lnRef idx="2">
            <a:schemeClr val="accent1">
              <a:shade val="50000"/>
            </a:schemeClr>
          </a:lnRef>
          <a:fillRef idx="1">
            <a:schemeClr val="accent1"/>
          </a:fillRef>
          <a:effectRef idx="0">
            <a:schemeClr val="accent1"/>
          </a:effectRef>
          <a:fontRef idx="minor"/>
        </p:style>
        <p:txBody>
          <a:bodyPr lIns="90000" tIns="-26640" rIns="90000" bIns="-26640" anchor="ctr">
            <a:noAutofit/>
          </a:bodyPr>
          <a:p>
            <a:endParaRPr lang="en-US" sz="1800" b="0" u="none" strike="noStrike">
              <a:solidFill>
                <a:schemeClr val="lt1"/>
              </a:solidFill>
              <a:effectLst/>
              <a:uFillTx/>
              <a:latin typeface="Aptos"/>
            </a:endParaRPr>
          </a:p>
        </p:txBody>
      </p:sp>
      <p:sp>
        <p:nvSpPr>
          <p:cNvPr id="46" name="PlaceHolder 2"/>
          <p:cNvSpPr>
            <a:spLocks noGrp="1"/>
          </p:cNvSpPr>
          <p:nvPr>
            <p:ph type="subTitle"/>
          </p:nvPr>
        </p:nvSpPr>
        <p:spPr>
          <a:xfrm>
            <a:off x="4757400" y="265320"/>
            <a:ext cx="7122960" cy="6278040"/>
          </a:xfrm>
          <a:prstGeom prst="rect">
            <a:avLst/>
          </a:prstGeom>
          <a:noFill/>
          <a:ln w="0">
            <a:noFill/>
          </a:ln>
        </p:spPr>
        <p:txBody>
          <a:bodyPr lIns="91440" tIns="45720" rIns="91440" bIns="45720" anchor="ctr">
            <a:noAutofit/>
          </a:bodyPr>
          <a:p>
            <a:pPr indent="0" algn="l" defTabSz="914400">
              <a:lnSpc>
                <a:spcPct val="90000"/>
              </a:lnSpc>
              <a:spcBef>
                <a:spcPts val="1001"/>
              </a:spcBef>
              <a:buNone/>
              <a:tabLst>
                <a:tab pos="0" algn="l"/>
              </a:tabLst>
            </a:pPr>
            <a:r>
              <a:rPr lang="en-US" sz="2400" b="1" u="none" strike="noStrike">
                <a:solidFill>
                  <a:schemeClr val="dk1"/>
                </a:solidFill>
                <a:effectLst/>
                <a:uFillTx/>
                <a:latin typeface="Arial"/>
              </a:rPr>
              <a:t>Learning Outcomes:</a:t>
            </a:r>
            <a:endParaRPr lang="en-AU" sz="2400" b="0" u="none" strike="noStrike">
              <a:solidFill>
                <a:srgbClr val="000000"/>
              </a:solidFill>
              <a:effectLst/>
              <a:uFillTx/>
              <a:latin typeface="Arial"/>
            </a:endParaRPr>
          </a:p>
          <a:p>
            <a:pPr marL="216000" indent="-228600" algn="l" defTabSz="914400">
              <a:lnSpc>
                <a:spcPct val="90000"/>
              </a:lnSpc>
              <a:spcBef>
                <a:spcPts val="1001"/>
              </a:spcBef>
              <a:buClr>
                <a:srgbClr val="000000"/>
              </a:buClr>
              <a:buSzPct val="45000"/>
              <a:buFont typeface="Wingdings" charset="2"/>
              <a:buChar char=""/>
              <a:tabLst>
                <a:tab pos="0" algn="l"/>
              </a:tabLst>
            </a:pPr>
            <a:r>
              <a:rPr lang="en-US" sz="2400" b="1" u="none" strike="noStrike">
                <a:solidFill>
                  <a:schemeClr val="accent6"/>
                </a:solidFill>
                <a:effectLst/>
                <a:uFillTx/>
                <a:latin typeface="Arial"/>
              </a:rPr>
              <a:t>Software Defined Access (SD-Access)</a:t>
            </a:r>
            <a:r>
              <a:rPr lang="en-US" sz="2400" b="0" u="none" strike="noStrike">
                <a:solidFill>
                  <a:schemeClr val="accent6"/>
                </a:solidFill>
                <a:effectLst/>
                <a:uFillTx/>
                <a:latin typeface="Arial"/>
              </a:rPr>
              <a:t>: </a:t>
            </a:r>
            <a:r>
              <a:rPr lang="en-US" sz="2400" b="0" u="none" strike="noStrike">
                <a:solidFill>
                  <a:schemeClr val="dk1"/>
                </a:solidFill>
                <a:effectLst/>
                <a:uFillTx/>
                <a:latin typeface="Arial"/>
              </a:rPr>
              <a:t>Benefits of SD-Access over traditional campus networks. Components nodes, control plane and data plane.</a:t>
            </a:r>
            <a:endParaRPr lang="en-AU" sz="2400" b="0" u="none" strike="noStrike">
              <a:solidFill>
                <a:srgbClr val="000000"/>
              </a:solidFill>
              <a:effectLst/>
              <a:uFillTx/>
              <a:latin typeface="Arial"/>
            </a:endParaRPr>
          </a:p>
          <a:p>
            <a:pPr marL="216000" indent="-228600" algn="l" defTabSz="914400">
              <a:lnSpc>
                <a:spcPct val="90000"/>
              </a:lnSpc>
              <a:spcBef>
                <a:spcPts val="499"/>
              </a:spcBef>
              <a:buClr>
                <a:srgbClr val="000000"/>
              </a:buClr>
              <a:buFont typeface="Arial"/>
              <a:buChar char="•"/>
              <a:tabLst>
                <a:tab pos="0" algn="l"/>
              </a:tabLst>
            </a:pPr>
            <a:r>
              <a:rPr lang="en-US" sz="2400" b="1" u="none" strike="noStrike">
                <a:solidFill>
                  <a:schemeClr val="accent6"/>
                </a:solidFill>
                <a:effectLst/>
                <a:uFillTx/>
                <a:latin typeface="Arial"/>
              </a:rPr>
              <a:t>Software Defined Wide Area Network (SDWAN):</a:t>
            </a:r>
            <a:r>
              <a:rPr lang="en-US" sz="2400" b="0" u="none" strike="noStrike">
                <a:solidFill>
                  <a:schemeClr val="accent6"/>
                </a:solidFill>
                <a:effectLst/>
                <a:uFillTx/>
                <a:latin typeface="Arial"/>
              </a:rPr>
              <a:t> </a:t>
            </a:r>
            <a:r>
              <a:rPr lang="en-US" sz="2400" b="0" u="none" strike="noStrike">
                <a:solidFill>
                  <a:schemeClr val="dk1"/>
                </a:solidFill>
                <a:effectLst/>
                <a:uFillTx/>
                <a:latin typeface="Arial"/>
              </a:rPr>
              <a:t>Benefits of SDWAN over traditional WAN. Components of SDWAN Orchestration Plane, Management Plane, Control Plane and Data Plane</a:t>
            </a:r>
            <a:endParaRPr lang="en-AU" sz="2400" b="0" u="none" strike="noStrike">
              <a:solidFill>
                <a:srgbClr val="000000"/>
              </a:solidFill>
              <a:effectLst/>
              <a:uFillTx/>
              <a:latin typeface="Arial"/>
            </a:endParaRPr>
          </a:p>
          <a:p>
            <a:pPr marL="216000" indent="0" algn="l" defTabSz="914400">
              <a:lnSpc>
                <a:spcPct val="90000"/>
              </a:lnSpc>
              <a:spcBef>
                <a:spcPts val="499"/>
              </a:spcBef>
              <a:buNone/>
              <a:tabLst>
                <a:tab pos="0" algn="l"/>
              </a:tabLst>
            </a:pPr>
            <a:endParaRPr lang="en-AU"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7" name="Rectangle 4">
            <a:extLst>
              <a:ext uri="{C183D7F6-B498-43B3-948B-1728B52AA6E4}">
                <adec:decorative xmlns:adec="http://schemas.microsoft.com/office/drawing/2017/decorative" val="1"/>
              </a:ext>
            </a:extLst>
          </p:cNvPr>
          <p:cNvSpPr/>
          <p:nvPr/>
        </p:nvSpPr>
        <p:spPr>
          <a:xfrm>
            <a:off x="360" y="360"/>
            <a:ext cx="3958200" cy="1078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1.SD-Access</a:t>
            </a:r>
            <a:endParaRPr lang="en-AU" sz="4400" b="0" u="none" strike="noStrike">
              <a:solidFill>
                <a:srgbClr val="FFFFFF"/>
              </a:solidFill>
              <a:effectLst/>
              <a:uFillTx/>
              <a:latin typeface="Arial"/>
            </a:endParaRPr>
          </a:p>
        </p:txBody>
      </p:sp>
      <p:sp>
        <p:nvSpPr>
          <p:cNvPr id="48" name="PlaceHolder 1"/>
          <p:cNvSpPr>
            <a:spLocks noGrp="1"/>
          </p:cNvSpPr>
          <p:nvPr>
            <p:ph/>
          </p:nvPr>
        </p:nvSpPr>
        <p:spPr>
          <a:xfrm>
            <a:off x="4320000" y="148680"/>
            <a:ext cx="5607720" cy="5355360"/>
          </a:xfrm>
          <a:prstGeom prst="rect">
            <a:avLst/>
          </a:prstGeom>
          <a:noFill/>
          <a:ln w="0">
            <a:noFill/>
          </a:ln>
        </p:spPr>
        <p:txBody>
          <a:bodyPr lIns="91440" tIns="45720" rIns="91440" bIns="45720" anchor="t">
            <a:normAutofit lnSpcReduction="9999"/>
          </a:bodyPr>
          <a:p>
            <a:pPr indent="0" algn="l" defTabSz="914400">
              <a:lnSpc>
                <a:spcPct val="100000"/>
              </a:lnSpc>
              <a:spcBef>
                <a:spcPts val="1001"/>
              </a:spcBef>
              <a:buNone/>
              <a:tabLst>
                <a:tab pos="0" algn="l"/>
              </a:tabLst>
            </a:pPr>
            <a:r>
              <a:rPr lang="en-US" sz="1800" b="1" u="none" strike="noStrike">
                <a:solidFill>
                  <a:schemeClr val="dk1"/>
                </a:solidFill>
                <a:effectLst/>
                <a:uFillTx/>
                <a:latin typeface="Arial"/>
                <a:ea typeface="Microsoft YaHei"/>
              </a:rPr>
              <a:t>Fabric Technology: </a:t>
            </a:r>
            <a:r>
              <a:rPr lang="en-US" sz="1600" b="0" u="none" strike="noStrike">
                <a:solidFill>
                  <a:schemeClr val="dk1"/>
                </a:solidFill>
                <a:effectLst/>
                <a:uFillTx/>
                <a:latin typeface="Arial"/>
                <a:ea typeface="Microsoft YaHei"/>
              </a:rPr>
              <a:t>Fabric network is overlay network built on underlay network by using overlay tunneling technologies such as VXLAN.</a:t>
            </a:r>
            <a:endParaRPr lang="en-US" sz="1600" b="0" u="none" strike="noStrike">
              <a:solidFill>
                <a:schemeClr val="dk1"/>
              </a:solidFill>
              <a:effectLst/>
              <a:uFillTx/>
              <a:latin typeface="Aptos"/>
            </a:endParaRPr>
          </a:p>
          <a:p>
            <a:pPr marL="360000" indent="-324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Fabric technology provides host mobility, network automation, segmentation, network virtualization, security with encryption, flexibility, manageability and scalibity than traditional network.</a:t>
            </a:r>
            <a:endParaRPr lang="en-US" sz="1600" b="0" u="none" strike="noStrike">
              <a:solidFill>
                <a:schemeClr val="dk1"/>
              </a:solidFill>
              <a:effectLst/>
              <a:uFillTx/>
              <a:latin typeface="Aptos"/>
            </a:endParaRPr>
          </a:p>
          <a:p>
            <a:pPr marL="360000" indent="-324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Intent Based Networking (IBN) captures business intent, translates into policies and implements network (physical and virtual) with continuous monitoring to make sure desired business outcome is met.</a:t>
            </a:r>
            <a:endParaRPr lang="en-US" sz="1600" b="0" u="none" strike="noStrike">
              <a:solidFill>
                <a:schemeClr val="dk1"/>
              </a:solidFill>
              <a:effectLst/>
              <a:uFillTx/>
              <a:latin typeface="Aptos"/>
            </a:endParaRPr>
          </a:p>
          <a:p>
            <a:pPr marL="360000" indent="-324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IBN is achieved by drifting away from hardware centric networks to controller based networks.</a:t>
            </a:r>
            <a:endParaRPr lang="en-US" sz="1600" b="0" u="none" strike="noStrike">
              <a:solidFill>
                <a:schemeClr val="dk1"/>
              </a:solidFill>
              <a:effectLst/>
              <a:uFillTx/>
              <a:latin typeface="Aptos"/>
            </a:endParaRPr>
          </a:p>
          <a:p>
            <a:pPr marL="360000" indent="-324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Cisco Digital Network Architecture (DNA) now Cisco Catalyst Center is the software solution of IBN that has capabilities to enhance NetOps, AIOps, SecOps and DevOps.</a:t>
            </a:r>
            <a:endParaRPr lang="en-US" sz="1600" b="0" u="none" strike="noStrike">
              <a:solidFill>
                <a:schemeClr val="dk1"/>
              </a:solidFill>
              <a:effectLst/>
              <a:uFillTx/>
              <a:latin typeface="Aptos"/>
            </a:endParaRPr>
          </a:p>
          <a:p>
            <a:pPr marL="360000" indent="-324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SD-Access and SD-WAN are the components of Cisco Catalyst Centre.</a:t>
            </a:r>
            <a:endParaRPr lang="en-US" sz="1600" b="0" u="none" strike="noStrike">
              <a:solidFill>
                <a:schemeClr val="dk1"/>
              </a:solidFill>
              <a:effectLst/>
              <a:uFillTx/>
              <a:latin typeface="Aptos"/>
            </a:endParaRPr>
          </a:p>
          <a:p>
            <a:pPr marL="360000" indent="-324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SD-Access is designed for Campus and branch networks.</a:t>
            </a:r>
            <a:endParaRPr lang="en-US" sz="16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p:txBody>
      </p:sp>
      <p:sp>
        <p:nvSpPr>
          <p:cNvPr id="49" name=""/>
          <p:cNvSpPr/>
          <p:nvPr/>
        </p:nvSpPr>
        <p:spPr>
          <a:xfrm>
            <a:off x="72000" y="1044000"/>
            <a:ext cx="4246560" cy="50673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AU" sz="1800" b="1" u="none" strike="noStrike">
                <a:solidFill>
                  <a:srgbClr val="000000"/>
                </a:solidFill>
                <a:effectLst/>
                <a:uFillTx/>
                <a:latin typeface="Arial"/>
              </a:rPr>
              <a:t>Benefits of SD-Access:</a:t>
            </a:r>
            <a:endParaRPr lang="en-AU" sz="1800" b="0" u="none" strike="noStrike">
              <a:solidFill>
                <a:srgbClr val="000000"/>
              </a:solidFill>
              <a:effectLst/>
              <a:uFillTx/>
              <a:latin typeface="Arial"/>
            </a:endParaRPr>
          </a:p>
          <a:p>
            <a:pPr>
              <a:lnSpc>
                <a:spcPct val="100000"/>
              </a:lnSpc>
              <a:spcBef>
                <a:spcPts val="283"/>
              </a:spcBef>
              <a:spcAft>
                <a:spcPts val="283"/>
              </a:spcAft>
            </a:pPr>
            <a:r>
              <a:rPr lang="en-AU" sz="1500" b="1" u="none" strike="noStrike">
                <a:solidFill>
                  <a:srgbClr val="000000"/>
                </a:solidFill>
                <a:effectLst/>
                <a:uFillTx/>
                <a:latin typeface="Arial"/>
              </a:rPr>
              <a:t>Network Automation:</a:t>
            </a:r>
            <a:r>
              <a:rPr lang="en-AU" sz="1500" b="0" u="none" strike="noStrike">
                <a:solidFill>
                  <a:srgbClr val="000000"/>
                </a:solidFill>
                <a:effectLst/>
                <a:uFillTx/>
                <a:latin typeface="Arial"/>
              </a:rPr>
              <a:t> Network device management with automation, orchestration and management through Catalyst Center.</a:t>
            </a:r>
            <a:endParaRPr lang="en-AU" sz="1500" b="0" u="none" strike="noStrike">
              <a:solidFill>
                <a:srgbClr val="000000"/>
              </a:solidFill>
              <a:effectLst/>
              <a:uFillTx/>
              <a:latin typeface="Arial"/>
            </a:endParaRPr>
          </a:p>
          <a:p>
            <a:pPr>
              <a:lnSpc>
                <a:spcPct val="100000"/>
              </a:lnSpc>
              <a:spcBef>
                <a:spcPts val="283"/>
              </a:spcBef>
              <a:spcAft>
                <a:spcPts val="283"/>
              </a:spcAft>
            </a:pPr>
            <a:r>
              <a:rPr lang="en-AU" sz="1500" b="1" u="none" strike="noStrike">
                <a:solidFill>
                  <a:srgbClr val="000000"/>
                </a:solidFill>
                <a:effectLst/>
                <a:uFillTx/>
                <a:latin typeface="Arial"/>
              </a:rPr>
              <a:t>Network Assurance &amp; Analytics:</a:t>
            </a:r>
            <a:r>
              <a:rPr lang="en-AU" sz="1500" b="0" u="none" strike="noStrike">
                <a:solidFill>
                  <a:srgbClr val="000000"/>
                </a:solidFill>
                <a:effectLst/>
                <a:uFillTx/>
                <a:latin typeface="Arial"/>
              </a:rPr>
              <a:t> Proactive prediction of network and security related risks.</a:t>
            </a:r>
            <a:endParaRPr lang="en-AU" sz="1500" b="0" u="none" strike="noStrike">
              <a:solidFill>
                <a:srgbClr val="000000"/>
              </a:solidFill>
              <a:effectLst/>
              <a:uFillTx/>
              <a:latin typeface="Arial"/>
            </a:endParaRPr>
          </a:p>
          <a:p>
            <a:pPr>
              <a:lnSpc>
                <a:spcPct val="100000"/>
              </a:lnSpc>
              <a:spcBef>
                <a:spcPts val="283"/>
              </a:spcBef>
              <a:spcAft>
                <a:spcPts val="283"/>
              </a:spcAft>
            </a:pPr>
            <a:r>
              <a:rPr lang="en-AU" sz="1500" b="1" u="none" strike="noStrike">
                <a:solidFill>
                  <a:srgbClr val="000000"/>
                </a:solidFill>
                <a:effectLst/>
                <a:uFillTx/>
                <a:latin typeface="Arial"/>
              </a:rPr>
              <a:t>Identity Services:</a:t>
            </a:r>
            <a:r>
              <a:rPr lang="en-AU" sz="1500" b="0" u="none" strike="noStrike">
                <a:solidFill>
                  <a:srgbClr val="000000"/>
                </a:solidFill>
                <a:effectLst/>
                <a:uFillTx/>
                <a:latin typeface="Arial"/>
              </a:rPr>
              <a:t> ISE integrated to provide contextual access control and segmentation.</a:t>
            </a:r>
            <a:endParaRPr lang="en-AU" sz="1500" b="0" u="none" strike="noStrike">
              <a:solidFill>
                <a:srgbClr val="000000"/>
              </a:solidFill>
              <a:effectLst/>
              <a:uFillTx/>
              <a:latin typeface="Arial"/>
            </a:endParaRPr>
          </a:p>
          <a:p>
            <a:pPr>
              <a:lnSpc>
                <a:spcPct val="100000"/>
              </a:lnSpc>
              <a:spcBef>
                <a:spcPts val="283"/>
              </a:spcBef>
              <a:spcAft>
                <a:spcPts val="283"/>
              </a:spcAft>
            </a:pPr>
            <a:r>
              <a:rPr lang="en-AU" sz="1500" b="1" u="none" strike="noStrike">
                <a:solidFill>
                  <a:srgbClr val="000000"/>
                </a:solidFill>
                <a:effectLst/>
                <a:uFillTx/>
                <a:latin typeface="Arial"/>
              </a:rPr>
              <a:t>Policy Enforcement:</a:t>
            </a:r>
            <a:r>
              <a:rPr lang="en-AU" sz="1500" b="0" u="none" strike="noStrike">
                <a:solidFill>
                  <a:srgbClr val="000000"/>
                </a:solidFill>
                <a:effectLst/>
                <a:uFillTx/>
                <a:latin typeface="Arial"/>
              </a:rPr>
              <a:t> SGACL based policy enforcement.</a:t>
            </a:r>
            <a:endParaRPr lang="en-AU" sz="1500" b="0" u="none" strike="noStrike">
              <a:solidFill>
                <a:srgbClr val="000000"/>
              </a:solidFill>
              <a:effectLst/>
              <a:uFillTx/>
              <a:latin typeface="Arial"/>
            </a:endParaRPr>
          </a:p>
          <a:p>
            <a:pPr>
              <a:lnSpc>
                <a:spcPct val="100000"/>
              </a:lnSpc>
              <a:spcBef>
                <a:spcPts val="283"/>
              </a:spcBef>
              <a:spcAft>
                <a:spcPts val="283"/>
              </a:spcAft>
            </a:pPr>
            <a:r>
              <a:rPr lang="en-AU" sz="1500" b="1" u="none" strike="noStrike">
                <a:solidFill>
                  <a:srgbClr val="000000"/>
                </a:solidFill>
                <a:effectLst/>
                <a:uFillTx/>
                <a:latin typeface="Arial"/>
              </a:rPr>
              <a:t>Host Mobility:</a:t>
            </a:r>
            <a:r>
              <a:rPr lang="en-AU" sz="1500" b="0" u="none" strike="noStrike">
                <a:solidFill>
                  <a:srgbClr val="000000"/>
                </a:solidFill>
                <a:effectLst/>
                <a:uFillTx/>
                <a:latin typeface="Arial"/>
              </a:rPr>
              <a:t> Wired and wireless mobility</a:t>
            </a:r>
            <a:endParaRPr lang="en-AU" sz="1500" b="0" u="none" strike="noStrike">
              <a:solidFill>
                <a:srgbClr val="000000"/>
              </a:solidFill>
              <a:effectLst/>
              <a:uFillTx/>
              <a:latin typeface="Arial"/>
            </a:endParaRPr>
          </a:p>
          <a:p>
            <a:pPr>
              <a:lnSpc>
                <a:spcPct val="100000"/>
              </a:lnSpc>
              <a:spcBef>
                <a:spcPts val="283"/>
              </a:spcBef>
              <a:spcAft>
                <a:spcPts val="283"/>
              </a:spcAft>
            </a:pPr>
            <a:r>
              <a:rPr lang="en-AU" sz="1500" b="1" u="none" strike="noStrike">
                <a:solidFill>
                  <a:srgbClr val="000000"/>
                </a:solidFill>
                <a:effectLst/>
                <a:uFillTx/>
                <a:latin typeface="Arial"/>
              </a:rPr>
              <a:t>Secure Segmentation:</a:t>
            </a:r>
            <a:r>
              <a:rPr lang="en-AU" sz="1500" b="0" u="none" strike="noStrike">
                <a:solidFill>
                  <a:srgbClr val="000000"/>
                </a:solidFill>
                <a:effectLst/>
                <a:uFillTx/>
                <a:latin typeface="Arial"/>
              </a:rPr>
              <a:t> Network that supports guest, corporate, facilities and IoT enabled infrastructure.</a:t>
            </a:r>
            <a:endParaRPr lang="en-AU" sz="1500" b="0" u="none" strike="noStrike">
              <a:solidFill>
                <a:srgbClr val="000000"/>
              </a:solidFill>
              <a:effectLst/>
              <a:uFillTx/>
              <a:latin typeface="Arial"/>
            </a:endParaRPr>
          </a:p>
          <a:p>
            <a:pPr>
              <a:lnSpc>
                <a:spcPct val="100000"/>
              </a:lnSpc>
              <a:spcBef>
                <a:spcPts val="283"/>
              </a:spcBef>
              <a:spcAft>
                <a:spcPts val="283"/>
              </a:spcAft>
            </a:pPr>
            <a:r>
              <a:rPr lang="en-AU" sz="1500" b="1" u="none" strike="noStrike">
                <a:solidFill>
                  <a:srgbClr val="000000"/>
                </a:solidFill>
                <a:effectLst/>
                <a:uFillTx/>
                <a:latin typeface="Arial"/>
              </a:rPr>
              <a:t>Virtualisation:</a:t>
            </a:r>
            <a:r>
              <a:rPr lang="en-AU" sz="1500" b="0" u="none" strike="noStrike">
                <a:solidFill>
                  <a:srgbClr val="000000"/>
                </a:solidFill>
                <a:effectLst/>
                <a:uFillTx/>
                <a:latin typeface="Arial"/>
              </a:rPr>
              <a:t> Single physical infrastructure with multiple VRF instances referred as Virtual Networks(VN) with distinct set of access policies.</a:t>
            </a:r>
            <a:endParaRPr lang="en-AU" sz="1500" b="0" u="none" strike="noStrike">
              <a:solidFill>
                <a:srgbClr val="000000"/>
              </a:solidFill>
              <a:effectLst/>
              <a:uFillTx/>
              <a:latin typeface="Arial"/>
            </a:endParaRPr>
          </a:p>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0" name="Rectangle 1">
            <a:extLst>
              <a:ext uri="{C183D7F6-B498-43B3-948B-1728B52AA6E4}">
                <adec:decorative xmlns:adec="http://schemas.microsoft.com/office/drawing/2017/decorative" val="1"/>
              </a:ext>
            </a:extLst>
          </p:cNvPr>
          <p:cNvSpPr/>
          <p:nvPr/>
        </p:nvSpPr>
        <p:spPr>
          <a:xfrm>
            <a:off x="360" y="360"/>
            <a:ext cx="3958200" cy="1078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1.SD-Access</a:t>
            </a:r>
            <a:endParaRPr lang="en-AU" sz="4400" b="0" u="none" strike="noStrike">
              <a:solidFill>
                <a:srgbClr val="FFFFFF"/>
              </a:solidFill>
              <a:effectLst/>
              <a:uFillTx/>
              <a:latin typeface="Arial"/>
            </a:endParaRPr>
          </a:p>
        </p:txBody>
      </p:sp>
      <p:sp>
        <p:nvSpPr>
          <p:cNvPr id="51" name="PlaceHolder 1"/>
          <p:cNvSpPr>
            <a:spLocks noGrp="1"/>
          </p:cNvSpPr>
          <p:nvPr>
            <p:ph/>
          </p:nvPr>
        </p:nvSpPr>
        <p:spPr>
          <a:xfrm>
            <a:off x="4176000" y="76680"/>
            <a:ext cx="5902560" cy="3125880"/>
          </a:xfrm>
          <a:prstGeom prst="rect">
            <a:avLst/>
          </a:prstGeom>
          <a:noFill/>
          <a:ln w="0">
            <a:noFill/>
          </a:ln>
        </p:spPr>
        <p:txBody>
          <a:bodyPr lIns="91440" tIns="45720" rIns="91440" bIns="45720" anchor="t">
            <a:normAutofit fontScale="77500" lnSpcReduction="19999"/>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Components of SD-Access:</a:t>
            </a:r>
            <a:endParaRPr lang="en-US" sz="16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Cisco Campus Fabric Solution</a:t>
            </a:r>
            <a:endParaRPr lang="en-US" sz="1600" b="0" u="none" strike="noStrike">
              <a:solidFill>
                <a:schemeClr val="dk1"/>
              </a:solidFill>
              <a:effectLst/>
              <a:uFillTx/>
              <a:latin typeface="Aptos"/>
            </a:endParaRPr>
          </a:p>
          <a:p>
            <a:pPr marL="360000" indent="-324000" algn="l" defTabSz="914400">
              <a:lnSpc>
                <a:spcPct val="100000"/>
              </a:lnSpc>
              <a:spcBef>
                <a:spcPts val="1001"/>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Cisco-validated</a:t>
            </a:r>
            <a:r>
              <a:rPr lang="en-US" sz="1600" b="1" u="none" strike="noStrike">
                <a:solidFill>
                  <a:schemeClr val="dk1"/>
                </a:solidFill>
                <a:effectLst/>
                <a:uFillTx/>
                <a:latin typeface="Arial"/>
                <a:ea typeface="Microsoft YaHei"/>
              </a:rPr>
              <a:t> </a:t>
            </a:r>
            <a:r>
              <a:rPr lang="en-US" sz="1600" b="0" u="none" strike="noStrike">
                <a:solidFill>
                  <a:schemeClr val="dk1"/>
                </a:solidFill>
                <a:effectLst/>
                <a:uFillTx/>
                <a:latin typeface="Arial"/>
                <a:ea typeface="Microsoft YaHei"/>
              </a:rPr>
              <a:t>overlay fabric network that contains control plane, data plane, management plane and policy plane to operate the network infrastructure.</a:t>
            </a:r>
            <a:endParaRPr lang="en-US" sz="1600" b="0" u="none" strike="noStrike">
              <a:solidFill>
                <a:schemeClr val="dk1"/>
              </a:solidFill>
              <a:effectLst/>
              <a:uFillTx/>
              <a:latin typeface="Aptos"/>
            </a:endParaRPr>
          </a:p>
          <a:p>
            <a:pPr marL="360000" indent="-324000" algn="l" defTabSz="914400">
              <a:lnSpc>
                <a:spcPct val="100000"/>
              </a:lnSpc>
              <a:spcBef>
                <a:spcPts val="1001"/>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Campus fabric managed with CLI or API such as NETCONF/YANG is known as Cisco Campus fabric solution.</a:t>
            </a:r>
            <a:endParaRPr lang="en-US" sz="1600" b="0" u="none" strike="noStrike">
              <a:solidFill>
                <a:schemeClr val="dk1"/>
              </a:solidFill>
              <a:effectLst/>
              <a:uFillTx/>
              <a:latin typeface="Aptos"/>
            </a:endParaRPr>
          </a:p>
          <a:p>
            <a:pPr marL="360000" indent="-324000" algn="l" defTabSz="914400">
              <a:lnSpc>
                <a:spcPct val="100000"/>
              </a:lnSpc>
              <a:spcBef>
                <a:spcPts val="1001"/>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Campus fabric managed with Cisco Catalyst Center is known as SD-Access. </a:t>
            </a:r>
            <a:endParaRPr lang="en-US" sz="16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r>
              <a:rPr lang="en-US" sz="1600" b="1" u="none" strike="noStrike">
                <a:solidFill>
                  <a:schemeClr val="dk1"/>
                </a:solidFill>
                <a:effectLst/>
                <a:uFillTx/>
                <a:latin typeface="Arial"/>
                <a:ea typeface="Microsoft YaHei"/>
              </a:rPr>
              <a:t>Cisco Catalyst (DNA) Center</a:t>
            </a:r>
            <a:endParaRPr lang="en-US" sz="1600" b="0" u="none" strike="noStrike">
              <a:solidFill>
                <a:schemeClr val="dk1"/>
              </a:solidFill>
              <a:effectLst/>
              <a:uFillTx/>
              <a:latin typeface="Aptos"/>
            </a:endParaRPr>
          </a:p>
          <a:p>
            <a:pPr marL="360000" indent="-324000" algn="l" defTabSz="914400">
              <a:lnSpc>
                <a:spcPct val="100000"/>
              </a:lnSpc>
              <a:spcBef>
                <a:spcPts val="1001"/>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Software solution to provide controller layer and management layer functions of SD-Access Architecture.</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001"/>
              </a:spcBef>
              <a:buNone/>
              <a:tabLst>
                <a:tab pos="0" algn="l"/>
              </a:tabLst>
            </a:pPr>
            <a:r>
              <a:rPr lang="en-US" sz="1600" b="1" u="none" strike="noStrike">
                <a:solidFill>
                  <a:schemeClr val="dk1"/>
                </a:solidFill>
                <a:effectLst/>
                <a:uFillTx/>
                <a:latin typeface="Arial"/>
                <a:ea typeface="Microsoft YaHei"/>
              </a:rPr>
              <a:t>Cisco SD-Access Architecture</a:t>
            </a:r>
            <a:endParaRPr lang="en-US" sz="16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p:txBody>
      </p:sp>
      <p:sp>
        <p:nvSpPr>
          <p:cNvPr id="52" name=""/>
          <p:cNvSpPr/>
          <p:nvPr/>
        </p:nvSpPr>
        <p:spPr>
          <a:xfrm>
            <a:off x="72000" y="1152000"/>
            <a:ext cx="4066560" cy="45190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AU" sz="1500" b="1" u="none" strike="noStrike">
                <a:solidFill>
                  <a:srgbClr val="000000"/>
                </a:solidFill>
                <a:effectLst/>
                <a:uFillTx/>
                <a:latin typeface="Arial"/>
              </a:rPr>
              <a:t>Physical Layer</a:t>
            </a:r>
            <a:endParaRPr lang="en-AU" sz="1500" b="0" u="none" strike="noStrike">
              <a:solidFill>
                <a:srgbClr val="000000"/>
              </a:solidFill>
              <a:effectLst/>
              <a:uFillTx/>
              <a:latin typeface="Arial"/>
            </a:endParaRPr>
          </a:p>
          <a:p>
            <a:pPr marL="162000" indent="-162000">
              <a:lnSpc>
                <a:spcPct val="100000"/>
              </a:lnSpc>
              <a:buClr>
                <a:srgbClr val="000000"/>
              </a:buClr>
              <a:buSzPct val="45000"/>
              <a:buFont typeface="Wingdings" charset="2"/>
              <a:buChar char=""/>
            </a:pPr>
            <a:r>
              <a:rPr lang="en-AU" sz="1500" b="0" u="none" strike="noStrike">
                <a:solidFill>
                  <a:srgbClr val="000000"/>
                </a:solidFill>
                <a:effectLst/>
                <a:uFillTx/>
                <a:latin typeface="Arial"/>
              </a:rPr>
              <a:t>Physical devices required to deploy SD-Access should support ASIC and FPGA hardware and software  support such as VXLAN &amp; LISP.</a:t>
            </a:r>
            <a:endParaRPr lang="en-AU" sz="1500" b="0" u="none" strike="noStrike">
              <a:solidFill>
                <a:srgbClr val="000000"/>
              </a:solidFill>
              <a:effectLst/>
              <a:uFillTx/>
              <a:latin typeface="Arial"/>
            </a:endParaRPr>
          </a:p>
          <a:p>
            <a:pPr marL="162000" indent="-162000">
              <a:lnSpc>
                <a:spcPct val="100000"/>
              </a:lnSpc>
              <a:buClr>
                <a:srgbClr val="000000"/>
              </a:buClr>
              <a:buSzPct val="45000"/>
              <a:buFont typeface="Wingdings" charset="2"/>
              <a:buChar char=""/>
            </a:pPr>
            <a:r>
              <a:rPr lang="en-AU" sz="1500" b="0" u="none" strike="noStrike">
                <a:solidFill>
                  <a:srgbClr val="000000"/>
                </a:solidFill>
                <a:effectLst/>
                <a:uFillTx/>
                <a:latin typeface="Arial"/>
              </a:rPr>
              <a:t>Components of physical layer</a:t>
            </a:r>
            <a:endParaRPr lang="en-AU" sz="1500" b="0" u="none" strike="noStrike">
              <a:solidFill>
                <a:srgbClr val="000000"/>
              </a:solidFill>
              <a:effectLst/>
              <a:uFillTx/>
              <a:latin typeface="Arial"/>
            </a:endParaRPr>
          </a:p>
          <a:p>
            <a:pPr marL="360000">
              <a:lnSpc>
                <a:spcPct val="100000"/>
              </a:lnSpc>
            </a:pPr>
            <a:r>
              <a:rPr lang="en-AU" sz="1500" b="1" u="none" strike="noStrike">
                <a:solidFill>
                  <a:srgbClr val="000000"/>
                </a:solidFill>
                <a:effectLst/>
                <a:uFillTx/>
                <a:latin typeface="Arial"/>
                <a:ea typeface="Microsoft YaHei"/>
              </a:rPr>
              <a:t>Switches</a:t>
            </a:r>
            <a:r>
              <a:rPr lang="en-AU" sz="1500" b="0" u="none" strike="noStrike">
                <a:solidFill>
                  <a:srgbClr val="000000"/>
                </a:solidFill>
                <a:effectLst/>
                <a:uFillTx/>
                <a:latin typeface="Arial"/>
                <a:ea typeface="Microsoft YaHei"/>
              </a:rPr>
              <a:t>: Provides wired connections to fabric, multiple types of Catalyst and Nexus switches are supported.</a:t>
            </a:r>
            <a:endParaRPr lang="en-AU" sz="1500" b="0" u="none" strike="noStrike">
              <a:solidFill>
                <a:srgbClr val="000000"/>
              </a:solidFill>
              <a:effectLst/>
              <a:uFillTx/>
              <a:latin typeface="Arial"/>
            </a:endParaRPr>
          </a:p>
          <a:p>
            <a:pPr marL="360000">
              <a:lnSpc>
                <a:spcPct val="100000"/>
              </a:lnSpc>
            </a:pPr>
            <a:r>
              <a:rPr lang="en-AU" sz="1500" b="1" u="none" strike="noStrike">
                <a:solidFill>
                  <a:srgbClr val="000000"/>
                </a:solidFill>
                <a:effectLst/>
                <a:uFillTx/>
                <a:latin typeface="Arial"/>
                <a:ea typeface="Microsoft YaHei"/>
              </a:rPr>
              <a:t>Routers:</a:t>
            </a:r>
            <a:r>
              <a:rPr lang="en-AU" sz="1500" b="0" u="none" strike="noStrike">
                <a:solidFill>
                  <a:srgbClr val="000000"/>
                </a:solidFill>
                <a:effectLst/>
                <a:uFillTx/>
                <a:latin typeface="Arial"/>
                <a:ea typeface="Microsoft YaHei"/>
              </a:rPr>
              <a:t> Provides WAN and branch access to fabric. ASR 1000, CSR and ISR including CSRv and ISRv cloud routers are supported.</a:t>
            </a:r>
            <a:endParaRPr lang="en-AU" sz="1500" b="0" u="none" strike="noStrike">
              <a:solidFill>
                <a:srgbClr val="000000"/>
              </a:solidFill>
              <a:effectLst/>
              <a:uFillTx/>
              <a:latin typeface="Arial"/>
            </a:endParaRPr>
          </a:p>
          <a:p>
            <a:pPr marL="360000">
              <a:lnSpc>
                <a:spcPct val="100000"/>
              </a:lnSpc>
            </a:pPr>
            <a:r>
              <a:rPr lang="en-AU" sz="1500" b="1" u="none" strike="noStrike">
                <a:solidFill>
                  <a:srgbClr val="000000"/>
                </a:solidFill>
                <a:effectLst/>
                <a:uFillTx/>
                <a:latin typeface="Arial"/>
                <a:ea typeface="Microsoft YaHei"/>
              </a:rPr>
              <a:t>Wireless :</a:t>
            </a:r>
            <a:r>
              <a:rPr lang="en-AU" sz="1500" b="0" u="none" strike="noStrike">
                <a:solidFill>
                  <a:srgbClr val="000000"/>
                </a:solidFill>
                <a:effectLst/>
                <a:uFillTx/>
                <a:latin typeface="Arial"/>
                <a:ea typeface="Microsoft YaHei"/>
              </a:rPr>
              <a:t> WLCs &amp; Aps provides wireless access to fabric.</a:t>
            </a:r>
            <a:endParaRPr lang="en-AU" sz="1500" b="0" u="none" strike="noStrike">
              <a:solidFill>
                <a:srgbClr val="000000"/>
              </a:solidFill>
              <a:effectLst/>
              <a:uFillTx/>
              <a:latin typeface="Arial"/>
            </a:endParaRPr>
          </a:p>
          <a:p>
            <a:pPr marL="360000">
              <a:lnSpc>
                <a:spcPct val="100000"/>
              </a:lnSpc>
            </a:pPr>
            <a:r>
              <a:rPr lang="en-AU" sz="1500" b="1" u="none" strike="noStrike">
                <a:solidFill>
                  <a:srgbClr val="000000"/>
                </a:solidFill>
                <a:effectLst/>
                <a:uFillTx/>
                <a:latin typeface="Arial"/>
                <a:ea typeface="Microsoft YaHei"/>
              </a:rPr>
              <a:t>Controller Appliances :</a:t>
            </a:r>
            <a:r>
              <a:rPr lang="en-AU" sz="1500" b="0" u="none" strike="noStrike">
                <a:solidFill>
                  <a:srgbClr val="000000"/>
                </a:solidFill>
                <a:effectLst/>
                <a:uFillTx/>
                <a:latin typeface="Arial"/>
                <a:ea typeface="Microsoft YaHei"/>
              </a:rPr>
              <a:t> Cisco Catalyst Center and ISE are two controller appliances.</a:t>
            </a:r>
            <a:endParaRPr lang="en-AU" sz="1500" b="0" u="none" strike="noStrike">
              <a:solidFill>
                <a:srgbClr val="000000"/>
              </a:solidFill>
              <a:effectLst/>
              <a:uFillTx/>
              <a:latin typeface="Arial"/>
            </a:endParaRPr>
          </a:p>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800" b="0" u="none" strike="noStrike">
              <a:solidFill>
                <a:srgbClr val="000000"/>
              </a:solidFill>
              <a:effectLst/>
              <a:uFillTx/>
              <a:latin typeface="Arial"/>
            </a:endParaRPr>
          </a:p>
        </p:txBody>
      </p:sp>
      <p:pic>
        <p:nvPicPr>
          <p:cNvPr id="53" name=""/>
          <p:cNvPicPr/>
          <p:nvPr/>
        </p:nvPicPr>
        <p:blipFill>
          <a:blip r:embed="rId1"/>
          <a:stretch/>
        </p:blipFill>
        <p:spPr>
          <a:xfrm>
            <a:off x="4716000" y="3276360"/>
            <a:ext cx="4678560" cy="230292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4" name="Rectangle 2">
            <a:extLst>
              <a:ext uri="{C183D7F6-B498-43B3-948B-1728B52AA6E4}">
                <adec:decorative xmlns:adec="http://schemas.microsoft.com/office/drawing/2017/decorative" val="1"/>
              </a:ext>
            </a:extLst>
          </p:cNvPr>
          <p:cNvSpPr/>
          <p:nvPr/>
        </p:nvSpPr>
        <p:spPr>
          <a:xfrm>
            <a:off x="360" y="360"/>
            <a:ext cx="3958200" cy="1078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1.SD-Access</a:t>
            </a:r>
            <a:endParaRPr lang="en-AU" sz="4400" b="0" u="none" strike="noStrike">
              <a:solidFill>
                <a:srgbClr val="FFFFFF"/>
              </a:solidFill>
              <a:effectLst/>
              <a:uFillTx/>
              <a:latin typeface="Arial"/>
            </a:endParaRPr>
          </a:p>
        </p:txBody>
      </p:sp>
      <p:sp>
        <p:nvSpPr>
          <p:cNvPr id="55" name="PlaceHolder 1"/>
          <p:cNvSpPr>
            <a:spLocks noGrp="1"/>
          </p:cNvSpPr>
          <p:nvPr>
            <p:ph/>
          </p:nvPr>
        </p:nvSpPr>
        <p:spPr>
          <a:xfrm>
            <a:off x="4176000" y="76680"/>
            <a:ext cx="5902560" cy="2441160"/>
          </a:xfrm>
          <a:prstGeom prst="rect">
            <a:avLst/>
          </a:prstGeom>
          <a:noFill/>
          <a:ln w="0">
            <a:noFill/>
          </a:ln>
        </p:spPr>
        <p:txBody>
          <a:bodyPr lIns="91440" tIns="45720" rIns="91440" bIns="45720" anchor="t">
            <a:normAutofit/>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Network Layer</a:t>
            </a:r>
            <a:endParaRPr lang="en-US" sz="1600" b="0" u="none" strike="noStrike">
              <a:solidFill>
                <a:schemeClr val="dk1"/>
              </a:solidFill>
              <a:effectLst/>
              <a:uFillTx/>
              <a:latin typeface="Aptos"/>
            </a:endParaRPr>
          </a:p>
          <a:p>
            <a:pPr marL="360000" indent="-324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Consists of underlay and overlay network working together to transmit data traffic to and from endpoints.</a:t>
            </a:r>
            <a:endParaRPr lang="en-US" sz="1600" b="0" u="none" strike="noStrike">
              <a:solidFill>
                <a:schemeClr val="dk1"/>
              </a:solidFill>
              <a:effectLst/>
              <a:uFillTx/>
              <a:latin typeface="Aptos"/>
            </a:endParaRPr>
          </a:p>
          <a:p>
            <a:pPr marL="360000" indent="-324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Underlay network is the underlying physical network that transports data packet for the fabric endpoints.</a:t>
            </a:r>
            <a:endParaRPr lang="en-US" sz="1600" b="0" u="none" strike="noStrike">
              <a:solidFill>
                <a:schemeClr val="dk1"/>
              </a:solidFill>
              <a:effectLst/>
              <a:uFillTx/>
              <a:latin typeface="Aptos"/>
            </a:endParaRPr>
          </a:p>
          <a:p>
            <a:pPr marL="360000" indent="-324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Overlay is the virtual (tunneled) network that virtually interconnects fabric nodes and devices.</a:t>
            </a:r>
            <a:endParaRPr lang="en-US" sz="1600" b="0" u="none" strike="noStrike">
              <a:solidFill>
                <a:schemeClr val="dk1"/>
              </a:solidFill>
              <a:effectLst/>
              <a:uFillTx/>
              <a:latin typeface="Aptos"/>
            </a:endParaRPr>
          </a:p>
          <a:p>
            <a:pPr marL="360000" indent="-324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Overlay network abstracts the inherent complexity of underlay network.</a:t>
            </a:r>
            <a:endParaRPr lang="en-US" sz="16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p:txBody>
      </p:sp>
      <p:sp>
        <p:nvSpPr>
          <p:cNvPr id="56" name=""/>
          <p:cNvSpPr/>
          <p:nvPr/>
        </p:nvSpPr>
        <p:spPr>
          <a:xfrm>
            <a:off x="72000" y="1044000"/>
            <a:ext cx="4248000" cy="48754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AU" sz="1500" b="1" u="none" strike="noStrike">
                <a:solidFill>
                  <a:srgbClr val="000000"/>
                </a:solidFill>
                <a:effectLst/>
                <a:uFillTx/>
                <a:latin typeface="Arial"/>
              </a:rPr>
              <a:t>Underlay Network</a:t>
            </a:r>
            <a:endParaRPr lang="en-AU" sz="1500" b="0" u="none" strike="noStrike">
              <a:solidFill>
                <a:srgbClr val="000000"/>
              </a:solidFill>
              <a:effectLst/>
              <a:uFillTx/>
              <a:latin typeface="Arial"/>
            </a:endParaRPr>
          </a:p>
          <a:p>
            <a:pPr marL="162000" indent="-162000">
              <a:lnSpc>
                <a:spcPct val="100000"/>
              </a:lnSpc>
              <a:buClr>
                <a:srgbClr val="000000"/>
              </a:buClr>
              <a:buSzPct val="45000"/>
              <a:buFont typeface="Wingdings" charset="2"/>
              <a:buChar char=""/>
            </a:pPr>
            <a:r>
              <a:rPr lang="en-AU" sz="1500" b="0" u="none" strike="noStrike">
                <a:solidFill>
                  <a:srgbClr val="000000"/>
                </a:solidFill>
                <a:effectLst/>
                <a:uFillTx/>
                <a:latin typeface="Arial"/>
              </a:rPr>
              <a:t>Configure underlay network to ensure performance,  scalability and high availability.</a:t>
            </a:r>
            <a:endParaRPr lang="en-AU" sz="1500" b="0" u="none" strike="noStrike">
              <a:solidFill>
                <a:srgbClr val="000000"/>
              </a:solidFill>
              <a:effectLst/>
              <a:uFillTx/>
              <a:latin typeface="Arial"/>
            </a:endParaRPr>
          </a:p>
          <a:p>
            <a:pPr marL="162000" indent="-162000">
              <a:lnSpc>
                <a:spcPct val="100000"/>
              </a:lnSpc>
              <a:buClr>
                <a:srgbClr val="000000"/>
              </a:buClr>
              <a:buSzPct val="45000"/>
              <a:buFont typeface="Wingdings" charset="2"/>
              <a:buChar char=""/>
            </a:pPr>
            <a:r>
              <a:rPr lang="en-AU" sz="1500" b="0" u="none" strike="noStrike">
                <a:solidFill>
                  <a:srgbClr val="000000"/>
                </a:solidFill>
                <a:effectLst/>
                <a:uFillTx/>
                <a:latin typeface="Arial"/>
              </a:rPr>
              <a:t>Recommended underlay is layer 3 routed access campus design with IS-IS as IGP.</a:t>
            </a:r>
            <a:endParaRPr lang="en-AU" sz="1500" b="0" u="none" strike="noStrike">
              <a:solidFill>
                <a:srgbClr val="000000"/>
              </a:solidFill>
              <a:effectLst/>
              <a:uFillTx/>
              <a:latin typeface="Arial"/>
            </a:endParaRPr>
          </a:p>
          <a:p>
            <a:pPr marL="162000" indent="-162000">
              <a:lnSpc>
                <a:spcPct val="100000"/>
              </a:lnSpc>
              <a:buClr>
                <a:srgbClr val="000000"/>
              </a:buClr>
              <a:buSzPct val="45000"/>
              <a:buFont typeface="Wingdings" charset="2"/>
              <a:buChar char=""/>
            </a:pPr>
            <a:r>
              <a:rPr lang="en-AU" sz="1500" b="0" u="none" strike="noStrike">
                <a:solidFill>
                  <a:srgbClr val="000000"/>
                </a:solidFill>
                <a:effectLst/>
                <a:uFillTx/>
                <a:latin typeface="Arial"/>
              </a:rPr>
              <a:t>Two models of underlay are supported:</a:t>
            </a:r>
            <a:endParaRPr lang="en-AU" sz="1500" b="0" u="none" strike="noStrike">
              <a:solidFill>
                <a:srgbClr val="000000"/>
              </a:solidFill>
              <a:effectLst/>
              <a:uFillTx/>
              <a:latin typeface="Arial"/>
            </a:endParaRPr>
          </a:p>
          <a:p>
            <a:pPr marL="324000" indent="-162000">
              <a:lnSpc>
                <a:spcPct val="100000"/>
              </a:lnSpc>
              <a:spcBef>
                <a:spcPts val="283"/>
              </a:spcBef>
              <a:spcAft>
                <a:spcPts val="283"/>
              </a:spcAft>
              <a:buClr>
                <a:srgbClr val="000000"/>
              </a:buClr>
              <a:buFont typeface="OpenSymbol"/>
              <a:buAutoNum type="arabicPeriod"/>
            </a:pPr>
            <a:r>
              <a:rPr lang="en-AU" sz="1500" b="1" u="none" strike="noStrike">
                <a:solidFill>
                  <a:srgbClr val="000000"/>
                </a:solidFill>
                <a:effectLst/>
                <a:uFillTx/>
                <a:latin typeface="Arial"/>
              </a:rPr>
              <a:t>Manual Underlay:</a:t>
            </a:r>
            <a:r>
              <a:rPr lang="en-AU" sz="1500" b="0" u="none" strike="noStrike">
                <a:solidFill>
                  <a:srgbClr val="000000"/>
                </a:solidFill>
                <a:effectLst/>
                <a:uFillTx/>
                <a:latin typeface="Arial"/>
              </a:rPr>
              <a:t> Underlay network configured manually using CLI and API.</a:t>
            </a:r>
            <a:endParaRPr lang="en-AU" sz="1500" b="0" u="none" strike="noStrike">
              <a:solidFill>
                <a:srgbClr val="000000"/>
              </a:solidFill>
              <a:effectLst/>
              <a:uFillTx/>
              <a:latin typeface="Arial"/>
            </a:endParaRPr>
          </a:p>
          <a:p>
            <a:pPr marL="324000" indent="-162000">
              <a:lnSpc>
                <a:spcPct val="100000"/>
              </a:lnSpc>
              <a:spcBef>
                <a:spcPts val="283"/>
              </a:spcBef>
              <a:spcAft>
                <a:spcPts val="283"/>
              </a:spcAft>
              <a:buClr>
                <a:srgbClr val="000000"/>
              </a:buClr>
              <a:buFont typeface="OpenSymbol"/>
              <a:buAutoNum type="arabicPeriod"/>
            </a:pPr>
            <a:r>
              <a:rPr lang="en-AU" sz="1500" b="0" u="none" strike="noStrike">
                <a:solidFill>
                  <a:srgbClr val="000000"/>
                </a:solidFill>
                <a:effectLst/>
                <a:uFillTx/>
                <a:latin typeface="Arial"/>
              </a:rPr>
              <a:t>This method provides customisation benefit and third-party IP network support.</a:t>
            </a:r>
            <a:endParaRPr lang="en-AU" sz="1500" b="0" u="none" strike="noStrike">
              <a:solidFill>
                <a:srgbClr val="000000"/>
              </a:solidFill>
              <a:effectLst/>
              <a:uFillTx/>
              <a:latin typeface="Arial"/>
            </a:endParaRPr>
          </a:p>
          <a:p>
            <a:pPr marL="324000" indent="-162000">
              <a:lnSpc>
                <a:spcPct val="100000"/>
              </a:lnSpc>
              <a:spcBef>
                <a:spcPts val="283"/>
              </a:spcBef>
              <a:spcAft>
                <a:spcPts val="283"/>
              </a:spcAft>
              <a:buClr>
                <a:srgbClr val="000000"/>
              </a:buClr>
              <a:buFont typeface="OpenSymbol"/>
              <a:buAutoNum type="arabicPeriod"/>
            </a:pPr>
            <a:r>
              <a:rPr lang="en-AU" sz="1500" b="1" u="none" strike="noStrike">
                <a:solidFill>
                  <a:srgbClr val="000000"/>
                </a:solidFill>
                <a:effectLst/>
                <a:uFillTx/>
                <a:latin typeface="Arial"/>
              </a:rPr>
              <a:t>Automated Underlay:</a:t>
            </a:r>
            <a:r>
              <a:rPr lang="en-AU" sz="1500" b="0" u="none" strike="noStrike">
                <a:solidFill>
                  <a:srgbClr val="000000"/>
                </a:solidFill>
                <a:effectLst/>
                <a:uFillTx/>
                <a:latin typeface="Arial"/>
              </a:rPr>
              <a:t> Network managed and configured through Catalyst Center LAN Automation feature.</a:t>
            </a:r>
            <a:endParaRPr lang="en-AU" sz="1500" b="0" u="none" strike="noStrike">
              <a:solidFill>
                <a:srgbClr val="000000"/>
              </a:solidFill>
              <a:effectLst/>
              <a:uFillTx/>
              <a:latin typeface="Arial"/>
            </a:endParaRPr>
          </a:p>
          <a:p>
            <a:pPr marL="324000" indent="-162000">
              <a:lnSpc>
                <a:spcPct val="100000"/>
              </a:lnSpc>
              <a:spcBef>
                <a:spcPts val="283"/>
              </a:spcBef>
              <a:spcAft>
                <a:spcPts val="283"/>
              </a:spcAft>
              <a:buClr>
                <a:srgbClr val="000000"/>
              </a:buClr>
              <a:buFont typeface="OpenSymbol"/>
              <a:buAutoNum type="arabicPeriod"/>
            </a:pPr>
            <a:r>
              <a:rPr lang="en-AU" sz="1500" b="0" u="none" strike="noStrike">
                <a:solidFill>
                  <a:srgbClr val="000000"/>
                </a:solidFill>
                <a:effectLst/>
                <a:uFillTx/>
                <a:latin typeface="Arial"/>
              </a:rPr>
              <a:t>It creates a routed access campus network with IS-IS as IGP.</a:t>
            </a:r>
            <a:endParaRPr lang="en-AU" sz="1500" b="0" u="none" strike="noStrike">
              <a:solidFill>
                <a:srgbClr val="000000"/>
              </a:solidFill>
              <a:effectLst/>
              <a:uFillTx/>
              <a:latin typeface="Arial"/>
            </a:endParaRPr>
          </a:p>
          <a:p>
            <a:pPr marL="324000" indent="-162000">
              <a:lnSpc>
                <a:spcPct val="100000"/>
              </a:lnSpc>
              <a:spcBef>
                <a:spcPts val="283"/>
              </a:spcBef>
              <a:spcAft>
                <a:spcPts val="283"/>
              </a:spcAft>
              <a:buClr>
                <a:srgbClr val="000000"/>
              </a:buClr>
              <a:buFont typeface="OpenSymbol"/>
              <a:buAutoNum type="arabicPeriod"/>
            </a:pPr>
            <a:r>
              <a:rPr lang="en-AU" sz="1500" b="0" u="none" strike="noStrike">
                <a:solidFill>
                  <a:srgbClr val="000000"/>
                </a:solidFill>
                <a:effectLst/>
                <a:uFillTx/>
                <a:latin typeface="Arial"/>
              </a:rPr>
              <a:t>It uses Cisco Network Plug and Play features to deploy both unicast and multicast routing configuration.</a:t>
            </a:r>
            <a:endParaRPr lang="en-AU" sz="1500" b="0" u="none" strike="noStrike">
              <a:solidFill>
                <a:srgbClr val="000000"/>
              </a:solidFill>
              <a:effectLst/>
              <a:uFillTx/>
              <a:latin typeface="Arial"/>
            </a:endParaRPr>
          </a:p>
          <a:p>
            <a:pPr>
              <a:lnSpc>
                <a:spcPct val="100000"/>
              </a:lnSpc>
              <a:spcBef>
                <a:spcPts val="283"/>
              </a:spcBef>
              <a:spcAft>
                <a:spcPts val="283"/>
              </a:spcAft>
            </a:pPr>
            <a:endParaRPr lang="en-AU" sz="1800" b="0" u="none" strike="noStrike">
              <a:solidFill>
                <a:srgbClr val="000000"/>
              </a:solidFill>
              <a:effectLst/>
              <a:uFillTx/>
              <a:latin typeface="Arial"/>
            </a:endParaRPr>
          </a:p>
        </p:txBody>
      </p:sp>
      <p:pic>
        <p:nvPicPr>
          <p:cNvPr id="57" name=""/>
          <p:cNvPicPr/>
          <p:nvPr/>
        </p:nvPicPr>
        <p:blipFill>
          <a:blip r:embed="rId1"/>
          <a:stretch/>
        </p:blipFill>
        <p:spPr>
          <a:xfrm>
            <a:off x="4824000" y="2663280"/>
            <a:ext cx="4678560" cy="287928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8" name="Rectangle 3">
            <a:extLst>
              <a:ext uri="{C183D7F6-B498-43B3-948B-1728B52AA6E4}">
                <adec:decorative xmlns:adec="http://schemas.microsoft.com/office/drawing/2017/decorative" val="1"/>
              </a:ext>
            </a:extLst>
          </p:cNvPr>
          <p:cNvSpPr/>
          <p:nvPr/>
        </p:nvSpPr>
        <p:spPr>
          <a:xfrm>
            <a:off x="360" y="360"/>
            <a:ext cx="3958200" cy="1078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1.SD-Access</a:t>
            </a:r>
            <a:endParaRPr lang="en-AU" sz="4400" b="0" u="none" strike="noStrike">
              <a:solidFill>
                <a:srgbClr val="FFFFFF"/>
              </a:solidFill>
              <a:effectLst/>
              <a:uFillTx/>
              <a:latin typeface="Arial"/>
            </a:endParaRPr>
          </a:p>
        </p:txBody>
      </p:sp>
      <p:sp>
        <p:nvSpPr>
          <p:cNvPr id="59" name="PlaceHolder 1"/>
          <p:cNvSpPr>
            <a:spLocks noGrp="1"/>
          </p:cNvSpPr>
          <p:nvPr>
            <p:ph/>
          </p:nvPr>
        </p:nvSpPr>
        <p:spPr>
          <a:xfrm>
            <a:off x="4176000" y="76680"/>
            <a:ext cx="5722560" cy="5501880"/>
          </a:xfrm>
          <a:prstGeom prst="rect">
            <a:avLst/>
          </a:prstGeom>
          <a:noFill/>
          <a:ln w="0">
            <a:noFill/>
          </a:ln>
        </p:spPr>
        <p:txBody>
          <a:bodyPr lIns="91440" tIns="45720" rIns="91440" bIns="45720" anchor="t">
            <a:normAutofit/>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Overlay Network (SD-Access Fabric)</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SD-Access fabric provides segementation based on access policy, host mobility, and enhanced security. </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SD-Access fabric is fully automated regardless of underlay model.</a:t>
            </a:r>
            <a:endParaRPr lang="en-US" sz="1600" b="0" u="none" strike="noStrike">
              <a:solidFill>
                <a:schemeClr val="dk1"/>
              </a:solidFill>
              <a:effectLst/>
              <a:uFillTx/>
              <a:latin typeface="Aptos"/>
            </a:endParaRPr>
          </a:p>
          <a:p>
            <a:pPr marL="162000" indent="-162000" algn="l" defTabSz="914400">
              <a:lnSpc>
                <a:spcPct val="100000"/>
              </a:lnSpc>
              <a:spcBef>
                <a:spcPts val="283"/>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Three basic planes of operation in SD-Access fabric:</a:t>
            </a:r>
            <a:endParaRPr lang="en-US" sz="1600" b="0" u="none" strike="noStrike">
              <a:solidFill>
                <a:schemeClr val="dk1"/>
              </a:solidFill>
              <a:effectLst/>
              <a:uFillTx/>
              <a:latin typeface="Aptos"/>
            </a:endParaRPr>
          </a:p>
          <a:p>
            <a:pPr marL="360000" indent="0" algn="l" defTabSz="914400">
              <a:lnSpc>
                <a:spcPct val="100000"/>
              </a:lnSpc>
              <a:spcBef>
                <a:spcPts val="283"/>
              </a:spcBef>
              <a:spcAft>
                <a:spcPts val="283"/>
              </a:spcAft>
              <a:buNone/>
              <a:tabLst>
                <a:tab pos="0" algn="l"/>
              </a:tabLst>
            </a:pPr>
            <a:r>
              <a:rPr lang="en-US" sz="1600" b="1" u="none" strike="noStrike">
                <a:solidFill>
                  <a:schemeClr val="dk1"/>
                </a:solidFill>
                <a:effectLst/>
                <a:uFillTx/>
                <a:latin typeface="Arial"/>
                <a:ea typeface="Microsoft YaHei"/>
              </a:rPr>
              <a:t>SD-Access Fabric Control Plane: </a:t>
            </a:r>
            <a:r>
              <a:rPr lang="en-US" sz="1600" b="0" u="none" strike="noStrike">
                <a:solidFill>
                  <a:schemeClr val="dk1"/>
                </a:solidFill>
                <a:effectLst/>
                <a:uFillTx/>
                <a:latin typeface="Arial"/>
                <a:ea typeface="Microsoft YaHei"/>
              </a:rPr>
              <a:t>Based on LISP</a:t>
            </a:r>
            <a:endParaRPr lang="en-US" sz="1600" b="0" u="none" strike="noStrike">
              <a:solidFill>
                <a:schemeClr val="dk1"/>
              </a:solidFill>
              <a:effectLst/>
              <a:uFillTx/>
              <a:latin typeface="Aptos"/>
            </a:endParaRPr>
          </a:p>
          <a:p>
            <a:pPr marL="360000" indent="-162000" algn="l" defTabSz="914400">
              <a:lnSpc>
                <a:spcPct val="100000"/>
              </a:lnSpc>
              <a:spcBef>
                <a:spcPts val="150"/>
              </a:spcBef>
              <a:buClr>
                <a:srgbClr val="000000"/>
              </a:buClr>
              <a:buSzPct val="75000"/>
              <a:buFont typeface="OpenSymbol"/>
              <a:buChar char="▪"/>
              <a:tabLst>
                <a:tab pos="0" algn="l"/>
              </a:tabLst>
            </a:pPr>
            <a:r>
              <a:rPr lang="en-US" sz="1600" b="0" u="none" strike="noStrike">
                <a:solidFill>
                  <a:schemeClr val="dk1"/>
                </a:solidFill>
                <a:effectLst/>
                <a:uFillTx/>
                <a:latin typeface="Arial"/>
                <a:ea typeface="Microsoft YaHei"/>
              </a:rPr>
              <a:t>LISP maps Endpoint IDs to RLOCs and this mapping is stored in central mapping database Mapping Server (MS).</a:t>
            </a:r>
            <a:endParaRPr lang="en-US" sz="1600" b="0" u="none" strike="noStrike">
              <a:solidFill>
                <a:schemeClr val="dk1"/>
              </a:solidFill>
              <a:effectLst/>
              <a:uFillTx/>
              <a:latin typeface="Aptos"/>
            </a:endParaRPr>
          </a:p>
          <a:p>
            <a:pPr marL="360000" indent="-162000" algn="l" defTabSz="914400">
              <a:lnSpc>
                <a:spcPct val="100000"/>
              </a:lnSpc>
              <a:spcBef>
                <a:spcPts val="150"/>
              </a:spcBef>
              <a:buClr>
                <a:srgbClr val="000000"/>
              </a:buClr>
              <a:buSzPct val="75000"/>
              <a:buFont typeface="OpenSymbol"/>
              <a:buChar char="▪"/>
              <a:tabLst>
                <a:tab pos="0" algn="l"/>
              </a:tabLst>
            </a:pPr>
            <a:r>
              <a:rPr lang="en-US" sz="1600" b="0" u="none" strike="noStrike">
                <a:solidFill>
                  <a:schemeClr val="dk1"/>
                </a:solidFill>
                <a:effectLst/>
                <a:uFillTx/>
                <a:latin typeface="Arial"/>
                <a:ea typeface="Microsoft YaHei"/>
              </a:rPr>
              <a:t>Each router only stores it’s local route and queries MS for remote destination EIDs.</a:t>
            </a:r>
            <a:endParaRPr lang="en-US" sz="1600" b="0" u="none" strike="noStrike">
              <a:solidFill>
                <a:schemeClr val="dk1"/>
              </a:solidFill>
              <a:effectLst/>
              <a:uFillTx/>
              <a:latin typeface="Aptos"/>
            </a:endParaRPr>
          </a:p>
          <a:p>
            <a:pPr marL="360000" indent="-162000" algn="l" defTabSz="914400">
              <a:lnSpc>
                <a:spcPct val="100000"/>
              </a:lnSpc>
              <a:spcBef>
                <a:spcPts val="150"/>
              </a:spcBef>
              <a:buClr>
                <a:srgbClr val="000000"/>
              </a:buClr>
              <a:buSzPct val="75000"/>
              <a:buFont typeface="OpenSymbol"/>
              <a:buChar char="▪"/>
              <a:tabLst>
                <a:tab pos="0" algn="l"/>
              </a:tabLst>
            </a:pPr>
            <a:r>
              <a:rPr lang="en-US" sz="1600" b="0" u="none" strike="noStrike">
                <a:solidFill>
                  <a:schemeClr val="dk1"/>
                </a:solidFill>
                <a:effectLst/>
                <a:uFillTx/>
                <a:latin typeface="Arial"/>
                <a:ea typeface="Microsoft YaHei"/>
              </a:rPr>
              <a:t>LISP provides address agnostic mapping (ipv4/ipv6. and/or MAC), dynamic wired or wireless host mobility, and built in segmentation with VRF instances.</a:t>
            </a:r>
            <a:endParaRPr lang="en-US" sz="1600" b="0" u="none" strike="noStrike">
              <a:solidFill>
                <a:schemeClr val="dk1"/>
              </a:solidFill>
              <a:effectLst/>
              <a:uFillTx/>
              <a:latin typeface="Aptos"/>
            </a:endParaRPr>
          </a:p>
          <a:p>
            <a:pPr marL="360000" indent="-162000" algn="l" defTabSz="914400">
              <a:lnSpc>
                <a:spcPct val="100000"/>
              </a:lnSpc>
              <a:spcBef>
                <a:spcPts val="150"/>
              </a:spcBef>
              <a:buClr>
                <a:srgbClr val="000000"/>
              </a:buClr>
              <a:buSzPct val="75000"/>
              <a:buFont typeface="OpenSymbol"/>
              <a:buChar char="▪"/>
              <a:tabLst>
                <a:tab pos="0" algn="l"/>
              </a:tabLst>
            </a:pPr>
            <a:r>
              <a:rPr lang="en-US" sz="1600" b="0" u="none" strike="noStrike">
                <a:solidFill>
                  <a:schemeClr val="dk1"/>
                </a:solidFill>
                <a:effectLst/>
                <a:uFillTx/>
                <a:latin typeface="Arial"/>
                <a:ea typeface="Microsoft YaHei"/>
              </a:rPr>
              <a:t>SD-Access fabric implements enhancements from original LISP specification such as distributed Anycast gateway, VN Extranet and Fabric Wireless. </a:t>
            </a:r>
            <a:endParaRPr lang="en-US" sz="16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p:txBody>
      </p:sp>
      <p:sp>
        <p:nvSpPr>
          <p:cNvPr id="60" name=""/>
          <p:cNvSpPr/>
          <p:nvPr/>
        </p:nvSpPr>
        <p:spPr>
          <a:xfrm>
            <a:off x="72000" y="1152000"/>
            <a:ext cx="4066560" cy="43185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AU" sz="1600" b="1" u="none" strike="noStrike">
                <a:solidFill>
                  <a:srgbClr val="000000"/>
                </a:solidFill>
                <a:effectLst/>
                <a:uFillTx/>
                <a:latin typeface="Arial"/>
              </a:rPr>
              <a:t>SD-Access Fabric Data Plane: </a:t>
            </a:r>
            <a:r>
              <a:rPr lang="en-AU" sz="1600" b="0" u="none" strike="noStrike">
                <a:solidFill>
                  <a:srgbClr val="000000"/>
                </a:solidFill>
                <a:effectLst/>
                <a:uFillTx/>
                <a:latin typeface="Arial"/>
              </a:rPr>
              <a:t>Based on VXLAN</a:t>
            </a:r>
            <a:endParaRPr lang="en-AU" sz="1600" b="0" u="none" strike="noStrike">
              <a:solidFill>
                <a:srgbClr val="000000"/>
              </a:solidFill>
              <a:effectLst/>
              <a:uFillTx/>
              <a:latin typeface="Arial"/>
            </a:endParaRPr>
          </a:p>
          <a:p>
            <a:pPr marL="360000" indent="-216000" defTabSz="914400">
              <a:lnSpc>
                <a:spcPct val="100000"/>
              </a:lnSpc>
              <a:spcBef>
                <a:spcPts val="150"/>
              </a:spcBef>
              <a:buClr>
                <a:srgbClr val="000000"/>
              </a:buClr>
              <a:buSzPct val="75000"/>
              <a:buFont typeface="OpenSymbol"/>
              <a:buChar char="▪"/>
              <a:tabLst>
                <a:tab pos="0" algn="l"/>
              </a:tabLst>
            </a:pPr>
            <a:r>
              <a:rPr lang="en-US" sz="1600" b="0" u="none" strike="noStrike">
                <a:solidFill>
                  <a:schemeClr val="dk1"/>
                </a:solidFill>
                <a:effectLst/>
                <a:uFillTx/>
                <a:latin typeface="Arial"/>
                <a:ea typeface="Microsoft YaHei"/>
              </a:rPr>
              <a:t>It encapsulates MAC in IP/UDP, thus SD-Access data packets can be transported by any IP network (legacy and third party).</a:t>
            </a:r>
            <a:endParaRPr lang="en-AU" sz="1600" b="0" u="none" strike="noStrike">
              <a:solidFill>
                <a:srgbClr val="000000"/>
              </a:solidFill>
              <a:effectLst/>
              <a:uFillTx/>
              <a:latin typeface="Arial"/>
            </a:endParaRPr>
          </a:p>
          <a:p>
            <a:pPr marL="360000" indent="-216000" defTabSz="914400">
              <a:lnSpc>
                <a:spcPct val="100000"/>
              </a:lnSpc>
              <a:spcBef>
                <a:spcPts val="150"/>
              </a:spcBef>
              <a:buClr>
                <a:srgbClr val="000000"/>
              </a:buClr>
              <a:buSzPct val="75000"/>
              <a:buFont typeface="OpenSymbol"/>
              <a:buChar char="▪"/>
              <a:tabLst>
                <a:tab pos="0" algn="l"/>
              </a:tabLst>
            </a:pPr>
            <a:r>
              <a:rPr lang="en-US" sz="1600" b="0" u="none" strike="noStrike">
                <a:solidFill>
                  <a:schemeClr val="dk1"/>
                </a:solidFill>
                <a:effectLst/>
                <a:uFillTx/>
                <a:latin typeface="Arial"/>
                <a:ea typeface="Microsoft YaHei"/>
              </a:rPr>
              <a:t>Such encapsulation makes VXLAN to support layer 2 and layer 3 overlay.</a:t>
            </a:r>
            <a:endParaRPr lang="en-AU" sz="1600" b="0" u="none" strike="noStrike">
              <a:solidFill>
                <a:srgbClr val="000000"/>
              </a:solidFill>
              <a:effectLst/>
              <a:uFillTx/>
              <a:latin typeface="Arial"/>
            </a:endParaRPr>
          </a:p>
          <a:p>
            <a:pPr marL="360000" indent="-216000" defTabSz="914400">
              <a:lnSpc>
                <a:spcPct val="100000"/>
              </a:lnSpc>
              <a:spcBef>
                <a:spcPts val="150"/>
              </a:spcBef>
              <a:buClr>
                <a:srgbClr val="000000"/>
              </a:buClr>
              <a:buSzPct val="75000"/>
              <a:buFont typeface="OpenSymbol"/>
              <a:buChar char="▪"/>
              <a:tabLst>
                <a:tab pos="0" algn="l"/>
              </a:tabLst>
            </a:pPr>
            <a:r>
              <a:rPr lang="en-US" sz="1600" b="0" u="none" strike="noStrike">
                <a:solidFill>
                  <a:schemeClr val="dk1"/>
                </a:solidFill>
                <a:effectLst/>
                <a:uFillTx/>
                <a:latin typeface="Arial"/>
                <a:ea typeface="Microsoft YaHei"/>
              </a:rPr>
              <a:t>Original VXLAN specification is enhanced to support Cisco TrustSec Scalable Group Tags (SGTs). TrustSec Security Group Tags are called Scalable Group Tags in SD-Access.</a:t>
            </a:r>
            <a:endParaRPr lang="en-AU" sz="1600" b="0" u="none" strike="noStrike">
              <a:solidFill>
                <a:srgbClr val="000000"/>
              </a:solidFill>
              <a:effectLst/>
              <a:uFillTx/>
              <a:latin typeface="Arial"/>
            </a:endParaRPr>
          </a:p>
          <a:p>
            <a:pPr marL="360000" indent="-216000" defTabSz="914400">
              <a:lnSpc>
                <a:spcPct val="100000"/>
              </a:lnSpc>
              <a:spcBef>
                <a:spcPts val="150"/>
              </a:spcBef>
              <a:buClr>
                <a:srgbClr val="000000"/>
              </a:buClr>
              <a:buSzPct val="75000"/>
              <a:buFont typeface="OpenSymbol"/>
              <a:buChar char="▪"/>
              <a:tabLst>
                <a:tab pos="0" algn="l"/>
              </a:tabLst>
            </a:pPr>
            <a:r>
              <a:rPr lang="en-US" sz="1600" b="0" u="none" strike="noStrike">
                <a:solidFill>
                  <a:schemeClr val="dk1"/>
                </a:solidFill>
                <a:effectLst/>
                <a:uFillTx/>
                <a:latin typeface="Arial"/>
                <a:ea typeface="Microsoft YaHei"/>
              </a:rPr>
              <a:t>A new 4 bytes header field is added to accommodate 64,000 SGTs.</a:t>
            </a:r>
            <a:endParaRPr lang="en-AU" sz="1600" b="0" u="none" strike="noStrike">
              <a:solidFill>
                <a:srgbClr val="000000"/>
              </a:solidFill>
              <a:effectLst/>
              <a:uFillTx/>
              <a:latin typeface="Arial"/>
            </a:endParaRPr>
          </a:p>
          <a:p>
            <a:pPr marL="360000" indent="-216000" defTabSz="914400">
              <a:lnSpc>
                <a:spcPct val="100000"/>
              </a:lnSpc>
              <a:spcBef>
                <a:spcPts val="150"/>
              </a:spcBef>
              <a:buClr>
                <a:srgbClr val="000000"/>
              </a:buClr>
              <a:buSzPct val="75000"/>
              <a:buFont typeface="OpenSymbol"/>
              <a:buChar char="▪"/>
              <a:tabLst>
                <a:tab pos="0" algn="l"/>
              </a:tabLst>
            </a:pPr>
            <a:r>
              <a:rPr lang="en-US" sz="1600" b="0" u="none" strike="noStrike">
                <a:solidFill>
                  <a:schemeClr val="dk1"/>
                </a:solidFill>
                <a:effectLst/>
                <a:uFillTx/>
                <a:latin typeface="Arial"/>
                <a:ea typeface="Microsoft YaHei"/>
              </a:rPr>
              <a:t>The new format is called VXLAN Group Policy Option (VXLAN-GPO). </a:t>
            </a:r>
            <a:endParaRPr lang="en-AU" sz="1600" b="0" u="none" strike="noStrike">
              <a:solidFill>
                <a:srgbClr val="000000"/>
              </a:solidFill>
              <a:effectLst/>
              <a:uFillTx/>
              <a:latin typeface="Arial"/>
            </a:endParaRPr>
          </a:p>
          <a:p>
            <a:pPr defTabSz="914400">
              <a:lnSpc>
                <a:spcPct val="100000"/>
              </a:lnSpc>
              <a:spcBef>
                <a:spcPts val="283"/>
              </a:spcBef>
              <a:spcAft>
                <a:spcPts val="283"/>
              </a:spcAft>
              <a:tabLst>
                <a:tab pos="0" algn="l"/>
              </a:tabLst>
            </a:pPr>
            <a:endParaRPr lang="en-AU"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1" name="Rectangle 5">
            <a:extLst>
              <a:ext uri="{C183D7F6-B498-43B3-948B-1728B52AA6E4}">
                <adec:decorative xmlns:adec="http://schemas.microsoft.com/office/drawing/2017/decorative" val="1"/>
              </a:ext>
            </a:extLst>
          </p:cNvPr>
          <p:cNvSpPr/>
          <p:nvPr/>
        </p:nvSpPr>
        <p:spPr>
          <a:xfrm>
            <a:off x="360" y="360"/>
            <a:ext cx="3958200" cy="1078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1.SD-Access</a:t>
            </a:r>
            <a:endParaRPr lang="en-AU" sz="4400" b="0" u="none" strike="noStrike">
              <a:solidFill>
                <a:srgbClr val="FFFFFF"/>
              </a:solidFill>
              <a:effectLst/>
              <a:uFillTx/>
              <a:latin typeface="Arial"/>
            </a:endParaRPr>
          </a:p>
        </p:txBody>
      </p:sp>
      <p:sp>
        <p:nvSpPr>
          <p:cNvPr id="62" name="PlaceHolder 1"/>
          <p:cNvSpPr>
            <a:spLocks noGrp="1"/>
          </p:cNvSpPr>
          <p:nvPr>
            <p:ph/>
          </p:nvPr>
        </p:nvSpPr>
        <p:spPr>
          <a:xfrm>
            <a:off x="5472000" y="2524680"/>
            <a:ext cx="4496400" cy="2621880"/>
          </a:xfrm>
          <a:prstGeom prst="rect">
            <a:avLst/>
          </a:prstGeom>
          <a:noFill/>
          <a:ln w="0">
            <a:noFill/>
          </a:ln>
        </p:spPr>
        <p:txBody>
          <a:bodyPr lIns="91440" tIns="45720" rIns="91440" bIns="45720" anchor="t">
            <a:normAutofit fontScale="92500" lnSpcReduction="9999"/>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Group Policy ID: </a:t>
            </a:r>
            <a:r>
              <a:rPr lang="en-US" sz="1600" b="0" u="none" strike="noStrike">
                <a:solidFill>
                  <a:schemeClr val="dk1"/>
                </a:solidFill>
                <a:effectLst/>
                <a:uFillTx/>
                <a:latin typeface="Arial"/>
                <a:ea typeface="Microsoft YaHei"/>
              </a:rPr>
              <a:t>16 bit identifier that carries SGT tags</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Group Based Policy Extension (G Bit):</a:t>
            </a:r>
            <a:r>
              <a:rPr lang="en-US" sz="1600" b="0" u="none" strike="noStrike">
                <a:solidFill>
                  <a:schemeClr val="dk1"/>
                </a:solidFill>
                <a:effectLst/>
                <a:uFillTx/>
                <a:latin typeface="Arial"/>
                <a:ea typeface="Microsoft YaHei"/>
              </a:rPr>
              <a:t> 1 : SGT is carried in Group Policy ID, 0 : No SGT carried.</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Don’t Learn (D Bit):</a:t>
            </a:r>
            <a:r>
              <a:rPr lang="en-US" sz="1600" b="0" u="none" strike="noStrike">
                <a:solidFill>
                  <a:schemeClr val="dk1"/>
                </a:solidFill>
                <a:effectLst/>
                <a:uFillTx/>
                <a:latin typeface="Arial"/>
                <a:ea typeface="Microsoft YaHei"/>
              </a:rPr>
              <a:t> 1 indicates egress Virtual Tunnel Endpoint (VTEP) should not learn source address of the encapsulated frame. </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Policy Applied Bit (A-Bit): </a:t>
            </a:r>
            <a:r>
              <a:rPr lang="en-US" sz="1600" b="0" u="none" strike="noStrike">
                <a:solidFill>
                  <a:schemeClr val="dk1"/>
                </a:solidFill>
                <a:effectLst/>
                <a:uFillTx/>
                <a:latin typeface="Arial"/>
                <a:ea typeface="Microsoft YaHei"/>
              </a:rPr>
              <a:t>Set to 1 when policy is already applied to the packet, if set to 0, policy is not applied to the packet. This bit is only relevant when G-Bit is set.</a:t>
            </a:r>
            <a:r>
              <a:rPr lang="en-US" sz="1600" b="1" u="none" strike="noStrike">
                <a:solidFill>
                  <a:schemeClr val="dk1"/>
                </a:solidFill>
                <a:effectLst/>
                <a:uFillTx/>
                <a:latin typeface="Arial"/>
                <a:ea typeface="Microsoft YaHei"/>
              </a:rPr>
              <a:t> </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p:txBody>
      </p:sp>
      <p:sp>
        <p:nvSpPr>
          <p:cNvPr id="63" name=""/>
          <p:cNvSpPr/>
          <p:nvPr/>
        </p:nvSpPr>
        <p:spPr>
          <a:xfrm>
            <a:off x="72000" y="1188000"/>
            <a:ext cx="5218560" cy="50032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AU" sz="1600" b="1" u="none" strike="noStrike">
                <a:solidFill>
                  <a:srgbClr val="000000"/>
                </a:solidFill>
                <a:effectLst/>
                <a:uFillTx/>
                <a:latin typeface="Arial"/>
              </a:rPr>
              <a:t>SD-Access Fabric Policy Plane: </a:t>
            </a:r>
            <a:r>
              <a:rPr lang="en-AU" sz="1600" b="0" u="none" strike="noStrike">
                <a:solidFill>
                  <a:srgbClr val="000000"/>
                </a:solidFill>
                <a:effectLst/>
                <a:uFillTx/>
                <a:latin typeface="Arial"/>
              </a:rPr>
              <a:t>Based on Cisco TrustSec (CTS)</a:t>
            </a:r>
            <a:endParaRPr lang="en-AU" sz="1600" b="0" u="none" strike="noStrike">
              <a:solidFill>
                <a:srgbClr val="000000"/>
              </a:solidFill>
              <a:effectLst/>
              <a:uFillTx/>
              <a:latin typeface="Arial"/>
            </a:endParaRPr>
          </a:p>
          <a:p>
            <a:pPr>
              <a:lnSpc>
                <a:spcPct val="100000"/>
              </a:lnSpc>
              <a:spcBef>
                <a:spcPts val="283"/>
              </a:spcBef>
              <a:spcAft>
                <a:spcPts val="283"/>
              </a:spcAft>
            </a:pPr>
            <a:r>
              <a:rPr lang="en-AU" sz="1600" b="0" u="none" strike="noStrike">
                <a:solidFill>
                  <a:srgbClr val="000000"/>
                </a:solidFill>
                <a:effectLst/>
                <a:uFillTx/>
                <a:latin typeface="Arial"/>
              </a:rPr>
              <a:t>Authenticated users are tagged with SGT, network policy (ACLs,QoS and Policy Based Routing (PBR)) is applied throughout the fabric based on those SGT instead of MAC, ipv4 and ipv6.</a:t>
            </a:r>
            <a:endParaRPr lang="en-AU" sz="1600" b="0" u="none" strike="noStrike">
              <a:solidFill>
                <a:srgbClr val="000000"/>
              </a:solidFill>
              <a:effectLst/>
              <a:uFillTx/>
              <a:latin typeface="Arial"/>
            </a:endParaRPr>
          </a:p>
          <a:p>
            <a:pPr>
              <a:lnSpc>
                <a:spcPct val="100000"/>
              </a:lnSpc>
            </a:pPr>
            <a:r>
              <a:rPr lang="en-AU" sz="1600" b="0" u="none" strike="noStrike">
                <a:solidFill>
                  <a:srgbClr val="000000"/>
                </a:solidFill>
                <a:effectLst/>
                <a:uFillTx/>
                <a:latin typeface="Arial"/>
              </a:rPr>
              <a:t>TrustSec SGTs provide below advantages in SD-Access fabric:</a:t>
            </a:r>
            <a:endParaRPr lang="en-AU" sz="16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600" b="0" u="none" strike="noStrike">
                <a:solidFill>
                  <a:srgbClr val="000000"/>
                </a:solidFill>
                <a:effectLst/>
                <a:uFillTx/>
                <a:latin typeface="Arial"/>
              </a:rPr>
              <a:t>Supports both network based segementation using VNs (VRF instances) and group based segmentation (policies).</a:t>
            </a:r>
            <a:endParaRPr lang="en-AU" sz="16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600" b="0" u="none" strike="noStrike">
                <a:solidFill>
                  <a:srgbClr val="000000"/>
                </a:solidFill>
                <a:effectLst/>
                <a:uFillTx/>
                <a:latin typeface="Arial"/>
              </a:rPr>
              <a:t>Network address agnostic group based policies.</a:t>
            </a:r>
            <a:endParaRPr lang="en-AU" sz="16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600" b="0" u="none" strike="noStrike">
                <a:solidFill>
                  <a:srgbClr val="000000"/>
                </a:solidFill>
                <a:effectLst/>
                <a:uFillTx/>
                <a:latin typeface="Arial"/>
              </a:rPr>
              <a:t>Dynamic enforcement of policies regardless of wired or wireless and location.</a:t>
            </a:r>
            <a:endParaRPr lang="en-AU" sz="16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600" b="0" u="none" strike="noStrike">
                <a:solidFill>
                  <a:srgbClr val="000000"/>
                </a:solidFill>
                <a:effectLst/>
                <a:uFillTx/>
                <a:latin typeface="Arial"/>
              </a:rPr>
              <a:t>Policy construct over legacy or third party IP network.</a:t>
            </a:r>
            <a:endParaRPr lang="en-AU" sz="16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600" b="0" u="none" strike="noStrike">
                <a:solidFill>
                  <a:srgbClr val="000000"/>
                </a:solidFill>
                <a:effectLst/>
                <a:uFillTx/>
                <a:latin typeface="Arial"/>
              </a:rPr>
              <a:t>Extended policy enforcement by transporting SGT to cloud or data centre by use of SXP and SGT capable hardware.</a:t>
            </a:r>
            <a:endParaRPr lang="en-AU" sz="1600" b="0" u="none" strike="noStrike">
              <a:solidFill>
                <a:srgbClr val="000000"/>
              </a:solidFill>
              <a:effectLst/>
              <a:uFillTx/>
              <a:latin typeface="Arial"/>
            </a:endParaRPr>
          </a:p>
          <a:p>
            <a:pPr>
              <a:lnSpc>
                <a:spcPct val="100000"/>
              </a:lnSpc>
              <a:spcBef>
                <a:spcPts val="283"/>
              </a:spcBef>
              <a:spcAft>
                <a:spcPts val="283"/>
              </a:spcAft>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p:txBody>
      </p:sp>
      <p:pic>
        <p:nvPicPr>
          <p:cNvPr id="64" name=""/>
          <p:cNvPicPr/>
          <p:nvPr/>
        </p:nvPicPr>
        <p:blipFill>
          <a:blip r:embed="rId1"/>
          <a:stretch/>
        </p:blipFill>
        <p:spPr>
          <a:xfrm>
            <a:off x="5760000" y="177840"/>
            <a:ext cx="3778560" cy="191124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5" name="Rectangle 6">
            <a:extLst>
              <a:ext uri="{C183D7F6-B498-43B3-948B-1728B52AA6E4}">
                <adec:decorative xmlns:adec="http://schemas.microsoft.com/office/drawing/2017/decorative" val="1"/>
              </a:ext>
            </a:extLst>
          </p:cNvPr>
          <p:cNvSpPr/>
          <p:nvPr/>
        </p:nvSpPr>
        <p:spPr>
          <a:xfrm>
            <a:off x="360" y="360"/>
            <a:ext cx="3958200" cy="1078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1.SD-Access</a:t>
            </a:r>
            <a:endParaRPr lang="en-AU" sz="4400" b="0" u="none" strike="noStrike">
              <a:solidFill>
                <a:srgbClr val="FFFFFF"/>
              </a:solidFill>
              <a:effectLst/>
              <a:uFillTx/>
              <a:latin typeface="Arial"/>
            </a:endParaRPr>
          </a:p>
        </p:txBody>
      </p:sp>
      <p:sp>
        <p:nvSpPr>
          <p:cNvPr id="66" name="PlaceHolder 1"/>
          <p:cNvSpPr>
            <a:spLocks noGrp="1"/>
          </p:cNvSpPr>
          <p:nvPr>
            <p:ph/>
          </p:nvPr>
        </p:nvSpPr>
        <p:spPr>
          <a:xfrm>
            <a:off x="4070160" y="144000"/>
            <a:ext cx="5828400" cy="5398560"/>
          </a:xfrm>
          <a:prstGeom prst="rect">
            <a:avLst/>
          </a:prstGeom>
          <a:noFill/>
          <a:ln w="0">
            <a:noFill/>
          </a:ln>
        </p:spPr>
        <p:txBody>
          <a:bodyPr lIns="91440" tIns="45720" rIns="91440" bIns="45720" anchor="t">
            <a:normAutofit/>
          </a:bodyPr>
          <a:p>
            <a:pPr indent="0" algn="l" defTabSz="914400">
              <a:lnSpc>
                <a:spcPct val="100000"/>
              </a:lnSpc>
              <a:spcBef>
                <a:spcPts val="150"/>
              </a:spcBef>
              <a:buNone/>
              <a:tabLst>
                <a:tab pos="0" algn="l"/>
              </a:tabLst>
            </a:pPr>
            <a:r>
              <a:rPr lang="en-US" sz="1800" b="1" u="none" strike="noStrike">
                <a:solidFill>
                  <a:schemeClr val="dk1"/>
                </a:solidFill>
                <a:effectLst/>
                <a:uFillTx/>
                <a:latin typeface="Arial"/>
                <a:ea typeface="Microsoft YaHei"/>
              </a:rPr>
              <a:t>SD-Access Fabric Roles and Components</a:t>
            </a:r>
            <a:endParaRPr lang="en-US" sz="18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800" b="0" u="none" strike="noStrike">
                <a:solidFill>
                  <a:schemeClr val="dk1"/>
                </a:solidFill>
                <a:effectLst/>
                <a:uFillTx/>
                <a:latin typeface="Arial"/>
                <a:ea typeface="Microsoft YaHei"/>
              </a:rPr>
              <a:t>Each SD-Access Fabric node must be assigned one or more of the following five basic roles:</a:t>
            </a:r>
            <a:endParaRPr lang="en-US" sz="1800" b="0" u="none" strike="noStrike">
              <a:solidFill>
                <a:schemeClr val="dk1"/>
              </a:solidFill>
              <a:effectLst/>
              <a:uFillTx/>
              <a:latin typeface="Aptos"/>
            </a:endParaRPr>
          </a:p>
          <a:p>
            <a:pPr marL="324000" indent="-162000" algn="l" defTabSz="914400">
              <a:lnSpc>
                <a:spcPct val="100000"/>
              </a:lnSpc>
              <a:spcBef>
                <a:spcPts val="150"/>
              </a:spcBef>
              <a:buClr>
                <a:srgbClr val="000000"/>
              </a:buClr>
              <a:buFont typeface="Arial"/>
              <a:buAutoNum type="arabicPeriod"/>
              <a:tabLst>
                <a:tab pos="0" algn="l"/>
              </a:tabLst>
            </a:pPr>
            <a:r>
              <a:rPr lang="en-US" sz="1800" b="1" u="none" strike="noStrike">
                <a:solidFill>
                  <a:schemeClr val="dk1"/>
                </a:solidFill>
                <a:effectLst/>
                <a:uFillTx/>
                <a:latin typeface="Arial"/>
                <a:ea typeface="Microsoft YaHei"/>
              </a:rPr>
              <a:t>Control Plane Node:</a:t>
            </a:r>
            <a:r>
              <a:rPr lang="en-US" sz="1800" b="0" u="none" strike="noStrike">
                <a:solidFill>
                  <a:schemeClr val="dk1"/>
                </a:solidFill>
                <a:effectLst/>
                <a:uFillTx/>
                <a:latin typeface="Arial"/>
                <a:ea typeface="Microsoft YaHei"/>
              </a:rPr>
              <a:t> Contains settings, protocol and mapping table to provide EID-to-RLOC mapping system for the overlay fabric.</a:t>
            </a:r>
            <a:endParaRPr lang="en-US" sz="1800" b="0" u="none" strike="noStrike">
              <a:solidFill>
                <a:schemeClr val="dk1"/>
              </a:solidFill>
              <a:effectLst/>
              <a:uFillTx/>
              <a:latin typeface="Aptos"/>
            </a:endParaRPr>
          </a:p>
          <a:p>
            <a:pPr marL="324000" indent="-162000" algn="l" defTabSz="914400">
              <a:lnSpc>
                <a:spcPct val="100000"/>
              </a:lnSpc>
              <a:spcBef>
                <a:spcPts val="150"/>
              </a:spcBef>
              <a:buClr>
                <a:srgbClr val="000000"/>
              </a:buClr>
              <a:buFont typeface="Arial"/>
              <a:buAutoNum type="arabicPeriod"/>
              <a:tabLst>
                <a:tab pos="0" algn="l"/>
              </a:tabLst>
            </a:pPr>
            <a:r>
              <a:rPr lang="en-US" sz="1800" b="1" u="none" strike="noStrike">
                <a:solidFill>
                  <a:schemeClr val="dk1"/>
                </a:solidFill>
                <a:effectLst/>
                <a:uFillTx/>
                <a:latin typeface="Arial"/>
                <a:ea typeface="Microsoft YaHei"/>
              </a:rPr>
              <a:t>Fabric Border Node:</a:t>
            </a:r>
            <a:r>
              <a:rPr lang="en-US" sz="1800" b="0" u="none" strike="noStrike">
                <a:solidFill>
                  <a:schemeClr val="dk1"/>
                </a:solidFill>
                <a:effectLst/>
                <a:uFillTx/>
                <a:latin typeface="Arial"/>
                <a:ea typeface="Microsoft YaHei"/>
              </a:rPr>
              <a:t> Connects external layer 3 networks to SDA fabric.</a:t>
            </a:r>
            <a:endParaRPr lang="en-US" sz="1800" b="0" u="none" strike="noStrike">
              <a:solidFill>
                <a:schemeClr val="dk1"/>
              </a:solidFill>
              <a:effectLst/>
              <a:uFillTx/>
              <a:latin typeface="Aptos"/>
            </a:endParaRPr>
          </a:p>
          <a:p>
            <a:pPr marL="324000" indent="-162000" algn="l" defTabSz="914400">
              <a:lnSpc>
                <a:spcPct val="100000"/>
              </a:lnSpc>
              <a:spcBef>
                <a:spcPts val="150"/>
              </a:spcBef>
              <a:buClr>
                <a:srgbClr val="000000"/>
              </a:buClr>
              <a:buFont typeface="Arial"/>
              <a:buAutoNum type="arabicPeriod"/>
              <a:tabLst>
                <a:tab pos="0" algn="l"/>
              </a:tabLst>
            </a:pPr>
            <a:r>
              <a:rPr lang="en-US" sz="1800" b="1" u="none" strike="noStrike">
                <a:solidFill>
                  <a:schemeClr val="dk1"/>
                </a:solidFill>
                <a:effectLst/>
                <a:uFillTx/>
                <a:latin typeface="Arial"/>
                <a:ea typeface="Microsoft YaHei"/>
              </a:rPr>
              <a:t>Fabric Edge Node:</a:t>
            </a:r>
            <a:r>
              <a:rPr lang="en-US" sz="1800" b="0" u="none" strike="noStrike">
                <a:solidFill>
                  <a:schemeClr val="dk1"/>
                </a:solidFill>
                <a:effectLst/>
                <a:uFillTx/>
                <a:latin typeface="Arial"/>
                <a:ea typeface="Microsoft YaHei"/>
              </a:rPr>
              <a:t> Connects endpoints to SDA fabric.</a:t>
            </a:r>
            <a:endParaRPr lang="en-US" sz="1800" b="0" u="none" strike="noStrike">
              <a:solidFill>
                <a:schemeClr val="dk1"/>
              </a:solidFill>
              <a:effectLst/>
              <a:uFillTx/>
              <a:latin typeface="Aptos"/>
            </a:endParaRPr>
          </a:p>
          <a:p>
            <a:pPr marL="324000" indent="-162000" algn="l" defTabSz="914400">
              <a:lnSpc>
                <a:spcPct val="100000"/>
              </a:lnSpc>
              <a:spcBef>
                <a:spcPts val="150"/>
              </a:spcBef>
              <a:buClr>
                <a:srgbClr val="000000"/>
              </a:buClr>
              <a:buFont typeface="Arial"/>
              <a:buAutoNum type="arabicPeriod"/>
              <a:tabLst>
                <a:tab pos="0" algn="l"/>
              </a:tabLst>
            </a:pPr>
            <a:r>
              <a:rPr lang="en-US" sz="1800" b="1" u="none" strike="noStrike">
                <a:solidFill>
                  <a:schemeClr val="dk1"/>
                </a:solidFill>
                <a:effectLst/>
                <a:uFillTx/>
                <a:latin typeface="Arial"/>
                <a:ea typeface="Microsoft YaHei"/>
              </a:rPr>
              <a:t>Fabric WLAN Controller:</a:t>
            </a:r>
            <a:r>
              <a:rPr lang="en-US" sz="1800" b="0" u="none" strike="noStrike">
                <a:solidFill>
                  <a:schemeClr val="dk1"/>
                </a:solidFill>
                <a:effectLst/>
                <a:uFillTx/>
                <a:latin typeface="Arial"/>
                <a:ea typeface="Microsoft YaHei"/>
              </a:rPr>
              <a:t> Connects wireless endpoints and APs to SDA fabric.</a:t>
            </a:r>
            <a:endParaRPr lang="en-US" sz="1800" b="0" u="none" strike="noStrike">
              <a:solidFill>
                <a:schemeClr val="dk1"/>
              </a:solidFill>
              <a:effectLst/>
              <a:uFillTx/>
              <a:latin typeface="Aptos"/>
            </a:endParaRPr>
          </a:p>
          <a:p>
            <a:pPr marL="324000" indent="-162000" algn="l" defTabSz="914400">
              <a:lnSpc>
                <a:spcPct val="100000"/>
              </a:lnSpc>
              <a:spcBef>
                <a:spcPts val="150"/>
              </a:spcBef>
              <a:buClr>
                <a:srgbClr val="000000"/>
              </a:buClr>
              <a:buFont typeface="Arial"/>
              <a:buAutoNum type="arabicPeriod"/>
              <a:tabLst>
                <a:tab pos="0" algn="l"/>
              </a:tabLst>
            </a:pPr>
            <a:r>
              <a:rPr lang="en-US" sz="1800" b="1" u="none" strike="noStrike">
                <a:solidFill>
                  <a:schemeClr val="dk1"/>
                </a:solidFill>
                <a:effectLst/>
                <a:uFillTx/>
                <a:latin typeface="Arial"/>
                <a:ea typeface="Microsoft YaHei"/>
              </a:rPr>
              <a:t>Intermediate Nodes:</a:t>
            </a:r>
            <a:r>
              <a:rPr lang="en-US" sz="1800" b="0" u="none" strike="noStrike">
                <a:solidFill>
                  <a:schemeClr val="dk1"/>
                </a:solidFill>
                <a:effectLst/>
                <a:uFillTx/>
                <a:latin typeface="Arial"/>
                <a:ea typeface="Microsoft YaHei"/>
              </a:rPr>
              <a:t> Intermediate routers or extended switches that only provide underlay transport service and does not provide any SDA fabric services.</a:t>
            </a:r>
            <a:endParaRPr lang="en-US" sz="18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p:txBody>
      </p:sp>
      <p:sp>
        <p:nvSpPr>
          <p:cNvPr id="67" name=""/>
          <p:cNvSpPr/>
          <p:nvPr/>
        </p:nvSpPr>
        <p:spPr>
          <a:xfrm>
            <a:off x="72000" y="1188000"/>
            <a:ext cx="3706560" cy="42105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endParaRPr lang="en-AU" sz="1600" b="0" u="none" strike="noStrike">
              <a:solidFill>
                <a:srgbClr val="000000"/>
              </a:solidFill>
              <a:effectLst/>
              <a:uFillTx/>
              <a:latin typeface="Arial"/>
            </a:endParaRPr>
          </a:p>
          <a:p>
            <a:pPr>
              <a:lnSpc>
                <a:spcPct val="100000"/>
              </a:lnSpc>
              <a:spcBef>
                <a:spcPts val="283"/>
              </a:spcBef>
              <a:spcAft>
                <a:spcPts val="283"/>
              </a:spcAft>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p:txBody>
      </p:sp>
      <p:pic>
        <p:nvPicPr>
          <p:cNvPr id="68" name=""/>
          <p:cNvPicPr/>
          <p:nvPr/>
        </p:nvPicPr>
        <p:blipFill>
          <a:blip r:embed="rId1"/>
          <a:stretch/>
        </p:blipFill>
        <p:spPr>
          <a:xfrm>
            <a:off x="180000" y="1188000"/>
            <a:ext cx="3524400" cy="278856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9" name="Rectangle 7">
            <a:extLst>
              <a:ext uri="{C183D7F6-B498-43B3-948B-1728B52AA6E4}">
                <adec:decorative xmlns:adec="http://schemas.microsoft.com/office/drawing/2017/decorative" val="1"/>
              </a:ext>
            </a:extLst>
          </p:cNvPr>
          <p:cNvSpPr/>
          <p:nvPr/>
        </p:nvSpPr>
        <p:spPr>
          <a:xfrm>
            <a:off x="360" y="360"/>
            <a:ext cx="3958200" cy="1078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1.SD-Access</a:t>
            </a:r>
            <a:endParaRPr lang="en-AU" sz="4400" b="0" u="none" strike="noStrike">
              <a:solidFill>
                <a:srgbClr val="FFFFFF"/>
              </a:solidFill>
              <a:effectLst/>
              <a:uFillTx/>
              <a:latin typeface="Arial"/>
            </a:endParaRPr>
          </a:p>
        </p:txBody>
      </p:sp>
      <p:sp>
        <p:nvSpPr>
          <p:cNvPr id="70" name="PlaceHolder 1"/>
          <p:cNvSpPr>
            <a:spLocks noGrp="1"/>
          </p:cNvSpPr>
          <p:nvPr>
            <p:ph/>
          </p:nvPr>
        </p:nvSpPr>
        <p:spPr>
          <a:xfrm>
            <a:off x="4068000" y="72000"/>
            <a:ext cx="5828400" cy="5398560"/>
          </a:xfrm>
          <a:prstGeom prst="rect">
            <a:avLst/>
          </a:prstGeom>
          <a:noFill/>
          <a:ln w="0">
            <a:noFill/>
          </a:ln>
        </p:spPr>
        <p:txBody>
          <a:bodyPr lIns="91440" tIns="45720" rIns="91440" bIns="45720" anchor="t">
            <a:normAutofit/>
          </a:bodyPr>
          <a:p>
            <a:pPr indent="-324000" algn="l" defTabSz="914400">
              <a:lnSpc>
                <a:spcPct val="100000"/>
              </a:lnSpc>
              <a:spcBef>
                <a:spcPts val="150"/>
              </a:spcBef>
              <a:buClr>
                <a:srgbClr val="000000"/>
              </a:buClr>
              <a:buFont typeface="Arial"/>
              <a:buAutoNum type="arabicPeriod"/>
              <a:tabLst>
                <a:tab pos="0" algn="l"/>
              </a:tabLst>
            </a:pPr>
            <a:r>
              <a:rPr lang="en-US" sz="1800" b="1" u="none" strike="noStrike">
                <a:solidFill>
                  <a:schemeClr val="dk1"/>
                </a:solidFill>
                <a:effectLst/>
                <a:uFillTx/>
                <a:latin typeface="Arial"/>
                <a:ea typeface="Microsoft YaHei"/>
              </a:rPr>
              <a:t>Control Plane Node</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800" b="0" u="none" strike="noStrike">
                <a:solidFill>
                  <a:schemeClr val="dk1"/>
                </a:solidFill>
                <a:effectLst/>
                <a:uFillTx/>
                <a:latin typeface="Arial"/>
                <a:ea typeface="Microsoft YaHei"/>
              </a:rPr>
              <a:t>LISP Map Server (MS) with enhanced services such as fabric wireless and SGT mapping.</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800" b="0" u="none" strike="noStrike">
                <a:solidFill>
                  <a:schemeClr val="dk1"/>
                </a:solidFill>
                <a:effectLst/>
                <a:uFillTx/>
                <a:latin typeface="Arial"/>
                <a:ea typeface="Microsoft YaHei"/>
              </a:rPr>
              <a:t>It maps EID locations to fabric edge node or fabric border node.</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800" b="0" u="none" strike="noStrike">
                <a:solidFill>
                  <a:schemeClr val="dk1"/>
                </a:solidFill>
                <a:effectLst/>
                <a:uFillTx/>
                <a:latin typeface="Arial"/>
                <a:ea typeface="Microsoft YaHei"/>
              </a:rPr>
              <a:t>It receives registration from edge node and fabric mode WLCs.</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800" b="0" u="none" strike="noStrike">
                <a:solidFill>
                  <a:schemeClr val="dk1"/>
                </a:solidFill>
                <a:effectLst/>
                <a:uFillTx/>
                <a:latin typeface="Arial"/>
                <a:ea typeface="Microsoft YaHei"/>
              </a:rPr>
              <a:t> And resolves map requests received from edge and border node to EIDs location.</a:t>
            </a:r>
            <a:endParaRPr lang="en-US" sz="1800" b="0" u="none" strike="noStrike">
              <a:solidFill>
                <a:schemeClr val="dk1"/>
              </a:solidFill>
              <a:effectLst/>
              <a:uFillTx/>
              <a:latin typeface="Aptos"/>
            </a:endParaRPr>
          </a:p>
          <a:p>
            <a:pPr marL="162000" indent="-324000" algn="l" defTabSz="914400">
              <a:lnSpc>
                <a:spcPct val="100000"/>
              </a:lnSpc>
              <a:spcBef>
                <a:spcPts val="150"/>
              </a:spcBef>
              <a:buClr>
                <a:srgbClr val="000000"/>
              </a:buClr>
              <a:buFont typeface="Arial"/>
              <a:buAutoNum type="arabicPeriod" startAt="2"/>
              <a:tabLst>
                <a:tab pos="0" algn="l"/>
              </a:tabLst>
            </a:pPr>
            <a:r>
              <a:rPr lang="en-US" sz="1800" b="1" u="none" strike="noStrike">
                <a:solidFill>
                  <a:schemeClr val="dk1"/>
                </a:solidFill>
                <a:effectLst/>
                <a:uFillTx/>
                <a:latin typeface="Arial"/>
                <a:ea typeface="Microsoft YaHei"/>
              </a:rPr>
              <a:t>Fabric Border Node</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800" b="0" u="none" strike="noStrike">
                <a:solidFill>
                  <a:schemeClr val="dk1"/>
                </a:solidFill>
                <a:effectLst/>
                <a:uFillTx/>
                <a:latin typeface="Arial"/>
                <a:ea typeface="Microsoft YaHei"/>
              </a:rPr>
              <a:t>LISP Proxy Tunnel Routers (PxTRs) that connect external layer 3 network to SDA fabric.</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800" b="0" u="none" strike="noStrike">
                <a:solidFill>
                  <a:schemeClr val="dk1"/>
                </a:solidFill>
                <a:effectLst/>
                <a:uFillTx/>
                <a:latin typeface="Arial"/>
                <a:ea typeface="Microsoft YaHei"/>
              </a:rPr>
              <a:t>They translate reachability and policy information from one domain to another such as VRF and SGT. </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800" b="0" u="none" strike="noStrike">
                <a:solidFill>
                  <a:schemeClr val="dk1"/>
                </a:solidFill>
                <a:effectLst/>
                <a:uFillTx/>
                <a:latin typeface="Arial"/>
                <a:ea typeface="Microsoft YaHei"/>
              </a:rPr>
              <a:t>There are 3 types of Border Nodes:</a:t>
            </a:r>
            <a:endParaRPr lang="en-US" sz="18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800" b="1" u="none" strike="noStrike">
                <a:solidFill>
                  <a:schemeClr val="dk1"/>
                </a:solidFill>
                <a:effectLst/>
                <a:uFillTx/>
                <a:latin typeface="Arial"/>
                <a:ea typeface="Microsoft YaHei"/>
              </a:rPr>
              <a:t>Internal Border (rest of company):</a:t>
            </a:r>
            <a:r>
              <a:rPr lang="en-US" sz="1800" b="0" u="none" strike="noStrike">
                <a:solidFill>
                  <a:schemeClr val="dk1"/>
                </a:solidFill>
                <a:effectLst/>
                <a:uFillTx/>
                <a:latin typeface="Arial"/>
                <a:ea typeface="Microsoft YaHei"/>
              </a:rPr>
              <a:t> Connects only to known areas of the organization, such as Firewall, WLC and data center.</a:t>
            </a:r>
            <a:endParaRPr lang="en-US" sz="18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p:txBody>
      </p:sp>
      <p:sp>
        <p:nvSpPr>
          <p:cNvPr id="71" name=""/>
          <p:cNvSpPr/>
          <p:nvPr/>
        </p:nvSpPr>
        <p:spPr>
          <a:xfrm>
            <a:off x="72000" y="1188000"/>
            <a:ext cx="3706560" cy="42105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AU" sz="1600" b="1" u="none" strike="noStrike">
                <a:solidFill>
                  <a:srgbClr val="000000"/>
                </a:solidFill>
                <a:effectLst/>
                <a:uFillTx/>
                <a:latin typeface="Arial"/>
              </a:rPr>
              <a:t>Default Border (Outside):</a:t>
            </a:r>
            <a:r>
              <a:rPr lang="en-AU" sz="1600" b="0" u="none" strike="noStrike">
                <a:solidFill>
                  <a:srgbClr val="000000"/>
                </a:solidFill>
                <a:effectLst/>
                <a:uFillTx/>
                <a:latin typeface="Arial"/>
              </a:rPr>
              <a:t> Connects only to unknown areas outside the organisation.</a:t>
            </a:r>
            <a:endParaRPr lang="en-AU" sz="1600" b="0" u="none" strike="noStrike">
              <a:solidFill>
                <a:srgbClr val="000000"/>
              </a:solidFill>
              <a:effectLst/>
              <a:uFillTx/>
              <a:latin typeface="Arial"/>
            </a:endParaRPr>
          </a:p>
          <a:p>
            <a:pPr>
              <a:lnSpc>
                <a:spcPct val="100000"/>
              </a:lnSpc>
              <a:spcBef>
                <a:spcPts val="283"/>
              </a:spcBef>
              <a:spcAft>
                <a:spcPts val="283"/>
              </a:spcAft>
            </a:pPr>
            <a:r>
              <a:rPr lang="en-AU" sz="1600" b="0" u="none" strike="noStrike">
                <a:solidFill>
                  <a:srgbClr val="000000"/>
                </a:solidFill>
                <a:effectLst/>
                <a:uFillTx/>
                <a:latin typeface="Arial"/>
              </a:rPr>
              <a:t>It is configured with default route to reach external network such as internet and public cloud that are not known to Control Plane Node </a:t>
            </a:r>
            <a:endParaRPr lang="en-AU" sz="1600" b="0" u="none" strike="noStrike">
              <a:solidFill>
                <a:srgbClr val="000000"/>
              </a:solidFill>
              <a:effectLst/>
              <a:uFillTx/>
              <a:latin typeface="Arial"/>
            </a:endParaRPr>
          </a:p>
          <a:p>
            <a:pPr>
              <a:lnSpc>
                <a:spcPct val="100000"/>
              </a:lnSpc>
              <a:spcBef>
                <a:spcPts val="283"/>
              </a:spcBef>
              <a:spcAft>
                <a:spcPts val="283"/>
              </a:spcAft>
            </a:pPr>
            <a:r>
              <a:rPr lang="en-AU" sz="1600" b="1" u="none" strike="noStrike">
                <a:solidFill>
                  <a:srgbClr val="000000"/>
                </a:solidFill>
                <a:effectLst/>
                <a:uFillTx/>
                <a:latin typeface="Arial"/>
              </a:rPr>
              <a:t>Internal + Default Border (Anywhere): </a:t>
            </a:r>
            <a:r>
              <a:rPr lang="en-AU" sz="1600" b="0" u="none" strike="noStrike">
                <a:solidFill>
                  <a:srgbClr val="000000"/>
                </a:solidFill>
                <a:effectLst/>
                <a:uFillTx/>
                <a:latin typeface="Arial"/>
              </a:rPr>
              <a:t>Border node that combines internal and default border as one.</a:t>
            </a:r>
            <a:endParaRPr lang="en-AU" sz="16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2" name="Rectangle 8">
            <a:extLst>
              <a:ext uri="{C183D7F6-B498-43B3-948B-1728B52AA6E4}">
                <adec:decorative xmlns:adec="http://schemas.microsoft.com/office/drawing/2017/decorative" val="1"/>
              </a:ext>
            </a:extLst>
          </p:cNvPr>
          <p:cNvSpPr/>
          <p:nvPr/>
        </p:nvSpPr>
        <p:spPr>
          <a:xfrm>
            <a:off x="360" y="360"/>
            <a:ext cx="3958200" cy="1078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1.SD-Access</a:t>
            </a:r>
            <a:endParaRPr lang="en-AU" sz="4400" b="0" u="none" strike="noStrike">
              <a:solidFill>
                <a:srgbClr val="FFFFFF"/>
              </a:solidFill>
              <a:effectLst/>
              <a:uFillTx/>
              <a:latin typeface="Arial"/>
            </a:endParaRPr>
          </a:p>
        </p:txBody>
      </p:sp>
      <p:sp>
        <p:nvSpPr>
          <p:cNvPr id="73" name="PlaceHolder 1"/>
          <p:cNvSpPr>
            <a:spLocks noGrp="1"/>
          </p:cNvSpPr>
          <p:nvPr>
            <p:ph/>
          </p:nvPr>
        </p:nvSpPr>
        <p:spPr>
          <a:xfrm>
            <a:off x="4068000" y="72000"/>
            <a:ext cx="5828400" cy="5398560"/>
          </a:xfrm>
          <a:prstGeom prst="rect">
            <a:avLst/>
          </a:prstGeom>
          <a:noFill/>
          <a:ln w="0">
            <a:noFill/>
          </a:ln>
        </p:spPr>
        <p:txBody>
          <a:bodyPr lIns="91440" tIns="45720" rIns="91440" bIns="45720" anchor="t">
            <a:normAutofit fontScale="92500" lnSpcReduction="9999"/>
          </a:bodyPr>
          <a:p>
            <a:pPr indent="-324000" algn="l" defTabSz="914400">
              <a:lnSpc>
                <a:spcPct val="100000"/>
              </a:lnSpc>
              <a:spcBef>
                <a:spcPts val="150"/>
              </a:spcBef>
              <a:buClr>
                <a:srgbClr val="000000"/>
              </a:buClr>
              <a:buFont typeface="Arial"/>
              <a:buAutoNum type="arabicPeriod" startAt="3"/>
              <a:tabLst>
                <a:tab pos="0" algn="l"/>
              </a:tabLst>
            </a:pPr>
            <a:r>
              <a:rPr lang="en-US" sz="1700" b="1" u="none" strike="noStrike">
                <a:solidFill>
                  <a:schemeClr val="dk1"/>
                </a:solidFill>
                <a:effectLst/>
                <a:uFillTx/>
                <a:latin typeface="Arial"/>
                <a:ea typeface="Microsoft YaHei"/>
              </a:rPr>
              <a:t>Edge Node</a:t>
            </a:r>
            <a:endParaRPr lang="en-US" sz="17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700" b="0" u="none" strike="noStrike">
                <a:solidFill>
                  <a:schemeClr val="dk1"/>
                </a:solidFill>
                <a:effectLst/>
                <a:uFillTx/>
                <a:latin typeface="Arial"/>
                <a:ea typeface="Microsoft YaHei"/>
              </a:rPr>
              <a:t>LISP Tunnel router (xTR) that provides onboarding and mobility to endpoints and network devices (fabric enabled APs and WLCs) to SDA fabric.</a:t>
            </a:r>
            <a:endParaRPr lang="en-US" sz="17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700" b="0" u="none" strike="noStrike">
                <a:solidFill>
                  <a:schemeClr val="dk1"/>
                </a:solidFill>
                <a:effectLst/>
                <a:uFillTx/>
                <a:latin typeface="Arial"/>
                <a:ea typeface="Microsoft YaHei"/>
              </a:rPr>
              <a:t>It provides anycast gateway, authentication, TrustSec tagging and policy enforcement and assignment to overlay host pools (static or DHCP).</a:t>
            </a:r>
            <a:endParaRPr lang="en-US" sz="17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700" b="0" u="none" strike="noStrike">
                <a:solidFill>
                  <a:schemeClr val="dk1"/>
                </a:solidFill>
                <a:effectLst/>
                <a:uFillTx/>
                <a:latin typeface="Arial"/>
                <a:ea typeface="Microsoft YaHei"/>
              </a:rPr>
              <a:t>Edge node first performs above task and then registers the EIDs to Control Plane Node.</a:t>
            </a:r>
            <a:endParaRPr lang="en-US" sz="17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700" b="0" u="none" strike="noStrike">
                <a:solidFill>
                  <a:schemeClr val="dk1"/>
                </a:solidFill>
                <a:effectLst/>
                <a:uFillTx/>
                <a:latin typeface="Arial"/>
                <a:ea typeface="Microsoft YaHei"/>
              </a:rPr>
              <a:t>It performs encapsulation and de-encapsulation.</a:t>
            </a:r>
            <a:endParaRPr lang="en-US" sz="1700" b="0" u="none" strike="noStrike">
              <a:solidFill>
                <a:schemeClr val="dk1"/>
              </a:solidFill>
              <a:effectLst/>
              <a:uFillTx/>
              <a:latin typeface="Aptos"/>
            </a:endParaRPr>
          </a:p>
          <a:p>
            <a:pPr marL="162000" indent="-324000" algn="l" defTabSz="914400">
              <a:lnSpc>
                <a:spcPct val="100000"/>
              </a:lnSpc>
              <a:spcBef>
                <a:spcPts val="434"/>
              </a:spcBef>
              <a:spcAft>
                <a:spcPts val="283"/>
              </a:spcAft>
              <a:buClr>
                <a:srgbClr val="000000"/>
              </a:buClr>
              <a:buFont typeface="Arial"/>
              <a:buAutoNum type="arabicPeriod" startAt="4"/>
              <a:tabLst>
                <a:tab pos="0" algn="l"/>
              </a:tabLst>
            </a:pPr>
            <a:r>
              <a:rPr lang="en-US" sz="1700" b="1" u="none" strike="noStrike">
                <a:solidFill>
                  <a:schemeClr val="dk1"/>
                </a:solidFill>
                <a:effectLst/>
                <a:uFillTx/>
                <a:latin typeface="Arial"/>
                <a:ea typeface="Microsoft YaHei"/>
              </a:rPr>
              <a:t>Fabric Wireless Controller (WLC)</a:t>
            </a:r>
            <a:endParaRPr lang="en-US" sz="17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700" b="0" u="none" strike="noStrike">
                <a:solidFill>
                  <a:schemeClr val="dk1"/>
                </a:solidFill>
                <a:effectLst/>
                <a:uFillTx/>
                <a:latin typeface="Arial"/>
                <a:ea typeface="Microsoft YaHei"/>
              </a:rPr>
              <a:t>Connects APs and wireless endpoints to the fabric.</a:t>
            </a:r>
            <a:endParaRPr lang="en-US" sz="17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700" b="0" u="none" strike="noStrike">
                <a:solidFill>
                  <a:schemeClr val="dk1"/>
                </a:solidFill>
                <a:effectLst/>
                <a:uFillTx/>
                <a:latin typeface="Arial"/>
                <a:ea typeface="Microsoft YaHei"/>
              </a:rPr>
              <a:t>Fabric WLC is external to fabric and is connected to the fabric through internal border node.</a:t>
            </a:r>
            <a:endParaRPr lang="en-US" sz="17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700" b="0" u="none" strike="noStrike">
                <a:solidFill>
                  <a:schemeClr val="dk1"/>
                </a:solidFill>
                <a:effectLst/>
                <a:uFillTx/>
                <a:latin typeface="Arial"/>
                <a:ea typeface="Microsoft YaHei"/>
              </a:rPr>
              <a:t>It performs PxTR task and can be thought of as edge node for wireless clients.</a:t>
            </a:r>
            <a:endParaRPr lang="en-US" sz="17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700" b="0" u="none" strike="noStrike">
                <a:solidFill>
                  <a:schemeClr val="dk1"/>
                </a:solidFill>
                <a:effectLst/>
                <a:uFillTx/>
                <a:latin typeface="Arial"/>
                <a:ea typeface="Microsoft YaHei"/>
              </a:rPr>
              <a:t>Control plane node maps wireless endpoint EIDs to current fabric AP and edge node where AP is connected.</a:t>
            </a:r>
            <a:endParaRPr lang="en-US" sz="1700" b="0" u="none" strike="noStrike">
              <a:solidFill>
                <a:schemeClr val="dk1"/>
              </a:solidFill>
              <a:effectLst/>
              <a:uFillTx/>
              <a:latin typeface="Aptos"/>
            </a:endParaRPr>
          </a:p>
          <a:p>
            <a:pPr marL="162000" indent="0" algn="l" defTabSz="914400">
              <a:lnSpc>
                <a:spcPct val="100000"/>
              </a:lnSpc>
              <a:spcBef>
                <a:spcPts val="434"/>
              </a:spcBef>
              <a:spcAft>
                <a:spcPts val="283"/>
              </a:spcAft>
              <a:buNone/>
              <a:tabLst>
                <a:tab pos="0" algn="l"/>
              </a:tabLst>
            </a:pPr>
            <a:r>
              <a:rPr lang="en-US" sz="1700" b="0" u="none" strike="noStrike">
                <a:solidFill>
                  <a:schemeClr val="dk1"/>
                </a:solidFill>
                <a:effectLst/>
                <a:uFillTx/>
                <a:latin typeface="Arial"/>
                <a:ea typeface="Microsoft YaHei"/>
              </a:rPr>
              <a:t>Example EID-to-RLOC (10.10.1.100, (AP-1,SW1))</a:t>
            </a:r>
            <a:endParaRPr lang="en-US" sz="17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r>
              <a:rPr lang="en-US" sz="1800" b="0" u="none" strike="noStrike">
                <a:solidFill>
                  <a:schemeClr val="dk1"/>
                </a:solidFill>
                <a:effectLst/>
                <a:uFillTx/>
                <a:latin typeface="Arial"/>
                <a:ea typeface="Microsoft YaHei"/>
              </a:rPr>
              <a:t> </a:t>
            </a:r>
            <a:endParaRPr lang="en-US" sz="18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p:txBody>
      </p:sp>
      <p:sp>
        <p:nvSpPr>
          <p:cNvPr id="74" name=""/>
          <p:cNvSpPr/>
          <p:nvPr/>
        </p:nvSpPr>
        <p:spPr>
          <a:xfrm>
            <a:off x="72000" y="1188000"/>
            <a:ext cx="3706560" cy="421056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pic>
        <p:nvPicPr>
          <p:cNvPr id="75" name=""/>
          <p:cNvPicPr/>
          <p:nvPr/>
        </p:nvPicPr>
        <p:blipFill>
          <a:blip r:embed="rId1"/>
          <a:stretch/>
        </p:blipFill>
        <p:spPr>
          <a:xfrm>
            <a:off x="72000" y="1152000"/>
            <a:ext cx="3526920" cy="1870920"/>
          </a:xfrm>
          <a:prstGeom prst="rect">
            <a:avLst/>
          </a:prstGeom>
          <a:noFill/>
          <a:ln w="0">
            <a:noFill/>
          </a:ln>
        </p:spPr>
      </p:pic>
      <p:sp>
        <p:nvSpPr>
          <p:cNvPr id="76" name=""/>
          <p:cNvSpPr/>
          <p:nvPr/>
        </p:nvSpPr>
        <p:spPr>
          <a:xfrm>
            <a:off x="72000" y="3081960"/>
            <a:ext cx="3994920" cy="2841120"/>
          </a:xfrm>
          <a:prstGeom prst="rect">
            <a:avLst/>
          </a:prstGeom>
          <a:noFill/>
          <a:ln w="0">
            <a:noFill/>
          </a:ln>
        </p:spPr>
        <p:style>
          <a:lnRef idx="0"/>
          <a:fillRef idx="0"/>
          <a:effectRef idx="0"/>
          <a:fontRef idx="minor"/>
        </p:style>
        <p:txBody>
          <a:bodyPr lIns="90000" tIns="45000" rIns="90000" bIns="45000" anchor="t">
            <a:spAutoFit/>
          </a:bodyPr>
          <a:p>
            <a:pPr marL="216000" indent="-216000">
              <a:lnSpc>
                <a:spcPct val="100000"/>
              </a:lnSpc>
              <a:buClr>
                <a:srgbClr val="000000"/>
              </a:buClr>
              <a:buSzPct val="45000"/>
              <a:buFont typeface="Wingdings" charset="2"/>
              <a:buChar char=""/>
            </a:pPr>
            <a:r>
              <a:rPr lang="en-AU" sz="1500" b="0" u="none" strike="noStrike">
                <a:solidFill>
                  <a:srgbClr val="000000"/>
                </a:solidFill>
                <a:effectLst/>
                <a:uFillTx/>
                <a:latin typeface="Arial"/>
              </a:rPr>
              <a:t>Traditional wireless has a CAPWAP tunnel for both control plane and data plane traffic between AP and centralised WLC</a:t>
            </a:r>
            <a:endParaRPr lang="en-AU" sz="15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500" b="0" u="none" strike="noStrike">
                <a:solidFill>
                  <a:srgbClr val="000000"/>
                </a:solidFill>
                <a:effectLst/>
                <a:uFillTx/>
                <a:latin typeface="Arial"/>
              </a:rPr>
              <a:t>SD-Access wireless has CAPWAP tunnel between fabric AP and WLC for control plane and data traffic is transmitted in a VXLAN tunnel.</a:t>
            </a:r>
            <a:endParaRPr lang="en-AU" sz="15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500" b="0" u="none" strike="noStrike">
                <a:solidFill>
                  <a:srgbClr val="000000"/>
                </a:solidFill>
                <a:effectLst/>
                <a:uFillTx/>
                <a:latin typeface="Arial"/>
              </a:rPr>
              <a:t>SDA CAPWAP tunnel for control plane is encapsulated in VXLAN tunnel in the fabric and is a normal traditional CAPWAP tunnel in the legs outside of the fabric.</a:t>
            </a:r>
            <a:endParaRPr lang="en-AU"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7" name="Rectangle 9">
            <a:extLst>
              <a:ext uri="{C183D7F6-B498-43B3-948B-1728B52AA6E4}">
                <adec:decorative xmlns:adec="http://schemas.microsoft.com/office/drawing/2017/decorative" val="1"/>
              </a:ext>
            </a:extLst>
          </p:cNvPr>
          <p:cNvSpPr/>
          <p:nvPr/>
        </p:nvSpPr>
        <p:spPr>
          <a:xfrm>
            <a:off x="360" y="360"/>
            <a:ext cx="3958200" cy="1078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1.SD-Access</a:t>
            </a:r>
            <a:endParaRPr lang="en-AU" sz="4400" b="0" u="none" strike="noStrike">
              <a:solidFill>
                <a:srgbClr val="FFFFFF"/>
              </a:solidFill>
              <a:effectLst/>
              <a:uFillTx/>
              <a:latin typeface="Arial"/>
            </a:endParaRPr>
          </a:p>
        </p:txBody>
      </p:sp>
      <p:sp>
        <p:nvSpPr>
          <p:cNvPr id="78" name="PlaceHolder 1"/>
          <p:cNvSpPr>
            <a:spLocks noGrp="1"/>
          </p:cNvSpPr>
          <p:nvPr>
            <p:ph/>
          </p:nvPr>
        </p:nvSpPr>
        <p:spPr>
          <a:xfrm>
            <a:off x="3996000" y="72000"/>
            <a:ext cx="6082920" cy="5506920"/>
          </a:xfrm>
          <a:prstGeom prst="rect">
            <a:avLst/>
          </a:prstGeom>
          <a:noFill/>
          <a:ln w="0">
            <a:noFill/>
          </a:ln>
        </p:spPr>
        <p:txBody>
          <a:bodyPr lIns="91440" tIns="45720" rIns="91440" bIns="45720" anchor="t">
            <a:normAutofit lnSpcReduction="9999"/>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SD-Access terminologies and Concepts</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Virtual Network (VN): </a:t>
            </a:r>
            <a:r>
              <a:rPr lang="en-US" sz="1600" b="0" u="none" strike="noStrike">
                <a:solidFill>
                  <a:schemeClr val="dk1"/>
                </a:solidFill>
                <a:effectLst/>
                <a:uFillTx/>
                <a:latin typeface="Arial"/>
                <a:ea typeface="Microsoft YaHei"/>
              </a:rPr>
              <a:t>VN in SDA fabric is VRF instance that is mapped to VXLAN Network Identifier  (VNID) in VXLAN header in the SDA data plane.</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In control plane it is mapped to a LISP instance.</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Host Pool: </a:t>
            </a:r>
            <a:r>
              <a:rPr lang="en-US" sz="1600" b="0" u="none" strike="noStrike">
                <a:solidFill>
                  <a:schemeClr val="dk1"/>
                </a:solidFill>
                <a:effectLst/>
                <a:uFillTx/>
                <a:latin typeface="Arial"/>
                <a:ea typeface="Microsoft YaHei"/>
              </a:rPr>
              <a:t>Pool of IP addresses (subnet)</a:t>
            </a:r>
            <a:r>
              <a:rPr lang="en-US" sz="1600" b="1" u="none" strike="noStrike">
                <a:solidFill>
                  <a:schemeClr val="dk1"/>
                </a:solidFill>
                <a:effectLst/>
                <a:uFillTx/>
                <a:latin typeface="Arial"/>
                <a:ea typeface="Microsoft YaHei"/>
              </a:rPr>
              <a:t> </a:t>
            </a:r>
            <a:r>
              <a:rPr lang="en-US" sz="1600" b="0" u="none" strike="noStrike">
                <a:solidFill>
                  <a:schemeClr val="dk1"/>
                </a:solidFill>
                <a:effectLst/>
                <a:uFillTx/>
                <a:latin typeface="Arial"/>
                <a:ea typeface="Microsoft YaHei"/>
              </a:rPr>
              <a:t>from which SDA endpoints are assigned EIDs. </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Edge nodes have SVI for each host pool to be used by endpoints and users as default gateway. EIDs can be assigned dynamically during 802.1x authentication or statically using per port configuration.</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Scalable Group</a:t>
            </a:r>
            <a:r>
              <a:rPr lang="en-US" sz="1600" b="0" u="none" strike="noStrike">
                <a:solidFill>
                  <a:schemeClr val="dk1"/>
                </a:solidFill>
                <a:effectLst/>
                <a:uFillTx/>
                <a:latin typeface="Arial"/>
                <a:ea typeface="Microsoft YaHei"/>
              </a:rPr>
              <a:t> : Group of endpoints with similar policies.</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SDA policy plane assigns host to scalabe group using TrustSec SGTs. Scalable group assignment can be dynamic during authentication using AAA or static using per fabric edge port.</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Same scalable groups are either configured on each edge and border node or are defined in Catalyst Center or ISE and are pushed to edge and border node using Cisco TrustSec.</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Fabric edge and border node include SGT tag ID on VXLAN header, which are propagated through the fabric and policy enforcement is applied using Cisco TrustSec.</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717"/>
              </a:spcBef>
              <a:buNone/>
              <a:tabLst>
                <a:tab pos="0" algn="l"/>
              </a:tabLst>
            </a:pPr>
            <a:endParaRPr lang="en-US" sz="1800" b="0" u="none" strike="noStrike">
              <a:solidFill>
                <a:schemeClr val="dk1"/>
              </a:solidFill>
              <a:effectLst/>
              <a:uFillTx/>
              <a:latin typeface="Aptos"/>
            </a:endParaRPr>
          </a:p>
        </p:txBody>
      </p:sp>
      <p:sp>
        <p:nvSpPr>
          <p:cNvPr id="79" name=""/>
          <p:cNvSpPr/>
          <p:nvPr/>
        </p:nvSpPr>
        <p:spPr>
          <a:xfrm>
            <a:off x="72000" y="1188000"/>
            <a:ext cx="3706560" cy="421056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80" name=""/>
          <p:cNvSpPr/>
          <p:nvPr/>
        </p:nvSpPr>
        <p:spPr>
          <a:xfrm>
            <a:off x="0" y="1117800"/>
            <a:ext cx="3994920" cy="44622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434"/>
              </a:spcBef>
              <a:spcAft>
                <a:spcPts val="283"/>
              </a:spcAft>
              <a:tabLst>
                <a:tab pos="0" algn="l"/>
              </a:tabLst>
            </a:pPr>
            <a:r>
              <a:rPr lang="en-US" sz="1600" b="0" u="none" strike="noStrike">
                <a:solidFill>
                  <a:schemeClr val="dk1"/>
                </a:solidFill>
                <a:effectLst/>
                <a:uFillTx/>
                <a:latin typeface="Arial"/>
                <a:ea typeface="Microsoft YaHei"/>
              </a:rPr>
              <a:t>By default scope of scalable group is per VN and they have direct one-to-one relationship with host pools.</a:t>
            </a:r>
            <a:endParaRPr lang="en-AU" sz="1600" b="0" u="none" strike="noStrike">
              <a:solidFill>
                <a:srgbClr val="000000"/>
              </a:solidFill>
              <a:effectLst/>
              <a:uFillTx/>
              <a:latin typeface="Arial"/>
            </a:endParaRPr>
          </a:p>
          <a:p>
            <a:pPr defTabSz="914400">
              <a:lnSpc>
                <a:spcPct val="100000"/>
              </a:lnSpc>
              <a:spcBef>
                <a:spcPts val="283"/>
              </a:spcBef>
              <a:spcAft>
                <a:spcPts val="283"/>
              </a:spcAft>
              <a:tabLst>
                <a:tab pos="0" algn="l"/>
              </a:tabLst>
            </a:pPr>
            <a:r>
              <a:rPr lang="en-AU" sz="1600" b="1" u="none" strike="noStrike">
                <a:solidFill>
                  <a:srgbClr val="000000"/>
                </a:solidFill>
                <a:effectLst/>
                <a:uFillTx/>
                <a:latin typeface="Arial"/>
                <a:ea typeface="Microsoft YaHei"/>
              </a:rPr>
              <a:t>Anycast Gateway: </a:t>
            </a:r>
            <a:r>
              <a:rPr lang="en-AU" sz="1600" b="0" u="none" strike="noStrike">
                <a:solidFill>
                  <a:srgbClr val="000000"/>
                </a:solidFill>
                <a:effectLst/>
                <a:uFillTx/>
                <a:latin typeface="Arial"/>
                <a:ea typeface="Microsoft YaHei"/>
              </a:rPr>
              <a:t>Each edge node is assigned with same SVI (IP and MAC) and host pool (subnet) across the SDA fabric.</a:t>
            </a:r>
            <a:endParaRPr lang="en-AU" sz="1600" b="0" u="none" strike="noStrike">
              <a:solidFill>
                <a:srgbClr val="000000"/>
              </a:solidFill>
              <a:effectLst/>
              <a:uFillTx/>
              <a:latin typeface="Arial"/>
            </a:endParaRPr>
          </a:p>
          <a:p>
            <a:pPr defTabSz="914400">
              <a:lnSpc>
                <a:spcPct val="100000"/>
              </a:lnSpc>
              <a:spcBef>
                <a:spcPts val="283"/>
              </a:spcBef>
              <a:spcAft>
                <a:spcPts val="283"/>
              </a:spcAft>
              <a:tabLst>
                <a:tab pos="0" algn="l"/>
              </a:tabLst>
            </a:pPr>
            <a:r>
              <a:rPr lang="en-AU" sz="1600" b="0" u="none" strike="noStrike">
                <a:solidFill>
                  <a:srgbClr val="000000"/>
                </a:solidFill>
                <a:effectLst/>
                <a:uFillTx/>
                <a:latin typeface="Arial"/>
                <a:ea typeface="Microsoft YaHei"/>
              </a:rPr>
              <a:t>For example 10.10.10.0/24 subnet will be configured at each edge node and endpoints in this host pool can connect to the fabric from any edge node, thus providing host mobility.</a:t>
            </a:r>
            <a:endParaRPr lang="en-AU" sz="1600" b="0" u="none" strike="noStrike">
              <a:solidFill>
                <a:srgbClr val="000000"/>
              </a:solidFill>
              <a:effectLst/>
              <a:uFillTx/>
              <a:latin typeface="Arial"/>
            </a:endParaRPr>
          </a:p>
          <a:p>
            <a:pPr defTabSz="914400">
              <a:lnSpc>
                <a:spcPct val="100000"/>
              </a:lnSpc>
              <a:spcBef>
                <a:spcPts val="283"/>
              </a:spcBef>
              <a:spcAft>
                <a:spcPts val="283"/>
              </a:spcAft>
              <a:tabLst>
                <a:tab pos="0" algn="l"/>
              </a:tabLst>
            </a:pPr>
            <a:r>
              <a:rPr lang="en-AU" sz="1600" b="0" u="none" strike="noStrike">
                <a:solidFill>
                  <a:srgbClr val="000000"/>
                </a:solidFill>
                <a:effectLst/>
                <a:uFillTx/>
                <a:latin typeface="Arial"/>
                <a:ea typeface="Microsoft YaHei"/>
              </a:rPr>
              <a:t>This stretches the subnet across the fabric which makes IP address assignment simple.</a:t>
            </a:r>
            <a:endParaRPr lang="en-AU" sz="1600" b="0" u="none" strike="noStrike">
              <a:solidFill>
                <a:srgbClr val="000000"/>
              </a:solidFill>
              <a:effectLst/>
              <a:uFillTx/>
              <a:latin typeface="Arial"/>
            </a:endParaRPr>
          </a:p>
          <a:p>
            <a:pPr defTabSz="914400">
              <a:lnSpc>
                <a:spcPct val="100000"/>
              </a:lnSpc>
              <a:spcBef>
                <a:spcPts val="283"/>
              </a:spcBef>
              <a:spcAft>
                <a:spcPts val="283"/>
              </a:spcAft>
              <a:tabLst>
                <a:tab pos="0" algn="l"/>
              </a:tabLst>
            </a:pPr>
            <a:r>
              <a:rPr lang="en-AU" sz="1600" b="0" u="none" strike="noStrike">
                <a:solidFill>
                  <a:srgbClr val="000000"/>
                </a:solidFill>
                <a:effectLst/>
                <a:uFillTx/>
                <a:latin typeface="Arial"/>
                <a:ea typeface="Microsoft YaHei"/>
              </a:rPr>
              <a:t>Therefore, less but larger subnets should be deployed.</a:t>
            </a:r>
            <a:endParaRPr lang="en-AU" sz="1600" b="0" u="none" strike="noStrike">
              <a:solidFill>
                <a:srgbClr val="000000"/>
              </a:solidFill>
              <a:effectLst/>
              <a:uFillTx/>
              <a:latin typeface="Arial"/>
            </a:endParaRPr>
          </a:p>
          <a:p>
            <a:pPr defTabSz="914400">
              <a:lnSpc>
                <a:spcPct val="100000"/>
              </a:lnSpc>
              <a:tabLst>
                <a:tab pos="0" algn="l"/>
              </a:tabLst>
            </a:pPr>
            <a:r>
              <a:rPr lang="en-AU" sz="1500" b="0" u="none" strike="noStrike">
                <a:solidFill>
                  <a:srgbClr val="000000"/>
                </a:solidFill>
                <a:effectLst/>
                <a:uFillTx/>
                <a:latin typeface="Arial"/>
                <a:ea typeface="Microsoft YaHei"/>
              </a:rPr>
              <a:t> </a:t>
            </a:r>
            <a:endParaRPr lang="en-AU"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1" name="Rectangle 10">
            <a:extLst>
              <a:ext uri="{C183D7F6-B498-43B3-948B-1728B52AA6E4}">
                <adec:decorative xmlns:adec="http://schemas.microsoft.com/office/drawing/2017/decorative" val="1"/>
              </a:ext>
            </a:extLst>
          </p:cNvPr>
          <p:cNvSpPr/>
          <p:nvPr/>
        </p:nvSpPr>
        <p:spPr>
          <a:xfrm>
            <a:off x="360" y="360"/>
            <a:ext cx="3958200" cy="8985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1.SD-Access</a:t>
            </a:r>
            <a:endParaRPr lang="en-AU" sz="4400" b="0" u="none" strike="noStrike">
              <a:solidFill>
                <a:srgbClr val="FFFFFF"/>
              </a:solidFill>
              <a:effectLst/>
              <a:uFillTx/>
              <a:latin typeface="Arial"/>
            </a:endParaRPr>
          </a:p>
        </p:txBody>
      </p:sp>
      <p:sp>
        <p:nvSpPr>
          <p:cNvPr id="82" name="PlaceHolder 1"/>
          <p:cNvSpPr>
            <a:spLocks noGrp="1"/>
          </p:cNvSpPr>
          <p:nvPr>
            <p:ph/>
          </p:nvPr>
        </p:nvSpPr>
        <p:spPr>
          <a:xfrm>
            <a:off x="3996000" y="180000"/>
            <a:ext cx="6082920" cy="5398920"/>
          </a:xfrm>
          <a:prstGeom prst="rect">
            <a:avLst/>
          </a:prstGeom>
          <a:noFill/>
          <a:ln w="0">
            <a:noFill/>
          </a:ln>
        </p:spPr>
        <p:txBody>
          <a:bodyPr lIns="91440" tIns="45720" rIns="91440" bIns="45720" anchor="t">
            <a:normAutofit/>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Controller Layer: </a:t>
            </a:r>
            <a:r>
              <a:rPr lang="en-US" sz="1600" b="0" u="none" strike="noStrike">
                <a:solidFill>
                  <a:schemeClr val="dk1"/>
                </a:solidFill>
                <a:effectLst/>
                <a:uFillTx/>
                <a:latin typeface="Arial"/>
                <a:ea typeface="Microsoft YaHei"/>
              </a:rPr>
              <a:t>Provides management subsystem for management layer. Catalyst Center (DNAC) and ISE interoperate to provide controller layer functions. Picture in left shows how they interact with each other and other main components of SDA fabric.</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Three main components in Controller Layer:</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Network Control Platform (NCP):</a:t>
            </a:r>
            <a:r>
              <a:rPr lang="en-US" sz="1600" b="0" u="none" strike="noStrike">
                <a:solidFill>
                  <a:schemeClr val="dk1"/>
                </a:solidFill>
                <a:effectLst/>
                <a:uFillTx/>
                <a:latin typeface="Arial"/>
                <a:ea typeface="Microsoft YaHei"/>
              </a:rPr>
              <a:t> This subsystem integrated into DNAC provides automation and orchestration of physical and network layer.</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It uses NETCONF/YANG, SNMP and SSH/Telnet to manage and configure physical layer devices and provides contextual automation information to management layer, NDP and ISE.</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Network Data Platform (NDP):</a:t>
            </a:r>
            <a:r>
              <a:rPr lang="en-US" sz="1600" b="0" u="none" strike="noStrike">
                <a:solidFill>
                  <a:schemeClr val="dk1"/>
                </a:solidFill>
                <a:effectLst/>
                <a:uFillTx/>
                <a:latin typeface="Arial"/>
                <a:ea typeface="Microsoft YaHei"/>
              </a:rPr>
              <a:t> Integrated directly into DNAC, it is a data collection, analytics and assurance subsystem.</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It analyzes and correlates various network events through multiple sources such as Netflow, Syslog and SPAN.</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It provides contextual analytics information to ISE and DNAC and operational status based on contextual analytics to management layer.</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5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717"/>
              </a:spcBef>
              <a:buNone/>
              <a:tabLst>
                <a:tab pos="0" algn="l"/>
              </a:tabLst>
            </a:pPr>
            <a:endParaRPr lang="en-US" sz="1800" b="0" u="none" strike="noStrike">
              <a:solidFill>
                <a:schemeClr val="dk1"/>
              </a:solidFill>
              <a:effectLst/>
              <a:uFillTx/>
              <a:latin typeface="Aptos"/>
            </a:endParaRPr>
          </a:p>
        </p:txBody>
      </p:sp>
      <p:sp>
        <p:nvSpPr>
          <p:cNvPr id="83" name=""/>
          <p:cNvSpPr/>
          <p:nvPr/>
        </p:nvSpPr>
        <p:spPr>
          <a:xfrm>
            <a:off x="72000" y="1188000"/>
            <a:ext cx="3706560" cy="421056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pic>
        <p:nvPicPr>
          <p:cNvPr id="84" name=""/>
          <p:cNvPicPr/>
          <p:nvPr/>
        </p:nvPicPr>
        <p:blipFill>
          <a:blip r:embed="rId1"/>
          <a:stretch/>
        </p:blipFill>
        <p:spPr>
          <a:xfrm>
            <a:off x="43920" y="955800"/>
            <a:ext cx="3834720" cy="1563120"/>
          </a:xfrm>
          <a:prstGeom prst="rect">
            <a:avLst/>
          </a:prstGeom>
          <a:noFill/>
          <a:ln w="0">
            <a:noFill/>
          </a:ln>
        </p:spPr>
      </p:pic>
      <p:sp>
        <p:nvSpPr>
          <p:cNvPr id="85" name=""/>
          <p:cNvSpPr/>
          <p:nvPr/>
        </p:nvSpPr>
        <p:spPr>
          <a:xfrm>
            <a:off x="36000" y="2520000"/>
            <a:ext cx="3886920" cy="316764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434"/>
              </a:spcBef>
              <a:spcAft>
                <a:spcPts val="283"/>
              </a:spcAft>
              <a:tabLst>
                <a:tab pos="0" algn="l"/>
              </a:tabLst>
            </a:pPr>
            <a:r>
              <a:rPr lang="en-US" sz="1600" b="1" u="none" strike="noStrike">
                <a:solidFill>
                  <a:schemeClr val="dk1"/>
                </a:solidFill>
                <a:effectLst/>
                <a:uFillTx/>
                <a:latin typeface="Arial"/>
                <a:ea typeface="Microsoft YaHei"/>
              </a:rPr>
              <a:t>Cisco Identity Services Engine (ISE):</a:t>
            </a:r>
            <a:r>
              <a:rPr lang="en-US" sz="1600" b="0" u="none" strike="noStrike">
                <a:solidFill>
                  <a:schemeClr val="dk1"/>
                </a:solidFill>
                <a:effectLst/>
                <a:uFillTx/>
                <a:latin typeface="Arial"/>
                <a:ea typeface="Microsoft YaHei"/>
              </a:rPr>
              <a:t> Basically provides identity (NAC) and policy (Scalable group) services to physical and network layer and endpoints.</a:t>
            </a:r>
            <a:endParaRPr lang="en-AU" sz="1600" b="0" u="none" strike="noStrike">
              <a:solidFill>
                <a:srgbClr val="000000"/>
              </a:solidFill>
              <a:effectLst/>
              <a:uFillTx/>
              <a:latin typeface="Arial"/>
            </a:endParaRPr>
          </a:p>
          <a:p>
            <a:pPr defTabSz="914400">
              <a:lnSpc>
                <a:spcPct val="100000"/>
              </a:lnSpc>
              <a:spcBef>
                <a:spcPts val="283"/>
              </a:spcBef>
              <a:spcAft>
                <a:spcPts val="283"/>
              </a:spcAft>
              <a:tabLst>
                <a:tab pos="0" algn="l"/>
              </a:tabLst>
            </a:pPr>
            <a:r>
              <a:rPr lang="en-AU" sz="1600" b="0" u="none" strike="noStrike">
                <a:solidFill>
                  <a:srgbClr val="000000"/>
                </a:solidFill>
                <a:effectLst/>
                <a:uFillTx/>
                <a:latin typeface="Arial"/>
                <a:ea typeface="Microsoft YaHei"/>
              </a:rPr>
              <a:t>ISE collects and uses contextual information from NCP, NDP and other third-party Identity Provider (Idp) to place profiled endpoints to scalable groups and host pools.</a:t>
            </a:r>
            <a:endParaRPr lang="en-AU" sz="1600" b="0" u="none" strike="noStrike">
              <a:solidFill>
                <a:srgbClr val="000000"/>
              </a:solidFill>
              <a:effectLst/>
              <a:uFillTx/>
              <a:latin typeface="Arial"/>
            </a:endParaRPr>
          </a:p>
          <a:p>
            <a:pPr defTabSz="914400">
              <a:lnSpc>
                <a:spcPct val="100000"/>
              </a:lnSpc>
              <a:spcBef>
                <a:spcPts val="283"/>
              </a:spcBef>
              <a:spcAft>
                <a:spcPts val="283"/>
              </a:spcAft>
              <a:tabLst>
                <a:tab pos="0" algn="l"/>
              </a:tabLst>
            </a:pPr>
            <a:r>
              <a:rPr lang="en-AU" sz="1600" b="0" u="none" strike="noStrike">
                <a:solidFill>
                  <a:srgbClr val="000000"/>
                </a:solidFill>
                <a:effectLst/>
                <a:uFillTx/>
                <a:latin typeface="Arial"/>
                <a:ea typeface="Microsoft YaHei"/>
              </a:rPr>
              <a:t>This contextual information is shared to management layer for user management.</a:t>
            </a:r>
            <a:endParaRPr lang="en-AU"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6" name="Rectangle 11">
            <a:extLst>
              <a:ext uri="{C183D7F6-B498-43B3-948B-1728B52AA6E4}">
                <adec:decorative xmlns:adec="http://schemas.microsoft.com/office/drawing/2017/decorative" val="1"/>
              </a:ext>
            </a:extLst>
          </p:cNvPr>
          <p:cNvSpPr/>
          <p:nvPr/>
        </p:nvSpPr>
        <p:spPr>
          <a:xfrm>
            <a:off x="360" y="360"/>
            <a:ext cx="3958200" cy="8985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1.SD-Access</a:t>
            </a:r>
            <a:endParaRPr lang="en-AU" sz="4400" b="0" u="none" strike="noStrike">
              <a:solidFill>
                <a:srgbClr val="FFFFFF"/>
              </a:solidFill>
              <a:effectLst/>
              <a:uFillTx/>
              <a:latin typeface="Arial"/>
            </a:endParaRPr>
          </a:p>
        </p:txBody>
      </p:sp>
      <p:sp>
        <p:nvSpPr>
          <p:cNvPr id="87" name="PlaceHolder 1"/>
          <p:cNvSpPr>
            <a:spLocks noGrp="1"/>
          </p:cNvSpPr>
          <p:nvPr>
            <p:ph/>
          </p:nvPr>
        </p:nvSpPr>
        <p:spPr>
          <a:xfrm>
            <a:off x="3996000" y="180000"/>
            <a:ext cx="6082920" cy="5398920"/>
          </a:xfrm>
          <a:prstGeom prst="rect">
            <a:avLst/>
          </a:prstGeom>
          <a:noFill/>
          <a:ln w="0">
            <a:noFill/>
          </a:ln>
        </p:spPr>
        <p:txBody>
          <a:bodyPr lIns="91440" tIns="45720" rIns="91440" bIns="45720" anchor="t">
            <a:normAutofit/>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Management Layer: </a:t>
            </a:r>
            <a:r>
              <a:rPr lang="en-US" sz="1600" b="0" u="none" strike="noStrike">
                <a:solidFill>
                  <a:schemeClr val="dk1"/>
                </a:solidFill>
                <a:effectLst/>
                <a:uFillTx/>
                <a:latin typeface="Arial"/>
                <a:ea typeface="Microsoft YaHei"/>
              </a:rPr>
              <a:t>User Interface or User Experience UI/UX layer.</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600" b="0" u="none" strike="noStrike">
                <a:solidFill>
                  <a:schemeClr val="dk1"/>
                </a:solidFill>
                <a:effectLst/>
                <a:uFillTx/>
                <a:latin typeface="Arial"/>
                <a:ea typeface="Microsoft YaHei"/>
              </a:rPr>
              <a:t>It presents contextual and other information received from Controller layer to the user/Admin in a centralized dashboard.</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600" b="0" u="none" strike="noStrike">
                <a:solidFill>
                  <a:schemeClr val="dk1"/>
                </a:solidFill>
                <a:effectLst/>
                <a:uFillTx/>
                <a:latin typeface="Arial"/>
                <a:ea typeface="Microsoft YaHei"/>
              </a:rPr>
              <a:t>It abstracts the complexity of other layers such as LISP,VXLAN, ISE, NETCONF and presents a simple GUI to manage and operate network in the form of workflows.</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600" b="0" u="none" strike="noStrike">
                <a:solidFill>
                  <a:schemeClr val="dk1"/>
                </a:solidFill>
                <a:effectLst/>
                <a:uFillTx/>
                <a:latin typeface="Arial"/>
                <a:ea typeface="Microsoft YaHei"/>
              </a:rPr>
              <a:t>Catalyst Centre (DNAC) workflows are as follows:</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Design Workflow: </a:t>
            </a:r>
            <a:r>
              <a:rPr lang="en-US" sz="1600" b="0" u="none" strike="noStrike">
                <a:solidFill>
                  <a:schemeClr val="dk1"/>
                </a:solidFill>
                <a:effectLst/>
                <a:uFillTx/>
                <a:latin typeface="Arial"/>
                <a:ea typeface="Microsoft YaHei"/>
              </a:rPr>
              <a:t>Provides tools to logically define a SDA fabric.</a:t>
            </a:r>
            <a:endParaRPr lang="en-US" sz="1600" b="0" u="none" strike="noStrike">
              <a:solidFill>
                <a:schemeClr val="dk1"/>
              </a:solidFill>
              <a:effectLst/>
              <a:uFillTx/>
              <a:latin typeface="Aptos"/>
            </a:endParaRPr>
          </a:p>
          <a:p>
            <a:pPr marL="360000" indent="-324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Design Hierarchy: Setup geolocation, building and floorplans and associate them to unique Site ID.</a:t>
            </a:r>
            <a:endParaRPr lang="en-US" sz="1600" b="0" u="none" strike="noStrike">
              <a:solidFill>
                <a:schemeClr val="dk1"/>
              </a:solidFill>
              <a:effectLst/>
              <a:uFillTx/>
              <a:latin typeface="Aptos"/>
            </a:endParaRPr>
          </a:p>
          <a:p>
            <a:pPr marL="360000" indent="-324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Network Settings: Setup network services (DHCP, DNS, AAA), device credentials, IP management and wireless.</a:t>
            </a:r>
            <a:endParaRPr lang="en-US" sz="1600" b="0" u="none" strike="noStrike">
              <a:solidFill>
                <a:schemeClr val="dk1"/>
              </a:solidFill>
              <a:effectLst/>
              <a:uFillTx/>
              <a:latin typeface="Aptos"/>
            </a:endParaRPr>
          </a:p>
          <a:p>
            <a:pPr marL="360000" indent="-324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Image Repository: Used to manage software images, maintain software update, download and deploy software images.</a:t>
            </a:r>
            <a:endParaRPr lang="en-US" sz="1600" b="0" u="none" strike="noStrike">
              <a:solidFill>
                <a:schemeClr val="dk1"/>
              </a:solidFill>
              <a:effectLst/>
              <a:uFillTx/>
              <a:latin typeface="Aptos"/>
            </a:endParaRPr>
          </a:p>
          <a:p>
            <a:pPr marL="360000" indent="-324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Network Profiles: Used to define LAN, WAN and WLAN profiles and apply them to sites. </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5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717"/>
              </a:spcBef>
              <a:buNone/>
              <a:tabLst>
                <a:tab pos="0" algn="l"/>
              </a:tabLst>
            </a:pPr>
            <a:endParaRPr lang="en-US" sz="1800" b="0" u="none" strike="noStrike">
              <a:solidFill>
                <a:schemeClr val="dk1"/>
              </a:solidFill>
              <a:effectLst/>
              <a:uFillTx/>
              <a:latin typeface="Aptos"/>
            </a:endParaRPr>
          </a:p>
        </p:txBody>
      </p:sp>
      <p:sp>
        <p:nvSpPr>
          <p:cNvPr id="88" name=""/>
          <p:cNvSpPr/>
          <p:nvPr/>
        </p:nvSpPr>
        <p:spPr>
          <a:xfrm>
            <a:off x="72000" y="1188000"/>
            <a:ext cx="3706560" cy="421056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89" name=""/>
          <p:cNvSpPr/>
          <p:nvPr/>
        </p:nvSpPr>
        <p:spPr>
          <a:xfrm>
            <a:off x="36000" y="1080000"/>
            <a:ext cx="3886920" cy="46882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434"/>
              </a:spcBef>
              <a:spcAft>
                <a:spcPts val="283"/>
              </a:spcAft>
              <a:tabLst>
                <a:tab pos="0" algn="l"/>
              </a:tabLst>
            </a:pPr>
            <a:r>
              <a:rPr lang="en-US" sz="1600" b="1" u="none" strike="noStrike">
                <a:solidFill>
                  <a:schemeClr val="dk1"/>
                </a:solidFill>
                <a:effectLst/>
                <a:uFillTx/>
                <a:latin typeface="Arial"/>
                <a:ea typeface="Microsoft YaHei"/>
              </a:rPr>
              <a:t>Policy Workflow:</a:t>
            </a:r>
            <a:r>
              <a:rPr lang="en-US" sz="1600" b="0" u="none" strike="noStrike">
                <a:solidFill>
                  <a:schemeClr val="dk1"/>
                </a:solidFill>
                <a:effectLst/>
                <a:uFillTx/>
                <a:latin typeface="Arial"/>
                <a:ea typeface="Microsoft YaHei"/>
              </a:rPr>
              <a:t> Logically define Catalyst Center policy.</a:t>
            </a:r>
            <a:endParaRPr lang="en-AU" sz="1600" b="0" u="none" strike="noStrike">
              <a:solidFill>
                <a:srgbClr val="000000"/>
              </a:solidFill>
              <a:effectLst/>
              <a:uFillTx/>
              <a:latin typeface="Arial"/>
            </a:endParaRPr>
          </a:p>
          <a:p>
            <a:pPr marL="216000" indent="-216000"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AI Endpoint Analytics: Endpoint visibility solution that allows to profile endpoints security score that can be used to apply policy.</a:t>
            </a:r>
            <a:endParaRPr lang="en-AU" sz="1600" b="0" u="none" strike="noStrike">
              <a:solidFill>
                <a:srgbClr val="000000"/>
              </a:solidFill>
              <a:effectLst/>
              <a:uFillTx/>
              <a:latin typeface="Arial"/>
            </a:endParaRPr>
          </a:p>
          <a:p>
            <a:pPr marL="216000" indent="-216000"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Group Based Access Control : Used to manage group based access control, same as SGACL. Catalyst Center integrates with ISE to simplify management of GBAC.</a:t>
            </a:r>
            <a:endParaRPr lang="en-AU" sz="1600" b="0" u="none" strike="noStrike">
              <a:solidFill>
                <a:srgbClr val="000000"/>
              </a:solidFill>
              <a:effectLst/>
              <a:uFillTx/>
              <a:latin typeface="Arial"/>
            </a:endParaRPr>
          </a:p>
          <a:p>
            <a:pPr marL="216000" indent="-216000"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Application: Configure QoS policies for applications.</a:t>
            </a:r>
            <a:endParaRPr lang="en-AU" sz="1600" b="0" u="none" strike="noStrike">
              <a:solidFill>
                <a:srgbClr val="000000"/>
              </a:solidFill>
              <a:effectLst/>
              <a:uFillTx/>
              <a:latin typeface="Arial"/>
            </a:endParaRPr>
          </a:p>
          <a:p>
            <a:pPr marL="216000" indent="-216000"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Traffic Copy: Create traffic copy policy using ERSPAN for monitoring and troubleshooting.</a:t>
            </a:r>
            <a:endParaRPr lang="en-AU" sz="1600" b="0" u="none" strike="noStrike">
              <a:solidFill>
                <a:srgbClr val="000000"/>
              </a:solidFill>
              <a:effectLst/>
              <a:uFillTx/>
              <a:latin typeface="Arial"/>
            </a:endParaRPr>
          </a:p>
          <a:p>
            <a:pPr defTabSz="914400">
              <a:lnSpc>
                <a:spcPct val="100000"/>
              </a:lnSpc>
              <a:spcBef>
                <a:spcPts val="434"/>
              </a:spcBef>
              <a:spcAft>
                <a:spcPts val="283"/>
              </a:spcAft>
              <a:tabLst>
                <a:tab pos="0" algn="l"/>
              </a:tabLst>
            </a:pPr>
            <a:endParaRPr lang="en-AU"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90" name="Rectangle 12">
            <a:extLst>
              <a:ext uri="{C183D7F6-B498-43B3-948B-1728B52AA6E4}">
                <adec:decorative xmlns:adec="http://schemas.microsoft.com/office/drawing/2017/decorative" val="1"/>
              </a:ext>
            </a:extLst>
          </p:cNvPr>
          <p:cNvSpPr/>
          <p:nvPr/>
        </p:nvSpPr>
        <p:spPr>
          <a:xfrm>
            <a:off x="360" y="360"/>
            <a:ext cx="3958200" cy="8985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1.SD-Access</a:t>
            </a:r>
            <a:endParaRPr lang="en-AU" sz="4400" b="0" u="none" strike="noStrike">
              <a:solidFill>
                <a:srgbClr val="FFFFFF"/>
              </a:solidFill>
              <a:effectLst/>
              <a:uFillTx/>
              <a:latin typeface="Arial"/>
            </a:endParaRPr>
          </a:p>
        </p:txBody>
      </p:sp>
      <p:sp>
        <p:nvSpPr>
          <p:cNvPr id="91" name="PlaceHolder 1"/>
          <p:cNvSpPr>
            <a:spLocks noGrp="1"/>
          </p:cNvSpPr>
          <p:nvPr>
            <p:ph/>
          </p:nvPr>
        </p:nvSpPr>
        <p:spPr>
          <a:xfrm>
            <a:off x="3996000" y="180000"/>
            <a:ext cx="6082920" cy="5398920"/>
          </a:xfrm>
          <a:prstGeom prst="rect">
            <a:avLst/>
          </a:prstGeom>
          <a:noFill/>
          <a:ln w="0">
            <a:noFill/>
          </a:ln>
        </p:spPr>
        <p:txBody>
          <a:bodyPr lIns="91440" tIns="45720" rIns="91440" bIns="45720" anchor="t">
            <a:normAutofit/>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Provision Workflow: </a:t>
            </a:r>
            <a:r>
              <a:rPr lang="en-US" sz="1600" b="0" u="none" strike="noStrike">
                <a:solidFill>
                  <a:schemeClr val="dk1"/>
                </a:solidFill>
                <a:effectLst/>
                <a:uFillTx/>
                <a:latin typeface="Arial"/>
                <a:ea typeface="Microsoft YaHei"/>
              </a:rPr>
              <a:t>Provides tools to deploy SDA fabric. This workflow is divided into three subsection.</a:t>
            </a:r>
            <a:endParaRPr lang="en-US" sz="1600" b="0" u="none" strike="noStrike">
              <a:solidFill>
                <a:schemeClr val="dk1"/>
              </a:solidFill>
              <a:effectLst/>
              <a:uFillTx/>
              <a:latin typeface="Aptos"/>
            </a:endParaRPr>
          </a:p>
          <a:p>
            <a:pPr marL="360000" indent="-324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Network Devices: Contains Inventory, PnP, LAN Automation and Inventory Insights.This helps to assign devices to sites, confirm or update software version and provision network underlay configuration.</a:t>
            </a:r>
            <a:endParaRPr lang="en-US" sz="1600" b="0" u="none" strike="noStrike">
              <a:solidFill>
                <a:schemeClr val="dk1"/>
              </a:solidFill>
              <a:effectLst/>
              <a:uFillTx/>
              <a:latin typeface="Aptos"/>
            </a:endParaRPr>
          </a:p>
          <a:p>
            <a:pPr marL="360000" indent="-324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 SD Access: Contains Zero Trust Overview, Fabric Sites, Virtual Networks and Transits. This helps to create Zero Trust policy based fabric sites through device role assignment (control plane, border, edge),host onboarding (static or dynamic host pool assignment), virtual network creation and device association, and interconnection of fabric site to each other and with non-fabric sites through transit network. </a:t>
            </a:r>
            <a:endParaRPr lang="en-US" sz="1600" b="0" u="none" strike="noStrike">
              <a:solidFill>
                <a:schemeClr val="dk1"/>
              </a:solidFill>
              <a:effectLst/>
              <a:uFillTx/>
              <a:latin typeface="Aptos"/>
            </a:endParaRPr>
          </a:p>
          <a:p>
            <a:pPr marL="360000" indent="-324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Services: It contains fabric site services such as Application visibility, Security insights and Site to Site VPN.</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5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717"/>
              </a:spcBef>
              <a:buNone/>
              <a:tabLst>
                <a:tab pos="0" algn="l"/>
              </a:tabLst>
            </a:pPr>
            <a:endParaRPr lang="en-US" sz="1800" b="0" u="none" strike="noStrike">
              <a:solidFill>
                <a:schemeClr val="dk1"/>
              </a:solidFill>
              <a:effectLst/>
              <a:uFillTx/>
              <a:latin typeface="Aptos"/>
            </a:endParaRPr>
          </a:p>
        </p:txBody>
      </p:sp>
      <p:sp>
        <p:nvSpPr>
          <p:cNvPr id="92" name=""/>
          <p:cNvSpPr/>
          <p:nvPr/>
        </p:nvSpPr>
        <p:spPr>
          <a:xfrm>
            <a:off x="72000" y="1188000"/>
            <a:ext cx="3706560" cy="421056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93" name=""/>
          <p:cNvSpPr/>
          <p:nvPr/>
        </p:nvSpPr>
        <p:spPr>
          <a:xfrm>
            <a:off x="36000" y="1080000"/>
            <a:ext cx="3886920" cy="46882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434"/>
              </a:spcBef>
              <a:spcAft>
                <a:spcPts val="283"/>
              </a:spcAft>
              <a:tabLst>
                <a:tab pos="0" algn="l"/>
              </a:tabLst>
            </a:pPr>
            <a:r>
              <a:rPr lang="en-US" sz="1600" b="1" u="none" strike="noStrike">
                <a:solidFill>
                  <a:schemeClr val="dk1"/>
                </a:solidFill>
                <a:effectLst/>
                <a:uFillTx/>
                <a:latin typeface="Arial"/>
                <a:ea typeface="Microsoft YaHei"/>
              </a:rPr>
              <a:t>Assurance Workflow:</a:t>
            </a:r>
            <a:r>
              <a:rPr lang="en-US" sz="1600" b="0" u="none" strike="noStrike">
                <a:solidFill>
                  <a:schemeClr val="dk1"/>
                </a:solidFill>
                <a:effectLst/>
                <a:uFillTx/>
                <a:latin typeface="Arial"/>
                <a:ea typeface="Microsoft YaHei"/>
              </a:rPr>
              <a:t> Contains tools to manage the SDA fabric.</a:t>
            </a:r>
            <a:endParaRPr lang="en-AU" sz="1600" b="0" u="none" strike="noStrike">
              <a:solidFill>
                <a:srgbClr val="000000"/>
              </a:solidFill>
              <a:effectLst/>
              <a:uFillTx/>
              <a:latin typeface="Arial"/>
            </a:endParaRPr>
          </a:p>
          <a:p>
            <a:pPr marL="216000" indent="-216000"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Dashboards: Create dashboards to monitor different components of the fabric such as specific network device, client, site or whole fabric.</a:t>
            </a:r>
            <a:endParaRPr lang="en-AU" sz="1600" b="0" u="none" strike="noStrike">
              <a:solidFill>
                <a:srgbClr val="000000"/>
              </a:solidFill>
              <a:effectLst/>
              <a:uFillTx/>
              <a:latin typeface="Arial"/>
            </a:endParaRPr>
          </a:p>
          <a:p>
            <a:pPr marL="216000" indent="-216000"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Client 360: Used to monitor and resolve client specific issues such as onboarding and application issues.</a:t>
            </a:r>
            <a:endParaRPr lang="en-AU" sz="1600" b="0" u="none" strike="noStrike">
              <a:solidFill>
                <a:srgbClr val="000000"/>
              </a:solidFill>
              <a:effectLst/>
              <a:uFillTx/>
              <a:latin typeface="Arial"/>
            </a:endParaRPr>
          </a:p>
          <a:p>
            <a:pPr marL="216000" indent="-216000"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Device 360: Used to monitor and resolve device specific issues such as resource usage, latency and loss.</a:t>
            </a:r>
            <a:endParaRPr lang="en-AU" sz="1600" b="0" u="none" strike="noStrike">
              <a:solidFill>
                <a:srgbClr val="000000"/>
              </a:solidFill>
              <a:effectLst/>
              <a:uFillTx/>
              <a:latin typeface="Arial"/>
            </a:endParaRPr>
          </a:p>
          <a:p>
            <a:pPr marL="216000" indent="-216000"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Issues: Used to track and resolve open issues(reactive) and/or developing trends (proactive) for clients and devices.</a:t>
            </a:r>
            <a:endParaRPr lang="en-AU" sz="1600" b="0" u="none" strike="noStrike">
              <a:solidFill>
                <a:srgbClr val="000000"/>
              </a:solidFill>
              <a:effectLst/>
              <a:uFillTx/>
              <a:latin typeface="Arial"/>
            </a:endParaRPr>
          </a:p>
          <a:p>
            <a:pPr defTabSz="914400">
              <a:lnSpc>
                <a:spcPct val="100000"/>
              </a:lnSpc>
              <a:spcBef>
                <a:spcPts val="434"/>
              </a:spcBef>
              <a:spcAft>
                <a:spcPts val="283"/>
              </a:spcAft>
              <a:tabLst>
                <a:tab pos="0" algn="l"/>
              </a:tabLst>
            </a:pPr>
            <a:endParaRPr lang="en-AU"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94" name="Rectangle 13">
            <a:extLst>
              <a:ext uri="{C183D7F6-B498-43B3-948B-1728B52AA6E4}">
                <adec:decorative xmlns:adec="http://schemas.microsoft.com/office/drawing/2017/decorative" val="1"/>
              </a:ext>
            </a:extLst>
          </p:cNvPr>
          <p:cNvSpPr/>
          <p:nvPr/>
        </p:nvSpPr>
        <p:spPr>
          <a:xfrm>
            <a:off x="360" y="360"/>
            <a:ext cx="3958200" cy="8985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2.SD-WAN</a:t>
            </a:r>
            <a:endParaRPr lang="en-AU" sz="4400" b="0" u="none" strike="noStrike">
              <a:solidFill>
                <a:srgbClr val="FFFFFF"/>
              </a:solidFill>
              <a:effectLst/>
              <a:uFillTx/>
              <a:latin typeface="Arial"/>
            </a:endParaRPr>
          </a:p>
        </p:txBody>
      </p:sp>
      <p:sp>
        <p:nvSpPr>
          <p:cNvPr id="95" name="PlaceHolder 1"/>
          <p:cNvSpPr>
            <a:spLocks noGrp="1"/>
          </p:cNvSpPr>
          <p:nvPr>
            <p:ph/>
          </p:nvPr>
        </p:nvSpPr>
        <p:spPr>
          <a:xfrm>
            <a:off x="3996000" y="180000"/>
            <a:ext cx="6082920" cy="5398920"/>
          </a:xfrm>
          <a:prstGeom prst="rect">
            <a:avLst/>
          </a:prstGeom>
          <a:noFill/>
          <a:ln w="0">
            <a:noFill/>
          </a:ln>
        </p:spPr>
        <p:txBody>
          <a:bodyPr lIns="91440" tIns="45720" rIns="91440" bIns="45720" anchor="t">
            <a:normAutofit/>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Advantages of SD-WAN</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Lower cost and reduce risk with simple WAN automation and orchestration.</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Extend branch and campus network seamlessly into public cloud.</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Provide optimal user experience for SaaS applications</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Leverage transport independent WAN, meaning can be deployed over underlay transport network such as Internet, MPLS, 4G/5G and Satellite.</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Enhance application visibility to make intelligent path selection decisions.</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Provide end-to-end WAN traffic segmentation and encryption.</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Cisco SD-WAN Offerings:</a:t>
            </a:r>
            <a:endParaRPr lang="en-US" sz="16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Cisco SD-WAN (based on Viptela):</a:t>
            </a:r>
            <a:r>
              <a:rPr lang="en-US" sz="1600" b="0" u="none" strike="noStrike">
                <a:solidFill>
                  <a:schemeClr val="dk1"/>
                </a:solidFill>
                <a:effectLst/>
                <a:uFillTx/>
                <a:latin typeface="Arial"/>
                <a:ea typeface="Microsoft YaHei"/>
              </a:rPr>
              <a:t> Preferred solution for organization that require granular segmentation, advanced security, advanced routing, complex topology and public cloud connectivity.</a:t>
            </a:r>
            <a:endParaRPr lang="en-US" sz="16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Meraki SD-WAN:</a:t>
            </a:r>
            <a:r>
              <a:rPr lang="en-US" sz="1600" b="0" u="none" strike="noStrike">
                <a:solidFill>
                  <a:schemeClr val="dk1"/>
                </a:solidFill>
                <a:effectLst/>
                <a:uFillTx/>
                <a:latin typeface="Arial"/>
                <a:ea typeface="Microsoft YaHei"/>
              </a:rPr>
              <a:t> Preferred solution that require Unified Threat Management (UTM) through SD-WAN devices and for organizations that are already with Meraki.</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5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717"/>
              </a:spcBef>
              <a:buNone/>
              <a:tabLst>
                <a:tab pos="0" algn="l"/>
              </a:tabLst>
            </a:pPr>
            <a:endParaRPr lang="en-US" sz="1800" b="0" u="none" strike="noStrike">
              <a:solidFill>
                <a:schemeClr val="dk1"/>
              </a:solidFill>
              <a:effectLst/>
              <a:uFillTx/>
              <a:latin typeface="Aptos"/>
            </a:endParaRPr>
          </a:p>
        </p:txBody>
      </p:sp>
      <p:sp>
        <p:nvSpPr>
          <p:cNvPr id="96" name=""/>
          <p:cNvSpPr/>
          <p:nvPr/>
        </p:nvSpPr>
        <p:spPr>
          <a:xfrm>
            <a:off x="72000" y="1188000"/>
            <a:ext cx="3706560" cy="421056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97" name=""/>
          <p:cNvSpPr/>
          <p:nvPr/>
        </p:nvSpPr>
        <p:spPr>
          <a:xfrm>
            <a:off x="36000" y="1080000"/>
            <a:ext cx="3886920" cy="66852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pic>
        <p:nvPicPr>
          <p:cNvPr id="98" name=""/>
          <p:cNvPicPr/>
          <p:nvPr/>
        </p:nvPicPr>
        <p:blipFill>
          <a:blip r:embed="rId1"/>
          <a:stretch/>
        </p:blipFill>
        <p:spPr>
          <a:xfrm>
            <a:off x="-1800" y="943200"/>
            <a:ext cx="3961440" cy="1936440"/>
          </a:xfrm>
          <a:prstGeom prst="rect">
            <a:avLst/>
          </a:prstGeom>
          <a:noFill/>
          <a:ln w="0">
            <a:noFill/>
          </a:ln>
        </p:spPr>
      </p:pic>
      <p:sp>
        <p:nvSpPr>
          <p:cNvPr id="99" name=""/>
          <p:cNvSpPr/>
          <p:nvPr/>
        </p:nvSpPr>
        <p:spPr>
          <a:xfrm>
            <a:off x="72000" y="3060000"/>
            <a:ext cx="3887640" cy="251964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r>
              <a:rPr lang="en-AU" sz="1800" b="0" u="none" strike="noStrike">
                <a:solidFill>
                  <a:srgbClr val="000000"/>
                </a:solidFill>
                <a:effectLst/>
                <a:uFillTx/>
                <a:latin typeface="Arial"/>
              </a:rPr>
              <a:t>Above picture shows SD-WAN can be deployed over any type of transport network.</a:t>
            </a:r>
            <a:endParaRPr lang="en-AU" sz="1800" b="0" u="none" strike="noStrike">
              <a:solidFill>
                <a:srgbClr val="000000"/>
              </a:solidFill>
              <a:effectLst/>
              <a:uFillTx/>
              <a:latin typeface="Arial"/>
            </a:endParaRPr>
          </a:p>
          <a:p>
            <a:pPr>
              <a:lnSpc>
                <a:spcPct val="100000"/>
              </a:lnSpc>
              <a:spcBef>
                <a:spcPts val="283"/>
              </a:spcBef>
              <a:spcAft>
                <a:spcPts val="283"/>
              </a:spcAft>
            </a:pPr>
            <a:r>
              <a:rPr lang="en-AU" sz="1800" b="0" u="none" strike="noStrike">
                <a:solidFill>
                  <a:srgbClr val="000000"/>
                </a:solidFill>
                <a:effectLst/>
                <a:uFillTx/>
                <a:latin typeface="Arial"/>
              </a:rPr>
              <a:t>It also shows that some components of SD-WAN such as vBond, vManage and vSmart Controllers can be deployed in Data Centre, Private or Public cloud.</a:t>
            </a:r>
            <a:endParaRPr lang="en-AU"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00" name="Rectangle 14">
            <a:extLst>
              <a:ext uri="{C183D7F6-B498-43B3-948B-1728B52AA6E4}">
                <adec:decorative xmlns:adec="http://schemas.microsoft.com/office/drawing/2017/decorative" val="1"/>
              </a:ext>
            </a:extLst>
          </p:cNvPr>
          <p:cNvSpPr/>
          <p:nvPr/>
        </p:nvSpPr>
        <p:spPr>
          <a:xfrm>
            <a:off x="360" y="360"/>
            <a:ext cx="3958200" cy="8985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2.SD-WAN</a:t>
            </a:r>
            <a:endParaRPr lang="en-AU" sz="4400" b="0" u="none" strike="noStrike">
              <a:solidFill>
                <a:srgbClr val="FFFFFF"/>
              </a:solidFill>
              <a:effectLst/>
              <a:uFillTx/>
              <a:latin typeface="Arial"/>
            </a:endParaRPr>
          </a:p>
        </p:txBody>
      </p:sp>
      <p:sp>
        <p:nvSpPr>
          <p:cNvPr id="101" name="PlaceHolder 1"/>
          <p:cNvSpPr>
            <a:spLocks noGrp="1"/>
          </p:cNvSpPr>
          <p:nvPr>
            <p:ph/>
          </p:nvPr>
        </p:nvSpPr>
        <p:spPr>
          <a:xfrm>
            <a:off x="3996000" y="180000"/>
            <a:ext cx="6082920" cy="5398920"/>
          </a:xfrm>
          <a:prstGeom prst="rect">
            <a:avLst/>
          </a:prstGeom>
          <a:noFill/>
          <a:ln w="0">
            <a:noFill/>
          </a:ln>
        </p:spPr>
        <p:txBody>
          <a:bodyPr lIns="91440" tIns="45720" rIns="91440" bIns="45720" anchor="t">
            <a:normAutofit/>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Main components of Cisco SD-WAN</a:t>
            </a:r>
            <a:r>
              <a:rPr lang="en-US" sz="1600" b="0" u="none" strike="noStrike">
                <a:solidFill>
                  <a:schemeClr val="dk1"/>
                </a:solidFill>
                <a:effectLst/>
                <a:uFillTx/>
                <a:latin typeface="Arial"/>
                <a:ea typeface="Microsoft YaHei"/>
              </a:rPr>
              <a:t> : Cisco SD-WAN has four main components and an optional Analytics component.</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vManage NMS:</a:t>
            </a:r>
            <a:r>
              <a:rPr lang="en-US" sz="1600" b="0" u="none" strike="noStrike">
                <a:solidFill>
                  <a:schemeClr val="dk1"/>
                </a:solidFill>
                <a:effectLst/>
                <a:uFillTx/>
                <a:latin typeface="Arial"/>
                <a:ea typeface="Microsoft YaHei"/>
              </a:rPr>
              <a:t> Single pane of glass GUI to centrally manage SD-WAN.</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vSmart Controller: </a:t>
            </a:r>
            <a:r>
              <a:rPr lang="en-US" sz="1600" b="0" u="none" strike="noStrike">
                <a:solidFill>
                  <a:schemeClr val="dk1"/>
                </a:solidFill>
                <a:effectLst/>
                <a:uFillTx/>
                <a:latin typeface="Arial"/>
                <a:ea typeface="Microsoft YaHei"/>
              </a:rPr>
              <a:t>Brains of SD-WAN</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Authenticates every SD-WAN router that comes online with pre-installed credentials.</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It creates a permanent Datagram Transport Layer Security (DTLS) tunnel with SD-WAN routers and runs Overlay Management Protocol (OMP).</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OMP  is a proprietary overlay protocol similar to BGP that can advertise routes, keys and policies to manage SD-WAN fabric.</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VSmart Controllers learn routes from SD-WAN routers and other controllers and similar to BGP, it processes those routes to calculate best path and advertises Network Reachability Information to SD-WAN routers in the fabric.</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 Controllers also implement policies such as segmentation per VPN topology, traffic engineering and service chaining configured on vManage.</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Controllers work together with vBond to authenticate SD-WAN routers and to orchestrate SD-WAN fabric.</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5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717"/>
              </a:spcBef>
              <a:buNone/>
              <a:tabLst>
                <a:tab pos="0" algn="l"/>
              </a:tabLst>
            </a:pPr>
            <a:endParaRPr lang="en-US" sz="1800" b="0" u="none" strike="noStrike">
              <a:solidFill>
                <a:schemeClr val="dk1"/>
              </a:solidFill>
              <a:effectLst/>
              <a:uFillTx/>
              <a:latin typeface="Aptos"/>
            </a:endParaRPr>
          </a:p>
        </p:txBody>
      </p:sp>
      <p:sp>
        <p:nvSpPr>
          <p:cNvPr id="102" name=""/>
          <p:cNvSpPr/>
          <p:nvPr/>
        </p:nvSpPr>
        <p:spPr>
          <a:xfrm>
            <a:off x="72000" y="1188000"/>
            <a:ext cx="3706560" cy="421056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103" name=""/>
          <p:cNvSpPr/>
          <p:nvPr/>
        </p:nvSpPr>
        <p:spPr>
          <a:xfrm>
            <a:off x="36000" y="972000"/>
            <a:ext cx="3886920" cy="493344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434"/>
              </a:spcBef>
              <a:spcAft>
                <a:spcPts val="283"/>
              </a:spcAft>
              <a:tabLst>
                <a:tab pos="0" algn="l"/>
              </a:tabLst>
            </a:pPr>
            <a:r>
              <a:rPr lang="en-US" sz="1400" b="1" u="none" strike="noStrike">
                <a:solidFill>
                  <a:schemeClr val="dk1"/>
                </a:solidFill>
                <a:effectLst/>
                <a:uFillTx/>
                <a:latin typeface="Arial"/>
                <a:ea typeface="Microsoft YaHei"/>
              </a:rPr>
              <a:t>vBond Orchestrator:</a:t>
            </a:r>
            <a:r>
              <a:rPr lang="en-US" sz="1400" b="0" u="none" strike="noStrike">
                <a:solidFill>
                  <a:schemeClr val="dk1"/>
                </a:solidFill>
                <a:effectLst/>
                <a:uFillTx/>
                <a:latin typeface="Arial"/>
                <a:ea typeface="Microsoft YaHei"/>
              </a:rPr>
              <a:t> It authenticates vSmart controllers and SD-WAN routers and orchestrates connectivity between them.</a:t>
            </a:r>
            <a:endParaRPr lang="en-AU" sz="1400" b="0" u="none" strike="noStrike">
              <a:solidFill>
                <a:srgbClr val="000000"/>
              </a:solidFill>
              <a:effectLst/>
              <a:uFillTx/>
              <a:latin typeface="Arial"/>
            </a:endParaRPr>
          </a:p>
          <a:p>
            <a:pPr defTabSz="914400">
              <a:lnSpc>
                <a:spcPct val="100000"/>
              </a:lnSpc>
              <a:spcBef>
                <a:spcPts val="434"/>
              </a:spcBef>
              <a:spcAft>
                <a:spcPts val="283"/>
              </a:spcAft>
              <a:tabLst>
                <a:tab pos="0" algn="l"/>
              </a:tabLst>
            </a:pPr>
            <a:r>
              <a:rPr lang="en-US" sz="1400" b="0" u="none" strike="noStrike">
                <a:solidFill>
                  <a:schemeClr val="dk1"/>
                </a:solidFill>
                <a:effectLst/>
                <a:uFillTx/>
                <a:latin typeface="Arial"/>
                <a:ea typeface="Microsoft YaHei"/>
              </a:rPr>
              <a:t>This is the only device that needs to have public IP in the SD-WAN fabric.</a:t>
            </a:r>
            <a:endParaRPr lang="en-AU" sz="1400" b="0" u="none" strike="noStrike">
              <a:solidFill>
                <a:srgbClr val="000000"/>
              </a:solidFill>
              <a:effectLst/>
              <a:uFillTx/>
              <a:latin typeface="Arial"/>
            </a:endParaRPr>
          </a:p>
          <a:p>
            <a:pPr defTabSz="914400">
              <a:lnSpc>
                <a:spcPct val="100000"/>
              </a:lnSpc>
              <a:spcBef>
                <a:spcPts val="434"/>
              </a:spcBef>
              <a:spcAft>
                <a:spcPts val="283"/>
              </a:spcAft>
              <a:tabLst>
                <a:tab pos="0" algn="l"/>
              </a:tabLst>
            </a:pPr>
            <a:r>
              <a:rPr lang="en-US" sz="1400" b="0" u="none" strike="noStrike">
                <a:solidFill>
                  <a:schemeClr val="dk1"/>
                </a:solidFill>
                <a:effectLst/>
                <a:uFillTx/>
                <a:latin typeface="Arial"/>
                <a:ea typeface="Microsoft YaHei"/>
              </a:rPr>
              <a:t>It is basically a SD-WAN router that only performs below orchestration functions.</a:t>
            </a:r>
            <a:endParaRPr lang="en-AU" sz="1400" b="0" u="none" strike="noStrike">
              <a:solidFill>
                <a:srgbClr val="000000"/>
              </a:solidFill>
              <a:effectLst/>
              <a:uFillTx/>
              <a:latin typeface="Arial"/>
            </a:endParaRPr>
          </a:p>
          <a:p>
            <a:pPr defTabSz="914400">
              <a:lnSpc>
                <a:spcPct val="100000"/>
              </a:lnSpc>
              <a:spcBef>
                <a:spcPts val="150"/>
              </a:spcBef>
              <a:tabLst>
                <a:tab pos="0" algn="l"/>
              </a:tabLst>
            </a:pPr>
            <a:r>
              <a:rPr lang="en-US" sz="1400" b="1" u="none" strike="noStrike">
                <a:solidFill>
                  <a:schemeClr val="dk1"/>
                </a:solidFill>
                <a:effectLst/>
                <a:uFillTx/>
                <a:latin typeface="Arial"/>
                <a:ea typeface="Microsoft YaHei"/>
              </a:rPr>
              <a:t>Control plane connection:</a:t>
            </a:r>
            <a:r>
              <a:rPr lang="en-US" sz="1400" b="0" u="none" strike="noStrike">
                <a:solidFill>
                  <a:schemeClr val="dk1"/>
                </a:solidFill>
                <a:effectLst/>
                <a:uFillTx/>
                <a:latin typeface="Arial"/>
                <a:ea typeface="Microsoft YaHei"/>
              </a:rPr>
              <a:t> vBond has permanent DTLS tunnel with vSmart controllers and SD-WAN routers. Authentication of vSmart and cEdge is done using certificates and RSA cryptography.</a:t>
            </a:r>
            <a:endParaRPr lang="en-AU" sz="1400" b="0" u="none" strike="noStrike">
              <a:solidFill>
                <a:srgbClr val="000000"/>
              </a:solidFill>
              <a:effectLst/>
              <a:uFillTx/>
              <a:latin typeface="Arial"/>
            </a:endParaRPr>
          </a:p>
          <a:p>
            <a:pPr defTabSz="914400">
              <a:lnSpc>
                <a:spcPct val="100000"/>
              </a:lnSpc>
              <a:spcBef>
                <a:spcPts val="150"/>
              </a:spcBef>
              <a:tabLst>
                <a:tab pos="0" algn="l"/>
              </a:tabLst>
            </a:pPr>
            <a:r>
              <a:rPr lang="en-US" sz="1400" b="1" u="none" strike="noStrike">
                <a:solidFill>
                  <a:schemeClr val="dk1"/>
                </a:solidFill>
                <a:effectLst/>
                <a:uFillTx/>
                <a:latin typeface="Arial"/>
                <a:ea typeface="Microsoft YaHei"/>
              </a:rPr>
              <a:t>NAT traversal:</a:t>
            </a:r>
            <a:r>
              <a:rPr lang="en-US" sz="1400" b="0" u="none" strike="noStrike">
                <a:solidFill>
                  <a:schemeClr val="dk1"/>
                </a:solidFill>
                <a:effectLst/>
                <a:uFillTx/>
                <a:latin typeface="Arial"/>
                <a:ea typeface="Microsoft YaHei"/>
              </a:rPr>
              <a:t> Facilitates connection between vSmart and cEdge using peer to peer connection technology when both or one of them are behind NAT device.</a:t>
            </a:r>
            <a:endParaRPr lang="en-AU" sz="1400" b="0" u="none" strike="noStrike">
              <a:solidFill>
                <a:srgbClr val="000000"/>
              </a:solidFill>
              <a:effectLst/>
              <a:uFillTx/>
              <a:latin typeface="Arial"/>
            </a:endParaRPr>
          </a:p>
          <a:p>
            <a:pPr defTabSz="914400">
              <a:lnSpc>
                <a:spcPct val="100000"/>
              </a:lnSpc>
              <a:spcBef>
                <a:spcPts val="150"/>
              </a:spcBef>
              <a:tabLst>
                <a:tab pos="0" algn="l"/>
              </a:tabLst>
            </a:pPr>
            <a:r>
              <a:rPr lang="en-US" sz="1400" b="1" u="none" strike="noStrike">
                <a:solidFill>
                  <a:schemeClr val="dk1"/>
                </a:solidFill>
                <a:effectLst/>
                <a:uFillTx/>
                <a:latin typeface="Arial"/>
                <a:ea typeface="Microsoft YaHei"/>
              </a:rPr>
              <a:t>Load balancing:</a:t>
            </a:r>
            <a:r>
              <a:rPr lang="en-US" sz="1400" b="0" u="none" strike="noStrike">
                <a:solidFill>
                  <a:schemeClr val="dk1"/>
                </a:solidFill>
                <a:effectLst/>
                <a:uFillTx/>
                <a:latin typeface="Arial"/>
                <a:ea typeface="Microsoft YaHei"/>
              </a:rPr>
              <a:t> On fabric with multiple vSmart controllers, it load balances connection of SD-WAN routers between vSmart controllers.</a:t>
            </a:r>
            <a:endParaRPr lang="en-AU" sz="1400" b="0" u="none" strike="noStrike">
              <a:solidFill>
                <a:srgbClr val="000000"/>
              </a:solidFill>
              <a:effectLst/>
              <a:uFillTx/>
              <a:latin typeface="Arial"/>
            </a:endParaRPr>
          </a:p>
          <a:p>
            <a:pPr defTabSz="914400">
              <a:lnSpc>
                <a:spcPct val="100000"/>
              </a:lnSpc>
              <a:spcBef>
                <a:spcPts val="434"/>
              </a:spcBef>
              <a:spcAft>
                <a:spcPts val="283"/>
              </a:spcAft>
              <a:tabLst>
                <a:tab pos="0" algn="l"/>
              </a:tabLst>
            </a:pPr>
            <a:endParaRPr lang="en-AU"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04" name="Rectangle 15">
            <a:extLst>
              <a:ext uri="{C183D7F6-B498-43B3-948B-1728B52AA6E4}">
                <adec:decorative xmlns:adec="http://schemas.microsoft.com/office/drawing/2017/decorative" val="1"/>
              </a:ext>
            </a:extLst>
          </p:cNvPr>
          <p:cNvSpPr/>
          <p:nvPr/>
        </p:nvSpPr>
        <p:spPr>
          <a:xfrm>
            <a:off x="360" y="360"/>
            <a:ext cx="3958200" cy="8985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2.SD-WAN</a:t>
            </a:r>
            <a:endParaRPr lang="en-AU" sz="4400" b="0" u="none" strike="noStrike">
              <a:solidFill>
                <a:srgbClr val="FFFFFF"/>
              </a:solidFill>
              <a:effectLst/>
              <a:uFillTx/>
              <a:latin typeface="Arial"/>
            </a:endParaRPr>
          </a:p>
        </p:txBody>
      </p:sp>
      <p:sp>
        <p:nvSpPr>
          <p:cNvPr id="105" name="PlaceHolder 1"/>
          <p:cNvSpPr>
            <a:spLocks noGrp="1"/>
          </p:cNvSpPr>
          <p:nvPr>
            <p:ph/>
          </p:nvPr>
        </p:nvSpPr>
        <p:spPr>
          <a:xfrm>
            <a:off x="3996000" y="180000"/>
            <a:ext cx="6082920" cy="5398920"/>
          </a:xfrm>
          <a:prstGeom prst="rect">
            <a:avLst/>
          </a:prstGeom>
          <a:noFill/>
          <a:ln w="0">
            <a:noFill/>
          </a:ln>
        </p:spPr>
        <p:txBody>
          <a:bodyPr lIns="91440" tIns="45720" rIns="91440" bIns="45720" anchor="t">
            <a:normAutofit lnSpcReduction="9999"/>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SD-WAN Routers (vEdge and cEdge):</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Available as hardware, software, cloud or virtualised, they sit at perimeter of the site to provide essential WAN, Security and multicloud capabilities.</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They support standard features such as OSPF, BGP, ACLs,QoS, and routing policies in addition to SD-WAN control and data plane functionalities.</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 They form a DTLS tunnel with vSmart controllers and form OMP neighborship over the tunnel to exchange routing information.</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 SD-WAN routers create a IPSec session between each other in the fabric.</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They also perform site-local duties such as decision routing, high availability, ARP and ACL management.</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 Two different options available for SD-WAN routers:</a:t>
            </a:r>
            <a:endParaRPr lang="en-US" sz="1600" b="0" u="none" strike="noStrike">
              <a:solidFill>
                <a:schemeClr val="dk1"/>
              </a:solidFill>
              <a:effectLst/>
              <a:uFillTx/>
              <a:latin typeface="Aptos"/>
            </a:endParaRPr>
          </a:p>
          <a:p>
            <a:pPr marL="360000" indent="0" algn="l" defTabSz="914400">
              <a:lnSpc>
                <a:spcPct val="100000"/>
              </a:lnSpc>
              <a:spcBef>
                <a:spcPts val="283"/>
              </a:spcBef>
              <a:spcAft>
                <a:spcPts val="283"/>
              </a:spcAft>
              <a:buNone/>
              <a:tabLst>
                <a:tab pos="0" algn="l"/>
              </a:tabLst>
            </a:pPr>
            <a:r>
              <a:rPr lang="en-US" sz="1600" b="1" u="none" strike="noStrike">
                <a:solidFill>
                  <a:schemeClr val="dk1"/>
                </a:solidFill>
                <a:effectLst/>
                <a:uFillTx/>
                <a:latin typeface="Arial"/>
                <a:ea typeface="Microsoft YaHei"/>
              </a:rPr>
              <a:t>vEdge:</a:t>
            </a:r>
            <a:r>
              <a:rPr lang="en-US" sz="1600" b="0" u="none" strike="noStrike">
                <a:solidFill>
                  <a:schemeClr val="dk1"/>
                </a:solidFill>
                <a:effectLst/>
                <a:uFillTx/>
                <a:latin typeface="Arial"/>
                <a:ea typeface="Microsoft YaHei"/>
              </a:rPr>
              <a:t> Based on original Viptela software.</a:t>
            </a:r>
            <a:endParaRPr lang="en-US" sz="1600" b="0" u="none" strike="noStrike">
              <a:solidFill>
                <a:schemeClr val="dk1"/>
              </a:solidFill>
              <a:effectLst/>
              <a:uFillTx/>
              <a:latin typeface="Aptos"/>
            </a:endParaRPr>
          </a:p>
          <a:p>
            <a:pPr marL="360000" indent="0" algn="l" defTabSz="914400">
              <a:lnSpc>
                <a:spcPct val="100000"/>
              </a:lnSpc>
              <a:spcBef>
                <a:spcPts val="283"/>
              </a:spcBef>
              <a:spcAft>
                <a:spcPts val="283"/>
              </a:spcAft>
              <a:buNone/>
              <a:tabLst>
                <a:tab pos="0" algn="l"/>
              </a:tabLst>
            </a:pPr>
            <a:r>
              <a:rPr lang="en-US" sz="1600" b="1" u="none" strike="noStrike">
                <a:solidFill>
                  <a:schemeClr val="dk1"/>
                </a:solidFill>
                <a:effectLst/>
                <a:uFillTx/>
                <a:latin typeface="Arial"/>
                <a:ea typeface="Microsoft YaHei"/>
              </a:rPr>
              <a:t>CEdge:</a:t>
            </a:r>
            <a:r>
              <a:rPr lang="en-US" sz="1600" b="0" u="none" strike="noStrike">
                <a:solidFill>
                  <a:schemeClr val="dk1"/>
                </a:solidFill>
                <a:effectLst/>
                <a:uFillTx/>
                <a:latin typeface="Arial"/>
                <a:ea typeface="Microsoft YaHei"/>
              </a:rPr>
              <a:t> Viptela software integrated with Cisco IOS-XE. IOS-XE for SD-WAN routers is different than original IOS-XE as only SD-WAN relevant features are imported. IOS-XE for SD-WAN is supported on ISR, CSR, ASR1K, Enterprise Network Compute Systems (ENCS) and cloud enabled ISRv and CSRv platforms.</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cEdge and vEdge Security features</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5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717"/>
              </a:spcBef>
              <a:buNone/>
              <a:tabLst>
                <a:tab pos="0" algn="l"/>
              </a:tabLst>
            </a:pPr>
            <a:endParaRPr lang="en-US" sz="1800" b="0" u="none" strike="noStrike">
              <a:solidFill>
                <a:schemeClr val="dk1"/>
              </a:solidFill>
              <a:effectLst/>
              <a:uFillTx/>
              <a:latin typeface="Aptos"/>
            </a:endParaRPr>
          </a:p>
        </p:txBody>
      </p:sp>
      <p:sp>
        <p:nvSpPr>
          <p:cNvPr id="106" name=""/>
          <p:cNvSpPr/>
          <p:nvPr/>
        </p:nvSpPr>
        <p:spPr>
          <a:xfrm>
            <a:off x="72000" y="1188000"/>
            <a:ext cx="3706560" cy="421056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107" name=""/>
          <p:cNvSpPr/>
          <p:nvPr/>
        </p:nvSpPr>
        <p:spPr>
          <a:xfrm>
            <a:off x="36000" y="3102120"/>
            <a:ext cx="3886920" cy="34416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434"/>
              </a:spcBef>
              <a:spcAft>
                <a:spcPts val="283"/>
              </a:spcAft>
              <a:tabLst>
                <a:tab pos="0" algn="l"/>
              </a:tabLst>
            </a:pPr>
            <a:r>
              <a:rPr lang="en-US" sz="1400" b="1" u="none" strike="noStrike">
                <a:solidFill>
                  <a:schemeClr val="dk1"/>
                </a:solidFill>
                <a:effectLst/>
                <a:uFillTx/>
                <a:latin typeface="Arial"/>
                <a:ea typeface="Microsoft YaHei"/>
              </a:rPr>
              <a:t>vBond Analytics: </a:t>
            </a:r>
            <a:r>
              <a:rPr lang="en-US" sz="1400" b="0" u="none" strike="noStrike">
                <a:solidFill>
                  <a:schemeClr val="dk1"/>
                </a:solidFill>
                <a:effectLst/>
                <a:uFillTx/>
                <a:latin typeface="Arial"/>
                <a:ea typeface="Microsoft YaHei"/>
              </a:rPr>
              <a:t>Optional Analytics component with below capabilities.</a:t>
            </a:r>
            <a:endParaRPr lang="en-AU" sz="1400" b="0" u="none" strike="noStrike">
              <a:solidFill>
                <a:srgbClr val="000000"/>
              </a:solidFill>
              <a:effectLst/>
              <a:uFillTx/>
              <a:latin typeface="Arial"/>
            </a:endParaRPr>
          </a:p>
          <a:p>
            <a:pPr defTabSz="914400">
              <a:lnSpc>
                <a:spcPct val="100000"/>
              </a:lnSpc>
              <a:spcBef>
                <a:spcPts val="434"/>
              </a:spcBef>
              <a:spcAft>
                <a:spcPts val="283"/>
              </a:spcAft>
              <a:tabLst>
                <a:tab pos="0" algn="l"/>
              </a:tabLst>
            </a:pPr>
            <a:r>
              <a:rPr lang="en-US" sz="1400" b="0" u="none" strike="noStrike">
                <a:solidFill>
                  <a:schemeClr val="dk1"/>
                </a:solidFill>
                <a:effectLst/>
                <a:uFillTx/>
                <a:latin typeface="Arial"/>
                <a:ea typeface="Microsoft YaHei"/>
              </a:rPr>
              <a:t>Visibility into applications and infrastructure across WAN by monitoring issues across organizations to correlate and inform Service Provider about underlay network problems.</a:t>
            </a:r>
            <a:endParaRPr lang="en-AU" sz="1400" b="0" u="none" strike="noStrike">
              <a:solidFill>
                <a:srgbClr val="000000"/>
              </a:solidFill>
              <a:effectLst/>
              <a:uFillTx/>
              <a:latin typeface="Arial"/>
            </a:endParaRPr>
          </a:p>
          <a:p>
            <a:pPr defTabSz="914400">
              <a:lnSpc>
                <a:spcPct val="100000"/>
              </a:lnSpc>
              <a:spcBef>
                <a:spcPts val="434"/>
              </a:spcBef>
              <a:spcAft>
                <a:spcPts val="283"/>
              </a:spcAft>
              <a:tabLst>
                <a:tab pos="0" algn="l"/>
              </a:tabLst>
            </a:pPr>
            <a:r>
              <a:rPr lang="en-US" sz="1400" b="0" u="none" strike="noStrike">
                <a:solidFill>
                  <a:schemeClr val="dk1"/>
                </a:solidFill>
                <a:effectLst/>
                <a:uFillTx/>
                <a:latin typeface="Arial"/>
                <a:ea typeface="Microsoft YaHei"/>
              </a:rPr>
              <a:t>Forecasting and What-if analysis of the fabric.</a:t>
            </a:r>
            <a:endParaRPr lang="en-AU" sz="1400" b="0" u="none" strike="noStrike">
              <a:solidFill>
                <a:srgbClr val="000000"/>
              </a:solidFill>
              <a:effectLst/>
              <a:uFillTx/>
              <a:latin typeface="Arial"/>
            </a:endParaRPr>
          </a:p>
          <a:p>
            <a:pPr defTabSz="914400">
              <a:lnSpc>
                <a:spcPct val="100000"/>
              </a:lnSpc>
              <a:spcBef>
                <a:spcPts val="434"/>
              </a:spcBef>
              <a:spcAft>
                <a:spcPts val="283"/>
              </a:spcAft>
              <a:tabLst>
                <a:tab pos="0" algn="l"/>
              </a:tabLst>
            </a:pPr>
            <a:r>
              <a:rPr lang="en-US" sz="1400" b="0" u="none" strike="noStrike">
                <a:solidFill>
                  <a:schemeClr val="dk1"/>
                </a:solidFill>
                <a:effectLst/>
                <a:uFillTx/>
                <a:latin typeface="Arial"/>
                <a:ea typeface="Microsoft YaHei"/>
              </a:rPr>
              <a:t>Intelligent recommendation by monitoring bandwidth utilization at sites to recommend upgrade or downgrade of the circuit.</a:t>
            </a:r>
            <a:endParaRPr lang="en-AU" sz="1400" b="0" u="none" strike="noStrike">
              <a:solidFill>
                <a:srgbClr val="000000"/>
              </a:solidFill>
              <a:effectLst/>
              <a:uFillTx/>
              <a:latin typeface="Arial"/>
            </a:endParaRPr>
          </a:p>
          <a:p>
            <a:pPr defTabSz="914400">
              <a:lnSpc>
                <a:spcPct val="100000"/>
              </a:lnSpc>
              <a:spcBef>
                <a:spcPts val="434"/>
              </a:spcBef>
              <a:spcAft>
                <a:spcPts val="283"/>
              </a:spcAft>
              <a:tabLst>
                <a:tab pos="0" algn="l"/>
              </a:tabLst>
            </a:pPr>
            <a:endParaRPr lang="en-AU" sz="1400" b="0" u="none" strike="noStrike">
              <a:solidFill>
                <a:srgbClr val="000000"/>
              </a:solidFill>
              <a:effectLst/>
              <a:uFillTx/>
              <a:latin typeface="Arial"/>
            </a:endParaRPr>
          </a:p>
          <a:p>
            <a:pPr defTabSz="914400">
              <a:lnSpc>
                <a:spcPct val="100000"/>
              </a:lnSpc>
              <a:spcBef>
                <a:spcPts val="434"/>
              </a:spcBef>
              <a:spcAft>
                <a:spcPts val="283"/>
              </a:spcAft>
              <a:tabLst>
                <a:tab pos="0" algn="l"/>
              </a:tabLst>
            </a:pPr>
            <a:r>
              <a:rPr lang="en-US" sz="1400" b="0" u="none" strike="noStrike">
                <a:solidFill>
                  <a:schemeClr val="dk1"/>
                </a:solidFill>
                <a:effectLst/>
                <a:uFillTx/>
                <a:latin typeface="Arial"/>
                <a:ea typeface="Microsoft YaHei"/>
              </a:rPr>
              <a:t> </a:t>
            </a:r>
            <a:endParaRPr lang="en-AU" sz="1400" b="0" u="none" strike="noStrike">
              <a:solidFill>
                <a:srgbClr val="000000"/>
              </a:solidFill>
              <a:effectLst/>
              <a:uFillTx/>
              <a:latin typeface="Arial"/>
            </a:endParaRPr>
          </a:p>
          <a:p>
            <a:pPr defTabSz="914400">
              <a:lnSpc>
                <a:spcPct val="100000"/>
              </a:lnSpc>
              <a:spcBef>
                <a:spcPts val="434"/>
              </a:spcBef>
              <a:spcAft>
                <a:spcPts val="283"/>
              </a:spcAft>
              <a:tabLst>
                <a:tab pos="0" algn="l"/>
              </a:tabLst>
            </a:pPr>
            <a:endParaRPr lang="en-AU" sz="1600" b="0" u="none" strike="noStrike">
              <a:solidFill>
                <a:srgbClr val="000000"/>
              </a:solidFill>
              <a:effectLst/>
              <a:uFillTx/>
              <a:latin typeface="Arial"/>
            </a:endParaRPr>
          </a:p>
        </p:txBody>
      </p:sp>
      <p:graphicFrame>
        <p:nvGraphicFramePr>
          <p:cNvPr id="108" name=""/>
          <p:cNvGraphicFramePr/>
          <p:nvPr/>
        </p:nvGraphicFramePr>
        <p:xfrm>
          <a:off x="35640" y="992520"/>
          <a:ext cx="3960000" cy="2184120"/>
        </p:xfrm>
        <a:graphic>
          <a:graphicData uri="http://schemas.openxmlformats.org/drawingml/2006/table">
            <a:tbl>
              <a:tblPr/>
              <a:tblGrid>
                <a:gridCol w="2605320"/>
                <a:gridCol w="704520"/>
                <a:gridCol w="650520"/>
              </a:tblGrid>
              <a:tr h="235080">
                <a:tc>
                  <a:txBody>
                    <a:bodyPr lIns="36000" tIns="36000" rIns="36000" bIns="36000" anchor="t">
                      <a:noAutofit/>
                    </a:bodyPr>
                    <a:p>
                      <a:pPr>
                        <a:lnSpc>
                          <a:spcPct val="100000"/>
                        </a:lnSpc>
                      </a:pPr>
                      <a:r>
                        <a:rPr lang="en-AU" sz="1200" b="1" u="none" strike="noStrike">
                          <a:solidFill>
                            <a:srgbClr val="000000"/>
                          </a:solidFill>
                          <a:effectLst/>
                          <a:uFillTx/>
                          <a:latin typeface="Arial"/>
                        </a:rPr>
                        <a:t>Feature</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DDE8CB"/>
                        </a:gs>
                        <a:gs pos="100000">
                          <a:srgbClr val="FFD7D7"/>
                        </a:gs>
                      </a:gsLst>
                      <a:lin ang="3600000"/>
                    </a:gradFill>
                  </a:tcPr>
                </a:tc>
                <a:tc>
                  <a:txBody>
                    <a:bodyPr lIns="36000" tIns="36000" rIns="36000" bIns="36000" anchor="t">
                      <a:noAutofit/>
                    </a:bodyPr>
                    <a:p>
                      <a:pPr>
                        <a:lnSpc>
                          <a:spcPct val="100000"/>
                        </a:lnSpc>
                      </a:pPr>
                      <a:r>
                        <a:rPr lang="en-AU" sz="1200" b="1" u="none" strike="noStrike">
                          <a:solidFill>
                            <a:srgbClr val="000000"/>
                          </a:solidFill>
                          <a:effectLst/>
                          <a:uFillTx/>
                          <a:latin typeface="Arial"/>
                        </a:rPr>
                        <a:t>cEdge</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DDE8CB"/>
                        </a:gs>
                        <a:gs pos="100000">
                          <a:srgbClr val="FFD7D7"/>
                        </a:gs>
                      </a:gsLst>
                      <a:lin ang="3600000"/>
                    </a:gradFill>
                  </a:tcPr>
                </a:tc>
                <a:tc>
                  <a:txBody>
                    <a:bodyPr lIns="36000" tIns="36000" rIns="36000" bIns="36000" anchor="t">
                      <a:noAutofit/>
                    </a:bodyPr>
                    <a:p>
                      <a:pPr>
                        <a:lnSpc>
                          <a:spcPct val="100000"/>
                        </a:lnSpc>
                      </a:pPr>
                      <a:r>
                        <a:rPr lang="en-AU" sz="1200" b="1" u="none" strike="noStrike">
                          <a:solidFill>
                            <a:srgbClr val="000000"/>
                          </a:solidFill>
                          <a:effectLst/>
                          <a:uFillTx/>
                          <a:latin typeface="Arial"/>
                        </a:rPr>
                        <a:t>vEdge</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0">
                          <a:srgbClr val="DDE8CB"/>
                        </a:gs>
                        <a:gs pos="100000">
                          <a:srgbClr val="FFD7D7"/>
                        </a:gs>
                      </a:gsLst>
                      <a:lin ang="3600000"/>
                    </a:gradFill>
                  </a:tcPr>
                </a:tc>
              </a:tr>
              <a:tr h="285840">
                <a:tc>
                  <a:txBody>
                    <a:bodyPr lIns="36000" tIns="36000" rIns="36000" bIns="36000" anchor="t">
                      <a:noAutofit/>
                    </a:bodyPr>
                    <a:p>
                      <a:pPr>
                        <a:lnSpc>
                          <a:spcPct val="100000"/>
                        </a:lnSpc>
                      </a:pPr>
                      <a:r>
                        <a:rPr lang="en-AU" sz="1200" b="1" u="none" strike="noStrike">
                          <a:solidFill>
                            <a:srgbClr val="000000"/>
                          </a:solidFill>
                          <a:effectLst/>
                          <a:uFillTx/>
                          <a:latin typeface="Arial"/>
                        </a:rPr>
                        <a:t>Cisco AMP and AMP Threat Grid</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75000">
                          <a:srgbClr val="FFFFFF"/>
                        </a:gs>
                        <a:gs pos="100000">
                          <a:srgbClr val="DDDDDD"/>
                        </a:gs>
                      </a:gsLst>
                      <a:lin ang="0"/>
                    </a:grad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Yes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Yes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56320">
                <a:tc>
                  <a:txBody>
                    <a:bodyPr lIns="36000" tIns="36000" rIns="36000" bIns="36000" anchor="t">
                      <a:noAutofit/>
                    </a:bodyPr>
                    <a:p>
                      <a:pPr>
                        <a:lnSpc>
                          <a:spcPct val="100000"/>
                        </a:lnSpc>
                      </a:pPr>
                      <a:r>
                        <a:rPr lang="en-AU" sz="1200" b="1" u="none" strike="noStrike">
                          <a:solidFill>
                            <a:srgbClr val="000000"/>
                          </a:solidFill>
                          <a:effectLst/>
                          <a:uFillTx/>
                          <a:latin typeface="Arial"/>
                        </a:rPr>
                        <a:t>Enterprise Firewall</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75000">
                          <a:srgbClr val="FFFFFF"/>
                        </a:gs>
                        <a:gs pos="100000">
                          <a:srgbClr val="DDDDDD"/>
                        </a:gs>
                      </a:gsLst>
                      <a:lin ang="0"/>
                    </a:grad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Yes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Yes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45520">
                <a:tc>
                  <a:txBody>
                    <a:bodyPr lIns="36000" tIns="36000" rIns="36000" bIns="36000" anchor="t">
                      <a:noAutofit/>
                    </a:bodyPr>
                    <a:p>
                      <a:pPr>
                        <a:lnSpc>
                          <a:spcPct val="100000"/>
                        </a:lnSpc>
                      </a:pPr>
                      <a:r>
                        <a:rPr lang="en-AU" sz="1200" b="1" u="none" strike="noStrike">
                          <a:solidFill>
                            <a:srgbClr val="000000"/>
                          </a:solidFill>
                          <a:effectLst/>
                          <a:uFillTx/>
                          <a:latin typeface="Arial"/>
                        </a:rPr>
                        <a:t>Cisco Umbrella DNS Security</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75000">
                          <a:srgbClr val="FFFFFF"/>
                        </a:gs>
                        <a:gs pos="100000">
                          <a:srgbClr val="DDDDDD"/>
                        </a:gs>
                      </a:gsLst>
                      <a:lin ang="0"/>
                    </a:grad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Yes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Yes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34720">
                <a:tc>
                  <a:txBody>
                    <a:bodyPr lIns="36000" tIns="36000" rIns="36000" bIns="36000" anchor="t">
                      <a:noAutofit/>
                    </a:bodyPr>
                    <a:p>
                      <a:pPr>
                        <a:lnSpc>
                          <a:spcPct val="100000"/>
                        </a:lnSpc>
                      </a:pPr>
                      <a:r>
                        <a:rPr lang="en-AU" sz="1200" b="1" u="none" strike="noStrike">
                          <a:solidFill>
                            <a:srgbClr val="000000"/>
                          </a:solidFill>
                          <a:effectLst/>
                          <a:uFillTx/>
                          <a:latin typeface="Arial"/>
                        </a:rPr>
                        <a:t>URL Filtering</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75000">
                          <a:srgbClr val="FFFFFF"/>
                        </a:gs>
                        <a:gs pos="100000">
                          <a:srgbClr val="DDDDDD"/>
                        </a:gs>
                      </a:gsLst>
                      <a:lin ang="0"/>
                    </a:grad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Yes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No</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52000">
                <a:tc>
                  <a:txBody>
                    <a:bodyPr lIns="36000" tIns="36000" rIns="36000" bIns="36000" anchor="t">
                      <a:noAutofit/>
                    </a:bodyPr>
                    <a:p>
                      <a:pPr>
                        <a:lnSpc>
                          <a:spcPct val="100000"/>
                        </a:lnSpc>
                      </a:pPr>
                      <a:r>
                        <a:rPr lang="en-AU" sz="1200" b="1" u="none" strike="noStrike">
                          <a:solidFill>
                            <a:srgbClr val="000000"/>
                          </a:solidFill>
                          <a:effectLst/>
                          <a:uFillTx/>
                          <a:latin typeface="Arial"/>
                        </a:rPr>
                        <a:t>Snort IPS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75000">
                          <a:srgbClr val="FFFFFF"/>
                        </a:gs>
                        <a:gs pos="100000">
                          <a:srgbClr val="DDDDDD"/>
                        </a:gs>
                      </a:gsLst>
                      <a:lin ang="0"/>
                    </a:grad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Yes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No</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584280">
                <a:tc>
                  <a:txBody>
                    <a:bodyPr lIns="36000" tIns="36000" rIns="36000" bIns="36000" anchor="t">
                      <a:noAutofit/>
                    </a:bodyPr>
                    <a:p>
                      <a:pPr>
                        <a:lnSpc>
                          <a:spcPct val="100000"/>
                        </a:lnSpc>
                      </a:pPr>
                      <a:r>
                        <a:rPr lang="en-AU" sz="1200" b="1" u="none" strike="noStrike">
                          <a:solidFill>
                            <a:srgbClr val="000000"/>
                          </a:solidFill>
                          <a:effectLst/>
                          <a:uFillTx/>
                          <a:latin typeface="Arial"/>
                        </a:rPr>
                        <a:t>Embedded platform security (including Cisco Trust Anchor module)</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gradFill rotWithShape="0">
                      <a:gsLst>
                        <a:gs pos="75000">
                          <a:srgbClr val="FFFFFF"/>
                        </a:gs>
                        <a:gs pos="100000">
                          <a:srgbClr val="DDDDDD"/>
                        </a:gs>
                      </a:gsLst>
                      <a:lin ang="0"/>
                    </a:grad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Yes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AU" sz="1200" b="0" u="none" strike="noStrike">
                          <a:solidFill>
                            <a:srgbClr val="000000"/>
                          </a:solidFill>
                          <a:effectLst/>
                          <a:uFillTx/>
                          <a:latin typeface="Arial"/>
                        </a:rPr>
                        <a:t>No</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09" name="Rectangle 16">
            <a:extLst>
              <a:ext uri="{C183D7F6-B498-43B3-948B-1728B52AA6E4}">
                <adec:decorative xmlns:adec="http://schemas.microsoft.com/office/drawing/2017/decorative" val="1"/>
              </a:ext>
            </a:extLst>
          </p:cNvPr>
          <p:cNvSpPr/>
          <p:nvPr/>
        </p:nvSpPr>
        <p:spPr>
          <a:xfrm>
            <a:off x="360" y="360"/>
            <a:ext cx="3779280" cy="8985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2.SD-WAN</a:t>
            </a:r>
            <a:endParaRPr lang="en-AU" sz="4400" b="0" u="none" strike="noStrike">
              <a:solidFill>
                <a:srgbClr val="FFFFFF"/>
              </a:solidFill>
              <a:effectLst/>
              <a:uFillTx/>
              <a:latin typeface="Arial"/>
            </a:endParaRPr>
          </a:p>
        </p:txBody>
      </p:sp>
      <p:sp>
        <p:nvSpPr>
          <p:cNvPr id="110" name="PlaceHolder 1"/>
          <p:cNvSpPr>
            <a:spLocks noGrp="1"/>
          </p:cNvSpPr>
          <p:nvPr>
            <p:ph/>
          </p:nvPr>
        </p:nvSpPr>
        <p:spPr>
          <a:xfrm>
            <a:off x="3780720" y="0"/>
            <a:ext cx="6298920" cy="5579640"/>
          </a:xfrm>
          <a:prstGeom prst="rect">
            <a:avLst/>
          </a:prstGeom>
          <a:noFill/>
          <a:ln w="0">
            <a:noFill/>
          </a:ln>
        </p:spPr>
        <p:txBody>
          <a:bodyPr lIns="91440" tIns="45720" rIns="91440" bIns="45720" anchor="t">
            <a:normAutofit/>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SD-WAN Cloud OnRamp: </a:t>
            </a:r>
            <a:r>
              <a:rPr lang="en-US" sz="1600" b="0" u="none" strike="noStrike">
                <a:solidFill>
                  <a:schemeClr val="dk1"/>
                </a:solidFill>
                <a:effectLst/>
                <a:uFillTx/>
                <a:latin typeface="Arial"/>
                <a:ea typeface="Microsoft YaHei"/>
              </a:rPr>
              <a:t>SD-WAN</a:t>
            </a:r>
            <a:r>
              <a:rPr lang="en-US" sz="1600" b="1" u="none" strike="noStrike">
                <a:solidFill>
                  <a:schemeClr val="dk1"/>
                </a:solidFill>
                <a:effectLst/>
                <a:uFillTx/>
                <a:latin typeface="Arial"/>
                <a:ea typeface="Microsoft YaHei"/>
              </a:rPr>
              <a:t> </a:t>
            </a:r>
            <a:r>
              <a:rPr lang="en-US" sz="1600" b="0" u="none" strike="noStrike">
                <a:solidFill>
                  <a:schemeClr val="dk1"/>
                </a:solidFill>
                <a:effectLst/>
                <a:uFillTx/>
                <a:latin typeface="Arial"/>
                <a:ea typeface="Microsoft YaHei"/>
              </a:rPr>
              <a:t>functionalities to provide optimal SaaS application experience and cloud infrastructure (IaaS) connectivity.</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Cloud OnRamp for SaaS:</a:t>
            </a:r>
            <a:r>
              <a:rPr lang="en-US" sz="1600" b="0" u="none" strike="noStrike">
                <a:solidFill>
                  <a:schemeClr val="dk1"/>
                </a:solidFill>
                <a:effectLst/>
                <a:uFillTx/>
                <a:latin typeface="Arial"/>
                <a:ea typeface="Microsoft YaHei"/>
              </a:rPr>
              <a:t> Continuously monitors SaaS application diverse paths and selects best path to provide optimal QoE. </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The quality of SaaS application connection is quantified by using Viptela QoE in the scale of 0 (worst) to 10 (best).</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600" b="0" u="none" strike="noStrike">
                <a:solidFill>
                  <a:schemeClr val="dk1"/>
                </a:solidFill>
                <a:effectLst/>
                <a:uFillTx/>
                <a:latin typeface="Arial"/>
                <a:ea typeface="Microsoft YaHei"/>
              </a:rPr>
              <a:t> </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5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717"/>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717"/>
              </a:spcBef>
              <a:buNone/>
              <a:tabLst>
                <a:tab pos="0" algn="l"/>
              </a:tabLst>
            </a:pPr>
            <a:endParaRPr lang="en-US" sz="1600" b="0" u="none" strike="noStrike">
              <a:solidFill>
                <a:schemeClr val="dk1"/>
              </a:solidFill>
              <a:effectLst/>
              <a:uFillTx/>
              <a:latin typeface="Aptos"/>
            </a:endParaRPr>
          </a:p>
          <a:p>
            <a:pPr marL="216000" indent="0" algn="l" defTabSz="914400">
              <a:lnSpc>
                <a:spcPct val="100000"/>
              </a:lnSpc>
              <a:spcBef>
                <a:spcPts val="434"/>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717"/>
              </a:spcBef>
              <a:buNone/>
              <a:tabLst>
                <a:tab pos="0" algn="l"/>
              </a:tabLst>
            </a:pPr>
            <a:endParaRPr lang="en-US" sz="1800" b="0" u="none" strike="noStrike">
              <a:solidFill>
                <a:schemeClr val="dk1"/>
              </a:solidFill>
              <a:effectLst/>
              <a:uFillTx/>
              <a:latin typeface="Aptos"/>
            </a:endParaRPr>
          </a:p>
        </p:txBody>
      </p:sp>
      <p:sp>
        <p:nvSpPr>
          <p:cNvPr id="111" name=""/>
          <p:cNvSpPr/>
          <p:nvPr/>
        </p:nvSpPr>
        <p:spPr>
          <a:xfrm>
            <a:off x="0" y="1296000"/>
            <a:ext cx="3778560" cy="3855600"/>
          </a:xfrm>
          <a:prstGeom prst="rect">
            <a:avLst/>
          </a:prstGeom>
          <a:noFill/>
          <a:ln w="0">
            <a:noFill/>
          </a:ln>
        </p:spPr>
        <p:style>
          <a:lnRef idx="0"/>
          <a:fillRef idx="0"/>
          <a:effectRef idx="0"/>
          <a:fontRef idx="minor"/>
        </p:style>
        <p:txBody>
          <a:bodyPr lIns="90000" tIns="45000" rIns="90000" bIns="45000" anchor="t">
            <a:spAutoFit/>
          </a:bodyPr>
          <a:p>
            <a:pPr marL="216000" indent="-216000" defTabSz="914400">
              <a:lnSpc>
                <a:spcPct val="100000"/>
              </a:lnSpc>
              <a:spcBef>
                <a:spcPts val="434"/>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First picture shows Remote Site with dual Direct Internet Access (DIA) with ISP1 and ISP2 to public cloud.</a:t>
            </a:r>
            <a:endParaRPr lang="en-AU" sz="1600" b="0" u="none" strike="noStrike">
              <a:solidFill>
                <a:srgbClr val="000000"/>
              </a:solidFill>
              <a:effectLst/>
              <a:uFillTx/>
              <a:latin typeface="Arial"/>
            </a:endParaRPr>
          </a:p>
          <a:p>
            <a:pPr marL="216000" indent="-216000" defTabSz="914400">
              <a:lnSpc>
                <a:spcPct val="100000"/>
              </a:lnSpc>
              <a:spcBef>
                <a:spcPts val="434"/>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In such deployment, when Cloud OnRamp for SaaS is configured on vManage, remote site SD-WAN router sends continuous HTTP probe to SaaS to measure Loss/Latency across both DIA.</a:t>
            </a:r>
            <a:endParaRPr lang="en-AU" sz="1600" b="0" u="none" strike="noStrike">
              <a:solidFill>
                <a:srgbClr val="000000"/>
              </a:solidFill>
              <a:effectLst/>
              <a:uFillTx/>
              <a:latin typeface="Arial"/>
            </a:endParaRPr>
          </a:p>
          <a:p>
            <a:pPr marL="216000" indent="-216000" defTabSz="914400">
              <a:lnSpc>
                <a:spcPct val="100000"/>
              </a:lnSpc>
              <a:spcBef>
                <a:spcPts val="434"/>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The connection with best performance metrics (ISP2 in this case) is selected to forward SaaS traffic. Probing continues to dynamically adjust traffic path between ISPs.</a:t>
            </a:r>
            <a:endParaRPr lang="en-AU" sz="1600" b="0" u="none" strike="noStrike">
              <a:solidFill>
                <a:srgbClr val="000000"/>
              </a:solidFill>
              <a:effectLst/>
              <a:uFillTx/>
              <a:latin typeface="Arial"/>
            </a:endParaRPr>
          </a:p>
        </p:txBody>
      </p:sp>
      <p:pic>
        <p:nvPicPr>
          <p:cNvPr id="112" name=""/>
          <p:cNvPicPr/>
          <p:nvPr/>
        </p:nvPicPr>
        <p:blipFill>
          <a:blip r:embed="rId1"/>
          <a:stretch/>
        </p:blipFill>
        <p:spPr>
          <a:xfrm>
            <a:off x="3960000" y="2578680"/>
            <a:ext cx="2339640" cy="2532960"/>
          </a:xfrm>
          <a:prstGeom prst="rect">
            <a:avLst/>
          </a:prstGeom>
          <a:noFill/>
          <a:ln w="0">
            <a:noFill/>
          </a:ln>
        </p:spPr>
      </p:pic>
      <p:pic>
        <p:nvPicPr>
          <p:cNvPr id="113" name=""/>
          <p:cNvPicPr/>
          <p:nvPr/>
        </p:nvPicPr>
        <p:blipFill>
          <a:blip r:embed="rId2"/>
          <a:stretch/>
        </p:blipFill>
        <p:spPr>
          <a:xfrm>
            <a:off x="7380000" y="2515320"/>
            <a:ext cx="2159640" cy="252432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14" name="Rectangle 17">
            <a:extLst>
              <a:ext uri="{C183D7F6-B498-43B3-948B-1728B52AA6E4}">
                <adec:decorative xmlns:adec="http://schemas.microsoft.com/office/drawing/2017/decorative" val="1"/>
              </a:ext>
            </a:extLst>
          </p:cNvPr>
          <p:cNvSpPr/>
          <p:nvPr/>
        </p:nvSpPr>
        <p:spPr>
          <a:xfrm>
            <a:off x="360" y="360"/>
            <a:ext cx="3958200" cy="8985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2.SD-WAN</a:t>
            </a:r>
            <a:endParaRPr lang="en-AU" sz="4400" b="0" u="none" strike="noStrike">
              <a:solidFill>
                <a:srgbClr val="FFFFFF"/>
              </a:solidFill>
              <a:effectLst/>
              <a:uFillTx/>
              <a:latin typeface="Arial"/>
            </a:endParaRPr>
          </a:p>
        </p:txBody>
      </p:sp>
      <p:sp>
        <p:nvSpPr>
          <p:cNvPr id="115" name="PlaceHolder 1"/>
          <p:cNvSpPr>
            <a:spLocks noGrp="1"/>
          </p:cNvSpPr>
          <p:nvPr>
            <p:ph/>
          </p:nvPr>
        </p:nvSpPr>
        <p:spPr>
          <a:xfrm>
            <a:off x="4140000" y="396000"/>
            <a:ext cx="5903640" cy="4859640"/>
          </a:xfrm>
          <a:prstGeom prst="rect">
            <a:avLst/>
          </a:prstGeom>
          <a:noFill/>
          <a:ln w="0">
            <a:noFill/>
          </a:ln>
        </p:spPr>
        <p:txBody>
          <a:bodyPr lIns="91440" tIns="45720" rIns="91440" bIns="45720" anchor="t">
            <a:normAutofit/>
          </a:bodyPr>
          <a:p>
            <a:pPr marL="216000" indent="-216000" algn="l" defTabSz="914400">
              <a:lnSpc>
                <a:spcPct val="100000"/>
              </a:lnSpc>
              <a:spcBef>
                <a:spcPts val="283"/>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Second picture shows Remote Site with single DIA and a designated Gateway node at regional hub. </a:t>
            </a:r>
            <a:endParaRPr lang="en-US" sz="1600" b="0" u="none" strike="noStrike">
              <a:solidFill>
                <a:schemeClr val="dk1"/>
              </a:solidFill>
              <a:effectLst/>
              <a:uFillTx/>
              <a:latin typeface="Aptos"/>
            </a:endParaRPr>
          </a:p>
          <a:p>
            <a:pPr marL="216000" indent="-216000" algn="l" defTabSz="914400">
              <a:lnSpc>
                <a:spcPct val="100000"/>
              </a:lnSpc>
              <a:spcBef>
                <a:spcPts val="283"/>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On configuring Cloud OnRamp on remote site and Gateway node, both routers send HTTP probe to SaaS to measure the quality.</a:t>
            </a:r>
            <a:endParaRPr lang="en-US" sz="1600" b="0" u="none" strike="noStrike">
              <a:solidFill>
                <a:schemeClr val="dk1"/>
              </a:solidFill>
              <a:effectLst/>
              <a:uFillTx/>
              <a:latin typeface="Aptos"/>
            </a:endParaRPr>
          </a:p>
          <a:p>
            <a:pPr marL="216000" indent="-216000" algn="l" defTabSz="914400">
              <a:lnSpc>
                <a:spcPct val="100000"/>
              </a:lnSpc>
              <a:spcBef>
                <a:spcPts val="283"/>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Bidirectional Forwarding Detection (BFD) protocol runs through DTLS session between remote site and Gateway node  to detect path liveliness and measure quality (loss/latency/jitter and IPSec path MTU).</a:t>
            </a:r>
            <a:endParaRPr lang="en-US" sz="1600" b="0" u="none" strike="noStrike">
              <a:solidFill>
                <a:schemeClr val="dk1"/>
              </a:solidFill>
              <a:effectLst/>
              <a:uFillTx/>
              <a:latin typeface="Aptos"/>
            </a:endParaRPr>
          </a:p>
          <a:p>
            <a:pPr marL="216000" indent="-216000" algn="l" defTabSz="914400">
              <a:lnSpc>
                <a:spcPct val="100000"/>
              </a:lnSpc>
              <a:spcBef>
                <a:spcPts val="283"/>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Gateway node shares it’s HTTP connection characteristics with remote site over OMP message exchange via vSmart controller.</a:t>
            </a:r>
            <a:endParaRPr lang="en-US" sz="1600" b="0" u="none" strike="noStrike">
              <a:solidFill>
                <a:schemeClr val="dk1"/>
              </a:solidFill>
              <a:effectLst/>
              <a:uFillTx/>
              <a:latin typeface="Aptos"/>
            </a:endParaRPr>
          </a:p>
          <a:p>
            <a:pPr marL="216000" indent="-216000" algn="l" defTabSz="914400">
              <a:lnSpc>
                <a:spcPct val="100000"/>
              </a:lnSpc>
              <a:spcBef>
                <a:spcPts val="283"/>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Remote site calculates best path for the SaaS application by comparing it’s own HTTP probe via ISP1 and connection characteristics via Gateway node (HTTP via ISP2 and BFD combined).</a:t>
            </a:r>
            <a:endParaRPr lang="en-US" sz="16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717"/>
              </a:spcBef>
              <a:buNone/>
              <a:tabLst>
                <a:tab pos="0" algn="l"/>
              </a:tabLst>
            </a:pPr>
            <a:endParaRPr lang="en-US" sz="1800" b="0" u="none" strike="noStrike">
              <a:solidFill>
                <a:schemeClr val="dk1"/>
              </a:solidFill>
              <a:effectLst/>
              <a:uFillTx/>
              <a:latin typeface="Aptos"/>
            </a:endParaRPr>
          </a:p>
        </p:txBody>
      </p:sp>
      <p:sp>
        <p:nvSpPr>
          <p:cNvPr id="116" name=""/>
          <p:cNvSpPr/>
          <p:nvPr/>
        </p:nvSpPr>
        <p:spPr>
          <a:xfrm>
            <a:off x="72000" y="1188000"/>
            <a:ext cx="3706560" cy="421056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pic>
        <p:nvPicPr>
          <p:cNvPr id="117" name=""/>
          <p:cNvPicPr/>
          <p:nvPr/>
        </p:nvPicPr>
        <p:blipFill>
          <a:blip r:embed="rId1"/>
          <a:stretch/>
        </p:blipFill>
        <p:spPr>
          <a:xfrm>
            <a:off x="540000" y="3240000"/>
            <a:ext cx="2339640" cy="2367720"/>
          </a:xfrm>
          <a:prstGeom prst="rect">
            <a:avLst/>
          </a:prstGeom>
          <a:noFill/>
          <a:ln w="0">
            <a:noFill/>
          </a:ln>
        </p:spPr>
      </p:pic>
      <p:sp>
        <p:nvSpPr>
          <p:cNvPr id="118" name=""/>
          <p:cNvSpPr/>
          <p:nvPr/>
        </p:nvSpPr>
        <p:spPr>
          <a:xfrm>
            <a:off x="0" y="1008000"/>
            <a:ext cx="3959640" cy="24994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150"/>
              </a:spcBef>
              <a:tabLst>
                <a:tab pos="0" algn="l"/>
              </a:tabLst>
            </a:pPr>
            <a:r>
              <a:rPr lang="en-US" sz="1400" b="1" u="none" strike="noStrike">
                <a:solidFill>
                  <a:schemeClr val="dk1"/>
                </a:solidFill>
                <a:effectLst/>
                <a:uFillTx/>
                <a:latin typeface="Arial"/>
                <a:ea typeface="Microsoft YaHei"/>
              </a:rPr>
              <a:t>Cloud OnRamp for IaaS:</a:t>
            </a:r>
            <a:r>
              <a:rPr lang="en-US" sz="1400" b="0" u="none" strike="noStrike">
                <a:solidFill>
                  <a:schemeClr val="dk1"/>
                </a:solidFill>
                <a:effectLst/>
                <a:uFillTx/>
                <a:latin typeface="Arial"/>
                <a:ea typeface="Microsoft YaHei"/>
              </a:rPr>
              <a:t> Multicloud is used to host certain applications in on-prem data centres, some in private cloud and other in public cloud such as AWS, Azure or Gcloud. This provides flexibility to enterprises in using compute infrastructure as required.</a:t>
            </a:r>
            <a:endParaRPr lang="en-AU" sz="1400" b="0" u="none" strike="noStrike">
              <a:solidFill>
                <a:srgbClr val="000000"/>
              </a:solidFill>
              <a:effectLst/>
              <a:uFillTx/>
              <a:latin typeface="Arial"/>
            </a:endParaRPr>
          </a:p>
          <a:p>
            <a:pPr defTabSz="914400">
              <a:lnSpc>
                <a:spcPct val="100000"/>
              </a:lnSpc>
              <a:spcBef>
                <a:spcPts val="150"/>
              </a:spcBef>
              <a:tabLst>
                <a:tab pos="0" algn="l"/>
              </a:tabLst>
            </a:pPr>
            <a:r>
              <a:rPr lang="en-US" sz="1400" b="0" u="none" strike="noStrike">
                <a:solidFill>
                  <a:schemeClr val="dk1"/>
                </a:solidFill>
                <a:effectLst/>
                <a:uFillTx/>
                <a:latin typeface="Arial"/>
                <a:ea typeface="Microsoft YaHei"/>
              </a:rPr>
              <a:t>By using SD-WAN routers it is possible to extend enterprise connectivity, end-to-end segmentation, zero-trust security and QoS policies into the public cloud Infrastructure.</a:t>
            </a:r>
            <a:endParaRPr lang="en-AU" sz="1400" b="0" u="none" strike="noStrike">
              <a:solidFill>
                <a:srgbClr val="000000"/>
              </a:solidFill>
              <a:effectLst/>
              <a:uFillTx/>
              <a:latin typeface="Arial"/>
            </a:endParaRPr>
          </a:p>
          <a:p>
            <a:pPr defTabSz="914400">
              <a:lnSpc>
                <a:spcPct val="100000"/>
              </a:lnSpc>
              <a:spcBef>
                <a:spcPts val="1001"/>
              </a:spcBef>
              <a:tabLst>
                <a:tab pos="0" algn="l"/>
              </a:tabLst>
            </a:pPr>
            <a:endParaRPr lang="en-AU"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19" name="Rectangle 18">
            <a:extLst>
              <a:ext uri="{C183D7F6-B498-43B3-948B-1728B52AA6E4}">
                <adec:decorative xmlns:adec="http://schemas.microsoft.com/office/drawing/2017/decorative" val="1"/>
              </a:ext>
            </a:extLst>
          </p:cNvPr>
          <p:cNvSpPr/>
          <p:nvPr/>
        </p:nvSpPr>
        <p:spPr>
          <a:xfrm>
            <a:off x="360" y="360"/>
            <a:ext cx="3958200" cy="8985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2.SD-WAN</a:t>
            </a:r>
            <a:endParaRPr lang="en-AU" sz="4400" b="0" u="none" strike="noStrike">
              <a:solidFill>
                <a:srgbClr val="FFFFFF"/>
              </a:solidFill>
              <a:effectLst/>
              <a:uFillTx/>
              <a:latin typeface="Arial"/>
            </a:endParaRPr>
          </a:p>
        </p:txBody>
      </p:sp>
      <p:sp>
        <p:nvSpPr>
          <p:cNvPr id="120" name="PlaceHolder 1"/>
          <p:cNvSpPr>
            <a:spLocks noGrp="1"/>
          </p:cNvSpPr>
          <p:nvPr>
            <p:ph/>
          </p:nvPr>
        </p:nvSpPr>
        <p:spPr>
          <a:xfrm>
            <a:off x="4140000" y="396000"/>
            <a:ext cx="5903640" cy="4859640"/>
          </a:xfrm>
          <a:prstGeom prst="rect">
            <a:avLst/>
          </a:prstGeom>
          <a:noFill/>
          <a:ln w="0">
            <a:noFill/>
          </a:ln>
        </p:spPr>
        <p:txBody>
          <a:bodyPr lIns="91440" tIns="45720" rIns="91440" bIns="45720" anchor="t">
            <a:normAutofit/>
          </a:bodyPr>
          <a:p>
            <a:pPr marL="216000" indent="0" algn="l" defTabSz="914400">
              <a:lnSpc>
                <a:spcPct val="100000"/>
              </a:lnSpc>
              <a:spcBef>
                <a:spcPts val="283"/>
              </a:spcBef>
              <a:spcAft>
                <a:spcPts val="283"/>
              </a:spcAft>
              <a:buNone/>
              <a:tabLst>
                <a:tab pos="0" algn="l"/>
              </a:tabLst>
            </a:pPr>
            <a:r>
              <a:rPr lang="en-US" sz="1600" b="0" u="none" strike="noStrike">
                <a:solidFill>
                  <a:schemeClr val="dk1"/>
                </a:solidFill>
                <a:effectLst/>
                <a:uFillTx/>
                <a:latin typeface="Arial"/>
                <a:ea typeface="Microsoft YaHei"/>
                <a:hlinkClick r:id="rId1"/>
              </a:rPr>
              <a:t>SDWAN-Sample Chapter cisco press book</a:t>
            </a:r>
            <a:endParaRPr lang="en-US" sz="16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717"/>
              </a:spcBef>
              <a:buNone/>
              <a:tabLst>
                <a:tab pos="0" algn="l"/>
              </a:tabLst>
            </a:pPr>
            <a:endParaRPr lang="en-US" sz="1800" b="0" u="none" strike="noStrike">
              <a:solidFill>
                <a:schemeClr val="dk1"/>
              </a:solidFill>
              <a:effectLst/>
              <a:uFillTx/>
              <a:latin typeface="Aptos"/>
            </a:endParaRPr>
          </a:p>
        </p:txBody>
      </p:sp>
      <p:sp>
        <p:nvSpPr>
          <p:cNvPr id="121" name=""/>
          <p:cNvSpPr/>
          <p:nvPr/>
        </p:nvSpPr>
        <p:spPr>
          <a:xfrm>
            <a:off x="72000" y="1188000"/>
            <a:ext cx="3706560" cy="421056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pic>
        <p:nvPicPr>
          <p:cNvPr id="122" name=""/>
          <p:cNvPicPr/>
          <p:nvPr/>
        </p:nvPicPr>
        <p:blipFill>
          <a:blip r:embed="rId2"/>
          <a:stretch/>
        </p:blipFill>
        <p:spPr>
          <a:xfrm>
            <a:off x="72000" y="1032480"/>
            <a:ext cx="3960000" cy="400752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1500</TotalTime>
  <Application>LibreOffice/26.2.5.2$Windows_X86_64 LibreOffice_project/cd7284b4cbbfeb507e630c1aac019f4157393acb</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2026-07-15T21:01:47Z</dcterms:created>
  <dc:creator/>
  <dc:description/>
  <dc:language>en-AU</dc:language>
  <cp:lastModifiedBy/>
  <dcterms:modified xsi:type="dcterms:W3CDTF">2026-08-24T11:10:45Z</dcterms:modified>
  <cp:revision>13</cp:revision>
  <dc:subject/>
  <dc:title/>
</cp:coreProperties>
</file>

<file path=docProps/custom.xml><?xml version="1.0" encoding="utf-8"?>
<Properties xmlns="http://schemas.openxmlformats.org/officeDocument/2006/custom-properties" xmlns:vt="http://schemas.openxmlformats.org/officeDocument/2006/docPropsVTypes"/>
</file>