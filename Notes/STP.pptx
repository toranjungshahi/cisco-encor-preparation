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4.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presProps.xml" ContentType="application/vnd.openxmlformats-officedocument.presentationml.presProps+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3"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280" cy="9457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Aptos Display"/>
            </a:endParaRPr>
          </a:p>
        </p:txBody>
      </p:sp>
      <p:sp>
        <p:nvSpPr>
          <p:cNvPr id="8"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p>
            <a:pPr indent="0" algn="l" defTabSz="914400">
              <a:lnSpc>
                <a:spcPct val="90000"/>
              </a:lnSpc>
              <a:spcBef>
                <a:spcPts val="998"/>
              </a:spcBef>
              <a:buNone/>
            </a:pPr>
            <a:endParaRPr lang="en-US" sz="2800" b="0" u="none" strike="noStrike">
              <a:solidFill>
                <a:schemeClr val="dk1"/>
              </a:solidFill>
              <a:effectLst/>
              <a:uFillTx/>
              <a:latin typeface="Aptos"/>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3FA7F66-00C5-4465-8A5D-E2C35B47FA68}" type="slidenum">
              <a:t>&lt;#&gt;</a:t>
            </a:fld>
          </a:p>
        </p:txBody>
      </p:sp>
      <p:sp>
        <p:nvSpPr>
          <p:cNvPr id="6" name="PlaceHolder 5"/>
          <p:cNvSpPr>
            <a:spLocks noGrp="1"/>
          </p:cNvSpPr>
          <p:nvPr>
            <p:ph type="dt" idx="3"/>
          </p:nvPr>
        </p:nvSpPr>
        <p:spPr/>
        <p:txBody>
          <a:bodyPr/>
          <a:p>
            <a:r>
              <a:rPr lang="en-AU"/>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92280" y="24840"/>
            <a:ext cx="8688240" cy="164628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6000" b="0" u="none" strike="noStrike">
                <a:solidFill>
                  <a:schemeClr val="dk1"/>
                </a:solidFill>
                <a:effectLst/>
                <a:uFillTx/>
                <a:latin typeface="Aptos Display"/>
              </a:defRPr>
            </a:lvl1pPr>
          </a:lstStyle>
          <a:p>
            <a:pPr indent="0" algn="l" defTabSz="914400">
              <a:lnSpc>
                <a:spcPct val="90000"/>
              </a:lnSpc>
              <a:buNone/>
              <a:tabLst>
                <a:tab pos="0" algn="l"/>
              </a:tabLst>
            </a:pPr>
            <a:r>
              <a:rPr lang="en-US" sz="6000" b="0" u="none" strike="noStrike">
                <a:solidFill>
                  <a:schemeClr val="dk1"/>
                </a:solidFill>
                <a:effectLst/>
                <a:uFillTx/>
                <a:latin typeface="Aptos Display"/>
              </a:rPr>
              <a:t>Click to edit the title text format</a:t>
            </a:r>
            <a:endParaRPr lang="en-US" sz="6000" b="0" u="none" strike="noStrike">
              <a:solidFill>
                <a:schemeClr val="dk1"/>
              </a:solidFill>
              <a:effectLst/>
              <a:uFillTx/>
              <a:latin typeface="Aptos Display"/>
            </a:endParaRPr>
          </a:p>
        </p:txBody>
      </p:sp>
      <p:sp>
        <p:nvSpPr>
          <p:cNvPr id="10" name="PlaceHolder 2"/>
          <p:cNvSpPr>
            <a:spLocks noGrp="1"/>
          </p:cNvSpPr>
          <p:nvPr>
            <p:ph type="ftr" idx="4"/>
          </p:nvPr>
        </p:nvSpPr>
        <p:spPr>
          <a:xfrm>
            <a:off x="4037760" y="6354360"/>
            <a:ext cx="4109040" cy="3600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11" name="PlaceHolder 3"/>
          <p:cNvSpPr>
            <a:spLocks noGrp="1"/>
          </p:cNvSpPr>
          <p:nvPr>
            <p:ph type="sldNum" idx="5"/>
          </p:nvPr>
        </p:nvSpPr>
        <p:spPr>
          <a:xfrm>
            <a:off x="8609040" y="6354360"/>
            <a:ext cx="2737440" cy="3600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201B2671-7C8E-4386-A5ED-D7C0D4887144}" type="slidenum">
              <a:rPr lang="en-AU" sz="1200" b="0" u="none" strike="noStrike">
                <a:solidFill>
                  <a:schemeClr val="dk1">
                    <a:tint val="82000"/>
                  </a:schemeClr>
                </a:solidFill>
                <a:effectLst/>
                <a:uFillTx/>
                <a:latin typeface="Aptos"/>
              </a:rPr>
              <a:t>1</a:t>
            </a:fld>
            <a:endParaRPr lang="en-AU" sz="1200" b="0" u="none" strike="noStrike">
              <a:solidFill>
                <a:srgbClr val="000000"/>
              </a:solidFill>
              <a:effectLst/>
              <a:uFillTx/>
              <a:latin typeface="Times New Roman"/>
            </a:endParaRPr>
          </a:p>
        </p:txBody>
      </p:sp>
      <p:sp>
        <p:nvSpPr>
          <p:cNvPr id="12" name="PlaceHolder 4"/>
          <p:cNvSpPr>
            <a:spLocks noGrp="1"/>
          </p:cNvSpPr>
          <p:nvPr>
            <p:ph type="dt" idx="6"/>
          </p:nvPr>
        </p:nvSpPr>
        <p:spPr>
          <a:xfrm>
            <a:off x="837360" y="6354360"/>
            <a:ext cx="2737440" cy="3600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AU" sz="1400" b="0" u="none" strike="noStrike">
                <a:solidFill>
                  <a:srgbClr val="000000"/>
                </a:solidFill>
                <a:effectLst/>
                <a:uFillTx/>
                <a:latin typeface="Times New Roman"/>
              </a:defRPr>
            </a:lvl1pPr>
          </a:lstStyle>
          <a:p>
            <a:pPr indent="0" algn="l">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13" name="PlaceHolder 5"/>
          <p:cNvSpPr>
            <a:spLocks noGrp="1"/>
          </p:cNvSpPr>
          <p:nvPr>
            <p:ph type="body"/>
          </p:nvPr>
        </p:nvSpPr>
        <p:spPr>
          <a:xfrm>
            <a:off x="504000" y="1326600"/>
            <a:ext cx="9071280" cy="32878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692280" y="24840"/>
            <a:ext cx="8688240" cy="164628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6000" b="0" u="none" strike="noStrike">
                <a:solidFill>
                  <a:schemeClr val="dk1"/>
                </a:solidFill>
                <a:effectLst/>
                <a:uFillTx/>
                <a:latin typeface="Aptos Display"/>
              </a:defRPr>
            </a:lvl1pPr>
          </a:lstStyle>
          <a:p>
            <a:pPr indent="0" algn="l" defTabSz="914400">
              <a:lnSpc>
                <a:spcPct val="90000"/>
              </a:lnSpc>
              <a:buNone/>
              <a:tabLst>
                <a:tab pos="0" algn="l"/>
              </a:tabLst>
            </a:pPr>
            <a:r>
              <a:rPr lang="en-US" sz="6000" b="0" u="none" strike="noStrike">
                <a:solidFill>
                  <a:schemeClr val="dk1"/>
                </a:solidFill>
                <a:effectLst/>
                <a:uFillTx/>
                <a:latin typeface="Aptos Display"/>
              </a:rPr>
              <a:t>Click to edit the title text format</a:t>
            </a:r>
            <a:endParaRPr lang="en-US" sz="6000" b="0" u="none" strike="noStrike">
              <a:solidFill>
                <a:schemeClr val="dk1"/>
              </a:solidFill>
              <a:effectLst/>
              <a:uFillTx/>
              <a:latin typeface="Aptos Display"/>
            </a:endParaRPr>
          </a:p>
        </p:txBody>
      </p:sp>
      <p:sp>
        <p:nvSpPr>
          <p:cNvPr id="15" name="PlaceHolder 2"/>
          <p:cNvSpPr>
            <a:spLocks noGrp="1"/>
          </p:cNvSpPr>
          <p:nvPr>
            <p:ph type="body"/>
          </p:nvPr>
        </p:nvSpPr>
        <p:spPr>
          <a:xfrm>
            <a:off x="692280" y="1508760"/>
            <a:ext cx="8688240" cy="359244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800" b="0" u="none" strike="noStrike">
                <a:solidFill>
                  <a:schemeClr val="dk1"/>
                </a:solidFill>
                <a:effectLst/>
                <a:uFillTx/>
                <a:latin typeface="Aptos"/>
              </a:defRPr>
            </a:lvl7pPr>
          </a:lstStyle>
          <a:p>
            <a:pPr marL="432000"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
        <p:nvSpPr>
          <p:cNvPr id="16" name="PlaceHolder 3"/>
          <p:cNvSpPr>
            <a:spLocks noGrp="1"/>
          </p:cNvSpPr>
          <p:nvPr>
            <p:ph type="ftr" idx="7"/>
          </p:nvPr>
        </p:nvSpPr>
        <p:spPr>
          <a:xfrm>
            <a:off x="4037760" y="6354360"/>
            <a:ext cx="4109040" cy="3600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7" name="PlaceHolder 4"/>
          <p:cNvSpPr>
            <a:spLocks noGrp="1"/>
          </p:cNvSpPr>
          <p:nvPr>
            <p:ph type="sldNum" idx="8"/>
          </p:nvPr>
        </p:nvSpPr>
        <p:spPr>
          <a:xfrm>
            <a:off x="8609040" y="6354360"/>
            <a:ext cx="2737440" cy="3600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5499CE4D-F5BC-4EB5-9959-B1CE7B6505FC}"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18" name="PlaceHolder 5"/>
          <p:cNvSpPr>
            <a:spLocks noGrp="1"/>
          </p:cNvSpPr>
          <p:nvPr>
            <p:ph type="dt" idx="9"/>
          </p:nvPr>
        </p:nvSpPr>
        <p:spPr>
          <a:xfrm>
            <a:off x="837360" y="6354360"/>
            <a:ext cx="2737440" cy="3600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AU" sz="1400" b="0" u="none" strike="noStrike">
                <a:solidFill>
                  <a:srgbClr val="000000"/>
                </a:solidFill>
                <a:effectLst/>
                <a:uFillTx/>
                <a:latin typeface="Times New Roman"/>
              </a:defRPr>
            </a:lvl1pPr>
          </a:lstStyle>
          <a:p>
            <a:pPr indent="0" algn="l">
              <a:lnSpc>
                <a:spcPct val="100000"/>
              </a:lnSpc>
              <a:buNone/>
              <a:tabLst>
                <a:tab pos="0" algn="l"/>
              </a:tabLst>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92280" y="243720"/>
            <a:ext cx="8688240" cy="120708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20" name="PlaceHolder 2"/>
          <p:cNvSpPr>
            <a:spLocks noGrp="1"/>
          </p:cNvSpPr>
          <p:nvPr>
            <p:ph type="body"/>
          </p:nvPr>
        </p:nvSpPr>
        <p:spPr>
          <a:xfrm>
            <a:off x="692280" y="1508760"/>
            <a:ext cx="8688240" cy="3592440"/>
          </a:xfrm>
          <a:prstGeom prst="rect">
            <a:avLst/>
          </a:prstGeom>
          <a:noFill/>
          <a:ln w="0">
            <a:noFill/>
          </a:ln>
        </p:spPr>
        <p:txBody>
          <a:bodyPr lIns="0" tIns="0" rIns="0" bIns="0" anchor="t">
            <a:normAutofit/>
          </a:bodyPr>
          <a:lstStyle>
            <a:lvl1pPr algn="l" defTabSz="914400">
              <a:lnSpc>
                <a:spcPct val="90000"/>
              </a:lnSpc>
              <a:spcBef>
                <a:spcPts val="998"/>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7pPr>
          </a:lstStyle>
          <a:p>
            <a:pPr marL="432000" indent="-324000" algn="l" defTabSz="914400">
              <a:lnSpc>
                <a:spcPct val="90000"/>
              </a:lnSpc>
              <a:spcBef>
                <a:spcPts val="998"/>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
        <p:nvSpPr>
          <p:cNvPr id="21" name="PlaceHolder 3"/>
          <p:cNvSpPr>
            <a:spLocks noGrp="1"/>
          </p:cNvSpPr>
          <p:nvPr>
            <p:ph type="ftr" idx="10"/>
          </p:nvPr>
        </p:nvSpPr>
        <p:spPr>
          <a:xfrm>
            <a:off x="3338280" y="5254560"/>
            <a:ext cx="3396600" cy="2970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2" name="PlaceHolder 4"/>
          <p:cNvSpPr>
            <a:spLocks noGrp="1"/>
          </p:cNvSpPr>
          <p:nvPr>
            <p:ph type="sldNum" idx="11"/>
          </p:nvPr>
        </p:nvSpPr>
        <p:spPr>
          <a:xfrm>
            <a:off x="7117920" y="5254560"/>
            <a:ext cx="2262960" cy="2970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7A6FB46A-C9D4-4229-A991-F9DF2DCF2C25}"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23" name="PlaceHolder 5"/>
          <p:cNvSpPr>
            <a:spLocks noGrp="1"/>
          </p:cNvSpPr>
          <p:nvPr>
            <p:ph type="dt" idx="12"/>
          </p:nvPr>
        </p:nvSpPr>
        <p:spPr>
          <a:xfrm>
            <a:off x="692280" y="5254560"/>
            <a:ext cx="2262960" cy="2970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AU" sz="1400" b="0" u="none" strike="noStrike">
                <a:solidFill>
                  <a:srgbClr val="000000"/>
                </a:solidFill>
                <a:effectLst/>
                <a:uFillTx/>
                <a:latin typeface="Times New Roman"/>
              </a:defRPr>
            </a:lvl1pPr>
          </a:lstStyle>
          <a:p>
            <a:pPr indent="0" algn="l">
              <a:lnSpc>
                <a:spcPct val="100000"/>
              </a:lnSpc>
              <a:buNone/>
              <a:tabLst>
                <a:tab pos="0" algn="l"/>
              </a:tabLst>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ftr" idx="16"/>
          </p:nvPr>
        </p:nvSpPr>
        <p:spPr>
          <a:xfrm>
            <a:off x="3338280" y="5254560"/>
            <a:ext cx="3396600" cy="2970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30" name="PlaceHolder 2"/>
          <p:cNvSpPr>
            <a:spLocks noGrp="1"/>
          </p:cNvSpPr>
          <p:nvPr>
            <p:ph type="sldNum" idx="17"/>
          </p:nvPr>
        </p:nvSpPr>
        <p:spPr>
          <a:xfrm>
            <a:off x="7117920" y="5254560"/>
            <a:ext cx="2262960" cy="2970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D897D8FA-1009-466E-BAB8-69EF6E1DB08F}"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31" name="PlaceHolder 3"/>
          <p:cNvSpPr>
            <a:spLocks noGrp="1"/>
          </p:cNvSpPr>
          <p:nvPr>
            <p:ph type="dt" idx="18"/>
          </p:nvPr>
        </p:nvSpPr>
        <p:spPr>
          <a:xfrm>
            <a:off x="692280" y="5254560"/>
            <a:ext cx="2262960" cy="2970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AU" sz="1400" b="0" u="none" strike="noStrike">
                <a:solidFill>
                  <a:srgbClr val="000000"/>
                </a:solidFill>
                <a:effectLst/>
                <a:uFillTx/>
                <a:latin typeface="Times New Roman"/>
              </a:defRPr>
            </a:lvl1pPr>
          </a:lstStyle>
          <a:p>
            <a:pPr indent="0" algn="l">
              <a:lnSpc>
                <a:spcPct val="100000"/>
              </a:lnSpc>
              <a:buNone/>
              <a:tabLst>
                <a:tab pos="0" algn="l"/>
              </a:tabLst>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
        <p:nvSpPr>
          <p:cNvPr id="32" name="PlaceHolder 4"/>
          <p:cNvSpPr>
            <a:spLocks noGrp="1"/>
          </p:cNvSpPr>
          <p:nvPr>
            <p:ph type="title"/>
          </p:nvPr>
        </p:nvSpPr>
        <p:spPr>
          <a:xfrm>
            <a:off x="504000" y="226080"/>
            <a:ext cx="9071280" cy="94572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33" name="PlaceHolder 5"/>
          <p:cNvSpPr>
            <a:spLocks noGrp="1"/>
          </p:cNvSpPr>
          <p:nvPr>
            <p:ph type="body"/>
          </p:nvPr>
        </p:nvSpPr>
        <p:spPr>
          <a:xfrm>
            <a:off x="504000" y="1326600"/>
            <a:ext cx="9071280" cy="3287880"/>
          </a:xfrm>
          <a:prstGeom prst="rect">
            <a:avLst/>
          </a:prstGeom>
          <a:noFill/>
          <a:ln w="0">
            <a:noFill/>
          </a:ln>
        </p:spPr>
        <p:txBody>
          <a:bodyPr lIns="0" tIns="0" rIns="0" bIns="0" anchor="t">
            <a:normAutofit/>
          </a:bodyPr>
          <a:lstStyle>
            <a:lvl1pPr algn="l" defTabSz="914400">
              <a:lnSpc>
                <a:spcPct val="90000"/>
              </a:lnSpc>
              <a:spcBef>
                <a:spcPts val="998"/>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7pPr>
          </a:lstStyle>
          <a:p>
            <a:pPr marL="432000" indent="-324000" algn="l" defTabSz="914400">
              <a:lnSpc>
                <a:spcPct val="90000"/>
              </a:lnSpc>
              <a:spcBef>
                <a:spcPts val="998"/>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ftr" idx="13"/>
          </p:nvPr>
        </p:nvSpPr>
        <p:spPr>
          <a:xfrm>
            <a:off x="3338280" y="5254560"/>
            <a:ext cx="3396600" cy="2970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5" name="PlaceHolder 2"/>
          <p:cNvSpPr>
            <a:spLocks noGrp="1"/>
          </p:cNvSpPr>
          <p:nvPr>
            <p:ph type="sldNum" idx="14"/>
          </p:nvPr>
        </p:nvSpPr>
        <p:spPr>
          <a:xfrm>
            <a:off x="7117920" y="5254560"/>
            <a:ext cx="2262960" cy="2970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534FEB71-0E56-43C2-942E-892435676A64}"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26" name="PlaceHolder 3"/>
          <p:cNvSpPr>
            <a:spLocks noGrp="1"/>
          </p:cNvSpPr>
          <p:nvPr>
            <p:ph type="dt" idx="15"/>
          </p:nvPr>
        </p:nvSpPr>
        <p:spPr>
          <a:xfrm>
            <a:off x="692280" y="5254560"/>
            <a:ext cx="2262960" cy="2970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AU" sz="1400" b="0" u="none" strike="noStrike">
                <a:solidFill>
                  <a:srgbClr val="000000"/>
                </a:solidFill>
                <a:effectLst/>
                <a:uFillTx/>
                <a:latin typeface="Times New Roman"/>
              </a:defRPr>
            </a:lvl1pPr>
          </a:lstStyle>
          <a:p>
            <a:pPr indent="0" algn="l">
              <a:lnSpc>
                <a:spcPct val="100000"/>
              </a:lnSpc>
              <a:buNone/>
              <a:tabLst>
                <a:tab pos="0" algn="l"/>
              </a:tabLst>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
        <p:nvSpPr>
          <p:cNvPr id="27" name="PlaceHolder 4"/>
          <p:cNvSpPr>
            <a:spLocks noGrp="1"/>
          </p:cNvSpPr>
          <p:nvPr>
            <p:ph type="title"/>
          </p:nvPr>
        </p:nvSpPr>
        <p:spPr>
          <a:xfrm>
            <a:off x="504000" y="226080"/>
            <a:ext cx="9071280" cy="94572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28" name="PlaceHolder 5"/>
          <p:cNvSpPr>
            <a:spLocks noGrp="1"/>
          </p:cNvSpPr>
          <p:nvPr>
            <p:ph type="body"/>
          </p:nvPr>
        </p:nvSpPr>
        <p:spPr>
          <a:xfrm>
            <a:off x="504000" y="1326600"/>
            <a:ext cx="9071280" cy="3287880"/>
          </a:xfrm>
          <a:prstGeom prst="rect">
            <a:avLst/>
          </a:prstGeom>
          <a:noFill/>
          <a:ln w="0">
            <a:noFill/>
          </a:ln>
        </p:spPr>
        <p:txBody>
          <a:bodyPr lIns="0" tIns="0" rIns="0" bIns="0" anchor="t">
            <a:normAutofit/>
          </a:bodyPr>
          <a:lstStyle>
            <a:lvl1pPr algn="l" defTabSz="914400">
              <a:lnSpc>
                <a:spcPct val="90000"/>
              </a:lnSpc>
              <a:spcBef>
                <a:spcPts val="998"/>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7pPr>
          </a:lstStyle>
          <a:p>
            <a:pPr marL="432000" indent="-324000" algn="l" defTabSz="914400">
              <a:lnSpc>
                <a:spcPct val="90000"/>
              </a:lnSpc>
              <a:spcBef>
                <a:spcPts val="998"/>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ftr" idx="19"/>
          </p:nvPr>
        </p:nvSpPr>
        <p:spPr>
          <a:xfrm>
            <a:off x="3338280" y="5254560"/>
            <a:ext cx="3396600" cy="2970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35" name="PlaceHolder 2"/>
          <p:cNvSpPr>
            <a:spLocks noGrp="1"/>
          </p:cNvSpPr>
          <p:nvPr>
            <p:ph type="sldNum" idx="20"/>
          </p:nvPr>
        </p:nvSpPr>
        <p:spPr>
          <a:xfrm>
            <a:off x="7117920" y="5254560"/>
            <a:ext cx="2262960" cy="2970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E81924BE-9823-4605-AE68-A0CCC68D677B}"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36" name="PlaceHolder 3"/>
          <p:cNvSpPr>
            <a:spLocks noGrp="1"/>
          </p:cNvSpPr>
          <p:nvPr>
            <p:ph type="dt" idx="21"/>
          </p:nvPr>
        </p:nvSpPr>
        <p:spPr>
          <a:xfrm>
            <a:off x="692280" y="5254560"/>
            <a:ext cx="2262960" cy="2970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AU" sz="1400" b="0" u="none" strike="noStrike">
                <a:solidFill>
                  <a:srgbClr val="000000"/>
                </a:solidFill>
                <a:effectLst/>
                <a:uFillTx/>
                <a:latin typeface="Times New Roman"/>
              </a:defRPr>
            </a:lvl1pPr>
          </a:lstStyle>
          <a:p>
            <a:pPr indent="0" algn="l">
              <a:lnSpc>
                <a:spcPct val="100000"/>
              </a:lnSpc>
              <a:buNone/>
              <a:tabLst>
                <a:tab pos="0" algn="l"/>
              </a:tabLst>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
        <p:nvSpPr>
          <p:cNvPr id="37" name="PlaceHolder 4"/>
          <p:cNvSpPr>
            <a:spLocks noGrp="1"/>
          </p:cNvSpPr>
          <p:nvPr>
            <p:ph type="title"/>
          </p:nvPr>
        </p:nvSpPr>
        <p:spPr>
          <a:xfrm>
            <a:off x="504000" y="226080"/>
            <a:ext cx="9071280" cy="94572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38" name="PlaceHolder 5"/>
          <p:cNvSpPr>
            <a:spLocks noGrp="1"/>
          </p:cNvSpPr>
          <p:nvPr>
            <p:ph type="body"/>
          </p:nvPr>
        </p:nvSpPr>
        <p:spPr>
          <a:xfrm>
            <a:off x="504000" y="1326600"/>
            <a:ext cx="9071280" cy="3287880"/>
          </a:xfrm>
          <a:prstGeom prst="rect">
            <a:avLst/>
          </a:prstGeom>
          <a:noFill/>
          <a:ln w="0">
            <a:noFill/>
          </a:ln>
        </p:spPr>
        <p:txBody>
          <a:bodyPr lIns="0" tIns="0" rIns="0" bIns="0" anchor="t">
            <a:normAutofit/>
          </a:bodyPr>
          <a:lstStyle>
            <a:lvl1pPr algn="l" defTabSz="914400">
              <a:lnSpc>
                <a:spcPct val="90000"/>
              </a:lnSpc>
              <a:spcBef>
                <a:spcPts val="998"/>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7pPr>
          </a:lstStyle>
          <a:p>
            <a:pPr marL="432000" indent="-324000" algn="l" defTabSz="914400">
              <a:lnSpc>
                <a:spcPct val="90000"/>
              </a:lnSpc>
              <a:spcBef>
                <a:spcPts val="998"/>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2"/>
          </p:nvPr>
        </p:nvSpPr>
        <p:spPr>
          <a:xfrm>
            <a:off x="3338280" y="5254560"/>
            <a:ext cx="3396600" cy="2970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0" name="PlaceHolder 2"/>
          <p:cNvSpPr>
            <a:spLocks noGrp="1"/>
          </p:cNvSpPr>
          <p:nvPr>
            <p:ph type="sldNum" idx="23"/>
          </p:nvPr>
        </p:nvSpPr>
        <p:spPr>
          <a:xfrm>
            <a:off x="7117920" y="5254560"/>
            <a:ext cx="2262960" cy="2970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A282FD4A-BB18-4FB1-B340-4A917184BA72}"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41" name="PlaceHolder 3"/>
          <p:cNvSpPr>
            <a:spLocks noGrp="1"/>
          </p:cNvSpPr>
          <p:nvPr>
            <p:ph type="dt" idx="24"/>
          </p:nvPr>
        </p:nvSpPr>
        <p:spPr>
          <a:xfrm>
            <a:off x="692280" y="5254560"/>
            <a:ext cx="2262960" cy="2970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AU" sz="1400" b="0" u="none" strike="noStrike">
                <a:solidFill>
                  <a:srgbClr val="000000"/>
                </a:solidFill>
                <a:effectLst/>
                <a:uFillTx/>
                <a:latin typeface="Times New Roman"/>
              </a:defRPr>
            </a:lvl1pPr>
          </a:lstStyle>
          <a:p>
            <a:pPr indent="0" algn="l">
              <a:lnSpc>
                <a:spcPct val="100000"/>
              </a:lnSpc>
              <a:buNone/>
              <a:tabLst>
                <a:tab pos="0" algn="l"/>
              </a:tabLst>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
        <p:nvSpPr>
          <p:cNvPr id="42" name="PlaceHolder 4"/>
          <p:cNvSpPr>
            <a:spLocks noGrp="1"/>
          </p:cNvSpPr>
          <p:nvPr>
            <p:ph type="title"/>
          </p:nvPr>
        </p:nvSpPr>
        <p:spPr>
          <a:xfrm>
            <a:off x="504000" y="226080"/>
            <a:ext cx="9071280" cy="94572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43" name="PlaceHolder 5"/>
          <p:cNvSpPr>
            <a:spLocks noGrp="1"/>
          </p:cNvSpPr>
          <p:nvPr>
            <p:ph type="body"/>
          </p:nvPr>
        </p:nvSpPr>
        <p:spPr>
          <a:xfrm>
            <a:off x="504000" y="1326600"/>
            <a:ext cx="9071280" cy="3287880"/>
          </a:xfrm>
          <a:prstGeom prst="rect">
            <a:avLst/>
          </a:prstGeom>
          <a:noFill/>
          <a:ln w="0">
            <a:noFill/>
          </a:ln>
        </p:spPr>
        <p:txBody>
          <a:bodyPr lIns="0" tIns="0" rIns="0" bIns="0" anchor="t">
            <a:normAutofit/>
          </a:bodyPr>
          <a:lstStyle>
            <a:lvl1pPr algn="l" defTabSz="914400">
              <a:lnSpc>
                <a:spcPct val="90000"/>
              </a:lnSpc>
              <a:spcBef>
                <a:spcPts val="998"/>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7pPr>
          </a:lstStyle>
          <a:p>
            <a:pPr marL="432000" indent="-324000" algn="l" defTabSz="914400">
              <a:lnSpc>
                <a:spcPct val="90000"/>
              </a:lnSpc>
              <a:spcBef>
                <a:spcPts val="998"/>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363600"/>
            <a:ext cx="9071280" cy="670680"/>
          </a:xfrm>
          <a:prstGeom prst="rect">
            <a:avLst/>
          </a:prstGeom>
          <a:noFill/>
          <a:ln w="0">
            <a:noFill/>
          </a:ln>
        </p:spPr>
        <p:txBody>
          <a:bodyPr lIns="0" tIns="0" rIns="0" bIns="0" anchor="ctr">
            <a:spAutoFit/>
          </a:bodyPr>
          <a:lstStyle>
            <a:lvl1pPr indent="0" algn="l">
              <a:buNone/>
              <a:tabLst>
                <a:tab pos="0" algn="l"/>
              </a:tabLst>
              <a:defRPr lang="en-AU" sz="4400" b="0" u="none" strike="noStrike">
                <a:solidFill>
                  <a:srgbClr val="000000"/>
                </a:solidFill>
                <a:effectLst/>
                <a:uFillTx/>
                <a:latin typeface="Arial"/>
              </a:defRPr>
            </a:lvl1pPr>
          </a:lstStyle>
          <a:p>
            <a:pPr indent="0" algn="l">
              <a:buNone/>
              <a:tabLst>
                <a:tab pos="0" algn="l"/>
              </a:tabLst>
            </a:pPr>
            <a:r>
              <a:rPr lang="en-AU" sz="4400" b="0" u="none" strike="noStrike">
                <a:solidFill>
                  <a:srgbClr val="000000"/>
                </a:solidFill>
                <a:effectLst/>
                <a:uFillTx/>
                <a:latin typeface="Arial"/>
              </a:rPr>
              <a:t>Click to edit the title text format</a:t>
            </a:r>
            <a:endParaRPr lang="en-AU" sz="4400" b="0" u="none" strike="noStrike">
              <a:solidFill>
                <a:srgbClr val="000000"/>
              </a:solidFill>
              <a:effectLst/>
              <a:uFillTx/>
              <a:latin typeface="Arial"/>
            </a:endParaRPr>
          </a:p>
        </p:txBody>
      </p:sp>
      <p:sp>
        <p:nvSpPr>
          <p:cNvPr id="3" name="PlaceHolder 2"/>
          <p:cNvSpPr>
            <a:spLocks noGrp="1"/>
          </p:cNvSpPr>
          <p:nvPr>
            <p:ph type="body"/>
          </p:nvPr>
        </p:nvSpPr>
        <p:spPr>
          <a:xfrm>
            <a:off x="504000" y="1326600"/>
            <a:ext cx="9071280" cy="32878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AU"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AU"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AU"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AU"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AU"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AU"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AU" sz="1800" b="0" u="none" strike="noStrike">
                <a:solidFill>
                  <a:srgbClr val="000000"/>
                </a:solidFill>
                <a:effectLst/>
                <a:uFillTx/>
                <a:latin typeface="Arial"/>
              </a:defRPr>
            </a:lvl7pPr>
          </a:lstStyle>
          <a:p>
            <a:pPr indent="-324000" algn="l">
              <a:spcBef>
                <a:spcPts val="1417"/>
              </a:spcBef>
              <a:buClr>
                <a:srgbClr val="000000"/>
              </a:buClr>
              <a:buSzPct val="45000"/>
              <a:buFont typeface="Wingdings" charset="2"/>
              <a:buChar char=""/>
            </a:pPr>
            <a:r>
              <a:rPr lang="en-AU" sz="1800" b="0" u="none" strike="noStrike">
                <a:solidFill>
                  <a:srgbClr val="000000"/>
                </a:solidFill>
                <a:effectLst/>
                <a:uFillTx/>
                <a:latin typeface="Arial"/>
              </a:rPr>
              <a:t>Click to edit the outline text format</a:t>
            </a:r>
            <a:endParaRPr lang="en-AU"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AU" sz="1800" b="0" u="none" strike="noStrike">
                <a:solidFill>
                  <a:srgbClr val="000000"/>
                </a:solidFill>
                <a:effectLst/>
                <a:uFillTx/>
                <a:latin typeface="Arial"/>
              </a:rPr>
              <a:t>Second Outline Level</a:t>
            </a:r>
            <a:endParaRPr lang="en-AU"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AU" sz="1800" b="0" u="none" strike="noStrike">
                <a:solidFill>
                  <a:srgbClr val="000000"/>
                </a:solidFill>
                <a:effectLst/>
                <a:uFillTx/>
                <a:latin typeface="Arial"/>
              </a:rPr>
              <a:t>Third Outline Level</a:t>
            </a:r>
            <a:endParaRPr lang="en-AU"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AU" sz="1800" b="0" u="none" strike="noStrike">
                <a:solidFill>
                  <a:srgbClr val="000000"/>
                </a:solidFill>
                <a:effectLst/>
                <a:uFillTx/>
                <a:latin typeface="Arial"/>
              </a:rPr>
              <a:t>Fourth Outline Level</a:t>
            </a:r>
            <a:endParaRPr lang="en-AU"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AU" sz="1800" b="0" u="none" strike="noStrike">
                <a:solidFill>
                  <a:srgbClr val="000000"/>
                </a:solidFill>
                <a:effectLst/>
                <a:uFillTx/>
                <a:latin typeface="Arial"/>
              </a:rPr>
              <a:t>Fifth Outline Level</a:t>
            </a:r>
            <a:endParaRPr lang="en-AU"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AU" sz="1800" b="0" u="none" strike="noStrike">
                <a:solidFill>
                  <a:srgbClr val="000000"/>
                </a:solidFill>
                <a:effectLst/>
                <a:uFillTx/>
                <a:latin typeface="Arial"/>
              </a:rPr>
              <a:t>Sixth Outline Level</a:t>
            </a:r>
            <a:endParaRPr lang="en-AU"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AU" sz="1800" b="0" u="none" strike="noStrike">
                <a:solidFill>
                  <a:srgbClr val="000000"/>
                </a:solidFill>
                <a:effectLst/>
                <a:uFillTx/>
                <a:latin typeface="Arial"/>
              </a:rPr>
              <a:t>Seventh Outline Level</a:t>
            </a:r>
            <a:endParaRPr lang="en-AU" sz="1800" b="0" u="none" strike="noStrike">
              <a:solidFill>
                <a:srgbClr val="000000"/>
              </a:solidFill>
              <a:effectLst/>
              <a:uFillTx/>
              <a:latin typeface="Arial"/>
            </a:endParaRPr>
          </a:p>
        </p:txBody>
      </p:sp>
      <p:sp>
        <p:nvSpPr>
          <p:cNvPr id="4" name="PlaceHolder 3"/>
          <p:cNvSpPr>
            <a:spLocks noGrp="1"/>
          </p:cNvSpPr>
          <p:nvPr>
            <p:ph type="ftr" idx="1"/>
          </p:nvPr>
        </p:nvSpPr>
        <p:spPr>
          <a:xfrm>
            <a:off x="3447360" y="5165280"/>
            <a:ext cx="3193560" cy="389160"/>
          </a:xfrm>
          <a:prstGeom prst="rect">
            <a:avLst/>
          </a:prstGeom>
          <a:noFill/>
          <a:ln w="0">
            <a:noFill/>
          </a:ln>
        </p:spPr>
        <p:txBody>
          <a:bodyPr lIns="0" tIns="0" rIns="0" bIns="0" anchor="t">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 name="PlaceHolder 4"/>
          <p:cNvSpPr>
            <a:spLocks noGrp="1"/>
          </p:cNvSpPr>
          <p:nvPr>
            <p:ph type="sldNum" idx="2"/>
          </p:nvPr>
        </p:nvSpPr>
        <p:spPr>
          <a:xfrm>
            <a:off x="7227360" y="5165280"/>
            <a:ext cx="2346840" cy="389160"/>
          </a:xfrm>
          <a:prstGeom prst="rect">
            <a:avLst/>
          </a:prstGeom>
          <a:noFill/>
          <a:ln w="0">
            <a:noFill/>
          </a:ln>
        </p:spPr>
        <p:txBody>
          <a:bodyPr lIns="0" tIns="0" rIns="0" bIns="0" anchor="t">
            <a:noAutofit/>
          </a:bodyPr>
          <a:lstStyle>
            <a:lvl1pPr indent="0" algn="r">
              <a:lnSpc>
                <a:spcPct val="100000"/>
              </a:lnSpc>
              <a:buNone/>
              <a:tabLst>
                <a:tab pos="0" algn="l"/>
              </a:tabLst>
              <a:defRPr lang="en-AU" sz="1400" b="0" u="none" strike="noStrike">
                <a:solidFill>
                  <a:srgbClr val="000000"/>
                </a:solidFill>
                <a:effectLst/>
                <a:uFillTx/>
                <a:latin typeface="Times New Roman"/>
              </a:defRPr>
            </a:lvl1pPr>
          </a:lstStyle>
          <a:p>
            <a:pPr indent="0" algn="r">
              <a:lnSpc>
                <a:spcPct val="100000"/>
              </a:lnSpc>
              <a:buNone/>
              <a:tabLst>
                <a:tab pos="0" algn="l"/>
              </a:tabLst>
            </a:pPr>
            <a:fld id="{D66DD44D-F565-4ACF-85CE-1A07BC48CCD3}" type="slidenum">
              <a:rPr lang="en-AU" sz="1400" b="0" u="none" strike="noStrike">
                <a:solidFill>
                  <a:srgbClr val="000000"/>
                </a:solidFill>
                <a:effectLst/>
                <a:uFillTx/>
                <a:latin typeface="Times New Roman"/>
              </a:rPr>
              <a:t>&lt;number&gt;</a:t>
            </a:fld>
            <a:endParaRPr lang="en-AU" sz="1400" b="0" u="none" strike="noStrike">
              <a:solidFill>
                <a:srgbClr val="000000"/>
              </a:solidFill>
              <a:effectLst/>
              <a:uFillTx/>
              <a:latin typeface="Times New Roman"/>
            </a:endParaRPr>
          </a:p>
        </p:txBody>
      </p:sp>
      <p:sp>
        <p:nvSpPr>
          <p:cNvPr id="6" name="PlaceHolder 5"/>
          <p:cNvSpPr>
            <a:spLocks noGrp="1"/>
          </p:cNvSpPr>
          <p:nvPr>
            <p:ph type="dt" idx="3"/>
          </p:nvPr>
        </p:nvSpPr>
        <p:spPr>
          <a:xfrm>
            <a:off x="504000" y="5165280"/>
            <a:ext cx="2346840" cy="389160"/>
          </a:xfrm>
          <a:prstGeom prst="rect">
            <a:avLst/>
          </a:prstGeom>
          <a:noFill/>
          <a:ln w="0">
            <a:noFill/>
          </a:ln>
        </p:spPr>
        <p:txBody>
          <a:bodyPr lIns="0" tIns="0" rIns="0" bIns="0" anchor="t">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2"/>
    <p:sldLayoutId id="2147483655" r:id="rId3"/>
    <p:sldLayoutId id="2147483656" r:id="rId4"/>
    <p:sldLayoutId id="2147483657" r:id="rId5"/>
    <p:sldLayoutId id="2147483658" r:id="rId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slideLayout" Target="../slideLayouts/slideLayout5.xml"/>
</Relationships>
</file>

<file path=ppt/slides/_rels/slide25.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5.xml"/>
</Relationships>
</file>

<file path=ppt/slides/_rels/slide26.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5.xml"/>
</Relationships>
</file>

<file path=ppt/slides/_rels/slide27.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44" name="Rectangle 20">
            <a:extLst>
              <a:ext uri="{C183D7F6-B498-43B3-948B-1728B52AA6E4}">
                <adec:decorative xmlns:adec="http://schemas.microsoft.com/office/drawing/2017/decorative" val="1"/>
              </a:ext>
            </a:extLst>
          </p:cNvPr>
          <p:cNvSpPr/>
          <p:nvPr/>
        </p:nvSpPr>
        <p:spPr>
          <a:xfrm>
            <a:off x="0" y="0"/>
            <a:ext cx="12182400" cy="6851520"/>
          </a:xfrm>
          <a:prstGeom prst="rect">
            <a:avLst/>
          </a:prstGeom>
          <a:ln w="190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45" name="PlaceHolder 1"/>
          <p:cNvSpPr>
            <a:spLocks noGrp="1"/>
          </p:cNvSpPr>
          <p:nvPr>
            <p:ph type="title"/>
          </p:nvPr>
        </p:nvSpPr>
        <p:spPr>
          <a:xfrm>
            <a:off x="35280" y="179280"/>
            <a:ext cx="4280760" cy="542520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400" b="0" u="none" strike="noStrike">
                <a:solidFill>
                  <a:schemeClr val="dk1"/>
                </a:solidFill>
                <a:effectLst/>
                <a:uFillTx/>
                <a:latin typeface="Arial"/>
              </a:rPr>
              <a:t>Spanning Tree Protocol </a:t>
            </a:r>
            <a:endParaRPr lang="en-US" sz="4400" b="0" u="none" strike="noStrike">
              <a:solidFill>
                <a:schemeClr val="dk1"/>
              </a:solidFill>
              <a:effectLst/>
              <a:uFillTx/>
              <a:latin typeface="Aptos Display"/>
            </a:endParaRPr>
          </a:p>
        </p:txBody>
      </p:sp>
      <p:sp>
        <p:nvSpPr>
          <p:cNvPr id="46" name="sketch line 2">
            <a:extLst>
              <a:ext uri="{C183D7F6-B498-43B3-948B-1728B52AA6E4}">
                <adec:decorative xmlns:adec="http://schemas.microsoft.com/office/drawing/2017/decorative" val="1"/>
              </a:ext>
            </a:extLst>
          </p:cNvPr>
          <p:cNvSpPr/>
          <p:nvPr/>
        </p:nvSpPr>
        <p:spPr>
          <a:xfrm rot="5400000">
            <a:off x="2548800" y="3256920"/>
            <a:ext cx="4474080" cy="13320"/>
          </a:xfrm>
          <a:custGeom>
            <a:avLst/>
            <a:gdLst>
              <a:gd name="textAreaLeft" fmla="*/ 0 w 4474080"/>
              <a:gd name="textAreaRight" fmla="*/ 4478400 w 4474080"/>
              <a:gd name="textAreaTop" fmla="*/ 0 h 13320"/>
              <a:gd name="textAreaBottom" fmla="*/ 18360 h 13320"/>
              <a:gd name="GluePoint1X" fmla="*/ 0 w 4480560"/>
              <a:gd name="GluePoint1Y" fmla="*/ 0 h 18288"/>
              <a:gd name="GluePoint2X" fmla="*/ 595274 w 4480560"/>
              <a:gd name="GluePoint2Y" fmla="*/ 0 h 18288"/>
              <a:gd name="GluePoint3X" fmla="*/ 1100938 w 4480560"/>
              <a:gd name="GluePoint3Y" fmla="*/ 0 h 18288"/>
              <a:gd name="GluePoint4X" fmla="*/ 1651406 w 4480560"/>
              <a:gd name="GluePoint4Y" fmla="*/ 0 h 18288"/>
              <a:gd name="GluePoint5X" fmla="*/ 2336292 w 4480560"/>
              <a:gd name="GluePoint5Y" fmla="*/ 0 h 18288"/>
              <a:gd name="GluePoint6X" fmla="*/ 2931566 w 4480560"/>
              <a:gd name="GluePoint6Y" fmla="*/ 0 h 18288"/>
              <a:gd name="GluePoint7X" fmla="*/ 3482035 w 4480560"/>
              <a:gd name="GluePoint7Y" fmla="*/ 0 h 18288"/>
              <a:gd name="GluePoint8X" fmla="*/ 4480560 w 4480560"/>
              <a:gd name="GluePoint8Y" fmla="*/ 0 h 18288"/>
              <a:gd name="GluePoint9X" fmla="*/ 4480560 w 4480560"/>
              <a:gd name="GluePoint9Y" fmla="*/ 18288 h 18288"/>
              <a:gd name="GluePoint10X" fmla="*/ 3840480 w 4480560"/>
              <a:gd name="GluePoint10Y" fmla="*/ 18288 h 18288"/>
              <a:gd name="GluePoint11X" fmla="*/ 3290011 w 4480560"/>
              <a:gd name="GluePoint11Y" fmla="*/ 18288 h 18288"/>
              <a:gd name="GluePoint12X" fmla="*/ 2560320 w 4480560"/>
              <a:gd name="GluePoint12Y" fmla="*/ 18288 h 18288"/>
              <a:gd name="GluePoint13X" fmla="*/ 1965046 w 4480560"/>
              <a:gd name="GluePoint13Y" fmla="*/ 18288 h 18288"/>
              <a:gd name="GluePoint14X" fmla="*/ 1459382 w 4480560"/>
              <a:gd name="GluePoint14Y" fmla="*/ 18288 h 18288"/>
              <a:gd name="GluePoint15X" fmla="*/ 774497 w 4480560"/>
              <a:gd name="GluePoint15Y" fmla="*/ 18288 h 18288"/>
              <a:gd name="GluePoint16X" fmla="*/ 0 w 4480560"/>
              <a:gd name="GluePoint16Y" fmla="*/ 18288 h 18288"/>
              <a:gd name="GluePoint17X" fmla="*/ 0 w 4480560"/>
              <a:gd name="GluePoint17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textAreaLeft" t="textAreaTop" r="textAreaRight" b="textAreaBottom"/>
            <a:pathLst>
              <a:path fill="none" w="4480560" h="18288">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stroke="0" w="4480560" h="18288">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cap="rnd" w="41400">
            <a:solidFill>
              <a:srgbClr val="E97132"/>
            </a:solidFill>
            <a:round/>
          </a:ln>
        </p:spPr>
        <p:style>
          <a:lnRef idx="0"/>
          <a:fillRef idx="0"/>
          <a:effectRef idx="0"/>
          <a:fontRef idx="minor"/>
        </p:style>
        <p:txBody>
          <a:bodyPr lIns="90000" tIns="-26640" rIns="90000" bIns="-26640" anchor="ctr">
            <a:noAutofit/>
          </a:bodyPr>
          <a:p>
            <a:endParaRPr lang="en-US" sz="1800" b="0" u="none" strike="noStrike">
              <a:solidFill>
                <a:schemeClr val="lt1"/>
              </a:solidFill>
              <a:effectLst/>
              <a:uFillTx/>
              <a:latin typeface="Aptos"/>
            </a:endParaRPr>
          </a:p>
        </p:txBody>
      </p:sp>
      <p:sp>
        <p:nvSpPr>
          <p:cNvPr id="47" name="PlaceHolder 2"/>
          <p:cNvSpPr>
            <a:spLocks noGrp="1"/>
          </p:cNvSpPr>
          <p:nvPr>
            <p:ph type="subTitle"/>
          </p:nvPr>
        </p:nvSpPr>
        <p:spPr>
          <a:xfrm>
            <a:off x="4756680" y="264600"/>
            <a:ext cx="7120080" cy="6274440"/>
          </a:xfrm>
          <a:prstGeom prst="rect">
            <a:avLst/>
          </a:prstGeom>
          <a:noFill/>
          <a:ln w="0">
            <a:noFill/>
          </a:ln>
        </p:spPr>
        <p:txBody>
          <a:bodyPr lIns="91440" tIns="45720" rIns="91440" bIns="45720" anchor="ctr">
            <a:noAutofit/>
          </a:bodyPr>
          <a:p>
            <a:pPr indent="0" algn="l" defTabSz="914400">
              <a:lnSpc>
                <a:spcPct val="90000"/>
              </a:lnSpc>
              <a:spcBef>
                <a:spcPts val="1001"/>
              </a:spcBef>
              <a:buNone/>
              <a:tabLst>
                <a:tab pos="0" algn="l"/>
              </a:tabLst>
            </a:pPr>
            <a:r>
              <a:rPr lang="en-US" sz="2400" b="1" u="none" strike="noStrike">
                <a:solidFill>
                  <a:schemeClr val="dk1"/>
                </a:solidFill>
                <a:effectLst/>
                <a:uFillTx/>
                <a:latin typeface="Arial"/>
              </a:rPr>
              <a:t>Learning Outcomes:</a:t>
            </a:r>
            <a:endParaRPr lang="en-AU" sz="2400" b="0" u="none" strike="noStrike">
              <a:solidFill>
                <a:srgbClr val="000000"/>
              </a:solidFill>
              <a:effectLst/>
              <a:uFillTx/>
              <a:latin typeface="Arial"/>
            </a:endParaRPr>
          </a:p>
          <a:p>
            <a:pPr marL="216000" indent="-228600" algn="l" defTabSz="914400">
              <a:lnSpc>
                <a:spcPct val="90000"/>
              </a:lnSpc>
              <a:spcBef>
                <a:spcPts val="1001"/>
              </a:spcBef>
              <a:buClr>
                <a:srgbClr val="000000"/>
              </a:buClr>
              <a:buFont typeface="OpenSymbol"/>
              <a:buAutoNum type="arabicPeriod"/>
              <a:tabLst>
                <a:tab pos="0" algn="l"/>
              </a:tabLst>
            </a:pPr>
            <a:r>
              <a:rPr lang="en-US" sz="2400" b="1" u="none" strike="noStrike">
                <a:solidFill>
                  <a:schemeClr val="accent6"/>
                </a:solidFill>
                <a:effectLst/>
                <a:uFillTx/>
                <a:latin typeface="Arial"/>
              </a:rPr>
              <a:t>Spanning Tree Protocol (STP)</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OpenSymbol"/>
              <a:buAutoNum type="arabicPeriod"/>
              <a:tabLst>
                <a:tab pos="0" algn="l"/>
              </a:tabLst>
            </a:pPr>
            <a:r>
              <a:rPr lang="en-US" sz="2400" b="1" u="none" strike="noStrike">
                <a:solidFill>
                  <a:schemeClr val="accent6"/>
                </a:solidFill>
                <a:effectLst/>
                <a:uFillTx/>
                <a:latin typeface="Arial"/>
              </a:rPr>
              <a:t>Rapid STP (RSTP) </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OpenSymbol"/>
              <a:buAutoNum type="arabicPeriod"/>
              <a:tabLst>
                <a:tab pos="0" algn="l"/>
              </a:tabLst>
            </a:pPr>
            <a:r>
              <a:rPr lang="en-US" sz="2400" b="1" u="none" strike="noStrike">
                <a:solidFill>
                  <a:schemeClr val="accent6"/>
                </a:solidFill>
                <a:effectLst/>
                <a:uFillTx/>
                <a:latin typeface="Arial"/>
              </a:rPr>
              <a:t>Advanced STP Tuning</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OpenSymbol"/>
              <a:buAutoNum type="arabicPeriod"/>
              <a:tabLst>
                <a:tab pos="0" algn="l"/>
              </a:tabLst>
            </a:pPr>
            <a:r>
              <a:rPr lang="en-US" sz="2400" b="1" u="none" strike="noStrike">
                <a:solidFill>
                  <a:schemeClr val="accent6"/>
                </a:solidFill>
                <a:effectLst/>
                <a:uFillTx/>
                <a:latin typeface="Arial"/>
              </a:rPr>
              <a:t>STP Protection Mechanisms</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OpenSymbol"/>
              <a:buAutoNum type="arabicPeriod"/>
              <a:tabLst>
                <a:tab pos="0" algn="l"/>
              </a:tabLst>
            </a:pPr>
            <a:r>
              <a:rPr lang="en-US" sz="2400" b="1" u="none" strike="noStrike">
                <a:solidFill>
                  <a:schemeClr val="accent6"/>
                </a:solidFill>
                <a:effectLst/>
                <a:uFillTx/>
                <a:latin typeface="Arial"/>
              </a:rPr>
              <a:t>Multiple Spanning Tree (MST)</a:t>
            </a:r>
            <a:endParaRPr lang="en-AU" sz="2400" b="0" u="none" strike="noStrike">
              <a:solidFill>
                <a:srgbClr val="000000"/>
              </a:solidFill>
              <a:effectLst/>
              <a:uFillTx/>
              <a:latin typeface="Arial"/>
            </a:endParaRPr>
          </a:p>
          <a:p>
            <a:pPr marL="216000" indent="0" algn="l" defTabSz="914400">
              <a:lnSpc>
                <a:spcPct val="90000"/>
              </a:lnSpc>
              <a:spcBef>
                <a:spcPts val="499"/>
              </a:spcBef>
              <a:buNone/>
              <a:tabLst>
                <a:tab pos="0" algn="l"/>
              </a:tabLst>
            </a:pPr>
            <a:endParaRPr lang="en-AU"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Rectangle 4">
            <a:extLst>
              <a:ext uri="{C183D7F6-B498-43B3-948B-1728B52AA6E4}">
                <adec:decorative xmlns:adec="http://schemas.microsoft.com/office/drawing/2017/decorative" val="1"/>
              </a:ext>
            </a:extLst>
          </p:cNvPr>
          <p:cNvSpPr/>
          <p:nvPr/>
        </p:nvSpPr>
        <p:spPr>
          <a:xfrm>
            <a:off x="360" y="360"/>
            <a:ext cx="359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1.STP</a:t>
            </a:r>
            <a:endParaRPr lang="en-AU" sz="4400" b="0" u="none" strike="noStrike">
              <a:solidFill>
                <a:srgbClr val="FFFFFF"/>
              </a:solidFill>
              <a:effectLst/>
              <a:uFillTx/>
              <a:latin typeface="Arial"/>
            </a:endParaRPr>
          </a:p>
        </p:txBody>
      </p:sp>
      <p:sp>
        <p:nvSpPr>
          <p:cNvPr id="49" name="PlaceHolder 1"/>
          <p:cNvSpPr>
            <a:spLocks noGrp="1"/>
          </p:cNvSpPr>
          <p:nvPr>
            <p:ph/>
          </p:nvPr>
        </p:nvSpPr>
        <p:spPr>
          <a:xfrm>
            <a:off x="3780000" y="76320"/>
            <a:ext cx="6117120" cy="550044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Spanning Tree Protocol iterations: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1" u="none" strike="noStrike">
                <a:solidFill>
                  <a:schemeClr val="dk1"/>
                </a:solidFill>
                <a:effectLst/>
                <a:uFillTx/>
                <a:latin typeface="Arial"/>
                <a:ea typeface="Microsoft YaHei"/>
              </a:rPr>
              <a:t>802.1D</a:t>
            </a:r>
            <a:r>
              <a:rPr lang="en-US" sz="1600" b="0" u="none" strike="noStrike">
                <a:solidFill>
                  <a:schemeClr val="dk1"/>
                </a:solidFill>
                <a:effectLst/>
                <a:uFillTx/>
                <a:latin typeface="Arial"/>
                <a:ea typeface="Microsoft YaHei"/>
              </a:rPr>
              <a:t>, Original Spanning Tree Protocol specification</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Per VLAN Spanning Tree (PVST)</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Per VLAN Spanning Tree Plus (PVST+)</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1" u="none" strike="noStrike">
                <a:solidFill>
                  <a:schemeClr val="dk1"/>
                </a:solidFill>
                <a:effectLst/>
                <a:uFillTx/>
                <a:latin typeface="Arial"/>
                <a:ea typeface="Microsoft YaHei"/>
              </a:rPr>
              <a:t>802.1W</a:t>
            </a:r>
            <a:r>
              <a:rPr lang="en-US" sz="1600" b="0" u="none" strike="noStrike">
                <a:solidFill>
                  <a:schemeClr val="dk1"/>
                </a:solidFill>
                <a:effectLst/>
                <a:uFillTx/>
                <a:latin typeface="Arial"/>
                <a:ea typeface="Microsoft YaHei"/>
              </a:rPr>
              <a:t>, Rapid Spanning Tree Protocol (RSTP)</a:t>
            </a:r>
            <a:endParaRPr lang="en-US" sz="1600" b="0" u="none" strike="noStrike">
              <a:solidFill>
                <a:schemeClr val="dk1"/>
              </a:solidFill>
              <a:effectLst/>
              <a:uFillTx/>
              <a:latin typeface="Aptos"/>
            </a:endParaRPr>
          </a:p>
          <a:p>
            <a:pPr marL="162000" indent="-162000" algn="l" defTabSz="914400">
              <a:lnSpc>
                <a:spcPct val="100000"/>
              </a:lnSpc>
              <a:spcBef>
                <a:spcPts val="998"/>
              </a:spcBef>
              <a:buClr>
                <a:srgbClr val="000000"/>
              </a:buClr>
              <a:buSzPct val="45000"/>
              <a:buFont typeface="Wingdings" charset="2"/>
              <a:buChar char=""/>
              <a:tabLst>
                <a:tab pos="0" algn="l"/>
              </a:tabLst>
            </a:pPr>
            <a:r>
              <a:rPr lang="en-US" sz="1600" b="1" u="none" strike="noStrike">
                <a:solidFill>
                  <a:schemeClr val="dk1"/>
                </a:solidFill>
                <a:effectLst/>
                <a:uFillTx/>
                <a:latin typeface="Arial"/>
                <a:ea typeface="Microsoft YaHei"/>
              </a:rPr>
              <a:t>802.1S</a:t>
            </a:r>
            <a:r>
              <a:rPr lang="en-US" sz="1600" b="0" u="none" strike="noStrike">
                <a:solidFill>
                  <a:schemeClr val="dk1"/>
                </a:solidFill>
                <a:effectLst/>
                <a:uFillTx/>
                <a:latin typeface="Arial"/>
                <a:ea typeface="Microsoft YaHei"/>
              </a:rPr>
              <a:t>,Multiple Spanning Tree (MST)</a:t>
            </a:r>
            <a:endParaRPr lang="en-US" sz="1600" b="0" u="none" strike="noStrike">
              <a:solidFill>
                <a:schemeClr val="dk1"/>
              </a:solidFill>
              <a:effectLst/>
              <a:uFillTx/>
              <a:latin typeface="Aptos"/>
            </a:endParaRPr>
          </a:p>
          <a:p>
            <a:pPr indent="0" algn="l" defTabSz="914400">
              <a:lnSpc>
                <a:spcPct val="100000"/>
              </a:lnSpc>
              <a:spcBef>
                <a:spcPts val="434"/>
              </a:spcBef>
              <a:buNone/>
              <a:tabLst>
                <a:tab pos="0" algn="l"/>
              </a:tabLst>
            </a:pPr>
            <a:r>
              <a:rPr lang="en-US" sz="1600" b="1" u="none" strike="noStrike">
                <a:solidFill>
                  <a:schemeClr val="dk1"/>
                </a:solidFill>
                <a:effectLst/>
                <a:uFillTx/>
                <a:latin typeface="Arial"/>
                <a:ea typeface="Microsoft YaHei"/>
              </a:rPr>
              <a:t>802.1D</a:t>
            </a:r>
            <a:r>
              <a:rPr lang="en-US" sz="1600" b="0" u="none" strike="noStrike">
                <a:solidFill>
                  <a:schemeClr val="dk1"/>
                </a:solidFill>
                <a:effectLst/>
                <a:uFillTx/>
                <a:latin typeface="Arial"/>
                <a:ea typeface="Microsoft YaHei"/>
              </a:rPr>
              <a:t> is the basis of all iterations and creates single spanning tree topology.</a:t>
            </a:r>
            <a:endParaRPr lang="en-US" sz="1600" b="0" u="none" strike="noStrike">
              <a:solidFill>
                <a:schemeClr val="dk1"/>
              </a:solidFill>
              <a:effectLst/>
              <a:uFillTx/>
              <a:latin typeface="Aptos"/>
            </a:endParaRPr>
          </a:p>
          <a:p>
            <a:pPr indent="0" algn="l" defTabSz="914400">
              <a:lnSpc>
                <a:spcPct val="100000"/>
              </a:lnSpc>
              <a:spcBef>
                <a:spcPts val="434"/>
              </a:spcBef>
              <a:buNone/>
              <a:tabLst>
                <a:tab pos="0" algn="l"/>
              </a:tabLst>
            </a:pPr>
            <a:r>
              <a:rPr lang="en-US" sz="1600" b="0" u="none" strike="noStrike">
                <a:solidFill>
                  <a:schemeClr val="dk1"/>
                </a:solidFill>
                <a:effectLst/>
                <a:uFillTx/>
                <a:latin typeface="Arial"/>
                <a:ea typeface="Microsoft YaHei"/>
              </a:rPr>
              <a:t>Every 802.1D port transitions through below Port States:</a:t>
            </a:r>
            <a:endParaRPr lang="en-US" sz="1600" b="0" u="none" strike="noStrike">
              <a:solidFill>
                <a:schemeClr val="dk1"/>
              </a:solidFill>
              <a:effectLst/>
              <a:uFillTx/>
              <a:latin typeface="Aptos"/>
            </a:endParaRPr>
          </a:p>
        </p:txBody>
      </p:sp>
      <p:sp>
        <p:nvSpPr>
          <p:cNvPr id="50" name=""/>
          <p:cNvSpPr/>
          <p:nvPr/>
        </p:nvSpPr>
        <p:spPr>
          <a:xfrm>
            <a:off x="1440" y="1080000"/>
            <a:ext cx="3597480" cy="494460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r>
              <a:rPr lang="en-AU" sz="1600" b="1" u="none" strike="noStrike">
                <a:solidFill>
                  <a:srgbClr val="000000"/>
                </a:solidFill>
                <a:effectLst/>
                <a:uFillTx/>
                <a:latin typeface="Arial"/>
                <a:ea typeface="DejaVu Sans"/>
              </a:rPr>
              <a:t>802.1D Port Roles </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1" u="none" strike="noStrike">
                <a:solidFill>
                  <a:srgbClr val="000000"/>
                </a:solidFill>
                <a:effectLst/>
                <a:uFillTx/>
                <a:latin typeface="Arial"/>
                <a:ea typeface="DejaVu Sans"/>
              </a:rPr>
              <a:t>Root Port (RP) : </a:t>
            </a:r>
            <a:r>
              <a:rPr lang="en-AU" sz="1600" b="0" u="none" strike="noStrike">
                <a:solidFill>
                  <a:srgbClr val="000000"/>
                </a:solidFill>
                <a:effectLst/>
                <a:uFillTx/>
                <a:latin typeface="Arial"/>
                <a:ea typeface="DejaVu Sans"/>
              </a:rPr>
              <a:t>A port that is connected to root switch or upstream switch in spanning tree topology.</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0" u="none" strike="noStrike">
                <a:solidFill>
                  <a:srgbClr val="000000"/>
                </a:solidFill>
                <a:effectLst/>
                <a:uFillTx/>
                <a:latin typeface="Arial"/>
                <a:ea typeface="DejaVu Sans"/>
              </a:rPr>
              <a:t>There should be only one root port per VLAN in a switch.</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1" u="none" strike="noStrike">
                <a:solidFill>
                  <a:srgbClr val="000000"/>
                </a:solidFill>
                <a:effectLst/>
                <a:uFillTx/>
                <a:latin typeface="Arial"/>
                <a:ea typeface="DejaVu Sans"/>
              </a:rPr>
              <a:t>Designated Port (Desg/DP) :</a:t>
            </a:r>
            <a:r>
              <a:rPr lang="en-AU" sz="1600" b="0" u="none" strike="noStrike">
                <a:solidFill>
                  <a:srgbClr val="000000"/>
                </a:solidFill>
                <a:effectLst/>
                <a:uFillTx/>
                <a:latin typeface="Arial"/>
                <a:ea typeface="DejaVu Sans"/>
              </a:rPr>
              <a:t>  A port that receives and forwards BPDU to other switches. </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0" u="none" strike="noStrike">
                <a:solidFill>
                  <a:srgbClr val="000000"/>
                </a:solidFill>
                <a:effectLst/>
                <a:uFillTx/>
                <a:latin typeface="Arial"/>
                <a:ea typeface="DejaVu Sans"/>
              </a:rPr>
              <a:t>There should be only one Active DP per link.</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0" u="none" strike="noStrike">
                <a:solidFill>
                  <a:srgbClr val="000000"/>
                </a:solidFill>
                <a:effectLst/>
                <a:uFillTx/>
                <a:latin typeface="Arial"/>
                <a:ea typeface="DejaVu Sans"/>
              </a:rPr>
              <a:t>It provides connectivity to downstream switches and devices.</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1" u="none" strike="noStrike">
                <a:solidFill>
                  <a:srgbClr val="000000"/>
                </a:solidFill>
                <a:effectLst/>
                <a:uFillTx/>
                <a:latin typeface="Arial"/>
                <a:ea typeface="DejaVu Sans"/>
              </a:rPr>
              <a:t>Blocking Port:</a:t>
            </a:r>
            <a:r>
              <a:rPr lang="en-AU" sz="1600" b="0" u="none" strike="noStrike">
                <a:solidFill>
                  <a:srgbClr val="000000"/>
                </a:solidFill>
                <a:effectLst/>
                <a:uFillTx/>
                <a:latin typeface="Arial"/>
                <a:ea typeface="DejaVu Sans"/>
              </a:rPr>
              <a:t> A port that is not forwarding traffic because of STP calculation.</a:t>
            </a: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graphicFrame>
        <p:nvGraphicFramePr>
          <p:cNvPr id="51" name=""/>
          <p:cNvGraphicFramePr/>
          <p:nvPr/>
        </p:nvGraphicFramePr>
        <p:xfrm>
          <a:off x="3873960" y="2643120"/>
          <a:ext cx="6053040" cy="2995560"/>
        </p:xfrm>
        <a:graphic>
          <a:graphicData uri="http://schemas.openxmlformats.org/drawingml/2006/table">
            <a:tbl>
              <a:tblPr/>
              <a:tblGrid>
                <a:gridCol w="1504440"/>
                <a:gridCol w="4548960"/>
              </a:tblGrid>
              <a:tr h="252000">
                <a:tc>
                  <a:txBody>
                    <a:bodyPr lIns="36000" tIns="36000" rIns="36000" bIns="36000" anchor="t">
                      <a:noAutofit/>
                    </a:bodyPr>
                    <a:p>
                      <a:pPr>
                        <a:lnSpc>
                          <a:spcPct val="100000"/>
                        </a:lnSpc>
                      </a:pPr>
                      <a:r>
                        <a:rPr lang="en-AU" sz="1400" b="1" u="none" strike="noStrike">
                          <a:solidFill>
                            <a:srgbClr val="000000"/>
                          </a:solidFill>
                          <a:effectLst/>
                          <a:uFillTx/>
                          <a:latin typeface="Arial"/>
                        </a:rPr>
                        <a:t>Port States</a:t>
                      </a:r>
                      <a:endParaRPr lang="en-AU"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400" b="1" u="none" strike="noStrike">
                          <a:solidFill>
                            <a:srgbClr val="000000"/>
                          </a:solidFill>
                          <a:effectLst/>
                          <a:uFillTx/>
                          <a:latin typeface="Arial"/>
                        </a:rPr>
                        <a:t>Description</a:t>
                      </a:r>
                      <a:endParaRPr lang="en-AU"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r>
              <a:tr h="254880">
                <a:tc>
                  <a:txBody>
                    <a:bodyPr lIns="36000" tIns="36000" rIns="36000" bIns="36000" anchor="t">
                      <a:noAutofit/>
                    </a:bodyPr>
                    <a:p>
                      <a:pPr>
                        <a:lnSpc>
                          <a:spcPct val="100000"/>
                        </a:lnSpc>
                      </a:pPr>
                      <a:r>
                        <a:rPr lang="en-AU" sz="1400" b="1" u="none" strike="noStrike">
                          <a:solidFill>
                            <a:srgbClr val="000000"/>
                          </a:solidFill>
                          <a:effectLst/>
                          <a:uFillTx/>
                          <a:latin typeface="Arial"/>
                        </a:rPr>
                        <a:t>Disabled</a:t>
                      </a:r>
                      <a:endParaRPr lang="en-AU"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B4C7DC"/>
                        </a:gs>
                        <a:gs pos="100000">
                          <a:srgbClr val="DEE6EF"/>
                        </a:gs>
                      </a:gsLst>
                      <a:lin ang="534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Administratively Shutdown</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AU" sz="1400" b="1" u="none" strike="noStrike">
                          <a:solidFill>
                            <a:srgbClr val="000000"/>
                          </a:solidFill>
                          <a:effectLst/>
                          <a:uFillTx/>
                          <a:latin typeface="Arial"/>
                        </a:rPr>
                        <a:t>Blocking</a:t>
                      </a:r>
                      <a:endParaRPr lang="en-AU"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B4C7DC"/>
                        </a:gs>
                        <a:gs pos="100000">
                          <a:srgbClr val="DEE6EF"/>
                        </a:gs>
                      </a:gsLst>
                      <a:lin ang="534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Port is enabled but is </a:t>
                      </a:r>
                      <a:r>
                        <a:rPr lang="en-AU" sz="1200" b="0" u="none" strike="noStrike">
                          <a:solidFill>
                            <a:srgbClr val="000000"/>
                          </a:solidFill>
                          <a:effectLst/>
                          <a:highlight>
                            <a:srgbClr val="FFFF00"/>
                          </a:highlight>
                          <a:uFillTx/>
                          <a:latin typeface="Arial"/>
                        </a:rPr>
                        <a:t>not forwarding any traffic</a:t>
                      </a:r>
                      <a:r>
                        <a:rPr lang="en-AU" sz="1200" b="0" u="none" strike="noStrike">
                          <a:solidFill>
                            <a:srgbClr val="000000"/>
                          </a:solidFill>
                          <a:effectLst/>
                          <a:uFillTx/>
                          <a:latin typeface="Arial"/>
                        </a:rPr>
                        <a:t> to prevent loops. The switch </a:t>
                      </a:r>
                      <a:r>
                        <a:rPr lang="en-AU" sz="1200" b="0" u="none" strike="noStrike">
                          <a:solidFill>
                            <a:srgbClr val="000000"/>
                          </a:solidFill>
                          <a:effectLst/>
                          <a:highlight>
                            <a:srgbClr val="FFFF00"/>
                          </a:highlight>
                          <a:uFillTx/>
                          <a:latin typeface="Arial"/>
                        </a:rPr>
                        <a:t>does not modify MAC address table</a:t>
                      </a:r>
                      <a:r>
                        <a:rPr lang="en-AU" sz="1200" b="0" u="none" strike="noStrike">
                          <a:solidFill>
                            <a:srgbClr val="000000"/>
                          </a:solidFill>
                          <a:effectLst/>
                          <a:uFillTx/>
                          <a:latin typeface="Arial"/>
                        </a:rPr>
                        <a:t> and can </a:t>
                      </a:r>
                      <a:r>
                        <a:rPr lang="en-AU" sz="1200" b="0" u="none" strike="noStrike">
                          <a:solidFill>
                            <a:srgbClr val="000000"/>
                          </a:solidFill>
                          <a:effectLst/>
                          <a:highlight>
                            <a:srgbClr val="FFFF00"/>
                          </a:highlight>
                          <a:uFillTx/>
                          <a:latin typeface="Arial"/>
                        </a:rPr>
                        <a:t>only receive BPDU</a:t>
                      </a:r>
                      <a:r>
                        <a:rPr lang="en-AU" sz="1200" b="0" u="none" strike="noStrike">
                          <a:solidFill>
                            <a:srgbClr val="000000"/>
                          </a:solidFill>
                          <a:effectLst/>
                          <a:uFillTx/>
                          <a:latin typeface="Arial"/>
                        </a:rPr>
                        <a:t> from other switch.</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AU" sz="1400" b="1" u="none" strike="noStrike">
                          <a:solidFill>
                            <a:srgbClr val="000000"/>
                          </a:solidFill>
                          <a:effectLst/>
                          <a:uFillTx/>
                          <a:latin typeface="Arial"/>
                          <a:ea typeface="Microsoft YaHei"/>
                        </a:rPr>
                        <a:t>Listening</a:t>
                      </a:r>
                      <a:endParaRPr lang="en-AU"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B4C7DC"/>
                        </a:gs>
                        <a:gs pos="100000">
                          <a:srgbClr val="DEE6EF"/>
                        </a:gs>
                      </a:gsLst>
                      <a:lin ang="534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Transitioned from Blocking state and now </a:t>
                      </a:r>
                      <a:r>
                        <a:rPr lang="en-AU" sz="1200" b="0" u="none" strike="noStrike">
                          <a:solidFill>
                            <a:srgbClr val="000000"/>
                          </a:solidFill>
                          <a:effectLst/>
                          <a:highlight>
                            <a:srgbClr val="FFFF00"/>
                          </a:highlight>
                          <a:uFillTx/>
                          <a:latin typeface="Arial"/>
                        </a:rPr>
                        <a:t>can send or receive BPDU</a:t>
                      </a:r>
                      <a:r>
                        <a:rPr lang="en-AU" sz="1200" b="0" u="none" strike="noStrike">
                          <a:solidFill>
                            <a:srgbClr val="000000"/>
                          </a:solidFill>
                          <a:effectLst/>
                          <a:uFillTx/>
                          <a:latin typeface="Arial"/>
                        </a:rPr>
                        <a:t>. Duration of this state correlates to STP forwarding time.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AU" sz="1400" b="1" u="none" strike="noStrike">
                          <a:solidFill>
                            <a:srgbClr val="000000"/>
                          </a:solidFill>
                          <a:effectLst/>
                          <a:uFillTx/>
                          <a:latin typeface="Arial"/>
                        </a:rPr>
                        <a:t>Learning</a:t>
                      </a:r>
                      <a:endParaRPr lang="en-AU"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B4C7DC"/>
                        </a:gs>
                        <a:gs pos="100000">
                          <a:srgbClr val="DEE6EF"/>
                        </a:gs>
                      </a:gsLst>
                      <a:lin ang="5340000"/>
                    </a:gradFill>
                  </a:tcPr>
                </a:tc>
                <a:tc>
                  <a:txBody>
                    <a:bodyPr lIns="36000" tIns="36000" rIns="36000" bIns="36000" anchor="t">
                      <a:noAutofit/>
                    </a:bodyPr>
                    <a:p>
                      <a:pPr>
                        <a:lnSpc>
                          <a:spcPct val="100000"/>
                        </a:lnSpc>
                      </a:pPr>
                      <a:r>
                        <a:rPr lang="en-AU" sz="1200" b="0" u="none" strike="noStrike">
                          <a:solidFill>
                            <a:srgbClr val="000000"/>
                          </a:solidFill>
                          <a:effectLst/>
                          <a:highlight>
                            <a:srgbClr val="FFFF00"/>
                          </a:highlight>
                          <a:uFillTx/>
                          <a:latin typeface="Arial"/>
                        </a:rPr>
                        <a:t>Can modify MAC address table</a:t>
                      </a:r>
                      <a:r>
                        <a:rPr lang="en-AU" sz="1200" b="0" u="none" strike="noStrike">
                          <a:solidFill>
                            <a:srgbClr val="000000"/>
                          </a:solidFill>
                          <a:effectLst/>
                          <a:uFillTx/>
                          <a:latin typeface="Arial"/>
                        </a:rPr>
                        <a:t> with received traffic. It </a:t>
                      </a:r>
                      <a:r>
                        <a:rPr lang="en-AU" sz="1200" b="0" u="none" strike="noStrike">
                          <a:solidFill>
                            <a:srgbClr val="000000"/>
                          </a:solidFill>
                          <a:effectLst/>
                          <a:highlight>
                            <a:srgbClr val="FFFF00"/>
                          </a:highlight>
                          <a:uFillTx/>
                          <a:latin typeface="Arial"/>
                        </a:rPr>
                        <a:t>cannot forward network traffic</a:t>
                      </a:r>
                      <a:r>
                        <a:rPr lang="en-AU" sz="1200" b="0" u="none" strike="noStrike">
                          <a:solidFill>
                            <a:srgbClr val="000000"/>
                          </a:solidFill>
                          <a:effectLst/>
                          <a:uFillTx/>
                          <a:latin typeface="Arial"/>
                        </a:rPr>
                        <a:t> other than BPDU. Duration of this state correlates to STP forwarding time.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05640">
                <a:tc>
                  <a:txBody>
                    <a:bodyPr lIns="36000" tIns="36000" rIns="36000" bIns="36000" anchor="t">
                      <a:noAutofit/>
                    </a:bodyPr>
                    <a:p>
                      <a:pPr>
                        <a:lnSpc>
                          <a:spcPct val="100000"/>
                        </a:lnSpc>
                      </a:pPr>
                      <a:r>
                        <a:rPr lang="en-AU" sz="1400" b="1" u="none" strike="noStrike">
                          <a:solidFill>
                            <a:srgbClr val="000000"/>
                          </a:solidFill>
                          <a:effectLst/>
                          <a:uFillTx/>
                          <a:latin typeface="Arial"/>
                        </a:rPr>
                        <a:t>Forwarding</a:t>
                      </a:r>
                      <a:endParaRPr lang="en-AU"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B4C7DC"/>
                        </a:gs>
                        <a:gs pos="100000">
                          <a:srgbClr val="DEE6EF"/>
                        </a:gs>
                      </a:gsLst>
                      <a:lin ang="534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Can forward network traffic and update MAC address table.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AU" sz="1400" b="1" u="none" strike="noStrike">
                          <a:solidFill>
                            <a:srgbClr val="000000"/>
                          </a:solidFill>
                          <a:effectLst/>
                          <a:uFillTx/>
                          <a:latin typeface="Arial"/>
                        </a:rPr>
                        <a:t>Broken</a:t>
                      </a:r>
                      <a:endParaRPr lang="en-AU"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B4C7DC"/>
                        </a:gs>
                        <a:gs pos="100000">
                          <a:srgbClr val="DEE6EF"/>
                        </a:gs>
                      </a:gsLst>
                      <a:lin ang="534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Switch detected configuration or operational problem and is discarding packets until the problem exist.</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Rectangle 1">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1.STP</a:t>
            </a:r>
            <a:endParaRPr lang="en-AU" sz="4400" b="0" u="none" strike="noStrike">
              <a:solidFill>
                <a:srgbClr val="FFFFFF"/>
              </a:solidFill>
              <a:effectLst/>
              <a:uFillTx/>
              <a:latin typeface="Arial"/>
            </a:endParaRPr>
          </a:p>
        </p:txBody>
      </p:sp>
      <p:sp>
        <p:nvSpPr>
          <p:cNvPr id="53" name="PlaceHolder 1"/>
          <p:cNvSpPr>
            <a:spLocks noGrp="1"/>
          </p:cNvSpPr>
          <p:nvPr>
            <p:ph/>
          </p:nvPr>
        </p:nvSpPr>
        <p:spPr>
          <a:xfrm>
            <a:off x="3960000" y="76320"/>
            <a:ext cx="5937120" cy="5500440"/>
          </a:xfrm>
          <a:prstGeom prst="rect">
            <a:avLst/>
          </a:prstGeom>
          <a:noFill/>
          <a:ln w="0">
            <a:noFill/>
          </a:ln>
        </p:spPr>
        <p:txBody>
          <a:bodyPr lIns="91440" tIns="45720" rIns="91440" bIns="45720" anchor="t">
            <a:normAutofit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STP Key Terminology:</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Root Bridge:</a:t>
            </a:r>
            <a:r>
              <a:rPr lang="en-US" sz="1600" b="0" u="none" strike="noStrike">
                <a:solidFill>
                  <a:schemeClr val="dk1"/>
                </a:solidFill>
                <a:effectLst/>
                <a:uFillTx/>
                <a:latin typeface="Arial"/>
                <a:ea typeface="Microsoft YaHei"/>
              </a:rPr>
              <a:t> Root of the spanning tree that has all ports in designated forwarding state.</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Bridge Protocol Data Unit (BPDU): </a:t>
            </a:r>
            <a:r>
              <a:rPr lang="en-US" sz="1600" b="0" u="none" strike="noStrike">
                <a:solidFill>
                  <a:schemeClr val="dk1"/>
                </a:solidFill>
                <a:effectLst/>
                <a:uFillTx/>
                <a:latin typeface="Arial"/>
                <a:ea typeface="Microsoft YaHei"/>
              </a:rPr>
              <a:t>Hello packets of STP that are used to notify topology change and identify hierarchy in Spanning tree topology. Sent to MAC 01:80:c2:00:00:00 (Nearest-Customer-Bridge).Two types of BPDU:</a:t>
            </a:r>
            <a:endParaRPr lang="en-US" sz="1600" b="0" u="none" strike="noStrike">
              <a:solidFill>
                <a:schemeClr val="dk1"/>
              </a:solidFill>
              <a:effectLst/>
              <a:uFillTx/>
              <a:latin typeface="Aptos"/>
            </a:endParaRPr>
          </a:p>
          <a:p>
            <a:pPr marL="360000" indent="-162000" algn="l" defTabSz="914400">
              <a:lnSpc>
                <a:spcPct val="100000"/>
              </a:lnSpc>
              <a:spcBef>
                <a:spcPts val="150"/>
              </a:spcBef>
              <a:buClr>
                <a:srgbClr val="000000"/>
              </a:buClr>
              <a:buFont typeface="OpenSymbol"/>
              <a:buAutoNum type="arabicPeriod"/>
              <a:tabLst>
                <a:tab pos="0" algn="l"/>
              </a:tabLst>
            </a:pPr>
            <a:r>
              <a:rPr lang="en-US" sz="1400" b="0" u="none" strike="noStrike">
                <a:solidFill>
                  <a:schemeClr val="dk1"/>
                </a:solidFill>
                <a:effectLst/>
                <a:uFillTx/>
                <a:latin typeface="Arial"/>
                <a:ea typeface="Microsoft YaHei"/>
              </a:rPr>
              <a:t>Configuration BPDU: Used to identify root bridge and port roles. It contains STP type, root path cost, root bridge identifier, local bridge identifier, max age, hello time and forward delay.</a:t>
            </a:r>
            <a:endParaRPr lang="en-US" sz="1400" b="0" u="none" strike="noStrike">
              <a:solidFill>
                <a:schemeClr val="dk1"/>
              </a:solidFill>
              <a:effectLst/>
              <a:uFillTx/>
              <a:latin typeface="Aptos"/>
            </a:endParaRPr>
          </a:p>
          <a:p>
            <a:pPr marL="360000" indent="-162000" algn="l" defTabSz="914400">
              <a:lnSpc>
                <a:spcPct val="100000"/>
              </a:lnSpc>
              <a:spcBef>
                <a:spcPts val="150"/>
              </a:spcBef>
              <a:buClr>
                <a:srgbClr val="000000"/>
              </a:buClr>
              <a:buFont typeface="OpenSymbol"/>
              <a:buAutoNum type="arabicPeriod"/>
              <a:tabLst>
                <a:tab pos="0" algn="l"/>
              </a:tabLst>
            </a:pPr>
            <a:r>
              <a:rPr lang="en-US" sz="1400" b="0" u="none" strike="noStrike">
                <a:solidFill>
                  <a:schemeClr val="dk1"/>
                </a:solidFill>
                <a:effectLst/>
                <a:uFillTx/>
                <a:latin typeface="Arial"/>
                <a:ea typeface="Microsoft YaHei"/>
              </a:rPr>
              <a:t>Topology Change Notification (TCN) BPDU : Used to communicate changes in layer 2 topology.</a:t>
            </a:r>
            <a:endParaRPr lang="en-US" sz="14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Root path cost: </a:t>
            </a:r>
            <a:r>
              <a:rPr lang="en-US" sz="1600" b="0" u="none" strike="noStrike">
                <a:solidFill>
                  <a:schemeClr val="dk1"/>
                </a:solidFill>
                <a:effectLst/>
                <a:uFillTx/>
                <a:latin typeface="Arial"/>
                <a:ea typeface="Microsoft YaHei"/>
              </a:rPr>
              <a:t>Combined cost for a specific path towards the root bridge.</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System priority:</a:t>
            </a:r>
            <a:r>
              <a:rPr lang="en-US" sz="1600" b="0" u="none" strike="noStrike">
                <a:solidFill>
                  <a:schemeClr val="dk1"/>
                </a:solidFill>
                <a:effectLst/>
                <a:uFillTx/>
                <a:latin typeface="Arial"/>
                <a:ea typeface="Microsoft YaHei"/>
              </a:rPr>
              <a:t> 4-bit value (4 MSB of 16 bit ) that indicates the preference of a switch to be root switch. Default is 32,768.</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System ID extension:</a:t>
            </a:r>
            <a:r>
              <a:rPr lang="en-US" sz="1600" b="0" u="none" strike="noStrike">
                <a:solidFill>
                  <a:schemeClr val="dk1"/>
                </a:solidFill>
                <a:effectLst/>
                <a:uFillTx/>
                <a:latin typeface="Arial"/>
                <a:ea typeface="Microsoft YaHei"/>
              </a:rPr>
              <a:t>  12-bit value that indicates the VLAN the BPDU correlates to. VLAN 1 will have sysid 1.</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Root bridge identifier:</a:t>
            </a:r>
            <a:r>
              <a:rPr lang="en-US" sz="1600" b="0" u="none" strike="noStrike">
                <a:solidFill>
                  <a:schemeClr val="dk1"/>
                </a:solidFill>
                <a:effectLst/>
                <a:uFillTx/>
                <a:latin typeface="Arial"/>
                <a:ea typeface="Microsoft YaHei"/>
              </a:rPr>
              <a:t> This is the combination of System priority, sysid and MAC address of the root bridge.</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Local bridge identifier: </a:t>
            </a:r>
            <a:r>
              <a:rPr lang="en-US" sz="1600" b="0" u="none" strike="noStrike">
                <a:solidFill>
                  <a:schemeClr val="dk1"/>
                </a:solidFill>
                <a:effectLst/>
                <a:uFillTx/>
                <a:latin typeface="Arial"/>
                <a:ea typeface="Microsoft YaHei"/>
              </a:rPr>
              <a:t>This is the combination of System priority, sysid and MAC address of the switch (root or non-root).</a:t>
            </a: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54" name=""/>
          <p:cNvSpPr/>
          <p:nvPr/>
        </p:nvSpPr>
        <p:spPr>
          <a:xfrm>
            <a:off x="1440" y="1080000"/>
            <a:ext cx="3777480" cy="384624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r>
              <a:rPr lang="en-AU" sz="1600" b="1" u="none" strike="noStrike">
                <a:solidFill>
                  <a:srgbClr val="000000"/>
                </a:solidFill>
                <a:effectLst/>
                <a:uFillTx/>
                <a:latin typeface="Arial"/>
                <a:ea typeface="DejaVu Sans"/>
              </a:rPr>
              <a:t>Max age: </a:t>
            </a:r>
            <a:r>
              <a:rPr lang="en-AU" sz="1600" b="0" u="none" strike="noStrike">
                <a:solidFill>
                  <a:srgbClr val="000000"/>
                </a:solidFill>
                <a:effectLst/>
                <a:uFillTx/>
                <a:latin typeface="Arial"/>
                <a:ea typeface="DejaVu Sans"/>
              </a:rPr>
              <a:t>Maximum</a:t>
            </a:r>
            <a:r>
              <a:rPr lang="en-AU" sz="1600" b="1" u="none" strike="noStrike">
                <a:solidFill>
                  <a:srgbClr val="000000"/>
                </a:solidFill>
                <a:effectLst/>
                <a:uFillTx/>
                <a:latin typeface="Arial"/>
                <a:ea typeface="DejaVu Sans"/>
              </a:rPr>
              <a:t> </a:t>
            </a:r>
            <a:r>
              <a:rPr lang="en-AU" sz="1600" b="0" u="none" strike="noStrike">
                <a:solidFill>
                  <a:srgbClr val="000000"/>
                </a:solidFill>
                <a:effectLst/>
                <a:uFillTx/>
                <a:latin typeface="Arial"/>
                <a:ea typeface="DejaVu Sans"/>
              </a:rPr>
              <a:t>time the received BPDU is valid for. Default is 20 seconds and can be modified with </a:t>
            </a:r>
            <a:r>
              <a:rPr lang="en-AU" sz="1400" b="1" u="none" strike="noStrike">
                <a:solidFill>
                  <a:srgbClr val="000000"/>
                </a:solidFill>
                <a:effectLst/>
                <a:uFillTx/>
                <a:latin typeface="Arial"/>
                <a:ea typeface="DejaVu Sans"/>
              </a:rPr>
              <a:t>spanning-tree vlan </a:t>
            </a:r>
            <a:r>
              <a:rPr lang="en-AU" sz="1400" b="0" i="1" u="none" strike="noStrike">
                <a:solidFill>
                  <a:srgbClr val="000000"/>
                </a:solidFill>
                <a:effectLst/>
                <a:uFillTx/>
                <a:latin typeface="Arial"/>
                <a:ea typeface="DejaVu Sans"/>
              </a:rPr>
              <a:t>vlan-id</a:t>
            </a:r>
            <a:r>
              <a:rPr lang="en-AU" sz="1400" b="1" u="none" strike="noStrike">
                <a:solidFill>
                  <a:srgbClr val="000000"/>
                </a:solidFill>
                <a:effectLst/>
                <a:uFillTx/>
                <a:latin typeface="Arial"/>
                <a:ea typeface="DejaVu Sans"/>
              </a:rPr>
              <a:t> max-age </a:t>
            </a:r>
            <a:r>
              <a:rPr lang="en-AU" sz="1400" b="0" i="1" u="none" strike="noStrike">
                <a:solidFill>
                  <a:srgbClr val="000000"/>
                </a:solidFill>
                <a:effectLst/>
                <a:uFillTx/>
                <a:latin typeface="Arial"/>
                <a:ea typeface="DejaVu Sans"/>
              </a:rPr>
              <a:t>maxage</a:t>
            </a:r>
            <a:r>
              <a:rPr lang="en-AU" sz="1600" b="0" u="none" strike="noStrike">
                <a:solidFill>
                  <a:srgbClr val="000000"/>
                </a:solidFill>
                <a:effectLst/>
                <a:uFillTx/>
                <a:latin typeface="Arial"/>
                <a:ea typeface="DejaVu Sans"/>
              </a:rPr>
              <a:t>.</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1" u="none" strike="noStrike">
                <a:solidFill>
                  <a:srgbClr val="000000"/>
                </a:solidFill>
                <a:effectLst/>
                <a:uFillTx/>
                <a:latin typeface="Arial"/>
                <a:ea typeface="DejaVu Sans"/>
              </a:rPr>
              <a:t>Hello time:</a:t>
            </a:r>
            <a:r>
              <a:rPr lang="en-AU" sz="1600" b="0" u="none" strike="noStrike">
                <a:solidFill>
                  <a:srgbClr val="000000"/>
                </a:solidFill>
                <a:effectLst/>
                <a:uFillTx/>
                <a:latin typeface="Arial"/>
                <a:ea typeface="DejaVu Sans"/>
              </a:rPr>
              <a:t> Time interval that BPDU is advertised. Default 2 seconds and can be modified with </a:t>
            </a:r>
            <a:r>
              <a:rPr lang="en-AU" sz="1400" b="1" u="none" strike="noStrike">
                <a:solidFill>
                  <a:srgbClr val="000000"/>
                </a:solidFill>
                <a:effectLst/>
                <a:uFillTx/>
                <a:latin typeface="Arial"/>
                <a:ea typeface="DejaVu Sans"/>
              </a:rPr>
              <a:t>spanning-tree vlan </a:t>
            </a:r>
            <a:r>
              <a:rPr lang="en-AU" sz="1400" b="0" i="1" u="none" strike="noStrike">
                <a:solidFill>
                  <a:srgbClr val="000000"/>
                </a:solidFill>
                <a:effectLst/>
                <a:uFillTx/>
                <a:latin typeface="Arial"/>
                <a:ea typeface="DejaVu Sans"/>
              </a:rPr>
              <a:t>vlan-id</a:t>
            </a:r>
            <a:r>
              <a:rPr lang="en-AU" sz="1400" b="1" u="none" strike="noStrike">
                <a:solidFill>
                  <a:srgbClr val="000000"/>
                </a:solidFill>
                <a:effectLst/>
                <a:uFillTx/>
                <a:latin typeface="Arial"/>
                <a:ea typeface="DejaVu Sans"/>
              </a:rPr>
              <a:t> hello-time </a:t>
            </a:r>
            <a:r>
              <a:rPr lang="en-AU" sz="1400" b="0" i="1" u="none" strike="noStrike">
                <a:solidFill>
                  <a:srgbClr val="000000"/>
                </a:solidFill>
                <a:effectLst/>
                <a:uFillTx/>
                <a:latin typeface="Arial"/>
                <a:ea typeface="DejaVu Sans"/>
              </a:rPr>
              <a:t>hello-time.</a:t>
            </a:r>
            <a:endParaRPr lang="en-AU" sz="1400" b="0" u="none" strike="noStrike">
              <a:solidFill>
                <a:srgbClr val="000000"/>
              </a:solidFill>
              <a:effectLst/>
              <a:uFillTx/>
              <a:latin typeface="Arial"/>
            </a:endParaRPr>
          </a:p>
          <a:p>
            <a:pPr>
              <a:lnSpc>
                <a:spcPct val="100000"/>
              </a:lnSpc>
              <a:spcBef>
                <a:spcPts val="283"/>
              </a:spcBef>
              <a:spcAft>
                <a:spcPts val="283"/>
              </a:spcAft>
            </a:pPr>
            <a:r>
              <a:rPr lang="en-AU" sz="1600" b="1" u="none" strike="noStrike">
                <a:solidFill>
                  <a:srgbClr val="000000"/>
                </a:solidFill>
                <a:effectLst/>
                <a:uFillTx/>
                <a:latin typeface="Arial"/>
                <a:ea typeface="DejaVu Sans"/>
              </a:rPr>
              <a:t>Forward delay:</a:t>
            </a:r>
            <a:r>
              <a:rPr lang="en-AU" sz="1400" b="1" i="1" u="none" strike="noStrike">
                <a:solidFill>
                  <a:srgbClr val="000000"/>
                </a:solidFill>
                <a:effectLst/>
                <a:uFillTx/>
                <a:latin typeface="Arial"/>
                <a:ea typeface="DejaVu Sans"/>
              </a:rPr>
              <a:t>  </a:t>
            </a:r>
            <a:r>
              <a:rPr lang="en-AU" sz="1400" b="0" u="none" strike="noStrike">
                <a:solidFill>
                  <a:srgbClr val="000000"/>
                </a:solidFill>
                <a:effectLst/>
                <a:uFillTx/>
                <a:latin typeface="Arial"/>
                <a:ea typeface="DejaVu Sans"/>
              </a:rPr>
              <a:t>Time the port stays in listening and learning state. Default 15 seconds and can be modified with </a:t>
            </a:r>
            <a:r>
              <a:rPr lang="en-AU" sz="1400" b="1" u="none" strike="noStrike">
                <a:solidFill>
                  <a:srgbClr val="000000"/>
                </a:solidFill>
                <a:effectLst/>
                <a:uFillTx/>
                <a:latin typeface="Arial"/>
                <a:ea typeface="DejaVu Sans"/>
              </a:rPr>
              <a:t>spanning-tree vlan </a:t>
            </a:r>
            <a:r>
              <a:rPr lang="en-AU" sz="1400" b="0" i="1" u="none" strike="noStrike">
                <a:solidFill>
                  <a:srgbClr val="000000"/>
                </a:solidFill>
                <a:effectLst/>
                <a:uFillTx/>
                <a:latin typeface="Arial"/>
                <a:ea typeface="DejaVu Sans"/>
              </a:rPr>
              <a:t>vlan-id</a:t>
            </a:r>
            <a:r>
              <a:rPr lang="en-AU" sz="1400" b="1" u="none" strike="noStrike">
                <a:solidFill>
                  <a:srgbClr val="000000"/>
                </a:solidFill>
                <a:effectLst/>
                <a:uFillTx/>
                <a:latin typeface="Arial"/>
                <a:ea typeface="DejaVu Sans"/>
              </a:rPr>
              <a:t> forward-time </a:t>
            </a:r>
            <a:r>
              <a:rPr lang="en-AU" sz="1400" b="0" i="1" u="none" strike="noStrike">
                <a:solidFill>
                  <a:srgbClr val="000000"/>
                </a:solidFill>
                <a:effectLst/>
                <a:uFillTx/>
                <a:latin typeface="Arial"/>
                <a:ea typeface="DejaVu Sans"/>
              </a:rPr>
              <a:t>forward-time.</a:t>
            </a:r>
            <a:endParaRPr lang="en-AU" sz="14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Rectangle 2">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1.STP</a:t>
            </a:r>
            <a:endParaRPr lang="en-AU" sz="4400" b="0" u="none" strike="noStrike">
              <a:solidFill>
                <a:srgbClr val="FFFFFF"/>
              </a:solidFill>
              <a:effectLst/>
              <a:uFillTx/>
              <a:latin typeface="Arial"/>
            </a:endParaRPr>
          </a:p>
        </p:txBody>
      </p:sp>
      <p:sp>
        <p:nvSpPr>
          <p:cNvPr id="56" name="PlaceHolder 1"/>
          <p:cNvSpPr>
            <a:spLocks noGrp="1"/>
          </p:cNvSpPr>
          <p:nvPr>
            <p:ph/>
          </p:nvPr>
        </p:nvSpPr>
        <p:spPr>
          <a:xfrm>
            <a:off x="3960000" y="76320"/>
            <a:ext cx="5937120" cy="5500440"/>
          </a:xfrm>
          <a:prstGeom prst="rect">
            <a:avLst/>
          </a:prstGeom>
          <a:noFill/>
          <a:ln w="0">
            <a:noFill/>
          </a:ln>
        </p:spPr>
        <p:txBody>
          <a:bodyPr lIns="91440" tIns="45720" rIns="91440" bIns="45720" anchor="t" anchorCtr="1">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Building STP Topology</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Root Bridge Election: </a:t>
            </a:r>
            <a:r>
              <a:rPr lang="en-US" sz="1600" b="0" u="none" strike="noStrike">
                <a:solidFill>
                  <a:schemeClr val="dk1"/>
                </a:solidFill>
                <a:effectLst/>
                <a:uFillTx/>
                <a:latin typeface="Arial"/>
                <a:ea typeface="Microsoft YaHei"/>
              </a:rPr>
              <a:t>On initialization,</a:t>
            </a:r>
            <a:r>
              <a:rPr lang="en-US" sz="1600" b="1"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a switch assumes itself as a root switch and uses local bridge identifier as root bridge identifier. Then it listens for neighbors configuration BPDU.</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Switch with lower System priority is preferred as root switch and if the system priority is same then switch with lower MAC address is preferred.</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On receiving configuration BPDU from neighbor, it does following:</a:t>
            </a:r>
            <a:endParaRPr lang="en-US" sz="16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SzPct val="45000"/>
              <a:buFont typeface="OpenSymbol"/>
              <a:buChar char="✸"/>
              <a:tabLst>
                <a:tab pos="0" algn="l"/>
              </a:tabLst>
            </a:pPr>
            <a:r>
              <a:rPr lang="en-US" sz="1600" b="0" u="none" strike="noStrike">
                <a:solidFill>
                  <a:schemeClr val="dk1"/>
                </a:solidFill>
                <a:effectLst/>
                <a:uFillTx/>
                <a:latin typeface="Arial"/>
                <a:ea typeface="Microsoft YaHei"/>
              </a:rPr>
              <a:t>If neighbor’s configuration BPDU is inferior to it’s own BPDU, then it ignores the neighbor’s BPDU.</a:t>
            </a:r>
            <a:endParaRPr lang="en-US" sz="16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SzPct val="45000"/>
              <a:buFont typeface="OpenSymbol"/>
              <a:buChar char="✸"/>
              <a:tabLst>
                <a:tab pos="0" algn="l"/>
              </a:tabLst>
            </a:pPr>
            <a:r>
              <a:rPr lang="en-US" sz="1600" b="0" u="none" strike="noStrike">
                <a:solidFill>
                  <a:schemeClr val="dk1"/>
                </a:solidFill>
                <a:effectLst/>
                <a:uFillTx/>
                <a:latin typeface="Arial"/>
                <a:ea typeface="Microsoft YaHei"/>
              </a:rPr>
              <a:t>If not then it updates it’s BPDU with new root bridge identifier and new root path cost.</a:t>
            </a:r>
            <a:endParaRPr lang="en-US" sz="16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SzPct val="45000"/>
              <a:buFont typeface="OpenSymbol"/>
              <a:buChar char="✸"/>
              <a:tabLst>
                <a:tab pos="0" algn="l"/>
              </a:tabLst>
            </a:pPr>
            <a:r>
              <a:rPr lang="en-US" sz="1600" b="0" u="none" strike="noStrike">
                <a:solidFill>
                  <a:schemeClr val="dk1"/>
                </a:solidFill>
                <a:effectLst/>
                <a:uFillTx/>
                <a:latin typeface="Arial"/>
                <a:ea typeface="Microsoft YaHei"/>
              </a:rPr>
              <a:t>This process continues until all the switches in topology identifies root switch.</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Root bridge in a topology can be verified with </a:t>
            </a:r>
            <a:r>
              <a:rPr lang="en-US" sz="1400" b="1" u="none" strike="noStrike">
                <a:solidFill>
                  <a:schemeClr val="dk1"/>
                </a:solidFill>
                <a:effectLst/>
                <a:uFillTx/>
                <a:latin typeface="Arial"/>
                <a:ea typeface="Microsoft YaHei"/>
              </a:rPr>
              <a:t>show spanning tree root </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57"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pic>
        <p:nvPicPr>
          <p:cNvPr id="58" name=""/>
          <p:cNvPicPr/>
          <p:nvPr/>
        </p:nvPicPr>
        <p:blipFill>
          <a:blip r:embed="rId1"/>
          <a:stretch/>
        </p:blipFill>
        <p:spPr>
          <a:xfrm>
            <a:off x="180000" y="1116000"/>
            <a:ext cx="2986920" cy="2338920"/>
          </a:xfrm>
          <a:prstGeom prst="rect">
            <a:avLst/>
          </a:prstGeom>
          <a:noFill/>
          <a:ln w="0">
            <a:noFill/>
          </a:ln>
        </p:spPr>
      </p:pic>
      <p:pic>
        <p:nvPicPr>
          <p:cNvPr id="59" name=""/>
          <p:cNvPicPr/>
          <p:nvPr/>
        </p:nvPicPr>
        <p:blipFill>
          <a:blip r:embed="rId2"/>
          <a:stretch/>
        </p:blipFill>
        <p:spPr>
          <a:xfrm>
            <a:off x="5220000" y="4859280"/>
            <a:ext cx="4679640" cy="752760"/>
          </a:xfrm>
          <a:prstGeom prst="rect">
            <a:avLst/>
          </a:prstGeom>
          <a:noFill/>
          <a:ln w="0">
            <a:noFill/>
          </a:ln>
        </p:spPr>
      </p:pic>
      <p:sp>
        <p:nvSpPr>
          <p:cNvPr id="60" name=""/>
          <p:cNvSpPr/>
          <p:nvPr/>
        </p:nvSpPr>
        <p:spPr>
          <a:xfrm>
            <a:off x="72000" y="3420000"/>
            <a:ext cx="3778920" cy="226476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Microsoft YaHei"/>
              </a:rPr>
              <a:t>As SW1 is the root switch in the topology, root port is empty on show spanning-tree root output.</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Microsoft YaHei"/>
              </a:rPr>
              <a:t>The root ID is the default system priority + sys id extension(Vlan1) MAC address = 32768+1 5000.0001.0000</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Microsoft YaHei"/>
              </a:rPr>
              <a:t>Advertised root path cost is always calculated on local switch. </a:t>
            </a: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Rectangle 3">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1.STP</a:t>
            </a:r>
            <a:endParaRPr lang="en-AU" sz="4400" b="0" u="none" strike="noStrike">
              <a:solidFill>
                <a:srgbClr val="FFFFFF"/>
              </a:solidFill>
              <a:effectLst/>
              <a:uFillTx/>
              <a:latin typeface="Arial"/>
            </a:endParaRPr>
          </a:p>
        </p:txBody>
      </p:sp>
      <p:sp>
        <p:nvSpPr>
          <p:cNvPr id="62" name="PlaceHolder 1"/>
          <p:cNvSpPr>
            <a:spLocks noGrp="1"/>
          </p:cNvSpPr>
          <p:nvPr>
            <p:ph/>
          </p:nvPr>
        </p:nvSpPr>
        <p:spPr>
          <a:xfrm>
            <a:off x="3960000" y="76320"/>
            <a:ext cx="5937120" cy="550044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Building STP Topology</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Locating root port (RP): </a:t>
            </a:r>
            <a:r>
              <a:rPr lang="en-US" sz="1600" b="0" u="none" strike="noStrike">
                <a:solidFill>
                  <a:schemeClr val="dk1"/>
                </a:solidFill>
                <a:effectLst/>
                <a:uFillTx/>
                <a:latin typeface="Arial"/>
                <a:ea typeface="Microsoft YaHei"/>
              </a:rPr>
              <a:t>Root port is selected using below criteria. On tie, next criteria is used as tie-breaker.</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OpenSymbol"/>
              <a:buAutoNum type="arabicPeriod"/>
              <a:tabLst>
                <a:tab pos="0" algn="l"/>
              </a:tabLst>
            </a:pPr>
            <a:r>
              <a:rPr lang="en-US" sz="1600" b="0" u="none" strike="noStrike">
                <a:solidFill>
                  <a:schemeClr val="dk1"/>
                </a:solidFill>
                <a:effectLst/>
                <a:uFillTx/>
                <a:latin typeface="Arial"/>
                <a:ea typeface="Microsoft YaHei"/>
              </a:rPr>
              <a:t>Interface associated to lowest root path cost is preferred.</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OpenSymbol"/>
              <a:buAutoNum type="arabicPeriod"/>
              <a:tabLst>
                <a:tab pos="0" algn="l"/>
              </a:tabLst>
            </a:pPr>
            <a:r>
              <a:rPr lang="en-US" sz="1600" b="0" u="none" strike="noStrike">
                <a:solidFill>
                  <a:schemeClr val="dk1"/>
                </a:solidFill>
                <a:effectLst/>
                <a:uFillTx/>
                <a:latin typeface="Arial"/>
                <a:ea typeface="Microsoft YaHei"/>
              </a:rPr>
              <a:t>The interface associated to lowest system priority.</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OpenSymbol"/>
              <a:buAutoNum type="arabicPeriod"/>
              <a:tabLst>
                <a:tab pos="0" algn="l"/>
              </a:tabLst>
            </a:pPr>
            <a:r>
              <a:rPr lang="en-US" sz="1600" b="0" u="none" strike="noStrike">
                <a:solidFill>
                  <a:schemeClr val="dk1"/>
                </a:solidFill>
                <a:effectLst/>
                <a:uFillTx/>
                <a:latin typeface="Arial"/>
                <a:ea typeface="Microsoft YaHei"/>
              </a:rPr>
              <a:t>Interface associated to lowest system MAC.</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OpenSymbol"/>
              <a:buAutoNum type="arabicPeriod"/>
              <a:tabLst>
                <a:tab pos="0" algn="l"/>
              </a:tabLst>
            </a:pPr>
            <a:r>
              <a:rPr lang="en-US" sz="1600" b="0" u="none" strike="noStrike">
                <a:solidFill>
                  <a:schemeClr val="dk1"/>
                </a:solidFill>
                <a:effectLst/>
                <a:uFillTx/>
                <a:latin typeface="Arial"/>
                <a:ea typeface="Microsoft YaHei"/>
              </a:rPr>
              <a:t>For multiple links associated to same switch, lowest port priority is preferred.</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OpenSymbol"/>
              <a:buAutoNum type="arabicPeriod"/>
              <a:tabLst>
                <a:tab pos="0" algn="l"/>
              </a:tabLst>
            </a:pPr>
            <a:r>
              <a:rPr lang="en-US" sz="1600" b="0" u="none" strike="noStrike">
                <a:solidFill>
                  <a:schemeClr val="dk1"/>
                </a:solidFill>
                <a:effectLst/>
                <a:uFillTx/>
                <a:latin typeface="Arial"/>
                <a:ea typeface="Microsoft YaHei"/>
              </a:rPr>
              <a:t>For multiple links associated to same switch, lowest port number is preferred next.</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Locating Blocked designated port (B):</a:t>
            </a:r>
            <a:r>
              <a:rPr lang="en-US" sz="1600" b="0" u="none" strike="noStrike">
                <a:solidFill>
                  <a:schemeClr val="dk1"/>
                </a:solidFill>
                <a:effectLst/>
                <a:uFillTx/>
                <a:latin typeface="Arial"/>
                <a:ea typeface="Microsoft YaHei"/>
              </a:rPr>
              <a:t> The logic to calculate which port to block in a link between two non-root switch is as follows:</a:t>
            </a:r>
            <a:endParaRPr lang="en-US" sz="1600" b="0" u="none" strike="noStrike">
              <a:solidFill>
                <a:schemeClr val="dk1"/>
              </a:solidFill>
              <a:effectLst/>
              <a:uFillTx/>
              <a:latin typeface="Aptos"/>
            </a:endParaRPr>
          </a:p>
          <a:p>
            <a:pPr marL="216000" indent="-216000" algn="l" defTabSz="914400">
              <a:lnSpc>
                <a:spcPct val="100000"/>
              </a:lnSpc>
              <a:spcBef>
                <a:spcPts val="150"/>
              </a:spcBef>
              <a:buClr>
                <a:srgbClr val="000000"/>
              </a:buClr>
              <a:buFont typeface="OpenSymbol"/>
              <a:buAutoNum type="arabicPlain"/>
              <a:tabLst>
                <a:tab pos="0" algn="l"/>
              </a:tabLst>
            </a:pPr>
            <a:r>
              <a:rPr lang="en-US" sz="1600" b="0" u="none" strike="noStrike">
                <a:solidFill>
                  <a:schemeClr val="dk1"/>
                </a:solidFill>
                <a:effectLst/>
                <a:uFillTx/>
                <a:latin typeface="Arial"/>
                <a:ea typeface="Microsoft YaHei"/>
              </a:rPr>
              <a:t>The interface must be DP and not RP.</a:t>
            </a:r>
            <a:endParaRPr lang="en-US" sz="1600" b="0" u="none" strike="noStrike">
              <a:solidFill>
                <a:schemeClr val="dk1"/>
              </a:solidFill>
              <a:effectLst/>
              <a:uFillTx/>
              <a:latin typeface="Aptos"/>
            </a:endParaRPr>
          </a:p>
          <a:p>
            <a:pPr marL="216000" indent="-216000" algn="l" defTabSz="914400">
              <a:lnSpc>
                <a:spcPct val="100000"/>
              </a:lnSpc>
              <a:spcBef>
                <a:spcPts val="150"/>
              </a:spcBef>
              <a:buClr>
                <a:srgbClr val="000000"/>
              </a:buClr>
              <a:buFont typeface="OpenSymbol"/>
              <a:buAutoNum type="arabicPlain"/>
              <a:tabLst>
                <a:tab pos="0" algn="l"/>
              </a:tabLst>
            </a:pPr>
            <a:r>
              <a:rPr lang="en-US" sz="1600" b="0" u="none" strike="noStrike">
                <a:solidFill>
                  <a:schemeClr val="dk1"/>
                </a:solidFill>
                <a:effectLst/>
                <a:uFillTx/>
                <a:latin typeface="Arial"/>
                <a:ea typeface="Microsoft YaHei"/>
              </a:rPr>
              <a:t>Switch with lower root path cost forwards(DP) and one with higher root path cost blocks(B) it’s port in a link between switches.</a:t>
            </a:r>
            <a:endParaRPr lang="en-US" sz="1600" b="0" u="none" strike="noStrike">
              <a:solidFill>
                <a:schemeClr val="dk1"/>
              </a:solidFill>
              <a:effectLst/>
              <a:uFillTx/>
              <a:latin typeface="Aptos"/>
            </a:endParaRPr>
          </a:p>
          <a:p>
            <a:pPr marL="216000" indent="-216000" algn="l" defTabSz="914400">
              <a:lnSpc>
                <a:spcPct val="100000"/>
              </a:lnSpc>
              <a:spcBef>
                <a:spcPts val="150"/>
              </a:spcBef>
              <a:buClr>
                <a:srgbClr val="000000"/>
              </a:buClr>
              <a:buFont typeface="OpenSymbol"/>
              <a:buAutoNum type="arabicPlain"/>
              <a:tabLst>
                <a:tab pos="0" algn="l"/>
              </a:tabLst>
            </a:pPr>
            <a:r>
              <a:rPr lang="en-US" sz="1600" b="0" u="none" strike="noStrike">
                <a:solidFill>
                  <a:schemeClr val="dk1"/>
                </a:solidFill>
                <a:effectLst/>
                <a:uFillTx/>
                <a:latin typeface="Arial"/>
                <a:ea typeface="Microsoft YaHei"/>
              </a:rPr>
              <a:t>If root path cost ties, then switch with lower system priority forwards(DP) and higher system priority blocks(B).</a:t>
            </a:r>
            <a:endParaRPr lang="en-US" sz="16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63"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64" name=""/>
          <p:cNvSpPr/>
          <p:nvPr/>
        </p:nvSpPr>
        <p:spPr>
          <a:xfrm>
            <a:off x="0" y="1080000"/>
            <a:ext cx="3850920" cy="219276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spcBef>
                <a:spcPts val="283"/>
              </a:spcBef>
              <a:spcAft>
                <a:spcPts val="283"/>
              </a:spcAft>
              <a:buClr>
                <a:srgbClr val="000000"/>
              </a:buClr>
              <a:buFont typeface="OpenSymbol"/>
              <a:buAutoNum type="arabicPlain" startAt="4"/>
            </a:pPr>
            <a:r>
              <a:rPr lang="en-AU" sz="1600" b="0" u="none" strike="noStrike">
                <a:solidFill>
                  <a:srgbClr val="000000"/>
                </a:solidFill>
                <a:effectLst/>
                <a:uFillTx/>
                <a:latin typeface="Arial"/>
                <a:ea typeface="Microsoft YaHei"/>
              </a:rPr>
              <a:t>If system priority is same then switch with lower MAC address forwards(DP) and switch with higher MAC address blocks(B).</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0" u="none" strike="noStrike">
                <a:solidFill>
                  <a:srgbClr val="000000"/>
                </a:solidFill>
                <a:effectLst/>
                <a:uFillTx/>
                <a:latin typeface="Arial"/>
                <a:ea typeface="Microsoft YaHei"/>
              </a:rPr>
              <a:t>In the topology in previous slide, for link between SW2 and SW3, and for link between SW4 and SW5, they use above step 4 to put their ports in DP and B state.</a:t>
            </a:r>
            <a:endParaRPr lang="en-AU" sz="1600" b="0" u="none" strike="noStrike">
              <a:solidFill>
                <a:srgbClr val="000000"/>
              </a:solidFill>
              <a:effectLst/>
              <a:uFillTx/>
              <a:latin typeface="Arial"/>
            </a:endParaRPr>
          </a:p>
        </p:txBody>
      </p:sp>
      <p:pic>
        <p:nvPicPr>
          <p:cNvPr id="65" name=""/>
          <p:cNvPicPr/>
          <p:nvPr/>
        </p:nvPicPr>
        <p:blipFill>
          <a:blip r:embed="rId1"/>
          <a:stretch/>
        </p:blipFill>
        <p:spPr>
          <a:xfrm>
            <a:off x="138960" y="3273840"/>
            <a:ext cx="3639960" cy="230508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Rectangle 5">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1.STP</a:t>
            </a:r>
            <a:endParaRPr lang="en-AU" sz="4400" b="0" u="none" strike="noStrike">
              <a:solidFill>
                <a:srgbClr val="FFFFFF"/>
              </a:solidFill>
              <a:effectLst/>
              <a:uFillTx/>
              <a:latin typeface="Arial"/>
            </a:endParaRPr>
          </a:p>
        </p:txBody>
      </p:sp>
      <p:sp>
        <p:nvSpPr>
          <p:cNvPr id="67" name="PlaceHolder 1"/>
          <p:cNvSpPr>
            <a:spLocks noGrp="1"/>
          </p:cNvSpPr>
          <p:nvPr>
            <p:ph/>
          </p:nvPr>
        </p:nvSpPr>
        <p:spPr>
          <a:xfrm>
            <a:off x="3960000" y="76320"/>
            <a:ext cx="5937120" cy="5500440"/>
          </a:xfrm>
          <a:prstGeom prst="rect">
            <a:avLst/>
          </a:prstGeom>
          <a:noFill/>
          <a:ln w="0">
            <a:noFill/>
          </a:ln>
        </p:spPr>
        <p:txBody>
          <a:bodyPr lIns="91440" tIns="45720" rIns="91440" bIns="45720" anchor="t">
            <a:normAutofit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STP Topology Changes : </a:t>
            </a:r>
            <a:r>
              <a:rPr lang="en-US" sz="1600" b="0" u="none" strike="noStrike">
                <a:solidFill>
                  <a:schemeClr val="dk1"/>
                </a:solidFill>
                <a:effectLst/>
                <a:uFillTx/>
                <a:latin typeface="Arial"/>
                <a:ea typeface="Microsoft YaHei"/>
              </a:rPr>
              <a:t>In a stable STP topology, configuration BPDU always flow from root switch to edge switches.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In an event that causes topology change such as switch failure, link failure or link coming up (becoming active) all the switches in STP topology are impacted.</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The switch that detects such event sends a Topology Change Notification (TCN) BPDU towards the root switch.</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If an upstream (non-root) switch receives such BPDU, it sends an acknowledgment to downstream switch and forwards the TCN BPDU out it’s RP to the root switch.</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Upon receiving TCN, root switch creates and floods new configuration BPDU with TCN flag set. </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Upon receiving configuration BPDU with TCN flag set, the non root switch sets it’s MAC address table timer to forward delay timer (default 15 sec).</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This causes flushing of MAC address table for hosts that are not actively communicating (within forward delay timer interval).</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MAC address table flush during the topology change causes temporary increase in unknown unicast flooding until the STP topology stabilizes.</a:t>
            </a:r>
            <a:endParaRPr lang="en-US" sz="16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68"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69" name=""/>
          <p:cNvSpPr/>
          <p:nvPr/>
        </p:nvSpPr>
        <p:spPr>
          <a:xfrm>
            <a:off x="36000" y="1080000"/>
            <a:ext cx="3742920" cy="327960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ea typeface="DejaVu Sans"/>
              </a:rPr>
              <a:t>MAC address table timer is reset to default value of 300 seconds upon receipt of second configuration BPDU.</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ea typeface="DejaVu Sans"/>
              </a:rPr>
              <a:t>TCN is generated per VLAN basis, thus number of hosts in a VLAN directly correlates to number of TCN and scale of unknown unicast flooding during topology change.</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ea typeface="DejaVu Sans"/>
              </a:rPr>
              <a:t>Number of TCN can be viewed with </a:t>
            </a:r>
            <a:r>
              <a:rPr lang="en-AU" sz="1400" b="1" u="none" strike="noStrike">
                <a:solidFill>
                  <a:srgbClr val="000000"/>
                </a:solidFill>
                <a:effectLst/>
                <a:uFillTx/>
                <a:latin typeface="Arial"/>
                <a:ea typeface="DejaVu Sans"/>
              </a:rPr>
              <a:t>show spanning-tree </a:t>
            </a:r>
            <a:r>
              <a:rPr lang="en-AU" sz="1400" b="0" u="none" strike="noStrike">
                <a:solidFill>
                  <a:srgbClr val="000000"/>
                </a:solidFill>
                <a:effectLst/>
                <a:uFillTx/>
                <a:latin typeface="Arial"/>
                <a:ea typeface="DejaVu Sans"/>
              </a:rPr>
              <a:t>[</a:t>
            </a:r>
            <a:r>
              <a:rPr lang="en-AU" sz="1400" b="1" u="none" strike="noStrike">
                <a:solidFill>
                  <a:srgbClr val="000000"/>
                </a:solidFill>
                <a:effectLst/>
                <a:uFillTx/>
                <a:latin typeface="Arial"/>
                <a:ea typeface="DejaVu Sans"/>
              </a:rPr>
              <a:t>vlan</a:t>
            </a:r>
            <a:r>
              <a:rPr lang="en-AU" sz="1400" b="0" u="none" strike="noStrike">
                <a:solidFill>
                  <a:srgbClr val="000000"/>
                </a:solidFill>
                <a:effectLst/>
                <a:uFillTx/>
                <a:latin typeface="Arial"/>
                <a:ea typeface="DejaVu Sans"/>
              </a:rPr>
              <a:t> </a:t>
            </a:r>
            <a:r>
              <a:rPr lang="en-AU" sz="1400" b="0" i="1" u="none" strike="noStrike">
                <a:solidFill>
                  <a:srgbClr val="000000"/>
                </a:solidFill>
                <a:effectLst/>
                <a:uFillTx/>
                <a:latin typeface="Arial"/>
                <a:ea typeface="DejaVu Sans"/>
              </a:rPr>
              <a:t>vlan-id</a:t>
            </a:r>
            <a:r>
              <a:rPr lang="en-AU" sz="1400" b="0" u="none" strike="noStrike">
                <a:solidFill>
                  <a:srgbClr val="000000"/>
                </a:solidFill>
                <a:effectLst/>
                <a:uFillTx/>
                <a:latin typeface="Arial"/>
                <a:ea typeface="DejaVu Sans"/>
              </a:rPr>
              <a:t>]</a:t>
            </a:r>
            <a:r>
              <a:rPr lang="en-AU" sz="1400" b="0" i="1" u="none" strike="noStrike">
                <a:solidFill>
                  <a:srgbClr val="000000"/>
                </a:solidFill>
                <a:effectLst/>
                <a:uFillTx/>
                <a:latin typeface="Arial"/>
                <a:ea typeface="DejaVu Sans"/>
              </a:rPr>
              <a:t> </a:t>
            </a:r>
            <a:r>
              <a:rPr lang="en-AU" sz="1400" b="1" u="none" strike="noStrike">
                <a:solidFill>
                  <a:srgbClr val="000000"/>
                </a:solidFill>
                <a:effectLst/>
                <a:uFillTx/>
                <a:latin typeface="Arial"/>
                <a:ea typeface="DejaVu Sans"/>
              </a:rPr>
              <a:t>detail</a:t>
            </a:r>
            <a:r>
              <a:rPr lang="en-AU" sz="1600" b="0" u="none" strike="noStrike">
                <a:solidFill>
                  <a:srgbClr val="000000"/>
                </a:solidFill>
                <a:effectLst/>
                <a:uFillTx/>
                <a:latin typeface="Arial"/>
                <a:ea typeface="DejaVu Sans"/>
              </a:rPr>
              <a:t> and is important STP troubleshooting command.</a:t>
            </a:r>
            <a:endParaRPr lang="en-AU" sz="16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p:txBody>
      </p:sp>
      <p:pic>
        <p:nvPicPr>
          <p:cNvPr id="70" name=""/>
          <p:cNvPicPr/>
          <p:nvPr/>
        </p:nvPicPr>
        <p:blipFill>
          <a:blip r:embed="rId1"/>
          <a:stretch/>
        </p:blipFill>
        <p:spPr>
          <a:xfrm>
            <a:off x="41760" y="4140000"/>
            <a:ext cx="3737160" cy="14389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 name="Rectangle 6">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1.STP</a:t>
            </a:r>
            <a:endParaRPr lang="en-AU" sz="4400" b="0" u="none" strike="noStrike">
              <a:solidFill>
                <a:srgbClr val="FFFFFF"/>
              </a:solidFill>
              <a:effectLst/>
              <a:uFillTx/>
              <a:latin typeface="Arial"/>
            </a:endParaRPr>
          </a:p>
        </p:txBody>
      </p:sp>
      <p:sp>
        <p:nvSpPr>
          <p:cNvPr id="72" name="PlaceHolder 1"/>
          <p:cNvSpPr>
            <a:spLocks noGrp="1"/>
          </p:cNvSpPr>
          <p:nvPr>
            <p:ph/>
          </p:nvPr>
        </p:nvSpPr>
        <p:spPr>
          <a:xfrm>
            <a:off x="3960000" y="76320"/>
            <a:ext cx="5937120" cy="5500440"/>
          </a:xfrm>
          <a:prstGeom prst="rect">
            <a:avLst/>
          </a:prstGeom>
          <a:noFill/>
          <a:ln w="0">
            <a:noFill/>
          </a:ln>
        </p:spPr>
        <p:txBody>
          <a:bodyPr lIns="91440" tIns="45720" rIns="91440" bIns="45720" anchor="t">
            <a:normAutofit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Convergence with Direct Link Failure: </a:t>
            </a:r>
            <a:r>
              <a:rPr lang="en-US" sz="1600" b="0" u="none" strike="noStrike">
                <a:solidFill>
                  <a:schemeClr val="dk1"/>
                </a:solidFill>
                <a:effectLst/>
                <a:uFillTx/>
                <a:latin typeface="Arial"/>
                <a:ea typeface="Microsoft YaHei"/>
              </a:rPr>
              <a:t>When switch loses power or reboots or link is removed, layer 1 signaling places the port in down state can notify processes such as STP.</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0" u="none" strike="noStrike">
                <a:solidFill>
                  <a:schemeClr val="dk1"/>
                </a:solidFill>
                <a:effectLst/>
                <a:uFillTx/>
                <a:latin typeface="Arial"/>
                <a:ea typeface="Microsoft YaHei"/>
              </a:rPr>
              <a:t>Such situation is know as direct link failure to STP and converges depending on below three scenarios: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Scenario 1:</a:t>
            </a:r>
            <a:r>
              <a:rPr lang="en-US" sz="1600" b="0" u="none" strike="noStrike">
                <a:solidFill>
                  <a:schemeClr val="dk1"/>
                </a:solidFill>
                <a:effectLst/>
                <a:uFillTx/>
                <a:latin typeface="Arial"/>
                <a:ea typeface="Microsoft YaHei"/>
              </a:rPr>
              <a:t> Link between SW2: gi0/0 (DP) and SW3:gi0/0 (B)  fails.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Since SW3:gi0/0 is in blocking state, there is no impact on network traffic between SW2 and SW3. As it is transmitted via SW1. </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SW2 and SW3 however will send TCN out their RP to root switch.</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SW1 sends TCN BPDU to all connected switches, SW@ and SW3 in this case.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SW2 and SW3 will change their MAC address table timer and flush it.</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Scenario 2: </a:t>
            </a:r>
            <a:r>
              <a:rPr lang="en-US" sz="1600" b="0" u="none" strike="noStrike">
                <a:solidFill>
                  <a:schemeClr val="dk1"/>
                </a:solidFill>
                <a:effectLst/>
                <a:uFillTx/>
                <a:latin typeface="Arial"/>
                <a:ea typeface="Microsoft YaHei"/>
              </a:rPr>
              <a:t>Link between SW1 and SW3 fails.</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SW1 does not need to send a TCN because it is the root switch. SW3 needs to send TCN to SW1 via it’s RP but cannot send it.</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SW1 sends configuration BPDU with TCN flag set to SW2.</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73"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74" name=""/>
          <p:cNvSpPr/>
          <p:nvPr/>
        </p:nvSpPr>
        <p:spPr>
          <a:xfrm>
            <a:off x="-36000" y="3343320"/>
            <a:ext cx="3886920" cy="2193120"/>
          </a:xfrm>
          <a:prstGeom prst="rect">
            <a:avLst/>
          </a:prstGeom>
          <a:noFill/>
          <a:ln w="0">
            <a:noFill/>
          </a:ln>
        </p:spPr>
        <p:style>
          <a:lnRef idx="0"/>
          <a:fillRef idx="0"/>
          <a:effectRef idx="0"/>
          <a:fontRef idx="minor"/>
        </p:style>
        <p:txBody>
          <a:bodyPr lIns="90000" tIns="45000" rIns="90000" bIns="45000" anchor="t">
            <a:spAutoFit/>
          </a:bodyPr>
          <a:p>
            <a:pPr marL="324000" indent="-324000" defTabSz="914400">
              <a:lnSpc>
                <a:spcPct val="100000"/>
              </a:lnSpc>
              <a:spcBef>
                <a:spcPts val="434"/>
              </a:spcBef>
              <a:spcAft>
                <a:spcPts val="283"/>
              </a:spcAft>
              <a:buClr>
                <a:srgbClr val="000000"/>
              </a:buClr>
              <a:buFont typeface="OpenSymbol"/>
              <a:buAutoNum type="arabicParenR" startAt="4"/>
              <a:tabLst>
                <a:tab pos="0" algn="l"/>
              </a:tabLst>
            </a:pPr>
            <a:r>
              <a:rPr lang="en-US" sz="1400" b="0" u="none" strike="noStrike">
                <a:solidFill>
                  <a:schemeClr val="dk1"/>
                </a:solidFill>
                <a:effectLst/>
                <a:uFillTx/>
                <a:latin typeface="Arial"/>
                <a:ea typeface="Microsoft YaHei"/>
              </a:rPr>
              <a:t>SW2 and SW3 receives the BPDU with TCN flag set and set their MAC address table timer to forward delay timer.</a:t>
            </a:r>
            <a:endParaRPr lang="en-AU" sz="1400" b="0" u="none" strike="noStrike">
              <a:solidFill>
                <a:srgbClr val="000000"/>
              </a:solidFill>
              <a:effectLst/>
              <a:uFillTx/>
              <a:latin typeface="Arial"/>
            </a:endParaRPr>
          </a:p>
          <a:p>
            <a:pPr marL="324000" indent="-324000" defTabSz="914400">
              <a:lnSpc>
                <a:spcPct val="100000"/>
              </a:lnSpc>
              <a:spcBef>
                <a:spcPts val="434"/>
              </a:spcBef>
              <a:spcAft>
                <a:spcPts val="283"/>
              </a:spcAft>
              <a:buClr>
                <a:srgbClr val="000000"/>
              </a:buClr>
              <a:buFont typeface="OpenSymbol"/>
              <a:buAutoNum type="arabicParenR" startAt="4"/>
              <a:tabLst>
                <a:tab pos="0" algn="l"/>
              </a:tabLst>
            </a:pPr>
            <a:r>
              <a:rPr lang="en-US" sz="1400" b="0" u="none" strike="noStrike">
                <a:solidFill>
                  <a:schemeClr val="dk1"/>
                </a:solidFill>
                <a:effectLst/>
                <a:uFillTx/>
                <a:latin typeface="Arial"/>
                <a:ea typeface="Microsoft YaHei"/>
              </a:rPr>
              <a:t>SW3 waits for STP max age timer before it can restart the port state of listening (15 seconds) and then learning (15 seconds).</a:t>
            </a:r>
            <a:endParaRPr lang="en-AU" sz="14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400" b="0" u="none" strike="noStrike">
                <a:solidFill>
                  <a:schemeClr val="dk1"/>
                </a:solidFill>
                <a:effectLst/>
                <a:uFillTx/>
                <a:latin typeface="Arial"/>
                <a:ea typeface="Microsoft YaHei"/>
              </a:rPr>
              <a:t>Total convergence time of 30 seconds with 15 seconds in listening state and 15 seconds in learning state.</a:t>
            </a:r>
            <a:endParaRPr lang="en-AU" sz="1400" b="0" u="none" strike="noStrike">
              <a:solidFill>
                <a:srgbClr val="000000"/>
              </a:solidFill>
              <a:effectLst/>
              <a:uFillTx/>
              <a:latin typeface="Arial"/>
            </a:endParaRPr>
          </a:p>
        </p:txBody>
      </p:sp>
      <p:pic>
        <p:nvPicPr>
          <p:cNvPr id="75" name=""/>
          <p:cNvPicPr/>
          <p:nvPr/>
        </p:nvPicPr>
        <p:blipFill>
          <a:blip r:embed="rId1"/>
          <a:stretch/>
        </p:blipFill>
        <p:spPr>
          <a:xfrm>
            <a:off x="180000" y="1223280"/>
            <a:ext cx="3418920" cy="19436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Rectangle 7">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1.STP</a:t>
            </a:r>
            <a:endParaRPr lang="en-AU" sz="4400" b="0" u="none" strike="noStrike">
              <a:solidFill>
                <a:srgbClr val="FFFFFF"/>
              </a:solidFill>
              <a:effectLst/>
              <a:uFillTx/>
              <a:latin typeface="Arial"/>
            </a:endParaRPr>
          </a:p>
        </p:txBody>
      </p:sp>
      <p:sp>
        <p:nvSpPr>
          <p:cNvPr id="77" name="PlaceHolder 1"/>
          <p:cNvSpPr>
            <a:spLocks noGrp="1"/>
          </p:cNvSpPr>
          <p:nvPr>
            <p:ph/>
          </p:nvPr>
        </p:nvSpPr>
        <p:spPr>
          <a:xfrm>
            <a:off x="3960000" y="76320"/>
            <a:ext cx="5937120" cy="5500440"/>
          </a:xfrm>
          <a:prstGeom prst="rect">
            <a:avLst/>
          </a:prstGeom>
          <a:noFill/>
          <a:ln w="0">
            <a:noFill/>
          </a:ln>
        </p:spPr>
        <p:txBody>
          <a:bodyPr lIns="91440" tIns="45720" rIns="91440" bIns="45720" anchor="t">
            <a:normAutofit fontScale="85000"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Scenario 3: </a:t>
            </a:r>
            <a:r>
              <a:rPr lang="en-US" sz="1600" b="0" u="none" strike="noStrike">
                <a:solidFill>
                  <a:schemeClr val="dk1"/>
                </a:solidFill>
                <a:effectLst/>
                <a:uFillTx/>
                <a:latin typeface="Arial"/>
                <a:ea typeface="Microsoft YaHei"/>
              </a:rPr>
              <a:t>Link between SW1 and SW2 fails. </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SW2 needs to send TCN via it’s RP to SW1 but it cannot.</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SW1 sends configuration BPDU with TCN flag set to SW3.It cannot relay SW1’s BPDU to SW3 as it’s Gi1/0/2 is in Blocking state. SW2 sends a configuration BPDU with it’s own system ID as root ID.</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SW3 flushes the MAC address table and discards SW2’s BPDU as it is inferior to one received from SW1. </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Max age timer expires on SW3 Gi1/0/2 and it moves the port to listening state and advertises SW1’s BPDU to SW2.</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SW2 receives SW1’s configuration BPDU via SW3 and finds it superior to it’s own BPDU. It then changes it’s Gi1/0/3 to RP.</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Total convergence time of 52 seconds: 20 seconds max age , 15 seconds listening state, 15 seconds learning state for SW3 Gi1/0/2 port. And 2 seconds for hello time in SW2.</a:t>
            </a:r>
            <a:endParaRPr lang="en-US" sz="1600" b="0" u="none" strike="noStrike">
              <a:solidFill>
                <a:schemeClr val="dk1"/>
              </a:solidFill>
              <a:effectLst/>
              <a:uFillTx/>
              <a:latin typeface="Aptos"/>
            </a:endParaRPr>
          </a:p>
          <a:p>
            <a:pPr marL="324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78"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79" name=""/>
          <p:cNvSpPr/>
          <p:nvPr/>
        </p:nvSpPr>
        <p:spPr>
          <a:xfrm>
            <a:off x="-35640" y="1080000"/>
            <a:ext cx="3994920" cy="15901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50"/>
              </a:spcBef>
              <a:tabLst>
                <a:tab pos="0" algn="l"/>
              </a:tabLst>
            </a:pPr>
            <a:r>
              <a:rPr lang="en-US" sz="1600" b="1" u="none" strike="noStrike">
                <a:solidFill>
                  <a:schemeClr val="dk1"/>
                </a:solidFill>
                <a:effectLst/>
                <a:uFillTx/>
                <a:latin typeface="Arial"/>
                <a:ea typeface="Microsoft YaHei"/>
              </a:rPr>
              <a:t>Convergence with Indirect Link Failure:</a:t>
            </a:r>
            <a:endParaRPr lang="en-AU" sz="1600" b="0" u="none" strike="noStrike">
              <a:solidFill>
                <a:srgbClr val="000000"/>
              </a:solidFill>
              <a:effectLst/>
              <a:uFillTx/>
              <a:latin typeface="Arial"/>
            </a:endParaRPr>
          </a:p>
          <a:p>
            <a:pPr marL="216000" indent="-216000"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Indirect link failure scenario is when the STP BPDU is impaired or blocked but the link is still up.</a:t>
            </a:r>
            <a:endParaRPr lang="en-AU" sz="1600" b="0" u="none" strike="noStrike">
              <a:solidFill>
                <a:srgbClr val="000000"/>
              </a:solidFill>
              <a:effectLst/>
              <a:uFillTx/>
              <a:latin typeface="Arial"/>
            </a:endParaRPr>
          </a:p>
          <a:p>
            <a:pPr marL="216000" indent="-216000"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In such case, STP have to rely on timers to stabilize the topology.</a:t>
            </a:r>
            <a:endParaRPr lang="en-AU" sz="1600" b="0" u="none" strike="noStrike">
              <a:solidFill>
                <a:srgbClr val="000000"/>
              </a:solidFill>
              <a:effectLst/>
              <a:uFillTx/>
              <a:latin typeface="Arial"/>
            </a:endParaRPr>
          </a:p>
        </p:txBody>
      </p:sp>
      <p:sp>
        <p:nvSpPr>
          <p:cNvPr id="80" name=""/>
          <p:cNvSpPr/>
          <p:nvPr/>
        </p:nvSpPr>
        <p:spPr>
          <a:xfrm>
            <a:off x="4320000" y="324000"/>
            <a:ext cx="3599280" cy="1835280"/>
          </a:xfrm>
          <a:prstGeom prst="rect">
            <a:avLst/>
          </a:prstGeom>
          <a:blipFill rotWithShape="0">
            <a:blip r:embed="rId1"/>
            <a:srcRect/>
            <a:stretch/>
          </a:blipFill>
          <a:ln w="0">
            <a:noFill/>
          </a:ln>
        </p:spPr>
        <p:style>
          <a:lnRef idx="0"/>
          <a:fillRef idx="0"/>
          <a:effectRef idx="0"/>
          <a:fontRef idx="minor"/>
        </p:style>
        <p:txBody>
          <a:bodyPr lIns="90000" tIns="45000" rIns="90000" bIns="45000" anchor="ctr" anchorCtr="1">
            <a:noAutofit/>
          </a:bodyPr>
          <a:p>
            <a:endParaRPr lang="en-AU" sz="1800" b="0" u="none" strike="noStrike">
              <a:solidFill>
                <a:srgbClr val="000000"/>
              </a:solidFill>
              <a:effectLst/>
              <a:uFillTx/>
              <a:latin typeface="Arial"/>
            </a:endParaRPr>
          </a:p>
        </p:txBody>
      </p:sp>
      <p:pic>
        <p:nvPicPr>
          <p:cNvPr id="81" name=""/>
          <p:cNvPicPr/>
          <p:nvPr/>
        </p:nvPicPr>
        <p:blipFill>
          <a:blip r:embed="rId2"/>
          <a:stretch/>
        </p:blipFill>
        <p:spPr>
          <a:xfrm>
            <a:off x="47160" y="2879640"/>
            <a:ext cx="3653280" cy="25196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Rectangle 8">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1.STP</a:t>
            </a:r>
            <a:endParaRPr lang="en-AU" sz="4400" b="0" u="none" strike="noStrike">
              <a:solidFill>
                <a:srgbClr val="FFFFFF"/>
              </a:solidFill>
              <a:effectLst/>
              <a:uFillTx/>
              <a:latin typeface="Arial"/>
            </a:endParaRPr>
          </a:p>
        </p:txBody>
      </p:sp>
      <p:sp>
        <p:nvSpPr>
          <p:cNvPr id="83" name="PlaceHolder 1"/>
          <p:cNvSpPr>
            <a:spLocks noGrp="1"/>
          </p:cNvSpPr>
          <p:nvPr>
            <p:ph/>
          </p:nvPr>
        </p:nvSpPr>
        <p:spPr>
          <a:xfrm>
            <a:off x="3960000" y="76320"/>
            <a:ext cx="5937120" cy="5500440"/>
          </a:xfrm>
          <a:prstGeom prst="rect">
            <a:avLst/>
          </a:prstGeom>
          <a:noFill/>
          <a:ln w="0">
            <a:noFill/>
          </a:ln>
        </p:spPr>
        <p:txBody>
          <a:bodyPr lIns="91440" tIns="45720" rIns="91440" bIns="45720" anchor="t">
            <a:normAutofit fontScale="85000"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Scenario 3: </a:t>
            </a:r>
            <a:r>
              <a:rPr lang="en-US" sz="1600" b="0" u="none" strike="noStrike">
                <a:solidFill>
                  <a:schemeClr val="dk1"/>
                </a:solidFill>
                <a:effectLst/>
                <a:uFillTx/>
                <a:latin typeface="Arial"/>
                <a:ea typeface="Microsoft YaHei"/>
              </a:rPr>
              <a:t>Link between SW1 and SW2 fails. </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SW2 needs to send TCN via it’s RP to SW1 but it cannot.</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SW1 sends configuration BPDU with TCN flag set to SW3.It cannot relay SW1’s BPDU to SW3 as it’s Gi1/0/2 is in Blocking state. SW2 sends a configuration BPDU with it’s own system ID as root ID.</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SW3 flushes the MAC address table and discards SW2’s BPDU as it is inferior to one received from SW1. </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Max age timer expires on SW3 Gi1/0/2 and it moves the port to listening state and advertises SW1’s BPDU to SW2.</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AutoNum type="arabicParenR" startAt="2"/>
              <a:tabLst>
                <a:tab pos="0" algn="l"/>
              </a:tabLst>
            </a:pPr>
            <a:r>
              <a:rPr lang="en-US" sz="1600" b="0" u="none" strike="noStrike">
                <a:solidFill>
                  <a:schemeClr val="dk1"/>
                </a:solidFill>
                <a:effectLst/>
                <a:uFillTx/>
                <a:latin typeface="Arial"/>
                <a:ea typeface="Microsoft YaHei"/>
              </a:rPr>
              <a:t>SW2 receives SW1’s configuration BPDU via SW3 and finds it superior to it’s own BPDU. It then changes it’s Gi1/0/3 to RP.</a:t>
            </a:r>
            <a:endParaRPr lang="en-US" sz="1600" b="0" u="none" strike="noStrike">
              <a:solidFill>
                <a:schemeClr val="dk1"/>
              </a:solidFill>
              <a:effectLst/>
              <a:uFillTx/>
              <a:latin typeface="Aptos"/>
            </a:endParaRPr>
          </a:p>
          <a:p>
            <a:pPr marL="324000" indent="-324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Total convergence time of 52 seconds: 20 seconds max age , 15 seconds listening state, 15 seconds learning state for SW3 Gi1/0/2 port. And 2 seconds for hello time in SW2.</a:t>
            </a:r>
            <a:endParaRPr lang="en-US" sz="1600" b="0" u="none" strike="noStrike">
              <a:solidFill>
                <a:schemeClr val="dk1"/>
              </a:solidFill>
              <a:effectLst/>
              <a:uFillTx/>
              <a:latin typeface="Aptos"/>
            </a:endParaRPr>
          </a:p>
          <a:p>
            <a:pPr marL="324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84"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85" name=""/>
          <p:cNvSpPr/>
          <p:nvPr/>
        </p:nvSpPr>
        <p:spPr>
          <a:xfrm>
            <a:off x="-35640" y="1080000"/>
            <a:ext cx="3994920" cy="15901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50"/>
              </a:spcBef>
              <a:tabLst>
                <a:tab pos="0" algn="l"/>
              </a:tabLst>
            </a:pPr>
            <a:r>
              <a:rPr lang="en-US" sz="1600" b="1" u="none" strike="noStrike">
                <a:solidFill>
                  <a:schemeClr val="dk1"/>
                </a:solidFill>
                <a:effectLst/>
                <a:uFillTx/>
                <a:latin typeface="Arial"/>
                <a:ea typeface="Microsoft YaHei"/>
              </a:rPr>
              <a:t>Convergence with Indirect Link Failure:</a:t>
            </a:r>
            <a:endParaRPr lang="en-AU" sz="1600" b="0" u="none" strike="noStrike">
              <a:solidFill>
                <a:srgbClr val="000000"/>
              </a:solidFill>
              <a:effectLst/>
              <a:uFillTx/>
              <a:latin typeface="Arial"/>
            </a:endParaRPr>
          </a:p>
          <a:p>
            <a:pPr marL="216000" indent="-216000"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Indirect link failure scenario is when the STP BPDU is impaired or blocked but the link is still up.</a:t>
            </a:r>
            <a:endParaRPr lang="en-AU" sz="1600" b="0" u="none" strike="noStrike">
              <a:solidFill>
                <a:srgbClr val="000000"/>
              </a:solidFill>
              <a:effectLst/>
              <a:uFillTx/>
              <a:latin typeface="Arial"/>
            </a:endParaRPr>
          </a:p>
          <a:p>
            <a:pPr marL="216000" indent="-216000"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In such case, STP have to rely on timers to stabilize the topology.</a:t>
            </a:r>
            <a:endParaRPr lang="en-AU" sz="1600" b="0" u="none" strike="noStrike">
              <a:solidFill>
                <a:srgbClr val="000000"/>
              </a:solidFill>
              <a:effectLst/>
              <a:uFillTx/>
              <a:latin typeface="Arial"/>
            </a:endParaRPr>
          </a:p>
        </p:txBody>
      </p:sp>
      <p:sp>
        <p:nvSpPr>
          <p:cNvPr id="86" name=""/>
          <p:cNvSpPr/>
          <p:nvPr/>
        </p:nvSpPr>
        <p:spPr>
          <a:xfrm>
            <a:off x="4320000" y="324000"/>
            <a:ext cx="3599280" cy="1835280"/>
          </a:xfrm>
          <a:prstGeom prst="rect">
            <a:avLst/>
          </a:prstGeom>
          <a:blipFill rotWithShape="0">
            <a:blip r:embed="rId1"/>
            <a:srcRect/>
            <a:stretch/>
          </a:blipFill>
          <a:ln w="0">
            <a:noFill/>
          </a:ln>
        </p:spPr>
        <p:style>
          <a:lnRef idx="0"/>
          <a:fillRef idx="0"/>
          <a:effectRef idx="0"/>
          <a:fontRef idx="minor"/>
        </p:style>
        <p:txBody>
          <a:bodyPr lIns="90000" tIns="45000" rIns="90000" bIns="45000" anchor="ctr" anchorCtr="1">
            <a:noAutofit/>
          </a:bodyPr>
          <a:p>
            <a:endParaRPr lang="en-AU" sz="1800" b="0" u="none" strike="noStrike">
              <a:solidFill>
                <a:srgbClr val="000000"/>
              </a:solidFill>
              <a:effectLst/>
              <a:uFillTx/>
              <a:latin typeface="Arial"/>
            </a:endParaRPr>
          </a:p>
        </p:txBody>
      </p:sp>
      <p:pic>
        <p:nvPicPr>
          <p:cNvPr id="87" name=""/>
          <p:cNvPicPr/>
          <p:nvPr/>
        </p:nvPicPr>
        <p:blipFill>
          <a:blip r:embed="rId2"/>
          <a:stretch/>
        </p:blipFill>
        <p:spPr>
          <a:xfrm>
            <a:off x="81000" y="2688120"/>
            <a:ext cx="3653280" cy="2159640"/>
          </a:xfrm>
          <a:prstGeom prst="rect">
            <a:avLst/>
          </a:prstGeom>
          <a:noFill/>
          <a:ln w="0">
            <a:noFill/>
          </a:ln>
        </p:spPr>
      </p:pic>
      <p:sp>
        <p:nvSpPr>
          <p:cNvPr id="88" name=""/>
          <p:cNvSpPr/>
          <p:nvPr/>
        </p:nvSpPr>
        <p:spPr>
          <a:xfrm>
            <a:off x="-36000" y="4860000"/>
            <a:ext cx="4139280" cy="88884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Total convergence time is 52 seconds, 20 max age on SW3, 2 SW2 BPDU advertisement, 15 listening and 15 learning on SW3.</a:t>
            </a:r>
            <a:endParaRPr lang="en-AU"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Rectangle 9">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2.RSTP</a:t>
            </a:r>
            <a:endParaRPr lang="en-AU" sz="4400" b="0" u="none" strike="noStrike">
              <a:solidFill>
                <a:srgbClr val="FFFFFF"/>
              </a:solidFill>
              <a:effectLst/>
              <a:uFillTx/>
              <a:latin typeface="Arial"/>
            </a:endParaRPr>
          </a:p>
        </p:txBody>
      </p:sp>
      <p:sp>
        <p:nvSpPr>
          <p:cNvPr id="90" name="PlaceHolder 1"/>
          <p:cNvSpPr>
            <a:spLocks noGrp="1"/>
          </p:cNvSpPr>
          <p:nvPr>
            <p:ph/>
          </p:nvPr>
        </p:nvSpPr>
        <p:spPr>
          <a:xfrm>
            <a:off x="3960000" y="76320"/>
            <a:ext cx="5937120" cy="5500440"/>
          </a:xfrm>
          <a:prstGeom prst="rect">
            <a:avLst/>
          </a:prstGeom>
          <a:noFill/>
          <a:ln w="0">
            <a:noFill/>
          </a:ln>
        </p:spPr>
        <p:txBody>
          <a:bodyPr lIns="91440" tIns="45720" rIns="91440" bIns="45720" anchor="t">
            <a:normAutofit fontScale="92500"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Rapid Spanning Tree: </a:t>
            </a:r>
            <a:r>
              <a:rPr lang="en-US" sz="1600" b="0" u="none" strike="noStrike">
                <a:solidFill>
                  <a:schemeClr val="dk1"/>
                </a:solidFill>
                <a:effectLst/>
                <a:uFillTx/>
                <a:latin typeface="Arial"/>
                <a:ea typeface="Microsoft YaHei"/>
              </a:rPr>
              <a:t>PVST and PVST+ provides STP topology for each VLAN. These feature was incorporated into with faster convergence to create 802.1 W specification known as RSTP.</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RSTP Port States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1" u="none" strike="noStrike">
                <a:solidFill>
                  <a:schemeClr val="dk1"/>
                </a:solidFill>
                <a:effectLst/>
                <a:uFillTx/>
                <a:latin typeface="Arial"/>
                <a:ea typeface="Microsoft YaHei"/>
              </a:rPr>
              <a:t>Discarding:</a:t>
            </a:r>
            <a:r>
              <a:rPr lang="en-US" sz="1600" b="0" u="none" strike="noStrike">
                <a:solidFill>
                  <a:schemeClr val="dk1"/>
                </a:solidFill>
                <a:effectLst/>
                <a:uFillTx/>
                <a:latin typeface="Arial"/>
                <a:ea typeface="Microsoft YaHei"/>
              </a:rPr>
              <a:t> Port is enabled but it is not forwarding any traffic to prevent loops. It is combination of disabled, blocking and listening port states of 802.1D. </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1" u="none" strike="noStrike">
                <a:solidFill>
                  <a:schemeClr val="dk1"/>
                </a:solidFill>
                <a:effectLst/>
                <a:uFillTx/>
                <a:latin typeface="Arial"/>
                <a:ea typeface="Microsoft YaHei"/>
              </a:rPr>
              <a:t>Learning:</a:t>
            </a:r>
            <a:r>
              <a:rPr lang="en-US" sz="1600" b="0" u="none" strike="noStrike">
                <a:solidFill>
                  <a:schemeClr val="dk1"/>
                </a:solidFill>
                <a:effectLst/>
                <a:uFillTx/>
                <a:latin typeface="Arial"/>
                <a:ea typeface="Microsoft YaHei"/>
              </a:rPr>
              <a:t> Does not forward any network traffic. It can receive and send BPDU. And can modify MAC address table.</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1" u="none" strike="noStrike">
                <a:solidFill>
                  <a:schemeClr val="dk1"/>
                </a:solidFill>
                <a:effectLst/>
                <a:uFillTx/>
                <a:latin typeface="Arial"/>
                <a:ea typeface="Microsoft YaHei"/>
              </a:rPr>
              <a:t>Forwarding:</a:t>
            </a:r>
            <a:r>
              <a:rPr lang="en-US" sz="1600" b="0" u="none" strike="noStrike">
                <a:solidFill>
                  <a:schemeClr val="dk1"/>
                </a:solidFill>
                <a:effectLst/>
                <a:uFillTx/>
                <a:latin typeface="Arial"/>
                <a:ea typeface="Microsoft YaHei"/>
              </a:rPr>
              <a:t> Forwards network traffic and updates MAC address table as normally.</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RSTP Port Roles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Root port (RP) : </a:t>
            </a:r>
            <a:r>
              <a:rPr lang="en-US" sz="1600" b="0" u="none" strike="noStrike">
                <a:solidFill>
                  <a:schemeClr val="dk1"/>
                </a:solidFill>
                <a:effectLst/>
                <a:uFillTx/>
                <a:latin typeface="Arial"/>
                <a:ea typeface="Microsoft YaHei"/>
              </a:rPr>
              <a:t>A port that connects to root switch or an upstream switch in spanning tree topology. There can be only one RP per VLAN on a switch.</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Designated port (DP): </a:t>
            </a:r>
            <a:r>
              <a:rPr lang="en-US" sz="1600" b="0" u="none" strike="noStrike">
                <a:solidFill>
                  <a:schemeClr val="dk1"/>
                </a:solidFill>
                <a:effectLst/>
                <a:uFillTx/>
                <a:latin typeface="Arial"/>
                <a:ea typeface="Microsoft YaHei"/>
              </a:rPr>
              <a:t>A port that provides connectivity to other switches or devices and receives and sends network traffic. There can be only one DP in a link.</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Alternate port: </a:t>
            </a:r>
            <a:r>
              <a:rPr lang="en-US" sz="1600" b="0" u="none" strike="noStrike">
                <a:solidFill>
                  <a:schemeClr val="dk1"/>
                </a:solidFill>
                <a:effectLst/>
                <a:uFillTx/>
                <a:latin typeface="Arial"/>
                <a:ea typeface="Microsoft YaHei"/>
              </a:rPr>
              <a:t>A port</a:t>
            </a:r>
            <a:r>
              <a:rPr lang="en-US" sz="1600" b="1"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that</a:t>
            </a:r>
            <a:r>
              <a:rPr lang="en-US" sz="1600" b="1"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provides alternate connectivity towards the root through different switch.</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Backup port: </a:t>
            </a:r>
            <a:r>
              <a:rPr lang="en-US" sz="1600" b="0" u="none" strike="noStrike">
                <a:solidFill>
                  <a:schemeClr val="dk1"/>
                </a:solidFill>
                <a:effectLst/>
                <a:uFillTx/>
                <a:latin typeface="Arial"/>
                <a:ea typeface="Microsoft YaHei"/>
              </a:rPr>
              <a:t>A port that provides link redundancy towards the root switch. As it is mainly for link redundancy, it cannot provide root switch connectivity when upstream switch fails. This port is present when there is two links between same switches.</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91"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92" name=""/>
          <p:cNvSpPr/>
          <p:nvPr/>
        </p:nvSpPr>
        <p:spPr>
          <a:xfrm>
            <a:off x="-35640" y="1044000"/>
            <a:ext cx="3994920" cy="46454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50"/>
              </a:spcBef>
              <a:tabLst>
                <a:tab pos="0" algn="l"/>
              </a:tabLst>
            </a:pPr>
            <a:r>
              <a:rPr lang="en-US" sz="1600" b="1" u="none" strike="noStrike">
                <a:solidFill>
                  <a:schemeClr val="dk1"/>
                </a:solidFill>
                <a:effectLst/>
                <a:uFillTx/>
                <a:latin typeface="Arial"/>
                <a:ea typeface="Microsoft YaHei"/>
              </a:rPr>
              <a:t>RSTP Port Types</a:t>
            </a:r>
            <a:endParaRPr lang="en-AU" sz="1600" b="0" u="none" strike="noStrike">
              <a:solidFill>
                <a:srgbClr val="000000"/>
              </a:solidFill>
              <a:effectLst/>
              <a:uFillTx/>
              <a:latin typeface="Arial"/>
            </a:endParaRPr>
          </a:p>
          <a:p>
            <a:pPr marL="216000" indent="-216000"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Edge port : A port that connects to hosts. This type of ports should be enabled with STP portfast. </a:t>
            </a:r>
            <a:endParaRPr lang="en-AU" sz="1600" b="0" u="none" strike="noStrike">
              <a:solidFill>
                <a:srgbClr val="000000"/>
              </a:solidFill>
              <a:effectLst/>
              <a:uFillTx/>
              <a:latin typeface="Arial"/>
            </a:endParaRPr>
          </a:p>
          <a:p>
            <a:pPr marL="216000" indent="-216000"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Root port : A port that connects to/towards root switch and has best root path cost.</a:t>
            </a:r>
            <a:endParaRPr lang="en-AU" sz="1600" b="0" u="none" strike="noStrike">
              <a:solidFill>
                <a:srgbClr val="000000"/>
              </a:solidFill>
              <a:effectLst/>
              <a:uFillTx/>
              <a:latin typeface="Arial"/>
            </a:endParaRPr>
          </a:p>
          <a:p>
            <a:pPr marL="216000" indent="-216000"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Point-to-Point port : Any port that connects to another RSTP switch. P2P port is full duplex and does not connect to half duplex devices (multi-access) such as hub. By determining a port as P2P, switches form RSTP neighborship quickly.</a:t>
            </a:r>
            <a:endParaRPr lang="en-AU" sz="1600" b="0" u="none" strike="noStrike">
              <a:solidFill>
                <a:srgbClr val="000000"/>
              </a:solidFill>
              <a:effectLst/>
              <a:uFillTx/>
              <a:latin typeface="Arial"/>
            </a:endParaRPr>
          </a:p>
          <a:p>
            <a:pPr defTabSz="914400">
              <a:lnSpc>
                <a:spcPct val="100000"/>
              </a:lnSpc>
              <a:spcBef>
                <a:spcPts val="150"/>
              </a:spcBef>
              <a:tabLst>
                <a:tab pos="0" algn="l"/>
              </a:tabLst>
            </a:pPr>
            <a:r>
              <a:rPr lang="en-US" sz="1400" b="0" u="none" strike="noStrike">
                <a:solidFill>
                  <a:schemeClr val="dk1"/>
                </a:solidFill>
                <a:effectLst/>
                <a:uFillTx/>
                <a:latin typeface="Arial"/>
                <a:ea typeface="Microsoft YaHei"/>
              </a:rPr>
              <a:t>A switch tries to establish RSTP handshake with device on other end of the link. If the device is non-RSTP, it falls back to 802.1D. This can delay RSTP stability with end devices connected on a RSTP switch.</a:t>
            </a:r>
            <a:endParaRPr lang="en-AU"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Rectangle 10">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2.RSTP</a:t>
            </a:r>
            <a:endParaRPr lang="en-AU" sz="4400" b="0" u="none" strike="noStrike">
              <a:solidFill>
                <a:srgbClr val="FFFFFF"/>
              </a:solidFill>
              <a:effectLst/>
              <a:uFillTx/>
              <a:latin typeface="Arial"/>
            </a:endParaRPr>
          </a:p>
        </p:txBody>
      </p:sp>
      <p:sp>
        <p:nvSpPr>
          <p:cNvPr id="94" name="PlaceHolder 1"/>
          <p:cNvSpPr>
            <a:spLocks noGrp="1"/>
          </p:cNvSpPr>
          <p:nvPr>
            <p:ph/>
          </p:nvPr>
        </p:nvSpPr>
        <p:spPr>
          <a:xfrm>
            <a:off x="3960000" y="76320"/>
            <a:ext cx="5937120" cy="5500440"/>
          </a:xfrm>
          <a:prstGeom prst="rect">
            <a:avLst/>
          </a:prstGeom>
          <a:noFill/>
          <a:ln w="0">
            <a:noFill/>
          </a:ln>
        </p:spPr>
        <p:txBody>
          <a:bodyPr lIns="91440" tIns="45720" rIns="91440" bIns="45720" anchor="t">
            <a:normAutofit lnSpcReduction="9999"/>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Building RSTP Topology: </a:t>
            </a:r>
            <a:r>
              <a:rPr lang="en-US" sz="1600" b="0" u="none" strike="noStrike">
                <a:solidFill>
                  <a:schemeClr val="dk1"/>
                </a:solidFill>
                <a:effectLst/>
                <a:uFillTx/>
                <a:latin typeface="Arial"/>
                <a:ea typeface="Microsoft YaHei"/>
              </a:rPr>
              <a:t>When two RSTP switches first connect, they establish a bidirectional RSTP handshake across the shared link to identify a root switch.</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This is known as synchronization process and applies to a scenario when a new switch is added to a stabilized RSTP topology as well. </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Synchronization process:</a:t>
            </a:r>
            <a:endParaRPr lang="en-US" sz="1600" b="0" u="none" strike="noStrike">
              <a:solidFill>
                <a:schemeClr val="dk1"/>
              </a:solidFill>
              <a:effectLst/>
              <a:uFillTx/>
              <a:latin typeface="Aptos"/>
            </a:endParaRPr>
          </a:p>
          <a:p>
            <a:pPr marL="216000" indent="-216000" algn="l" defTabSz="914400">
              <a:lnSpc>
                <a:spcPct val="100000"/>
              </a:lnSpc>
              <a:spcBef>
                <a:spcPts val="434"/>
              </a:spcBef>
              <a:spcAft>
                <a:spcPts val="283"/>
              </a:spcAft>
              <a:buClr>
                <a:srgbClr val="000000"/>
              </a:buClr>
              <a:buFont typeface="Arial"/>
              <a:buAutoNum type="arabicPeriod"/>
              <a:tabLst>
                <a:tab pos="0" algn="l"/>
              </a:tabLst>
            </a:pPr>
            <a:r>
              <a:rPr lang="en-US" sz="1600" b="0" u="none" strike="noStrike">
                <a:solidFill>
                  <a:schemeClr val="dk1"/>
                </a:solidFill>
                <a:effectLst/>
                <a:uFillTx/>
                <a:latin typeface="Arial"/>
                <a:ea typeface="Microsoft YaHei"/>
              </a:rPr>
              <a:t>As two switches connect, they verify that they are connected with P2P link by checking full duplex status.</a:t>
            </a:r>
            <a:endParaRPr lang="en-US" sz="1600" b="0" u="none" strike="noStrike">
              <a:solidFill>
                <a:schemeClr val="dk1"/>
              </a:solidFill>
              <a:effectLst/>
              <a:uFillTx/>
              <a:latin typeface="Aptos"/>
            </a:endParaRPr>
          </a:p>
          <a:p>
            <a:pPr marL="216000" indent="-216000" algn="l" defTabSz="914400">
              <a:lnSpc>
                <a:spcPct val="100000"/>
              </a:lnSpc>
              <a:spcBef>
                <a:spcPts val="434"/>
              </a:spcBef>
              <a:spcAft>
                <a:spcPts val="283"/>
              </a:spcAft>
              <a:buClr>
                <a:srgbClr val="000000"/>
              </a:buClr>
              <a:buFont typeface="Arial"/>
              <a:buAutoNum type="arabicPeriod"/>
              <a:tabLst>
                <a:tab pos="0" algn="l"/>
              </a:tabLst>
            </a:pPr>
            <a:r>
              <a:rPr lang="en-US" sz="1600" b="0" u="none" strike="noStrike">
                <a:solidFill>
                  <a:schemeClr val="dk1"/>
                </a:solidFill>
                <a:effectLst/>
                <a:uFillTx/>
                <a:latin typeface="Arial"/>
                <a:ea typeface="Microsoft YaHei"/>
              </a:rPr>
              <a:t>They establish a handshake with each other by sending a RSTP proposal that contains itself as root identifier and it’s link as DP.</a:t>
            </a:r>
            <a:endParaRPr lang="en-US" sz="1600" b="0" u="none" strike="noStrike">
              <a:solidFill>
                <a:schemeClr val="dk1"/>
              </a:solidFill>
              <a:effectLst/>
              <a:uFillTx/>
              <a:latin typeface="Aptos"/>
            </a:endParaRPr>
          </a:p>
          <a:p>
            <a:pPr marL="216000" indent="-216000" algn="l" defTabSz="914400">
              <a:lnSpc>
                <a:spcPct val="100000"/>
              </a:lnSpc>
              <a:spcBef>
                <a:spcPts val="434"/>
              </a:spcBef>
              <a:spcAft>
                <a:spcPts val="283"/>
              </a:spcAft>
              <a:buClr>
                <a:srgbClr val="000000"/>
              </a:buClr>
              <a:buFont typeface="Arial"/>
              <a:buAutoNum type="arabicPeriod"/>
              <a:tabLst>
                <a:tab pos="0" algn="l"/>
              </a:tabLst>
            </a:pPr>
            <a:r>
              <a:rPr lang="en-US" sz="1600" b="0" u="none" strike="noStrike">
                <a:solidFill>
                  <a:schemeClr val="dk1"/>
                </a:solidFill>
                <a:effectLst/>
                <a:uFillTx/>
                <a:latin typeface="Arial"/>
                <a:ea typeface="Microsoft YaHei"/>
              </a:rPr>
              <a:t>Each switch evaluates the proposal of other switch to find superior proposal. Preference is same as 802.1D logic.</a:t>
            </a:r>
            <a:endParaRPr lang="en-US" sz="1600" b="0" u="none" strike="noStrike">
              <a:solidFill>
                <a:schemeClr val="dk1"/>
              </a:solidFill>
              <a:effectLst/>
              <a:uFillTx/>
              <a:latin typeface="Aptos"/>
            </a:endParaRPr>
          </a:p>
          <a:p>
            <a:pPr marL="216000" indent="-216000" algn="l" defTabSz="914400">
              <a:lnSpc>
                <a:spcPct val="100000"/>
              </a:lnSpc>
              <a:spcBef>
                <a:spcPts val="434"/>
              </a:spcBef>
              <a:spcAft>
                <a:spcPts val="283"/>
              </a:spcAft>
              <a:buClr>
                <a:srgbClr val="000000"/>
              </a:buClr>
              <a:buFont typeface="Arial"/>
              <a:buAutoNum type="arabicPeriod"/>
              <a:tabLst>
                <a:tab pos="0" algn="l"/>
              </a:tabLst>
            </a:pPr>
            <a:r>
              <a:rPr lang="en-US" sz="1600" b="0" u="none" strike="noStrike">
                <a:solidFill>
                  <a:schemeClr val="dk1"/>
                </a:solidFill>
                <a:effectLst/>
                <a:uFillTx/>
                <a:latin typeface="Arial"/>
                <a:ea typeface="Microsoft YaHei"/>
              </a:rPr>
              <a:t>The inferior switch moves it’s port as RP and concurrently moves all it’s non-edge port to discarding. Therefore it has stopped all local switching for non-edge ports.</a:t>
            </a:r>
            <a:endParaRPr lang="en-US" sz="1600" b="0" u="none" strike="noStrike">
              <a:solidFill>
                <a:schemeClr val="dk1"/>
              </a:solidFill>
              <a:effectLst/>
              <a:uFillTx/>
              <a:latin typeface="Aptos"/>
            </a:endParaRPr>
          </a:p>
          <a:p>
            <a:pPr marL="216000" indent="-216000" algn="l" defTabSz="914400">
              <a:lnSpc>
                <a:spcPct val="100000"/>
              </a:lnSpc>
              <a:spcBef>
                <a:spcPts val="434"/>
              </a:spcBef>
              <a:spcAft>
                <a:spcPts val="283"/>
              </a:spcAft>
              <a:buClr>
                <a:srgbClr val="000000"/>
              </a:buClr>
              <a:buFont typeface="Arial"/>
              <a:buAutoNum type="arabicPeriod"/>
              <a:tabLst>
                <a:tab pos="0" algn="l"/>
              </a:tabLst>
            </a:pPr>
            <a:r>
              <a:rPr lang="en-US" sz="1600" b="0" u="none" strike="noStrike">
                <a:solidFill>
                  <a:schemeClr val="dk1"/>
                </a:solidFill>
                <a:effectLst/>
                <a:uFillTx/>
                <a:latin typeface="Arial"/>
                <a:ea typeface="Microsoft YaHei"/>
              </a:rPr>
              <a:t>The inferior switch sends an agreement to root switch to signify that synchronization is happening in that switch.</a:t>
            </a:r>
            <a:endParaRPr lang="en-US" sz="1600" b="0" u="none" strike="noStrike">
              <a:solidFill>
                <a:schemeClr val="dk1"/>
              </a:solidFill>
              <a:effectLst/>
              <a:uFillTx/>
              <a:latin typeface="Aptos"/>
            </a:endParaRPr>
          </a:p>
          <a:p>
            <a:pPr marL="216000" indent="-216000" algn="l" defTabSz="914400">
              <a:lnSpc>
                <a:spcPct val="100000"/>
              </a:lnSpc>
              <a:spcBef>
                <a:spcPts val="434"/>
              </a:spcBef>
              <a:spcAft>
                <a:spcPts val="283"/>
              </a:spcAft>
              <a:buClr>
                <a:srgbClr val="000000"/>
              </a:buClr>
              <a:buFont typeface="Arial"/>
              <a:buAutoNum type="arabicPeriod"/>
              <a:tabLst>
                <a:tab pos="0" algn="l"/>
              </a:tabLst>
            </a:pPr>
            <a:r>
              <a:rPr lang="en-US" sz="1600" b="0" u="none" strike="noStrike">
                <a:solidFill>
                  <a:schemeClr val="dk1"/>
                </a:solidFill>
                <a:effectLst/>
                <a:uFillTx/>
                <a:latin typeface="Arial"/>
                <a:ea typeface="Microsoft YaHei"/>
              </a:rPr>
              <a:t>Both the inferior and superior switch move their RP and DP to forwarding state. </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95"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96" name=""/>
          <p:cNvSpPr/>
          <p:nvPr/>
        </p:nvSpPr>
        <p:spPr>
          <a:xfrm>
            <a:off x="-35640" y="1044000"/>
            <a:ext cx="3994920" cy="1977840"/>
          </a:xfrm>
          <a:prstGeom prst="rect">
            <a:avLst/>
          </a:prstGeom>
          <a:noFill/>
          <a:ln w="0">
            <a:noFill/>
          </a:ln>
        </p:spPr>
        <p:style>
          <a:lnRef idx="0"/>
          <a:fillRef idx="0"/>
          <a:effectRef idx="0"/>
          <a:fontRef idx="minor"/>
        </p:style>
        <p:txBody>
          <a:bodyPr lIns="90000" tIns="45000" rIns="90000" bIns="45000" anchor="t">
            <a:spAutoFit/>
          </a:bodyPr>
          <a:p>
            <a:pPr marL="216000" indent="-216000" defTabSz="914400">
              <a:lnSpc>
                <a:spcPct val="100000"/>
              </a:lnSpc>
              <a:spcBef>
                <a:spcPts val="150"/>
              </a:spcBef>
              <a:buClr>
                <a:srgbClr val="000000"/>
              </a:buClr>
              <a:buFont typeface="Wingdings" charset="2"/>
              <a:buAutoNum type="arabicPeriod" startAt="7"/>
              <a:tabLst>
                <a:tab pos="0" algn="l"/>
              </a:tabLst>
            </a:pPr>
            <a:r>
              <a:rPr lang="en-US" sz="1600" b="0" u="none" strike="noStrike">
                <a:solidFill>
                  <a:schemeClr val="dk1"/>
                </a:solidFill>
                <a:effectLst/>
                <a:uFillTx/>
                <a:latin typeface="Arial"/>
                <a:ea typeface="Microsoft YaHei"/>
              </a:rPr>
              <a:t>Inferior switch repeats the process for any downstream switch connected to it.</a:t>
            </a:r>
            <a:endParaRPr lang="en-AU" sz="1600" b="0" u="none" strike="noStrike">
              <a:solidFill>
                <a:srgbClr val="000000"/>
              </a:solidFill>
              <a:effectLst/>
              <a:uFillTx/>
              <a:latin typeface="Arial"/>
            </a:endParaRPr>
          </a:p>
          <a:p>
            <a:pPr defTabSz="914400">
              <a:lnSpc>
                <a:spcPct val="100000"/>
              </a:lnSpc>
              <a:spcBef>
                <a:spcPts val="717"/>
              </a:spcBef>
              <a:spcAft>
                <a:spcPts val="567"/>
              </a:spcAft>
              <a:tabLst>
                <a:tab pos="0" algn="l"/>
              </a:tabLst>
            </a:pPr>
            <a:r>
              <a:rPr lang="en-US" sz="1600" b="0" u="none" strike="noStrike">
                <a:solidFill>
                  <a:schemeClr val="dk1"/>
                </a:solidFill>
                <a:effectLst/>
                <a:uFillTx/>
                <a:latin typeface="Arial"/>
                <a:ea typeface="Microsoft YaHei"/>
              </a:rPr>
              <a:t>Below is the spanning-tree event debug on SW2 connected to SW1 on port Gi0/2. Ports Gi0/1 and Gi0/0 are connected to powered off devices.</a:t>
            </a:r>
            <a:endParaRPr lang="en-AU" sz="1600" b="0" u="none" strike="noStrike">
              <a:solidFill>
                <a:srgbClr val="000000"/>
              </a:solidFill>
              <a:effectLst/>
              <a:uFillTx/>
              <a:latin typeface="Arial"/>
            </a:endParaRPr>
          </a:p>
          <a:p>
            <a:pPr defTabSz="914400">
              <a:lnSpc>
                <a:spcPct val="100000"/>
              </a:lnSpc>
              <a:spcBef>
                <a:spcPts val="150"/>
              </a:spcBef>
              <a:tabLst>
                <a:tab pos="0" algn="l"/>
              </a:tabLst>
            </a:pPr>
            <a:endParaRPr lang="en-AU" sz="1600" b="0" u="none" strike="noStrike">
              <a:solidFill>
                <a:srgbClr val="000000"/>
              </a:solidFill>
              <a:effectLst/>
              <a:uFillTx/>
              <a:latin typeface="Arial"/>
            </a:endParaRPr>
          </a:p>
        </p:txBody>
      </p:sp>
      <p:pic>
        <p:nvPicPr>
          <p:cNvPr id="97" name=""/>
          <p:cNvPicPr/>
          <p:nvPr/>
        </p:nvPicPr>
        <p:blipFill>
          <a:blip r:embed="rId1"/>
          <a:stretch/>
        </p:blipFill>
        <p:spPr>
          <a:xfrm>
            <a:off x="59040" y="3096000"/>
            <a:ext cx="3920040" cy="194328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Rectangle 11">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3.Advanced STP Tuning</a:t>
            </a:r>
            <a:endParaRPr lang="en-AU" sz="4400" b="0" u="none" strike="noStrike">
              <a:solidFill>
                <a:srgbClr val="FFFFFF"/>
              </a:solidFill>
              <a:effectLst/>
              <a:uFillTx/>
              <a:latin typeface="Arial"/>
            </a:endParaRPr>
          </a:p>
        </p:txBody>
      </p:sp>
      <p:sp>
        <p:nvSpPr>
          <p:cNvPr id="99" name="PlaceHolder 1"/>
          <p:cNvSpPr>
            <a:spLocks noGrp="1"/>
          </p:cNvSpPr>
          <p:nvPr>
            <p:ph/>
          </p:nvPr>
        </p:nvSpPr>
        <p:spPr>
          <a:xfrm>
            <a:off x="3960000" y="76320"/>
            <a:ext cx="5937120" cy="5500440"/>
          </a:xfrm>
          <a:prstGeom prst="rect">
            <a:avLst/>
          </a:prstGeom>
          <a:noFill/>
          <a:ln w="0">
            <a:noFill/>
          </a:ln>
        </p:spPr>
        <p:txBody>
          <a:bodyPr lIns="91440" tIns="45720" rIns="91440" bIns="45720" anchor="t">
            <a:normAutofit/>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Root Bridge Placement:</a:t>
            </a:r>
            <a:r>
              <a:rPr lang="en-US" sz="1600" b="0" u="none" strike="noStrike">
                <a:solidFill>
                  <a:schemeClr val="dk1"/>
                </a:solidFill>
                <a:effectLst/>
                <a:uFillTx/>
                <a:latin typeface="Arial"/>
                <a:ea typeface="Microsoft YaHei"/>
              </a:rPr>
              <a:t> Ideally root switch is placed on core switch and secondary root switch is designated for redundancy.</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Root bridge can be selected by setting the system priority to lower value.</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0" u="none" strike="noStrike">
                <a:solidFill>
                  <a:schemeClr val="dk1"/>
                </a:solidFill>
                <a:effectLst/>
                <a:uFillTx/>
                <a:latin typeface="Arial"/>
                <a:ea typeface="Microsoft YaHei"/>
              </a:rPr>
              <a:t>Priority can be set with either of the following commands:</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SzPct val="45000"/>
              <a:buFont typeface="Wingdings" charset="2"/>
              <a:buChar char=""/>
              <a:tabLst>
                <a:tab pos="0" algn="l"/>
              </a:tabLst>
            </a:pPr>
            <a:r>
              <a:rPr lang="en-US" sz="1400" b="1" u="none" strike="noStrike">
                <a:solidFill>
                  <a:schemeClr val="dk1"/>
                </a:solidFill>
                <a:effectLst/>
                <a:uFillTx/>
                <a:latin typeface="Arial"/>
                <a:ea typeface="Microsoft YaHei"/>
              </a:rPr>
              <a:t>spanning-tree vlan</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vlan-id</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priority</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priority</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1" u="none" strike="noStrike">
                <a:solidFill>
                  <a:schemeClr val="dk1"/>
                </a:solidFill>
                <a:effectLst/>
                <a:uFillTx/>
                <a:latin typeface="Arial"/>
                <a:ea typeface="Microsoft YaHei"/>
              </a:rPr>
              <a:t>spanning-tree vlan</a:t>
            </a:r>
            <a:r>
              <a:rPr lang="en-US" sz="1400" b="0" u="none" strike="noStrike">
                <a:solidFill>
                  <a:schemeClr val="dk1"/>
                </a:solidFill>
                <a:effectLst/>
                <a:uFillTx/>
                <a:latin typeface="Arial"/>
                <a:ea typeface="Microsoft YaHei"/>
              </a:rPr>
              <a:t> 10 </a:t>
            </a:r>
            <a:r>
              <a:rPr lang="en-US" sz="1400" b="1" u="none" strike="noStrike">
                <a:solidFill>
                  <a:schemeClr val="dk1"/>
                </a:solidFill>
                <a:effectLst/>
                <a:uFillTx/>
                <a:latin typeface="Arial"/>
                <a:ea typeface="Microsoft YaHei"/>
              </a:rPr>
              <a:t>priority</a:t>
            </a:r>
            <a:r>
              <a:rPr lang="en-US" sz="1400" b="0" u="none" strike="noStrike">
                <a:solidFill>
                  <a:schemeClr val="dk1"/>
                </a:solidFill>
                <a:effectLst/>
                <a:uFillTx/>
                <a:latin typeface="Arial"/>
                <a:ea typeface="Microsoft YaHei"/>
              </a:rPr>
              <a:t> 24,576</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Priority value is between 0 and 61,440 and should be multiple of 4096.</a:t>
            </a:r>
            <a:endParaRPr lang="en-US" sz="1400" b="0" u="none" strike="noStrike">
              <a:solidFill>
                <a:schemeClr val="dk1"/>
              </a:solidFill>
              <a:effectLst/>
              <a:uFillTx/>
              <a:latin typeface="Aptos"/>
            </a:endParaRPr>
          </a:p>
          <a:p>
            <a:pPr marL="360000" indent="-324000" algn="l" defTabSz="914400">
              <a:lnSpc>
                <a:spcPct val="100000"/>
              </a:lnSpc>
              <a:spcBef>
                <a:spcPts val="150"/>
              </a:spcBef>
              <a:buClr>
                <a:srgbClr val="000000"/>
              </a:buClr>
              <a:buSzPct val="45000"/>
              <a:buFont typeface="Wingdings" charset="2"/>
              <a:buChar char=""/>
              <a:tabLst>
                <a:tab pos="0" algn="l"/>
              </a:tabLst>
            </a:pPr>
            <a:r>
              <a:rPr lang="en-US" sz="1400" b="1" u="none" strike="noStrike">
                <a:solidFill>
                  <a:schemeClr val="dk1"/>
                </a:solidFill>
                <a:effectLst/>
                <a:uFillTx/>
                <a:latin typeface="Arial"/>
                <a:ea typeface="Microsoft YaHei"/>
              </a:rPr>
              <a:t>spanning-tree vlan</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vlan-id</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root</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primary</a:t>
            </a:r>
            <a:r>
              <a:rPr lang="en-US" sz="1400" b="0" u="none" strike="noStrike">
                <a:solidFill>
                  <a:schemeClr val="dk1"/>
                </a:solidFill>
                <a:effectLst/>
                <a:uFillTx/>
                <a:latin typeface="Arial"/>
                <a:ea typeface="Microsoft YaHei"/>
              </a:rPr>
              <a:t>|</a:t>
            </a:r>
            <a:r>
              <a:rPr lang="en-US" sz="1400" b="1" u="none" strike="noStrike">
                <a:solidFill>
                  <a:schemeClr val="dk1"/>
                </a:solidFill>
                <a:effectLst/>
                <a:uFillTx/>
                <a:latin typeface="Arial"/>
                <a:ea typeface="Microsoft YaHei"/>
              </a:rPr>
              <a:t>secondary</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diameter</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diameter</a:t>
            </a:r>
            <a:r>
              <a:rPr lang="en-US" sz="1400" b="0" u="none" strike="noStrike">
                <a:solidFill>
                  <a:schemeClr val="dk1"/>
                </a:solidFill>
                <a:effectLst/>
                <a:uFillTx/>
                <a:latin typeface="Arial"/>
                <a:ea typeface="Microsoft YaHei"/>
              </a:rPr>
              <a:t>]</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1" u="none" strike="noStrike">
                <a:solidFill>
                  <a:schemeClr val="dk1"/>
                </a:solidFill>
                <a:effectLst/>
                <a:uFillTx/>
                <a:latin typeface="Arial"/>
                <a:ea typeface="Microsoft YaHei"/>
              </a:rPr>
              <a:t>spanning-tree vlan</a:t>
            </a:r>
            <a:r>
              <a:rPr lang="en-US" sz="1400" b="0" u="none" strike="noStrike">
                <a:solidFill>
                  <a:schemeClr val="dk1"/>
                </a:solidFill>
                <a:effectLst/>
                <a:uFillTx/>
                <a:latin typeface="Arial"/>
                <a:ea typeface="Microsoft YaHei"/>
              </a:rPr>
              <a:t> 10 </a:t>
            </a:r>
            <a:r>
              <a:rPr lang="en-US" sz="1400" b="1" u="none" strike="noStrike">
                <a:solidFill>
                  <a:schemeClr val="dk1"/>
                </a:solidFill>
                <a:effectLst/>
                <a:uFillTx/>
                <a:latin typeface="Arial"/>
                <a:ea typeface="Microsoft YaHei"/>
              </a:rPr>
              <a:t>root primary</a:t>
            </a:r>
            <a:endParaRPr lang="en-US" sz="14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400" b="0" u="none" strike="noStrike">
                <a:solidFill>
                  <a:schemeClr val="dk1"/>
                </a:solidFill>
                <a:effectLst/>
                <a:uFillTx/>
                <a:latin typeface="Arial"/>
                <a:ea typeface="Microsoft YaHei"/>
              </a:rPr>
              <a:t>This command executes a script to sets primary root’s system priority to 24,576 and  secondary root’s priority to 28,672.</a:t>
            </a:r>
            <a:endParaRPr lang="en-US" sz="14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400" b="0" u="none" strike="noStrike">
                <a:solidFill>
                  <a:schemeClr val="dk1"/>
                </a:solidFill>
                <a:effectLst/>
                <a:uFillTx/>
                <a:latin typeface="Arial"/>
                <a:ea typeface="Microsoft YaHei"/>
              </a:rPr>
              <a:t>The optional diameter command should reference the maximum number of layer 2 hops between the root bridge and STP topology boundary/edge switch.</a:t>
            </a:r>
            <a:endParaRPr lang="en-US" sz="14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400" b="0" u="none" strike="noStrike">
                <a:solidFill>
                  <a:schemeClr val="dk1"/>
                </a:solidFill>
                <a:effectLst/>
                <a:uFillTx/>
                <a:latin typeface="Arial"/>
                <a:ea typeface="Microsoft YaHei"/>
              </a:rPr>
              <a:t>This command tunes STP convergence and timers, which are carried in BPDU from root switch throughout the topology.</a:t>
            </a:r>
            <a:endParaRPr lang="en-US" sz="14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100"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01" name=""/>
          <p:cNvSpPr/>
          <p:nvPr/>
        </p:nvSpPr>
        <p:spPr>
          <a:xfrm>
            <a:off x="-35640" y="1044000"/>
            <a:ext cx="3994920" cy="15710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50"/>
              </a:spcBef>
              <a:tabLst>
                <a:tab pos="0" algn="l"/>
              </a:tabLst>
            </a:pPr>
            <a:r>
              <a:rPr lang="en-US" sz="1600" b="0" u="none" strike="noStrike">
                <a:solidFill>
                  <a:schemeClr val="dk1"/>
                </a:solidFill>
                <a:effectLst/>
                <a:uFillTx/>
                <a:latin typeface="Arial"/>
                <a:ea typeface="Microsoft YaHei"/>
              </a:rPr>
              <a:t>Below picture shows output of </a:t>
            </a:r>
            <a:r>
              <a:rPr lang="en-US" sz="1400" b="1" u="none" strike="noStrike">
                <a:solidFill>
                  <a:schemeClr val="dk1"/>
                </a:solidFill>
                <a:effectLst/>
                <a:uFillTx/>
                <a:latin typeface="Arial"/>
                <a:ea typeface="Microsoft YaHei"/>
              </a:rPr>
              <a:t>show spanning-tree</a:t>
            </a:r>
            <a:r>
              <a:rPr lang="en-US" sz="1600" b="0" u="none" strike="noStrike">
                <a:solidFill>
                  <a:schemeClr val="dk1"/>
                </a:solidFill>
                <a:effectLst/>
                <a:uFillTx/>
                <a:latin typeface="Arial"/>
                <a:ea typeface="Microsoft YaHei"/>
              </a:rPr>
              <a:t> on SW2 after issuing </a:t>
            </a:r>
            <a:r>
              <a:rPr lang="en-US" sz="1400" b="1" u="none" strike="noStrike">
                <a:solidFill>
                  <a:schemeClr val="dk1"/>
                </a:solidFill>
                <a:effectLst/>
                <a:uFillTx/>
                <a:latin typeface="Arial"/>
                <a:ea typeface="Microsoft YaHei"/>
              </a:rPr>
              <a:t>spanning-tree vlan 1 root primary</a:t>
            </a:r>
            <a:r>
              <a:rPr lang="en-US" sz="1600" b="0" u="none" strike="noStrike">
                <a:solidFill>
                  <a:schemeClr val="dk1"/>
                </a:solidFill>
                <a:effectLst/>
                <a:uFillTx/>
                <a:latin typeface="Arial"/>
                <a:ea typeface="Microsoft YaHei"/>
              </a:rPr>
              <a:t> on SW1 and </a:t>
            </a:r>
            <a:r>
              <a:rPr lang="en-US" sz="1400" b="1" u="none" strike="noStrike">
                <a:solidFill>
                  <a:schemeClr val="dk1"/>
                </a:solidFill>
                <a:effectLst/>
                <a:uFillTx/>
                <a:latin typeface="Arial"/>
                <a:ea typeface="Microsoft YaHei"/>
              </a:rPr>
              <a:t>spanning-tree vlan 1 root secondary</a:t>
            </a:r>
            <a:r>
              <a:rPr lang="en-US" sz="1600" b="0" u="none" strike="noStrike">
                <a:solidFill>
                  <a:schemeClr val="dk1"/>
                </a:solidFill>
                <a:effectLst/>
                <a:uFillTx/>
                <a:latin typeface="Arial"/>
                <a:ea typeface="Microsoft YaHei"/>
              </a:rPr>
              <a:t> on SW2.</a:t>
            </a:r>
            <a:endParaRPr lang="en-AU" sz="1600" b="0" u="none" strike="noStrike">
              <a:solidFill>
                <a:srgbClr val="000000"/>
              </a:solidFill>
              <a:effectLst/>
              <a:uFillTx/>
              <a:latin typeface="Arial"/>
            </a:endParaRPr>
          </a:p>
          <a:p>
            <a:pPr defTabSz="914400">
              <a:lnSpc>
                <a:spcPct val="100000"/>
              </a:lnSpc>
              <a:spcBef>
                <a:spcPts val="150"/>
              </a:spcBef>
              <a:tabLst>
                <a:tab pos="0" algn="l"/>
              </a:tabLst>
            </a:pPr>
            <a:endParaRPr lang="en-AU" sz="1600" b="0" u="none" strike="noStrike">
              <a:solidFill>
                <a:srgbClr val="000000"/>
              </a:solidFill>
              <a:effectLst/>
              <a:uFillTx/>
              <a:latin typeface="Arial"/>
            </a:endParaRPr>
          </a:p>
        </p:txBody>
      </p:sp>
      <p:pic>
        <p:nvPicPr>
          <p:cNvPr id="102" name=""/>
          <p:cNvPicPr/>
          <p:nvPr/>
        </p:nvPicPr>
        <p:blipFill>
          <a:blip r:embed="rId1"/>
          <a:stretch/>
        </p:blipFill>
        <p:spPr>
          <a:xfrm>
            <a:off x="96480" y="2340000"/>
            <a:ext cx="3502800" cy="1799280"/>
          </a:xfrm>
          <a:prstGeom prst="rect">
            <a:avLst/>
          </a:prstGeom>
          <a:noFill/>
          <a:ln w="0">
            <a:noFill/>
          </a:ln>
        </p:spPr>
      </p:pic>
      <p:sp>
        <p:nvSpPr>
          <p:cNvPr id="103" name=""/>
          <p:cNvSpPr/>
          <p:nvPr/>
        </p:nvSpPr>
        <p:spPr>
          <a:xfrm>
            <a:off x="0" y="4140000"/>
            <a:ext cx="3779280" cy="144396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ea typeface="DejaVu Sans"/>
              </a:rPr>
              <a:t>Generally, root switch are placed at layer2/layer3 boundary.</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ea typeface="DejaVu Sans"/>
              </a:rPr>
              <a:t>Best approach to set primary root is to set system priority to 0 and secondary root system priority to 4096.</a:t>
            </a: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4" name="Rectangle 12">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3.Advanced STP Tuning</a:t>
            </a:r>
            <a:endParaRPr lang="en-AU" sz="4400" b="0" u="none" strike="noStrike">
              <a:solidFill>
                <a:srgbClr val="FFFFFF"/>
              </a:solidFill>
              <a:effectLst/>
              <a:uFillTx/>
              <a:latin typeface="Arial"/>
            </a:endParaRPr>
          </a:p>
        </p:txBody>
      </p:sp>
      <p:sp>
        <p:nvSpPr>
          <p:cNvPr id="105"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Modifying STP root port and blocked port locations:</a:t>
            </a:r>
            <a:r>
              <a:rPr lang="en-US" sz="1600" b="0" u="none" strike="noStrike">
                <a:solidFill>
                  <a:schemeClr val="dk1"/>
                </a:solidFill>
                <a:effectLst/>
                <a:uFillTx/>
                <a:latin typeface="Arial"/>
                <a:ea typeface="Microsoft YaHei"/>
              </a:rPr>
              <a:t> </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When switch generates BPDUs, the path cost is the total cost to reach the root switch and does not include the port cost out which the BPDU  is advertised.</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The receiving switch adds the cost of the port on which the BPDU is received.</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As shown in the topology in left: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SW1 sends BPDU with path cost of 0. </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SW3 relays that BPDU with path cost of 4 by adding path cost of it’s RP (Gi0/1).</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SW5 receives BPDU from SW3 with path cost of 4 on it’s RP.</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The root path cost on SW5 is 8 after adding the port cost of it’s RP (Gi0/2). </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106"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07" name=""/>
          <p:cNvSpPr/>
          <p:nvPr/>
        </p:nvSpPr>
        <p:spPr>
          <a:xfrm>
            <a:off x="0" y="3684960"/>
            <a:ext cx="3994920" cy="19418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600" b="0" u="none" strike="noStrike">
                <a:solidFill>
                  <a:schemeClr val="dk1"/>
                </a:solidFill>
                <a:effectLst/>
                <a:uFillTx/>
                <a:latin typeface="Arial"/>
                <a:ea typeface="Microsoft YaHei"/>
              </a:rPr>
              <a:t>Modifying the port cost with </a:t>
            </a:r>
            <a:r>
              <a:rPr lang="en-US" sz="1400" b="1" u="none" strike="noStrike">
                <a:solidFill>
                  <a:schemeClr val="dk1"/>
                </a:solidFill>
                <a:effectLst/>
                <a:uFillTx/>
                <a:latin typeface="Arial"/>
                <a:ea typeface="Microsoft YaHei"/>
              </a:rPr>
              <a:t>spanning-tree </a:t>
            </a:r>
            <a:r>
              <a:rPr lang="en-US" sz="1400" b="0" u="none" strike="noStrike">
                <a:solidFill>
                  <a:schemeClr val="dk1"/>
                </a:solidFill>
                <a:effectLst/>
                <a:uFillTx/>
                <a:latin typeface="Arial"/>
                <a:ea typeface="Microsoft YaHei"/>
              </a:rPr>
              <a:t>[</a:t>
            </a:r>
            <a:r>
              <a:rPr lang="en-US" sz="1400" b="1" u="none" strike="noStrike">
                <a:solidFill>
                  <a:schemeClr val="dk1"/>
                </a:solidFill>
                <a:effectLst/>
                <a:uFillTx/>
                <a:latin typeface="Arial"/>
                <a:ea typeface="Microsoft YaHei"/>
              </a:rPr>
              <a:t>vlan </a:t>
            </a:r>
            <a:r>
              <a:rPr lang="en-US" sz="1400" b="0" i="1" u="none" strike="noStrike">
                <a:solidFill>
                  <a:schemeClr val="dk1"/>
                </a:solidFill>
                <a:effectLst/>
                <a:uFillTx/>
                <a:latin typeface="Arial"/>
                <a:ea typeface="Microsoft YaHei"/>
              </a:rPr>
              <a:t>vlan-id</a:t>
            </a:r>
            <a:r>
              <a:rPr lang="en-US" sz="1400" b="0" u="none" strike="noStrike">
                <a:solidFill>
                  <a:schemeClr val="dk1"/>
                </a:solidFill>
                <a:effectLst/>
                <a:uFillTx/>
                <a:latin typeface="Arial"/>
                <a:ea typeface="Microsoft YaHei"/>
              </a:rPr>
              <a:t>]</a:t>
            </a:r>
            <a:r>
              <a:rPr lang="en-US" sz="1400" b="1" u="none" strike="noStrike">
                <a:solidFill>
                  <a:schemeClr val="dk1"/>
                </a:solidFill>
                <a:effectLst/>
                <a:uFillTx/>
                <a:latin typeface="Arial"/>
                <a:ea typeface="Microsoft YaHei"/>
              </a:rPr>
              <a:t> cost </a:t>
            </a:r>
            <a:r>
              <a:rPr lang="en-US" sz="1400" b="0" i="1" u="none" strike="noStrike">
                <a:solidFill>
                  <a:schemeClr val="dk1"/>
                </a:solidFill>
                <a:effectLst/>
                <a:uFillTx/>
                <a:latin typeface="Arial"/>
                <a:ea typeface="Microsoft YaHei"/>
              </a:rPr>
              <a:t>cost</a:t>
            </a:r>
            <a:r>
              <a:rPr lang="en-US" sz="1600" b="0" u="none" strike="noStrike">
                <a:solidFill>
                  <a:schemeClr val="dk1"/>
                </a:solidFill>
                <a:effectLst/>
                <a:uFillTx/>
                <a:latin typeface="Arial"/>
                <a:ea typeface="Microsoft YaHei"/>
              </a:rPr>
              <a:t> command under interface configuration mode will change the STP forwarding path and topology.</a:t>
            </a: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600" b="0" u="none" strike="noStrike">
                <a:solidFill>
                  <a:schemeClr val="dk1"/>
                </a:solidFill>
                <a:effectLst/>
                <a:uFillTx/>
                <a:latin typeface="Arial"/>
                <a:ea typeface="Microsoft YaHei"/>
              </a:rPr>
              <a:t>Unless the optional vlan keyword is used, STP modifies the cost for all VLAN.</a:t>
            </a:r>
            <a:endParaRPr lang="en-AU" sz="1600" b="0" u="none" strike="noStrike">
              <a:solidFill>
                <a:srgbClr val="000000"/>
              </a:solidFill>
              <a:effectLst/>
              <a:uFillTx/>
              <a:latin typeface="Arial"/>
            </a:endParaRPr>
          </a:p>
          <a:p>
            <a:pPr defTabSz="914400">
              <a:lnSpc>
                <a:spcPct val="100000"/>
              </a:lnSpc>
              <a:spcBef>
                <a:spcPts val="150"/>
              </a:spcBef>
              <a:tabLst>
                <a:tab pos="0" algn="l"/>
              </a:tabLst>
            </a:pPr>
            <a:endParaRPr lang="en-AU" sz="1600" b="0" u="none" strike="noStrike">
              <a:solidFill>
                <a:srgbClr val="000000"/>
              </a:solidFill>
              <a:effectLst/>
              <a:uFillTx/>
              <a:latin typeface="Arial"/>
            </a:endParaRPr>
          </a:p>
        </p:txBody>
      </p:sp>
      <p:pic>
        <p:nvPicPr>
          <p:cNvPr id="108" name=""/>
          <p:cNvPicPr/>
          <p:nvPr/>
        </p:nvPicPr>
        <p:blipFill>
          <a:blip r:embed="rId1"/>
          <a:stretch/>
        </p:blipFill>
        <p:spPr>
          <a:xfrm>
            <a:off x="180000" y="1139400"/>
            <a:ext cx="2879280" cy="2435040"/>
          </a:xfrm>
          <a:prstGeom prst="rect">
            <a:avLst/>
          </a:prstGeom>
          <a:noFill/>
          <a:ln w="0">
            <a:noFill/>
          </a:ln>
        </p:spPr>
      </p:pic>
      <p:pic>
        <p:nvPicPr>
          <p:cNvPr id="109" name=""/>
          <p:cNvPicPr/>
          <p:nvPr/>
        </p:nvPicPr>
        <p:blipFill>
          <a:blip r:embed="rId2"/>
          <a:stretch/>
        </p:blipFill>
        <p:spPr>
          <a:xfrm>
            <a:off x="7128000" y="3940560"/>
            <a:ext cx="2879280" cy="1350720"/>
          </a:xfrm>
          <a:prstGeom prst="rect">
            <a:avLst/>
          </a:prstGeom>
          <a:noFill/>
          <a:ln w="0">
            <a:noFill/>
          </a:ln>
        </p:spPr>
      </p:pic>
      <p:pic>
        <p:nvPicPr>
          <p:cNvPr id="110" name=""/>
          <p:cNvPicPr/>
          <p:nvPr/>
        </p:nvPicPr>
        <p:blipFill>
          <a:blip r:embed="rId3"/>
          <a:stretch/>
        </p:blipFill>
        <p:spPr>
          <a:xfrm>
            <a:off x="4090680" y="3960000"/>
            <a:ext cx="2928600" cy="125928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 name="Rectangle 13">
            <a:extLst>
              <a:ext uri="{C183D7F6-B498-43B3-948B-1728B52AA6E4}">
                <adec:decorative xmlns:adec="http://schemas.microsoft.com/office/drawing/2017/decorative" val="1"/>
              </a:ext>
            </a:extLst>
          </p:cNvPr>
          <p:cNvSpPr/>
          <p:nvPr/>
        </p:nvSpPr>
        <p:spPr>
          <a:xfrm>
            <a:off x="360" y="360"/>
            <a:ext cx="377856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3.Advanced STP Tuning</a:t>
            </a:r>
            <a:endParaRPr lang="en-AU" sz="4400" b="0" u="none" strike="noStrike">
              <a:solidFill>
                <a:srgbClr val="FFFFFF"/>
              </a:solidFill>
              <a:effectLst/>
              <a:uFillTx/>
              <a:latin typeface="Arial"/>
            </a:endParaRPr>
          </a:p>
        </p:txBody>
      </p:sp>
      <p:sp>
        <p:nvSpPr>
          <p:cNvPr id="112"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a:bodyPr>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By changing the port cost of SW3 Gi0/1 to 1, we can influence the port roles in the link between SW2 and SW3.</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SW3 Gi0/0 now becomes DP as SW3 has lower root path cost of 1 and SW2 Gi0/0 becomes blocked as it has higher root path cost of 4. </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24000" indent="-324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In a link between two switches where both are DP and one needs to be blocked to prevent loops, ports local cost is irrelevant and which port in the link is blocked depends on the switch’s root path cost.</a:t>
            </a:r>
            <a:endParaRPr lang="en-US" sz="1600" b="0" u="none" strike="noStrike">
              <a:solidFill>
                <a:schemeClr val="dk1"/>
              </a:solidFill>
              <a:effectLst/>
              <a:uFillTx/>
              <a:latin typeface="Aptos"/>
            </a:endParaRPr>
          </a:p>
          <a:p>
            <a:pPr marL="324000" indent="-324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For example, changing port cost of SW3’s Gi0/0 to 1 would not change the port role in the link between SW2 and SW3.</a:t>
            </a:r>
            <a:endParaRPr lang="en-US" sz="1600" b="0" u="none" strike="noStrike">
              <a:solidFill>
                <a:schemeClr val="dk1"/>
              </a:solidFill>
              <a:effectLst/>
              <a:uFillTx/>
              <a:latin typeface="Aptos"/>
            </a:endParaRPr>
          </a:p>
          <a:p>
            <a:pPr marL="324000" indent="-324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Switch with low root path cost stays DP and switch with higher root path cost blocks it’s port.</a:t>
            </a:r>
            <a:endParaRPr lang="en-US" sz="1600" b="0" u="none" strike="noStrike">
              <a:solidFill>
                <a:schemeClr val="dk1"/>
              </a:solidFill>
              <a:effectLst/>
              <a:uFillTx/>
              <a:latin typeface="Aptos"/>
            </a:endParaRPr>
          </a:p>
          <a:p>
            <a:pPr marL="324000" indent="-324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Same root path cost goes through the tie-breaker process.</a:t>
            </a:r>
            <a:endParaRPr lang="en-US" sz="1600" b="0" u="none" strike="noStrike">
              <a:solidFill>
                <a:schemeClr val="dk1"/>
              </a:solidFill>
              <a:effectLst/>
              <a:uFillTx/>
              <a:latin typeface="Aptos"/>
            </a:endParaRPr>
          </a:p>
        </p:txBody>
      </p:sp>
      <p:sp>
        <p:nvSpPr>
          <p:cNvPr id="113"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14"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pic>
        <p:nvPicPr>
          <p:cNvPr id="115" name=""/>
          <p:cNvPicPr/>
          <p:nvPr/>
        </p:nvPicPr>
        <p:blipFill>
          <a:blip r:embed="rId1"/>
          <a:stretch/>
        </p:blipFill>
        <p:spPr>
          <a:xfrm>
            <a:off x="7020000" y="1404000"/>
            <a:ext cx="2879280" cy="1763280"/>
          </a:xfrm>
          <a:prstGeom prst="rect">
            <a:avLst/>
          </a:prstGeom>
          <a:noFill/>
          <a:ln w="0">
            <a:noFill/>
          </a:ln>
        </p:spPr>
      </p:pic>
      <p:pic>
        <p:nvPicPr>
          <p:cNvPr id="116" name=""/>
          <p:cNvPicPr/>
          <p:nvPr/>
        </p:nvPicPr>
        <p:blipFill>
          <a:blip r:embed="rId2"/>
          <a:stretch/>
        </p:blipFill>
        <p:spPr>
          <a:xfrm>
            <a:off x="3960000" y="1404000"/>
            <a:ext cx="2928600" cy="1799280"/>
          </a:xfrm>
          <a:prstGeom prst="rect">
            <a:avLst/>
          </a:prstGeom>
          <a:noFill/>
          <a:ln w="0">
            <a:noFill/>
          </a:ln>
        </p:spPr>
      </p:pic>
      <p:sp>
        <p:nvSpPr>
          <p:cNvPr id="117" name=""/>
          <p:cNvSpPr/>
          <p:nvPr/>
        </p:nvSpPr>
        <p:spPr>
          <a:xfrm>
            <a:off x="0" y="1080000"/>
            <a:ext cx="3779280" cy="406764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r>
              <a:rPr lang="en-AU" sz="1800" b="1" u="none" strike="noStrike">
                <a:solidFill>
                  <a:srgbClr val="000000"/>
                </a:solidFill>
                <a:effectLst/>
                <a:uFillTx/>
                <a:latin typeface="Arial"/>
                <a:ea typeface="DejaVu Sans"/>
              </a:rPr>
              <a:t>Modifying port priority: </a:t>
            </a:r>
            <a:r>
              <a:rPr lang="en-AU" sz="1400" b="0" u="none" strike="noStrike">
                <a:solidFill>
                  <a:srgbClr val="000000"/>
                </a:solidFill>
                <a:effectLst/>
                <a:uFillTx/>
                <a:latin typeface="Arial"/>
                <a:ea typeface="DejaVu Sans"/>
              </a:rPr>
              <a:t>In a scenario where the root path cost and system priority remains same, modifying port priority can influence the port role.</a:t>
            </a:r>
            <a:endParaRPr lang="en-AU" sz="1400" b="0" u="none" strike="noStrike">
              <a:solidFill>
                <a:srgbClr val="000000"/>
              </a:solidFill>
              <a:effectLst/>
              <a:uFillTx/>
              <a:latin typeface="Arial"/>
            </a:endParaRPr>
          </a:p>
          <a:p>
            <a:pPr>
              <a:lnSpc>
                <a:spcPct val="100000"/>
              </a:lnSpc>
              <a:spcBef>
                <a:spcPts val="283"/>
              </a:spcBef>
              <a:spcAft>
                <a:spcPts val="283"/>
              </a:spcAft>
            </a:pPr>
            <a:r>
              <a:rPr lang="en-AU" sz="1400" b="0" u="none" strike="noStrike">
                <a:solidFill>
                  <a:srgbClr val="000000"/>
                </a:solidFill>
                <a:effectLst/>
                <a:uFillTx/>
                <a:latin typeface="Arial"/>
                <a:ea typeface="DejaVu Sans"/>
              </a:rPr>
              <a:t>In SW4, if we change cost of Gi0/2 to 8 or shut it down. Gi0/0 becomes RP.</a:t>
            </a:r>
            <a:endParaRPr lang="en-AU" sz="1400" b="0" u="none" strike="noStrike">
              <a:solidFill>
                <a:srgbClr val="000000"/>
              </a:solidFill>
              <a:effectLst/>
              <a:uFillTx/>
              <a:latin typeface="Arial"/>
            </a:endParaRPr>
          </a:p>
          <a:p>
            <a:pPr>
              <a:lnSpc>
                <a:spcPct val="100000"/>
              </a:lnSpc>
              <a:spcBef>
                <a:spcPts val="283"/>
              </a:spcBef>
              <a:spcAft>
                <a:spcPts val="283"/>
              </a:spcAft>
            </a:pPr>
            <a:r>
              <a:rPr lang="en-AU" sz="1400" b="0" u="none" strike="noStrike">
                <a:solidFill>
                  <a:srgbClr val="000000"/>
                </a:solidFill>
                <a:effectLst/>
                <a:uFillTx/>
                <a:latin typeface="Arial"/>
                <a:ea typeface="DejaVu Sans"/>
              </a:rPr>
              <a:t>As both root path cost and system priority are same on all ports (Gi0/2,Gi0/3 and Gi0/0), next check isport priority followed by port number.</a:t>
            </a:r>
            <a:endParaRPr lang="en-AU" sz="1400" b="0" u="none" strike="noStrike">
              <a:solidFill>
                <a:srgbClr val="000000"/>
              </a:solidFill>
              <a:effectLst/>
              <a:uFillTx/>
              <a:latin typeface="Arial"/>
            </a:endParaRPr>
          </a:p>
          <a:p>
            <a:pPr>
              <a:lnSpc>
                <a:spcPct val="100000"/>
              </a:lnSpc>
              <a:spcBef>
                <a:spcPts val="283"/>
              </a:spcBef>
              <a:spcAft>
                <a:spcPts val="283"/>
              </a:spcAft>
            </a:pPr>
            <a:r>
              <a:rPr lang="en-AU" sz="1400" b="0" u="none" strike="noStrike">
                <a:solidFill>
                  <a:srgbClr val="000000"/>
                </a:solidFill>
                <a:effectLst/>
                <a:uFillTx/>
                <a:latin typeface="Arial"/>
                <a:ea typeface="DejaVu Sans"/>
              </a:rPr>
              <a:t>All the ports have same port priority of 128 thus port Gi0/0 with priority.number of 128.1 becomes the root port.</a:t>
            </a:r>
            <a:endParaRPr lang="en-AU" sz="1400" b="0" u="none" strike="noStrike">
              <a:solidFill>
                <a:srgbClr val="000000"/>
              </a:solidFill>
              <a:effectLst/>
              <a:uFillTx/>
              <a:latin typeface="Arial"/>
            </a:endParaRPr>
          </a:p>
          <a:p>
            <a:pPr>
              <a:lnSpc>
                <a:spcPct val="100000"/>
              </a:lnSpc>
              <a:spcBef>
                <a:spcPts val="283"/>
              </a:spcBef>
              <a:spcAft>
                <a:spcPts val="283"/>
              </a:spcAft>
            </a:pPr>
            <a:r>
              <a:rPr lang="en-AU" sz="1400" b="0" u="none" strike="noStrike">
                <a:solidFill>
                  <a:srgbClr val="000000"/>
                </a:solidFill>
                <a:effectLst/>
                <a:highlight>
                  <a:srgbClr val="FFFF00"/>
                </a:highlight>
                <a:uFillTx/>
                <a:latin typeface="Arial"/>
                <a:ea typeface="DejaVu Sans"/>
              </a:rPr>
              <a:t>As both port priority and number is controlled by upstream switch,</a:t>
            </a:r>
            <a:r>
              <a:rPr lang="en-AU" sz="1400" b="0" u="none" strike="noStrike">
                <a:solidFill>
                  <a:srgbClr val="000000"/>
                </a:solidFill>
                <a:effectLst/>
                <a:uFillTx/>
                <a:latin typeface="Arial"/>
                <a:ea typeface="DejaVu Sans"/>
              </a:rPr>
              <a:t> changing port priority of SW5’s Gi0/3’s priority can make SW4’s Gi0/3 a RP.</a:t>
            </a:r>
            <a:endParaRPr lang="en-AU"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Rectangle 14">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4.STP Protection Mechanism</a:t>
            </a:r>
            <a:endParaRPr lang="en-AU" sz="2800" b="0" u="none" strike="noStrike">
              <a:solidFill>
                <a:srgbClr val="FFFFFF"/>
              </a:solidFill>
              <a:effectLst/>
              <a:uFillTx/>
              <a:latin typeface="Arial"/>
            </a:endParaRPr>
          </a:p>
        </p:txBody>
      </p:sp>
      <p:sp>
        <p:nvSpPr>
          <p:cNvPr id="119"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lnSpcReduction="9999"/>
          </a:bodyPr>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Unlike layer 3 Time-to-Live (TTL) mechanism to protect loops, there is no such mechanism to prevent layer 2 loops.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In layer 2 loops, in addition to consuming bandwidth the  CPU spikes as the frame needs to be processed constantly from incoming to outgoing interface.</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Root Guard</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Configuring root guard in a switchport puts the port in ErrDisable state if superior BPDU is received and prevents it from becoming a root port.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Therefore, any switch that is connected to a port with root guard configured cannot become root switch.</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Root guard is configured on a port by port basis and prevents a rouge switch to become root in STP topology.</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In our topology, root guard can be configured on SW2’s interface connected to SW5 and SW3’s interface connected to SW4 can to prevent SW5 and SW4 from ever becoming root.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SW2 and SW3 can still reach root SW1 via link between them if one of their current RP fails.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Root guard can be configured with </a:t>
            </a:r>
            <a:r>
              <a:rPr lang="en-US" sz="1400" b="1" u="none" strike="noStrike">
                <a:solidFill>
                  <a:schemeClr val="dk1"/>
                </a:solidFill>
                <a:effectLst/>
                <a:uFillTx/>
                <a:latin typeface="Arial"/>
                <a:ea typeface="Microsoft YaHei"/>
              </a:rPr>
              <a:t>spanning-tree guard root</a:t>
            </a:r>
            <a:r>
              <a:rPr lang="en-US" sz="1600" b="0" u="none" strike="noStrike">
                <a:solidFill>
                  <a:schemeClr val="dk1"/>
                </a:solidFill>
                <a:effectLst/>
                <a:uFillTx/>
                <a:latin typeface="Arial"/>
                <a:ea typeface="Microsoft YaHei"/>
              </a:rPr>
              <a:t> command under interface configuration mode.</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p:txBody>
      </p:sp>
      <p:sp>
        <p:nvSpPr>
          <p:cNvPr id="120"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21"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22" name=""/>
          <p:cNvSpPr/>
          <p:nvPr/>
        </p:nvSpPr>
        <p:spPr>
          <a:xfrm>
            <a:off x="0" y="900000"/>
            <a:ext cx="3779280" cy="213444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r>
              <a:rPr lang="en-AU" sz="1200" b="0" u="none" strike="noStrike">
                <a:solidFill>
                  <a:srgbClr val="000000"/>
                </a:solidFill>
                <a:effectLst/>
                <a:uFillTx/>
                <a:latin typeface="Arial"/>
                <a:ea typeface="DejaVu Sans"/>
              </a:rPr>
              <a:t>Syslog message shows root guard is blocking the port when SW5 sends superior BPDU.</a:t>
            </a:r>
            <a:endParaRPr lang="en-AU" sz="1200" b="0" u="none" strike="noStrike">
              <a:solidFill>
                <a:srgbClr val="000000"/>
              </a:solidFill>
              <a:effectLst/>
              <a:uFillTx/>
              <a:latin typeface="Arial"/>
            </a:endParaRPr>
          </a:p>
          <a:p>
            <a:pPr>
              <a:lnSpc>
                <a:spcPct val="100000"/>
              </a:lnSpc>
              <a:spcBef>
                <a:spcPts val="283"/>
              </a:spcBef>
              <a:spcAft>
                <a:spcPts val="283"/>
              </a:spcAft>
            </a:pPr>
            <a:r>
              <a:rPr lang="en-AU" sz="1200" b="0" u="none" strike="noStrike">
                <a:solidFill>
                  <a:srgbClr val="000000"/>
                </a:solidFill>
                <a:effectLst/>
                <a:uFillTx/>
                <a:latin typeface="Arial"/>
                <a:ea typeface="DejaVu Sans"/>
              </a:rPr>
              <a:t>Gi0/1 is reported as broken due to root inconsistency while still keeping the original root (SW1) details intact.</a:t>
            </a:r>
            <a:endParaRPr lang="en-AU" sz="1200" b="0" u="none" strike="noStrike">
              <a:solidFill>
                <a:srgbClr val="000000"/>
              </a:solidFill>
              <a:effectLst/>
              <a:uFillTx/>
              <a:latin typeface="Arial"/>
            </a:endParaRPr>
          </a:p>
          <a:p>
            <a:pPr>
              <a:lnSpc>
                <a:spcPct val="100000"/>
              </a:lnSpc>
              <a:spcBef>
                <a:spcPts val="283"/>
              </a:spcBef>
              <a:spcAft>
                <a:spcPts val="283"/>
              </a:spcAft>
            </a:pPr>
            <a:r>
              <a:rPr lang="en-AU" sz="1200" b="0" u="none" strike="noStrike">
                <a:solidFill>
                  <a:srgbClr val="000000"/>
                </a:solidFill>
                <a:effectLst/>
                <a:uFillTx/>
                <a:latin typeface="Arial"/>
                <a:ea typeface="DejaVu Sans"/>
              </a:rPr>
              <a:t>In this topology, configuring root guard only in SW2’s Gi0/1 and not in SW3’s Gi0/2 will only block SW2’s Gi0/1 but will not prevent SW5 from becoming root as it’s superior BPDU can still reach SW2 via SW3.</a:t>
            </a:r>
            <a:endParaRPr lang="en-AU" sz="1200" b="0" u="none" strike="noStrike">
              <a:solidFill>
                <a:srgbClr val="000000"/>
              </a:solidFill>
              <a:effectLst/>
              <a:uFillTx/>
              <a:latin typeface="Arial"/>
            </a:endParaRPr>
          </a:p>
          <a:p>
            <a:pPr>
              <a:lnSpc>
                <a:spcPct val="100000"/>
              </a:lnSpc>
              <a:spcBef>
                <a:spcPts val="283"/>
              </a:spcBef>
              <a:spcAft>
                <a:spcPts val="283"/>
              </a:spcAft>
            </a:pPr>
            <a:endParaRPr lang="en-AU" sz="1200" b="0" u="none" strike="noStrike">
              <a:solidFill>
                <a:srgbClr val="000000"/>
              </a:solidFill>
              <a:effectLst/>
              <a:uFillTx/>
              <a:latin typeface="Arial"/>
            </a:endParaRPr>
          </a:p>
        </p:txBody>
      </p:sp>
      <p:pic>
        <p:nvPicPr>
          <p:cNvPr id="123" name=""/>
          <p:cNvPicPr/>
          <p:nvPr/>
        </p:nvPicPr>
        <p:blipFill>
          <a:blip r:embed="rId1"/>
          <a:stretch/>
        </p:blipFill>
        <p:spPr>
          <a:xfrm>
            <a:off x="108000" y="2880000"/>
            <a:ext cx="3491640" cy="269964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 name="Rectangle 15">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4.STP Protection Mechanism</a:t>
            </a:r>
            <a:endParaRPr lang="en-AU" sz="2800" b="0" u="none" strike="noStrike">
              <a:solidFill>
                <a:srgbClr val="FFFFFF"/>
              </a:solidFill>
              <a:effectLst/>
              <a:uFillTx/>
              <a:latin typeface="Arial"/>
            </a:endParaRPr>
          </a:p>
        </p:txBody>
      </p:sp>
      <p:sp>
        <p:nvSpPr>
          <p:cNvPr id="125"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STP Portfast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STP portfast feature disables TCN generation for access ports that are connected to end hosts to provide layer 2 stability.</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If a BPDU is received on portfast enabled port, portfast is removed and function as normal RSTP enabled port.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Portfast can be enabled in port by port basis with command </a:t>
            </a:r>
            <a:r>
              <a:rPr lang="en-US" sz="1400" b="1" u="none" strike="noStrike">
                <a:solidFill>
                  <a:schemeClr val="dk1"/>
                </a:solidFill>
                <a:effectLst/>
                <a:uFillTx/>
                <a:latin typeface="Arial"/>
                <a:ea typeface="Microsoft YaHei"/>
              </a:rPr>
              <a:t>spanning-tree portfast</a:t>
            </a:r>
            <a:r>
              <a:rPr lang="en-US" sz="1600" b="0" u="none" strike="noStrike">
                <a:solidFill>
                  <a:schemeClr val="dk1"/>
                </a:solidFill>
                <a:effectLst/>
                <a:uFillTx/>
                <a:latin typeface="Arial"/>
                <a:ea typeface="Microsoft YaHei"/>
              </a:rPr>
              <a:t> or globally on all access ports with </a:t>
            </a:r>
            <a:r>
              <a:rPr lang="en-US" sz="1400" b="1" u="none" strike="noStrike">
                <a:solidFill>
                  <a:schemeClr val="dk1"/>
                </a:solidFill>
                <a:effectLst/>
                <a:uFillTx/>
                <a:latin typeface="Arial"/>
                <a:ea typeface="Microsoft YaHei"/>
              </a:rPr>
              <a:t>spanning-tree portfast default</a:t>
            </a:r>
            <a:r>
              <a:rPr lang="en-US" sz="1600" b="0" u="none" strike="noStrike">
                <a:solidFill>
                  <a:schemeClr val="dk1"/>
                </a:solidFill>
                <a:effectLst/>
                <a:uFillTx/>
                <a:latin typeface="Arial"/>
                <a:ea typeface="Microsoft YaHei"/>
              </a:rPr>
              <a: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To disable portfast on a port, </a:t>
            </a:r>
            <a:r>
              <a:rPr lang="en-US" sz="1400" b="1" u="none" strike="noStrike">
                <a:solidFill>
                  <a:schemeClr val="dk1"/>
                </a:solidFill>
                <a:effectLst/>
                <a:uFillTx/>
                <a:latin typeface="Arial"/>
                <a:ea typeface="Microsoft YaHei"/>
              </a:rPr>
              <a:t>spanning-tree porfast disable</a:t>
            </a:r>
            <a:r>
              <a:rPr lang="en-US" sz="1600" b="0" u="none" strike="noStrike">
                <a:solidFill>
                  <a:schemeClr val="dk1"/>
                </a:solidFill>
                <a:effectLst/>
                <a:uFillTx/>
                <a:latin typeface="Arial"/>
                <a:ea typeface="Microsoft YaHei"/>
              </a:rPr>
              <a:t> command is used under interface configuration mode.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To enable portfast on trunk port that is connected to end hosts such as VM or Server, </a:t>
            </a:r>
            <a:r>
              <a:rPr lang="en-US" sz="1400" b="1" u="none" strike="noStrike">
                <a:solidFill>
                  <a:schemeClr val="dk1"/>
                </a:solidFill>
                <a:effectLst/>
                <a:uFillTx/>
                <a:latin typeface="Arial"/>
                <a:ea typeface="Microsoft YaHei"/>
              </a:rPr>
              <a:t>spanning-tree portfast trunk</a:t>
            </a:r>
            <a:r>
              <a:rPr lang="en-US" sz="1600" b="0" u="none" strike="noStrike">
                <a:solidFill>
                  <a:schemeClr val="dk1"/>
                </a:solidFill>
                <a:effectLst/>
                <a:uFillTx/>
                <a:latin typeface="Arial"/>
                <a:ea typeface="Microsoft YaHei"/>
              </a:rPr>
              <a:t> can be used under the interface configuration mode.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Enabling portfast globally, shows below warning;</a:t>
            </a: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1" u="none" strike="noStrike">
                <a:solidFill>
                  <a:schemeClr val="dk1"/>
                </a:solidFill>
                <a:effectLst/>
                <a:uFillTx/>
                <a:latin typeface="Arial"/>
                <a:ea typeface="Microsoft YaHei"/>
              </a:rPr>
              <a:t>SW5(config)#spanning-tree portfast edge default</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%Warning: this command enables portfast by default on all interfaces. You should now disable portfast explicitly on switched ports leading to hubs, switches and bridges as they may create temporary bridging loops.</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p:txBody>
      </p:sp>
      <p:sp>
        <p:nvSpPr>
          <p:cNvPr id="126"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27"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28" name=""/>
          <p:cNvSpPr/>
          <p:nvPr/>
        </p:nvSpPr>
        <p:spPr>
          <a:xfrm>
            <a:off x="0" y="900000"/>
            <a:ext cx="3779280" cy="15631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600" b="0" u="none" strike="noStrike">
                <a:solidFill>
                  <a:schemeClr val="dk1"/>
                </a:solidFill>
                <a:effectLst/>
                <a:uFillTx/>
                <a:latin typeface="Arial"/>
                <a:ea typeface="Microsoft YaHei"/>
              </a:rPr>
              <a:t>In our topology, connecting a PC on Gi1/0 interface of SW5 and enabling portfast on that port only will show below warning. The port type is shown as P2p edge port.</a:t>
            </a: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200" b="0" u="none" strike="noStrike">
              <a:solidFill>
                <a:srgbClr val="000000"/>
              </a:solidFill>
              <a:effectLst/>
              <a:uFillTx/>
              <a:latin typeface="Arial"/>
            </a:endParaRPr>
          </a:p>
        </p:txBody>
      </p:sp>
      <p:pic>
        <p:nvPicPr>
          <p:cNvPr id="129" name=""/>
          <p:cNvPicPr/>
          <p:nvPr/>
        </p:nvPicPr>
        <p:blipFill>
          <a:blip r:embed="rId1"/>
          <a:stretch/>
        </p:blipFill>
        <p:spPr>
          <a:xfrm>
            <a:off x="55080" y="2520000"/>
            <a:ext cx="3724560" cy="287964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0" name="Rectangle 16">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4.STP Protection Mechanism</a:t>
            </a:r>
            <a:endParaRPr lang="en-AU" sz="2800" b="0" u="none" strike="noStrike">
              <a:solidFill>
                <a:srgbClr val="FFFFFF"/>
              </a:solidFill>
              <a:effectLst/>
              <a:uFillTx/>
              <a:latin typeface="Arial"/>
            </a:endParaRPr>
          </a:p>
        </p:txBody>
      </p:sp>
      <p:sp>
        <p:nvSpPr>
          <p:cNvPr id="131"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BPDU Guard</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STP BPDU guard feature disables the port if any BPDU are received on the port enabled with portfast.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BPDU guard is enabled on all access switch with portfast enabled with command </a:t>
            </a:r>
            <a:r>
              <a:rPr lang="en-US" sz="1400" b="1" u="none" strike="noStrike">
                <a:solidFill>
                  <a:schemeClr val="dk1"/>
                </a:solidFill>
                <a:effectLst/>
                <a:uFillTx/>
                <a:latin typeface="Arial"/>
                <a:ea typeface="Microsoft YaHei"/>
              </a:rPr>
              <a:t>spanning-tree portfast bpduguard default </a:t>
            </a:r>
            <a:endParaRPr lang="en-US" sz="14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BPDU guard can be enabled or disabled on individual port with </a:t>
            </a:r>
            <a:r>
              <a:rPr lang="en-US" sz="1400" b="1" u="none" strike="noStrike">
                <a:solidFill>
                  <a:schemeClr val="dk1"/>
                </a:solidFill>
                <a:effectLst/>
                <a:uFillTx/>
                <a:latin typeface="Arial"/>
                <a:ea typeface="Microsoft YaHei"/>
              </a:rPr>
              <a:t>spanning-tree bpduguard</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enable</a:t>
            </a:r>
            <a:r>
              <a:rPr lang="en-US" sz="1400" b="0" u="none" strike="noStrike">
                <a:solidFill>
                  <a:schemeClr val="dk1"/>
                </a:solidFill>
                <a:effectLst/>
                <a:uFillTx/>
                <a:latin typeface="Arial"/>
                <a:ea typeface="Microsoft YaHei"/>
              </a:rPr>
              <a:t> | </a:t>
            </a:r>
            <a:r>
              <a:rPr lang="en-US" sz="1400" b="1" u="none" strike="noStrike">
                <a:solidFill>
                  <a:schemeClr val="dk1"/>
                </a:solidFill>
                <a:effectLst/>
                <a:uFillTx/>
                <a:latin typeface="Arial"/>
                <a:ea typeface="Microsoft YaHei"/>
              </a:rPr>
              <a:t>disable</a:t>
            </a:r>
            <a:r>
              <a:rPr lang="en-US" sz="1400" b="0" u="none" strike="noStrike">
                <a:solidFill>
                  <a:schemeClr val="dk1"/>
                </a:solidFill>
                <a:effectLst/>
                <a:uFillTx/>
                <a:latin typeface="Arial"/>
                <a:ea typeface="Microsoft YaHei"/>
              </a:rPr>
              <a:t>}</a:t>
            </a:r>
            <a:endParaRPr lang="en-US" sz="14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If any BPDU is received on BPDU guard enabled port, the port is put in ErrDisable state and do not recover automatically.</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To recover ErrDisabled port due to BPDU guard violation, Error Recovery service must be used. </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To use Error Recovery service to recover port that were ErrDisabled due to BPDU guard, use </a:t>
            </a:r>
            <a:r>
              <a:rPr lang="en-US" sz="1400" b="1" u="none" strike="noStrike">
                <a:solidFill>
                  <a:schemeClr val="dk1"/>
                </a:solidFill>
                <a:effectLst/>
                <a:uFillTx/>
                <a:latin typeface="Arial"/>
                <a:ea typeface="Microsoft YaHei"/>
              </a:rPr>
              <a:t>errdisable recovery cause bpduguard </a:t>
            </a:r>
            <a:r>
              <a:rPr lang="en-US" sz="1600" b="0" u="none" strike="noStrike">
                <a:solidFill>
                  <a:schemeClr val="dk1"/>
                </a:solidFill>
                <a:effectLst/>
                <a:uFillTx/>
                <a:latin typeface="Arial"/>
                <a:ea typeface="Microsoft YaHei"/>
              </a:rPr>
              <a:t>in global config mode.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The period that the Error Recovery service checks for the errors in the port is configured with </a:t>
            </a:r>
            <a:r>
              <a:rPr lang="en-US" sz="1400" b="1" u="none" strike="noStrike">
                <a:solidFill>
                  <a:schemeClr val="dk1"/>
                </a:solidFill>
                <a:effectLst/>
                <a:uFillTx/>
                <a:latin typeface="Arial"/>
                <a:ea typeface="Microsoft YaHei"/>
              </a:rPr>
              <a:t>errdisable recovery interval  </a:t>
            </a:r>
            <a:r>
              <a:rPr lang="en-US" sz="1400" b="0" i="1" u="none" strike="noStrike">
                <a:solidFill>
                  <a:schemeClr val="dk1"/>
                </a:solidFill>
                <a:effectLst/>
                <a:uFillTx/>
                <a:latin typeface="Arial"/>
                <a:ea typeface="Microsoft YaHei"/>
              </a:rPr>
              <a:t>time-seconds </a:t>
            </a:r>
            <a:endParaRPr lang="en-US" sz="14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Default interval is 300 seconds (5 min) and range can vary from 5 to 86,400 seconds (24 hrs)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p:txBody>
      </p:sp>
      <p:sp>
        <p:nvSpPr>
          <p:cNvPr id="132"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33"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34" name=""/>
          <p:cNvSpPr/>
          <p:nvPr/>
        </p:nvSpPr>
        <p:spPr>
          <a:xfrm>
            <a:off x="0" y="900000"/>
            <a:ext cx="3779280" cy="107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600" b="0" u="none" strike="noStrike">
                <a:solidFill>
                  <a:schemeClr val="dk1"/>
                </a:solidFill>
                <a:effectLst/>
                <a:uFillTx/>
                <a:latin typeface="Arial"/>
                <a:ea typeface="Microsoft YaHei"/>
              </a:rPr>
              <a:t>In our topology, Gi1/0 interface of SW5 is enabled with portfast and enable it with bpduguard as well.</a:t>
            </a: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200" b="0" u="none" strike="noStrike">
              <a:solidFill>
                <a:srgbClr val="000000"/>
              </a:solidFill>
              <a:effectLst/>
              <a:uFillTx/>
              <a:latin typeface="Arial"/>
            </a:endParaRPr>
          </a:p>
        </p:txBody>
      </p:sp>
      <p:pic>
        <p:nvPicPr>
          <p:cNvPr id="135" name=""/>
          <p:cNvPicPr/>
          <p:nvPr/>
        </p:nvPicPr>
        <p:blipFill>
          <a:blip r:embed="rId1"/>
          <a:stretch/>
        </p:blipFill>
        <p:spPr>
          <a:xfrm>
            <a:off x="55080" y="1699200"/>
            <a:ext cx="3004560" cy="1324440"/>
          </a:xfrm>
          <a:prstGeom prst="rect">
            <a:avLst/>
          </a:prstGeom>
          <a:noFill/>
          <a:ln w="0">
            <a:noFill/>
          </a:ln>
        </p:spPr>
      </p:pic>
      <p:sp>
        <p:nvSpPr>
          <p:cNvPr id="136" name=""/>
          <p:cNvSpPr/>
          <p:nvPr/>
        </p:nvSpPr>
        <p:spPr>
          <a:xfrm>
            <a:off x="0" y="2990520"/>
            <a:ext cx="3779640" cy="17107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300" b="0" u="none" strike="noStrike">
                <a:solidFill>
                  <a:srgbClr val="000000"/>
                </a:solidFill>
                <a:effectLst/>
                <a:uFillTx/>
                <a:latin typeface="Arial"/>
              </a:rPr>
              <a:t>Enabling portfast and bpdu guard with default command will show ‘Portfast/Bpdu guard is enabled by default’</a:t>
            </a:r>
            <a:endParaRPr lang="en-AU" sz="13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300" b="0" u="none" strike="noStrike">
                <a:solidFill>
                  <a:schemeClr val="dk1"/>
                </a:solidFill>
                <a:effectLst/>
                <a:uFillTx/>
                <a:latin typeface="Arial"/>
                <a:ea typeface="Microsoft YaHei"/>
              </a:rPr>
              <a:t>Configuration of Error Recovery service can be verified with </a:t>
            </a:r>
            <a:r>
              <a:rPr lang="en-US" sz="1300" b="1" u="none" strike="noStrike">
                <a:solidFill>
                  <a:schemeClr val="dk1"/>
                </a:solidFill>
                <a:effectLst/>
                <a:uFillTx/>
                <a:latin typeface="Arial"/>
                <a:ea typeface="Microsoft YaHei"/>
              </a:rPr>
              <a:t>show errdisable recovery</a:t>
            </a:r>
            <a:r>
              <a:rPr lang="en-US" sz="1300" b="0" u="none" strike="noStrike">
                <a:solidFill>
                  <a:schemeClr val="dk1"/>
                </a:solidFill>
                <a:effectLst/>
                <a:uFillTx/>
                <a:latin typeface="Arial"/>
                <a:ea typeface="Microsoft YaHei"/>
              </a:rPr>
              <a:t> command.</a:t>
            </a:r>
            <a:endParaRPr lang="en-AU" sz="13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300" b="0" u="none" strike="noStrike">
                <a:solidFill>
                  <a:schemeClr val="dk1"/>
                </a:solidFill>
                <a:effectLst/>
                <a:uFillTx/>
                <a:latin typeface="Arial"/>
                <a:ea typeface="Microsoft YaHei"/>
              </a:rPr>
              <a:t>There are other cause of error recovery service and timer details, below output is cut short.</a:t>
            </a:r>
            <a:endParaRPr lang="en-AU" sz="1300" b="0" u="none" strike="noStrike">
              <a:solidFill>
                <a:srgbClr val="000000"/>
              </a:solidFill>
              <a:effectLst/>
              <a:uFillTx/>
              <a:latin typeface="Arial"/>
            </a:endParaRPr>
          </a:p>
        </p:txBody>
      </p:sp>
      <p:pic>
        <p:nvPicPr>
          <p:cNvPr id="137" name=""/>
          <p:cNvPicPr/>
          <p:nvPr/>
        </p:nvPicPr>
        <p:blipFill>
          <a:blip r:embed="rId2"/>
          <a:stretch/>
        </p:blipFill>
        <p:spPr>
          <a:xfrm>
            <a:off x="180000" y="4717080"/>
            <a:ext cx="2879640" cy="93456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8" name="Rectangle 17">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4.STP Protection Mechanism</a:t>
            </a:r>
            <a:endParaRPr lang="en-AU" sz="2800" b="0" u="none" strike="noStrike">
              <a:solidFill>
                <a:srgbClr val="FFFFFF"/>
              </a:solidFill>
              <a:effectLst/>
              <a:uFillTx/>
              <a:latin typeface="Arial"/>
            </a:endParaRPr>
          </a:p>
        </p:txBody>
      </p:sp>
      <p:sp>
        <p:nvSpPr>
          <p:cNvPr id="139"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lnSpcReduction="9999"/>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BPDU Filter</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BPDU filter simply filters BPDU being transmitted out of the port.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As with portfast and BPDU guard, BPDU filter can be enabled globally or on a port by port basis. But the behaviour of the BPDU filter enabled port differs by the way it is enabled.</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If enabled globally with </a:t>
            </a:r>
            <a:r>
              <a:rPr lang="en-US" sz="1400" b="1" u="none" strike="noStrike">
                <a:solidFill>
                  <a:schemeClr val="dk1"/>
                </a:solidFill>
                <a:effectLst/>
                <a:uFillTx/>
                <a:latin typeface="Arial"/>
                <a:ea typeface="Microsoft YaHei"/>
              </a:rPr>
              <a:t>spanning-tree portfast bpdufilter default</a:t>
            </a:r>
            <a:r>
              <a:rPr lang="en-US" sz="1600" b="0" u="none" strike="noStrike">
                <a:solidFill>
                  <a:schemeClr val="dk1"/>
                </a:solidFill>
                <a:effectLst/>
                <a:uFillTx/>
                <a:latin typeface="Arial"/>
                <a:ea typeface="Microsoft YaHei"/>
              </a:rPr>
              <a:t> command, it sends series of 10 to 12 BPDUs at the start of link up.Then it start to filter (stop sending) BPDUs. When BPDU is received, it checks the switch preference and does below:</a:t>
            </a:r>
            <a:endParaRPr lang="en-US" sz="16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SzPct val="45000"/>
              <a:buFont typeface="OpenSymbol"/>
              <a:buChar char="✸"/>
              <a:tabLst>
                <a:tab pos="0" algn="l"/>
              </a:tabLst>
            </a:pPr>
            <a:r>
              <a:rPr lang="en-US" sz="1600" b="0" u="none" strike="noStrike">
                <a:solidFill>
                  <a:schemeClr val="dk1"/>
                </a:solidFill>
                <a:effectLst/>
                <a:uFillTx/>
                <a:latin typeface="Arial"/>
                <a:ea typeface="Microsoft YaHei"/>
              </a:rPr>
              <a:t>If it is the preferred switch, it does not process any BPDUs and only transmits BPDUs to downstream switch.</a:t>
            </a:r>
            <a:endParaRPr lang="en-US" sz="16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SzPct val="45000"/>
              <a:buFont typeface="OpenSymbol"/>
              <a:buChar char="✸"/>
              <a:tabLst>
                <a:tab pos="0" algn="l"/>
              </a:tabLst>
            </a:pPr>
            <a:r>
              <a:rPr lang="en-US" sz="1600" b="0" u="none" strike="noStrike">
                <a:solidFill>
                  <a:schemeClr val="dk1"/>
                </a:solidFill>
                <a:effectLst/>
                <a:uFillTx/>
                <a:latin typeface="Arial"/>
                <a:ea typeface="Microsoft YaHei"/>
              </a:rPr>
              <a:t>If it is inferior switch then it processes received BPDUs but do not send BPDUs to upstream superior switch.</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If enabled on interface with </a:t>
            </a:r>
            <a:r>
              <a:rPr lang="en-US" sz="1400" b="1" u="none" strike="noStrike">
                <a:solidFill>
                  <a:schemeClr val="dk1"/>
                </a:solidFill>
                <a:effectLst/>
                <a:uFillTx/>
                <a:latin typeface="Arial"/>
                <a:ea typeface="Microsoft YaHei"/>
              </a:rPr>
              <a:t>spanning-tree bpdufilter  enable</a:t>
            </a:r>
            <a:r>
              <a:rPr lang="en-US" sz="1600" b="0" u="none" strike="noStrike">
                <a:solidFill>
                  <a:schemeClr val="dk1"/>
                </a:solidFill>
                <a:effectLst/>
                <a:uFillTx/>
                <a:latin typeface="Arial"/>
                <a:ea typeface="Microsoft YaHei"/>
              </a:rPr>
              <a:t> command, the port does not send any BPDU. And if remote port has bpdufilter enabled then it shuts the port down to prevent loops.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Enabling bpdufilter on an interface can put the ports in a link between switches in both designated forwarding state and create loops.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p:txBody>
      </p:sp>
      <p:sp>
        <p:nvSpPr>
          <p:cNvPr id="140"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41"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42" name=""/>
          <p:cNvSpPr/>
          <p:nvPr/>
        </p:nvSpPr>
        <p:spPr>
          <a:xfrm>
            <a:off x="0" y="900000"/>
            <a:ext cx="3779280" cy="21416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600" b="0" u="none" strike="noStrike">
                <a:solidFill>
                  <a:schemeClr val="dk1"/>
                </a:solidFill>
                <a:effectLst/>
                <a:uFillTx/>
                <a:latin typeface="Arial"/>
                <a:ea typeface="Microsoft YaHei"/>
              </a:rPr>
              <a:t>In our topology, enabling bpdufilter on SW1’s Gi0/2 interface will force SW2’s Gi0/0 to be RP as it receives SW1’s BPDU via SW3.</a:t>
            </a: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600" b="0" u="none" strike="noStrike">
                <a:solidFill>
                  <a:schemeClr val="dk1"/>
                </a:solidFill>
                <a:effectLst/>
                <a:uFillTx/>
                <a:latin typeface="Arial"/>
                <a:ea typeface="Microsoft YaHei"/>
              </a:rPr>
              <a:t>This leaves both side ports in link between SW1 and SW2 as DP. Thus creating a layer 2 loop.</a:t>
            </a: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200" b="0" u="none" strike="noStrike">
              <a:solidFill>
                <a:srgbClr val="000000"/>
              </a:solidFill>
              <a:effectLst/>
              <a:uFillTx/>
              <a:latin typeface="Arial"/>
            </a:endParaRPr>
          </a:p>
        </p:txBody>
      </p:sp>
      <p:pic>
        <p:nvPicPr>
          <p:cNvPr id="143" name=""/>
          <p:cNvPicPr/>
          <p:nvPr/>
        </p:nvPicPr>
        <p:blipFill>
          <a:blip r:embed="rId1"/>
          <a:stretch/>
        </p:blipFill>
        <p:spPr>
          <a:xfrm>
            <a:off x="72000" y="2984760"/>
            <a:ext cx="3599640" cy="241488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 name="Rectangle 18">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4.STP Protection Mechanism</a:t>
            </a:r>
            <a:endParaRPr lang="en-AU" sz="2800" b="0" u="none" strike="noStrike">
              <a:solidFill>
                <a:srgbClr val="FFFFFF"/>
              </a:solidFill>
              <a:effectLst/>
              <a:uFillTx/>
              <a:latin typeface="Arial"/>
            </a:endParaRPr>
          </a:p>
        </p:txBody>
      </p:sp>
      <p:sp>
        <p:nvSpPr>
          <p:cNvPr id="145"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Unidirectional Link Problems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Fibre optic cables consists two strands of glass/strand, one for transmit and another for receive.</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The order of transmit and receive is opposite at two ends of the fibre optic cable link.</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Problem with one link will create a unidirectional link while keeping the link in up state.</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This prevents BPDUs reaching the downstream switch via unidirectional link (similar behavior as enabling bpdufilter on the interface.)</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This forces the switch to choose new RP and receives traffic via new RP and transmits via the unidirectional link creating a loop.</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1" u="none" strike="noStrike">
                <a:solidFill>
                  <a:schemeClr val="dk1"/>
                </a:solidFill>
                <a:effectLst/>
                <a:uFillTx/>
                <a:latin typeface="Arial"/>
                <a:ea typeface="Microsoft YaHei"/>
              </a:rPr>
              <a:t>STP Loop Guard:</a:t>
            </a:r>
            <a:r>
              <a:rPr lang="en-US" sz="1600" b="0" u="none" strike="noStrike">
                <a:solidFill>
                  <a:schemeClr val="dk1"/>
                </a:solidFill>
                <a:effectLst/>
                <a:uFillTx/>
                <a:latin typeface="Arial"/>
                <a:ea typeface="Microsoft YaHei"/>
              </a:rPr>
              <a:t> One of the solution to solve unidirectional link problem which prevents any Alternate or RP from becoming designated port due to loss of BPDUs in RP.</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Loop guard places the original port in ErrDisabled state while BPDUs are not received and recovers and goes through normal STP states when it starts receiving BPDUs.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Loop guard should not be enabled on portfast enabled ports.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p:txBody>
      </p:sp>
      <p:sp>
        <p:nvSpPr>
          <p:cNvPr id="146"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47"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48" name=""/>
          <p:cNvSpPr/>
          <p:nvPr/>
        </p:nvSpPr>
        <p:spPr>
          <a:xfrm>
            <a:off x="0" y="900000"/>
            <a:ext cx="3779280" cy="2985840"/>
          </a:xfrm>
          <a:prstGeom prst="rect">
            <a:avLst/>
          </a:prstGeom>
          <a:noFill/>
          <a:ln w="0">
            <a:noFill/>
          </a:ln>
        </p:spPr>
        <p:style>
          <a:lnRef idx="0"/>
          <a:fillRef idx="0"/>
          <a:effectRef idx="0"/>
          <a:fontRef idx="minor"/>
        </p:style>
        <p:txBody>
          <a:bodyPr lIns="90000" tIns="45000" rIns="90000" bIns="45000" anchor="t">
            <a:spAutoFit/>
          </a:bodyPr>
          <a:p>
            <a:pPr marL="162000" indent="-162000" defTabSz="914400">
              <a:lnSpc>
                <a:spcPct val="100000"/>
              </a:lnSpc>
              <a:spcBef>
                <a:spcPts val="150"/>
              </a:spcBef>
              <a:buClr>
                <a:srgbClr val="000000"/>
              </a:buClr>
              <a:buSzPct val="45000"/>
              <a:buFont typeface="Wingdings" charset="2"/>
              <a:buChar char=""/>
              <a:tabLst>
                <a:tab pos="0" algn="l"/>
              </a:tabLst>
            </a:pPr>
            <a:r>
              <a:rPr lang="en-US" sz="1500" b="0" u="none" strike="noStrike">
                <a:solidFill>
                  <a:schemeClr val="dk1"/>
                </a:solidFill>
                <a:effectLst/>
                <a:uFillTx/>
                <a:latin typeface="Arial"/>
                <a:ea typeface="Microsoft YaHei"/>
              </a:rPr>
              <a:t>Loop guard can be enabled globally with </a:t>
            </a:r>
            <a:r>
              <a:rPr lang="en-US" sz="1500" b="1" u="none" strike="noStrike">
                <a:solidFill>
                  <a:schemeClr val="dk1"/>
                </a:solidFill>
                <a:effectLst/>
                <a:uFillTx/>
                <a:latin typeface="Arial"/>
                <a:ea typeface="Microsoft YaHei"/>
              </a:rPr>
              <a:t>spanning-tree loopguard default</a:t>
            </a:r>
            <a:r>
              <a:rPr lang="en-US" sz="1500" b="0" u="none" strike="noStrike">
                <a:solidFill>
                  <a:schemeClr val="dk1"/>
                </a:solidFill>
                <a:effectLst/>
                <a:uFillTx/>
                <a:latin typeface="Arial"/>
                <a:ea typeface="Microsoft YaHei"/>
              </a:rPr>
              <a:t> or on an individual interface with </a:t>
            </a:r>
            <a:r>
              <a:rPr lang="en-US" sz="1500" b="1" u="none" strike="noStrike">
                <a:solidFill>
                  <a:schemeClr val="dk1"/>
                </a:solidFill>
                <a:effectLst/>
                <a:uFillTx/>
                <a:latin typeface="Arial"/>
                <a:ea typeface="Microsoft YaHei"/>
              </a:rPr>
              <a:t>spanning-tree guard loop</a:t>
            </a:r>
            <a:r>
              <a:rPr lang="en-US" sz="1500" b="0" u="none" strike="noStrike">
                <a:solidFill>
                  <a:schemeClr val="dk1"/>
                </a:solidFill>
                <a:effectLst/>
                <a:uFillTx/>
                <a:latin typeface="Arial"/>
                <a:ea typeface="Microsoft YaHei"/>
              </a:rPr>
              <a:t> command.</a:t>
            </a:r>
            <a:endParaRPr lang="en-AU" sz="1500" b="0" u="none" strike="noStrike">
              <a:solidFill>
                <a:srgbClr val="000000"/>
              </a:solidFill>
              <a:effectLst/>
              <a:uFillTx/>
              <a:latin typeface="Arial"/>
            </a:endParaRPr>
          </a:p>
          <a:p>
            <a:pPr marL="162000" indent="-162000" defTabSz="914400">
              <a:lnSpc>
                <a:spcPct val="100000"/>
              </a:lnSpc>
              <a:spcBef>
                <a:spcPts val="150"/>
              </a:spcBef>
              <a:buClr>
                <a:srgbClr val="000000"/>
              </a:buClr>
              <a:buSzPct val="45000"/>
              <a:buFont typeface="Wingdings" charset="2"/>
              <a:buChar char=""/>
              <a:tabLst>
                <a:tab pos="0" algn="l"/>
              </a:tabLst>
            </a:pPr>
            <a:r>
              <a:rPr lang="en-US" sz="1500" b="0" u="none" strike="noStrike">
                <a:solidFill>
                  <a:schemeClr val="dk1"/>
                </a:solidFill>
                <a:effectLst/>
                <a:uFillTx/>
                <a:latin typeface="Arial"/>
                <a:ea typeface="Microsoft YaHei"/>
              </a:rPr>
              <a:t>In general enabling loop guard throughout the layer 2 switch network is best practice.</a:t>
            </a:r>
            <a:endParaRPr lang="en-AU" sz="1500" b="0" u="none" strike="noStrike">
              <a:solidFill>
                <a:srgbClr val="000000"/>
              </a:solidFill>
              <a:effectLst/>
              <a:uFillTx/>
              <a:latin typeface="Arial"/>
            </a:endParaRPr>
          </a:p>
          <a:p>
            <a:pPr marL="162000" indent="-162000" defTabSz="914400">
              <a:lnSpc>
                <a:spcPct val="100000"/>
              </a:lnSpc>
              <a:spcBef>
                <a:spcPts val="150"/>
              </a:spcBef>
              <a:buClr>
                <a:srgbClr val="000000"/>
              </a:buClr>
              <a:buSzPct val="45000"/>
              <a:buFont typeface="Wingdings" charset="2"/>
              <a:buChar char=""/>
              <a:tabLst>
                <a:tab pos="0" algn="l"/>
              </a:tabLst>
            </a:pPr>
            <a:r>
              <a:rPr lang="en-US" sz="1500" b="0" u="none" strike="noStrike">
                <a:solidFill>
                  <a:schemeClr val="dk1"/>
                </a:solidFill>
                <a:effectLst/>
                <a:uFillTx/>
                <a:latin typeface="Arial"/>
                <a:ea typeface="Microsoft YaHei"/>
              </a:rPr>
              <a:t>In our topology enabling loop guard on SW2’s Gi0/2 (RP) will prevent creating loops if no BPDU is received on that port due to unidirectional link or BPDU filter.</a:t>
            </a:r>
            <a:endParaRPr lang="en-AU" sz="15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000" b="0" u="none" strike="noStrike">
              <a:solidFill>
                <a:srgbClr val="000000"/>
              </a:solidFill>
              <a:effectLst/>
              <a:uFillTx/>
              <a:latin typeface="Arial"/>
            </a:endParaRPr>
          </a:p>
          <a:p>
            <a:pPr defTabSz="914400">
              <a:lnSpc>
                <a:spcPct val="100000"/>
              </a:lnSpc>
              <a:spcBef>
                <a:spcPts val="150"/>
              </a:spcBef>
              <a:tabLst>
                <a:tab pos="0" algn="l"/>
              </a:tabLst>
            </a:pPr>
            <a:endParaRPr lang="en-AU" sz="1000" b="0" u="none" strike="noStrike">
              <a:solidFill>
                <a:srgbClr val="000000"/>
              </a:solidFill>
              <a:effectLst/>
              <a:uFillTx/>
              <a:latin typeface="Arial"/>
            </a:endParaRPr>
          </a:p>
        </p:txBody>
      </p:sp>
      <p:graphicFrame>
        <p:nvGraphicFramePr>
          <p:cNvPr id="149" name=""/>
          <p:cNvGraphicFramePr/>
          <p:nvPr/>
        </p:nvGraphicFramePr>
        <p:xfrm>
          <a:off x="146160" y="3544560"/>
          <a:ext cx="3666600" cy="2209320"/>
        </p:xfrm>
        <a:graphic>
          <a:graphicData uri="http://schemas.openxmlformats.org/drawingml/2006/table">
            <a:tbl>
              <a:tblPr/>
              <a:tblGrid>
                <a:gridCol w="3666960"/>
              </a:tblGrid>
              <a:tr h="2058120">
                <a:tc>
                  <a:txBody>
                    <a:bodyPr lIns="36000" tIns="36000" rIns="36000" bIns="36000" anchor="t">
                      <a:noAutofit/>
                    </a:bodyPr>
                    <a:p>
                      <a:pPr>
                        <a:lnSpc>
                          <a:spcPct val="100000"/>
                        </a:lnSpc>
                      </a:pPr>
                      <a:r>
                        <a:rPr lang="en-US" sz="1000" b="0" u="none" strike="noStrike">
                          <a:solidFill>
                            <a:schemeClr val="dk1"/>
                          </a:solidFill>
                          <a:effectLst/>
                          <a:uFillTx/>
                          <a:latin typeface="Arial"/>
                          <a:ea typeface="Microsoft YaHei"/>
                        </a:rPr>
                        <a:t>SW2#</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uFillTx/>
                          <a:latin typeface="Arial"/>
                          <a:ea typeface="Microsoft YaHei"/>
                        </a:rPr>
                        <a:t>*</a:t>
                      </a:r>
                      <a:r>
                        <a:rPr lang="en-US" sz="1000" b="0" u="none" strike="noStrike">
                          <a:solidFill>
                            <a:schemeClr val="dk1"/>
                          </a:solidFill>
                          <a:effectLst/>
                          <a:highlight>
                            <a:srgbClr val="FFFF00"/>
                          </a:highlight>
                          <a:uFillTx/>
                          <a:latin typeface="Arial"/>
                          <a:ea typeface="Microsoft YaHei"/>
                        </a:rPr>
                        <a:t>Jul 29 18:51:29.743: %SPANTREE-2-LOOPGUARD_BLOCK: </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highlight>
                            <a:srgbClr val="FFFF00"/>
                          </a:highlight>
                          <a:uFillTx/>
                          <a:latin typeface="Arial"/>
                          <a:ea typeface="Microsoft YaHei"/>
                        </a:rPr>
                        <a:t>Loop guard GigabitEthernet0/2 on VLAN0001.</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uFillTx/>
                          <a:latin typeface="Arial"/>
                          <a:ea typeface="Microsoft YaHei"/>
                        </a:rPr>
                        <a:t>SW2#sh run int gi0/2</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uFillTx/>
                          <a:latin typeface="Arial"/>
                          <a:ea typeface="Microsoft YaHei"/>
                        </a:rPr>
                        <a:t>interface GigabitEthernet0/2</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uFillTx/>
                          <a:latin typeface="Arial"/>
                          <a:ea typeface="Microsoft YaHei"/>
                        </a:rPr>
                        <a:t> negotiation auto</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uFillTx/>
                          <a:latin typeface="Arial"/>
                          <a:ea typeface="Microsoft YaHei"/>
                        </a:rPr>
                        <a:t> spanning-tree bpdufilter enable</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uFillTx/>
                          <a:latin typeface="Arial"/>
                          <a:ea typeface="Microsoft YaHei"/>
                        </a:rPr>
                        <a:t> </a:t>
                      </a:r>
                      <a:r>
                        <a:rPr lang="en-US" sz="1000" b="0" u="none" strike="noStrike">
                          <a:solidFill>
                            <a:schemeClr val="dk1"/>
                          </a:solidFill>
                          <a:effectLst/>
                          <a:highlight>
                            <a:srgbClr val="FFFF00"/>
                          </a:highlight>
                          <a:uFillTx/>
                          <a:latin typeface="Arial"/>
                          <a:ea typeface="Microsoft YaHei"/>
                        </a:rPr>
                        <a:t>spanning-tree guard loop</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uFillTx/>
                          <a:latin typeface="Arial"/>
                          <a:ea typeface="Microsoft YaHei"/>
                        </a:rPr>
                        <a:t>SW2#sh spanning-tree</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uFillTx/>
                          <a:latin typeface="Arial"/>
                          <a:ea typeface="Microsoft YaHei"/>
                        </a:rPr>
                        <a:t>Interface           Role Sts Cost      Prio.Nbr Type</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uFillTx/>
                          <a:latin typeface="Arial"/>
                          <a:ea typeface="Microsoft YaHei"/>
                        </a:rPr>
                        <a:t>------------------- ---- --- --------- -------- -----------------</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uFillTx/>
                          <a:latin typeface="Arial"/>
                          <a:ea typeface="Microsoft YaHei"/>
                        </a:rPr>
                        <a:t>Gi0/0               Root FWD 4         128.1    P2p</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uFillTx/>
                          <a:latin typeface="Arial"/>
                          <a:ea typeface="Microsoft YaHei"/>
                        </a:rPr>
                        <a:t>Gi0/1               Desg FWD 4         128.2    P2p</a:t>
                      </a:r>
                      <a:endParaRPr lang="en-AU" sz="1000" b="0" u="none" strike="noStrike">
                        <a:solidFill>
                          <a:srgbClr val="000000"/>
                        </a:solidFill>
                        <a:effectLst/>
                        <a:uFillTx/>
                        <a:latin typeface="Arial"/>
                      </a:endParaRPr>
                    </a:p>
                    <a:p>
                      <a:pPr>
                        <a:lnSpc>
                          <a:spcPct val="100000"/>
                        </a:lnSpc>
                      </a:pPr>
                      <a:r>
                        <a:rPr lang="en-US" sz="1000" b="0" u="none" strike="noStrike">
                          <a:solidFill>
                            <a:schemeClr val="dk1"/>
                          </a:solidFill>
                          <a:effectLst/>
                          <a:highlight>
                            <a:srgbClr val="FFFF00"/>
                          </a:highlight>
                          <a:uFillTx/>
                          <a:latin typeface="Arial"/>
                          <a:ea typeface="Microsoft YaHei"/>
                        </a:rPr>
                        <a:t>Gi0/2               Root BKN*4         128.3    P2p *LOOP_Inc</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0" name="Rectangle 19">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4.STP Protection Mechanism</a:t>
            </a:r>
            <a:endParaRPr lang="en-AU" sz="2800" b="0" u="none" strike="noStrike">
              <a:solidFill>
                <a:srgbClr val="FFFFFF"/>
              </a:solidFill>
              <a:effectLst/>
              <a:uFillTx/>
              <a:latin typeface="Arial"/>
            </a:endParaRPr>
          </a:p>
        </p:txBody>
      </p:sp>
      <p:sp>
        <p:nvSpPr>
          <p:cNvPr id="151"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Unidirection Link Detection (UDLD): </a:t>
            </a:r>
            <a:r>
              <a:rPr lang="en-US" sz="1600" b="0" u="none" strike="noStrike">
                <a:solidFill>
                  <a:schemeClr val="dk1"/>
                </a:solidFill>
                <a:effectLst/>
                <a:uFillTx/>
                <a:latin typeface="Arial"/>
                <a:ea typeface="Microsoft YaHei"/>
              </a:rPr>
              <a:t>This is another solution to unidirectional link problem that monitors the fiber-optic cables.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UDLD should be enabled on both end of the link, which forms UDLD neighborship.</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UDLD neighbors send their System ID and port ID continuously to each other to verify if the link is bidirectional.</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It can operate in two modes:</a:t>
            </a: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Normal mode:</a:t>
            </a:r>
            <a:r>
              <a:rPr lang="en-US" sz="1600" b="0" u="none" strike="noStrike">
                <a:solidFill>
                  <a:schemeClr val="dk1"/>
                </a:solidFill>
                <a:effectLst/>
                <a:uFillTx/>
                <a:latin typeface="Arial"/>
                <a:ea typeface="Microsoft YaHei"/>
              </a:rPr>
              <a:t> If the frames are not acknowledged, link is considered undetermined and port remains active.</a:t>
            </a:r>
            <a:endParaRPr lang="en-US" sz="16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Aggressive mode:</a:t>
            </a:r>
            <a:r>
              <a:rPr lang="en-US" sz="1600" b="0" u="none" strike="noStrike">
                <a:solidFill>
                  <a:schemeClr val="dk1"/>
                </a:solidFill>
                <a:effectLst/>
                <a:uFillTx/>
                <a:latin typeface="Arial"/>
                <a:ea typeface="Microsoft YaHei"/>
              </a:rPr>
              <a:t> If frames are not acknowledged, it sends another 8 frames in 1 second interval. If those are not acknowledged as well then the port is place into error state.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UDLD can be enabled globally on any SFP ports with </a:t>
            </a:r>
            <a:r>
              <a:rPr lang="en-US" sz="1400" b="1" u="none" strike="noStrike">
                <a:solidFill>
                  <a:schemeClr val="dk1"/>
                </a:solidFill>
                <a:effectLst/>
                <a:uFillTx/>
                <a:latin typeface="Arial"/>
                <a:ea typeface="Microsoft YaHei"/>
              </a:rPr>
              <a:t>udld enable</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aggressive</a:t>
            </a:r>
            <a:r>
              <a:rPr lang="en-US" sz="1400" b="0"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command.</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It can be enabled on specific port (fibre or copper) with </a:t>
            </a:r>
            <a:r>
              <a:rPr lang="en-US" sz="1400" b="1" u="none" strike="noStrike">
                <a:solidFill>
                  <a:schemeClr val="dk1"/>
                </a:solidFill>
                <a:effectLst/>
                <a:uFillTx/>
                <a:latin typeface="Arial"/>
                <a:ea typeface="Microsoft YaHei"/>
              </a:rPr>
              <a:t>udld port </a:t>
            </a:r>
            <a:r>
              <a:rPr lang="en-US" sz="1400" b="0" u="none" strike="noStrike">
                <a:solidFill>
                  <a:schemeClr val="dk1"/>
                </a:solidFill>
                <a:effectLst/>
                <a:uFillTx/>
                <a:latin typeface="Arial"/>
                <a:ea typeface="Microsoft YaHei"/>
              </a:rPr>
              <a:t>[</a:t>
            </a:r>
            <a:r>
              <a:rPr lang="en-US" sz="1400" b="1" u="none" strike="noStrike">
                <a:solidFill>
                  <a:schemeClr val="dk1"/>
                </a:solidFill>
                <a:effectLst/>
                <a:uFillTx/>
                <a:latin typeface="Arial"/>
                <a:ea typeface="Microsoft YaHei"/>
              </a:rPr>
              <a:t>aggressive</a:t>
            </a:r>
            <a:r>
              <a:rPr lang="en-US" sz="1400" b="0" u="none" strike="noStrike">
                <a:solidFill>
                  <a:schemeClr val="dk1"/>
                </a:solidFill>
                <a:effectLst/>
                <a:uFillTx/>
                <a:latin typeface="Arial"/>
                <a:ea typeface="Microsoft YaHei"/>
              </a:rPr>
              <a:t>]</a:t>
            </a:r>
            <a:r>
              <a:rPr lang="en-US" sz="1600" b="0" u="none" strike="noStrike">
                <a:solidFill>
                  <a:schemeClr val="dk1"/>
                </a:solidFill>
                <a:effectLst/>
                <a:uFillTx/>
                <a:latin typeface="Arial"/>
                <a:ea typeface="Microsoft YaHei"/>
              </a:rPr>
              <a:t> and can be disabled on specific port with </a:t>
            </a:r>
            <a:r>
              <a:rPr lang="en-US" sz="1400" b="1" u="none" strike="noStrike">
                <a:solidFill>
                  <a:schemeClr val="dk1"/>
                </a:solidFill>
                <a:effectLst/>
                <a:uFillTx/>
                <a:latin typeface="Arial"/>
                <a:ea typeface="Microsoft YaHei"/>
              </a:rPr>
              <a:t>udld port disable</a:t>
            </a:r>
            <a:r>
              <a:rPr lang="en-US" sz="1600" b="0" u="none" strike="noStrike">
                <a:solidFill>
                  <a:schemeClr val="dk1"/>
                </a:solidFill>
                <a:effectLst/>
                <a:uFillTx/>
                <a:latin typeface="Arial"/>
                <a:ea typeface="Microsoft YaHei"/>
              </a:rPr>
              <a:t> command.</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UDLD recovery can be used with </a:t>
            </a:r>
            <a:r>
              <a:rPr lang="en-US" sz="1400" b="1" u="none" strike="noStrike">
                <a:solidFill>
                  <a:schemeClr val="dk1"/>
                </a:solidFill>
                <a:effectLst/>
                <a:uFillTx/>
                <a:latin typeface="Arial"/>
                <a:ea typeface="Microsoft YaHei"/>
              </a:rPr>
              <a:t>udld recovery </a:t>
            </a:r>
            <a:r>
              <a:rPr lang="en-US" sz="1400" b="0" u="none" strike="noStrike">
                <a:solidFill>
                  <a:schemeClr val="dk1"/>
                </a:solidFill>
                <a:effectLst/>
                <a:uFillTx/>
                <a:latin typeface="Arial"/>
                <a:ea typeface="Microsoft YaHei"/>
              </a:rPr>
              <a:t>[</a:t>
            </a:r>
            <a:r>
              <a:rPr lang="en-US" sz="1400" b="1" u="none" strike="noStrike">
                <a:solidFill>
                  <a:schemeClr val="dk1"/>
                </a:solidFill>
                <a:effectLst/>
                <a:uFillTx/>
                <a:latin typeface="Arial"/>
                <a:ea typeface="Microsoft YaHei"/>
              </a:rPr>
              <a:t>interval</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time-seconds</a:t>
            </a:r>
            <a:r>
              <a:rPr lang="en-US" sz="1400" b="0" u="none" strike="noStrike">
                <a:solidFill>
                  <a:schemeClr val="dk1"/>
                </a:solidFill>
                <a:effectLst/>
                <a:uFillTx/>
                <a:latin typeface="Arial"/>
                <a:ea typeface="Microsoft YaHei"/>
              </a:rPr>
              <a:t>]</a:t>
            </a:r>
            <a:r>
              <a:rPr lang="en-US" sz="1600" b="0" u="none" strike="noStrike">
                <a:solidFill>
                  <a:schemeClr val="dk1"/>
                </a:solidFill>
                <a:effectLst/>
                <a:uFillTx/>
                <a:latin typeface="Arial"/>
                <a:ea typeface="Microsoft YaHei"/>
              </a:rPr>
              <a:t> command.</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p:txBody>
      </p:sp>
      <p:sp>
        <p:nvSpPr>
          <p:cNvPr id="152"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53"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54" name=""/>
          <p:cNvSpPr/>
          <p:nvPr/>
        </p:nvSpPr>
        <p:spPr>
          <a:xfrm>
            <a:off x="0" y="900000"/>
            <a:ext cx="3779280" cy="1992960"/>
          </a:xfrm>
          <a:prstGeom prst="rect">
            <a:avLst/>
          </a:prstGeom>
          <a:noFill/>
          <a:ln w="0">
            <a:noFill/>
          </a:ln>
        </p:spPr>
        <p:style>
          <a:lnRef idx="0"/>
          <a:fillRef idx="0"/>
          <a:effectRef idx="0"/>
          <a:fontRef idx="minor"/>
        </p:style>
        <p:txBody>
          <a:bodyPr lIns="90000" tIns="45000" rIns="90000" bIns="45000" anchor="t">
            <a:spAutoFit/>
          </a:bodyPr>
          <a:p>
            <a:pPr marL="162000" indent="-162000" defTabSz="914400">
              <a:lnSpc>
                <a:spcPct val="100000"/>
              </a:lnSpc>
              <a:spcBef>
                <a:spcPts val="150"/>
              </a:spcBef>
              <a:buClr>
                <a:srgbClr val="000000"/>
              </a:buClr>
              <a:buSzPct val="45000"/>
              <a:buFont typeface="Wingdings" charset="2"/>
              <a:buChar char=""/>
              <a:tabLst>
                <a:tab pos="0" algn="l"/>
              </a:tabLst>
            </a:pPr>
            <a:r>
              <a:rPr lang="en-US" sz="1400" b="0" u="none" strike="noStrike">
                <a:solidFill>
                  <a:schemeClr val="dk1"/>
                </a:solidFill>
                <a:effectLst/>
                <a:uFillTx/>
                <a:latin typeface="Arial"/>
                <a:ea typeface="Microsoft YaHei"/>
              </a:rPr>
              <a:t>UDLD can be verified with </a:t>
            </a:r>
            <a:r>
              <a:rPr lang="en-US" sz="1400" b="1" u="none" strike="noStrike">
                <a:solidFill>
                  <a:schemeClr val="dk1"/>
                </a:solidFill>
                <a:effectLst/>
                <a:uFillTx/>
                <a:latin typeface="Arial"/>
                <a:ea typeface="Microsoft YaHei"/>
              </a:rPr>
              <a:t>show udld neighbors </a:t>
            </a:r>
            <a:endParaRPr lang="en-AU" sz="1400" b="0" u="none" strike="noStrike">
              <a:solidFill>
                <a:srgbClr val="000000"/>
              </a:solidFill>
              <a:effectLst/>
              <a:uFillTx/>
              <a:latin typeface="Arial"/>
            </a:endParaRPr>
          </a:p>
          <a:p>
            <a:pPr defTabSz="914400">
              <a:lnSpc>
                <a:spcPct val="100000"/>
              </a:lnSpc>
              <a:spcBef>
                <a:spcPts val="150"/>
              </a:spcBef>
              <a:tabLst>
                <a:tab pos="0" algn="l"/>
              </a:tabLst>
            </a:pPr>
            <a:r>
              <a:rPr lang="en-US" sz="1000" b="1" u="none" strike="noStrike">
                <a:solidFill>
                  <a:schemeClr val="dk1"/>
                </a:solidFill>
                <a:effectLst/>
                <a:uFillTx/>
                <a:latin typeface="Arial"/>
                <a:ea typeface="Microsoft YaHei"/>
              </a:rPr>
              <a:t>SW1#sh udld neighbors</a:t>
            </a:r>
            <a:endParaRPr lang="en-AU" sz="1000" b="0" u="none" strike="noStrike">
              <a:solidFill>
                <a:srgbClr val="000000"/>
              </a:solidFill>
              <a:effectLst/>
              <a:uFillTx/>
              <a:latin typeface="Arial"/>
            </a:endParaRPr>
          </a:p>
          <a:p>
            <a:pPr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Port     Device Name   Device ID     Port ID    Neighbor State</a:t>
            </a:r>
            <a:endParaRPr lang="en-AU" sz="1000" b="0" u="none" strike="noStrike">
              <a:solidFill>
                <a:srgbClr val="000000"/>
              </a:solidFill>
              <a:effectLst/>
              <a:uFillTx/>
              <a:latin typeface="Arial"/>
            </a:endParaRPr>
          </a:p>
          <a:p>
            <a:pPr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     -----------   ---------     -------    --------------</a:t>
            </a:r>
            <a:endParaRPr lang="en-AU" sz="1000" b="0" u="none" strike="noStrike">
              <a:solidFill>
                <a:srgbClr val="000000"/>
              </a:solidFill>
              <a:effectLst/>
              <a:uFillTx/>
              <a:latin typeface="Arial"/>
            </a:endParaRPr>
          </a:p>
          <a:p>
            <a:pPr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Gi0/2    90NEAGC8R3Z     1            Gi0/2      Bidirectional</a:t>
            </a:r>
            <a:endParaRPr lang="en-AU" sz="1000" b="0" u="none" strike="noStrike">
              <a:solidFill>
                <a:srgbClr val="000000"/>
              </a:solidFill>
              <a:effectLst/>
              <a:uFillTx/>
              <a:latin typeface="Arial"/>
            </a:endParaRPr>
          </a:p>
          <a:p>
            <a:pPr marL="162000" indent="-162000" defTabSz="914400">
              <a:lnSpc>
                <a:spcPct val="100000"/>
              </a:lnSpc>
              <a:spcBef>
                <a:spcPts val="150"/>
              </a:spcBef>
              <a:buClr>
                <a:srgbClr val="000000"/>
              </a:buClr>
              <a:buSzPct val="45000"/>
              <a:buFont typeface="Wingdings" charset="2"/>
              <a:buChar char=""/>
              <a:tabLst>
                <a:tab pos="0" algn="l"/>
              </a:tabLst>
            </a:pPr>
            <a:r>
              <a:rPr lang="en-US" sz="1400" b="0" u="none" strike="noStrike">
                <a:solidFill>
                  <a:schemeClr val="dk1"/>
                </a:solidFill>
                <a:effectLst/>
                <a:uFillTx/>
                <a:latin typeface="Arial"/>
                <a:ea typeface="Microsoft YaHei"/>
              </a:rPr>
              <a:t>More detailed info can be verifed with </a:t>
            </a:r>
            <a:r>
              <a:rPr lang="en-US" sz="1400" b="1" u="none" strike="noStrike">
                <a:solidFill>
                  <a:schemeClr val="dk1"/>
                </a:solidFill>
                <a:effectLst/>
                <a:uFillTx/>
                <a:latin typeface="Arial"/>
                <a:ea typeface="Microsoft YaHei"/>
              </a:rPr>
              <a:t>show udld</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interface-id</a:t>
            </a:r>
            <a:r>
              <a:rPr lang="en-US" sz="1400" b="0" u="none" strike="noStrike">
                <a:solidFill>
                  <a:schemeClr val="dk1"/>
                </a:solidFill>
                <a:effectLst/>
                <a:uFillTx/>
                <a:latin typeface="Arial"/>
                <a:ea typeface="Microsoft YaHei"/>
              </a:rPr>
              <a:t> command</a:t>
            </a:r>
            <a:endParaRPr lang="en-AU" sz="14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000" b="0" u="none" strike="noStrike">
              <a:solidFill>
                <a:srgbClr val="000000"/>
              </a:solidFill>
              <a:effectLst/>
              <a:uFillTx/>
              <a:latin typeface="Arial"/>
            </a:endParaRPr>
          </a:p>
          <a:p>
            <a:pPr defTabSz="914400">
              <a:lnSpc>
                <a:spcPct val="100000"/>
              </a:lnSpc>
              <a:spcBef>
                <a:spcPts val="150"/>
              </a:spcBef>
              <a:tabLst>
                <a:tab pos="0" algn="l"/>
              </a:tabLst>
            </a:pPr>
            <a:endParaRPr lang="en-AU" sz="1000" b="0" u="none" strike="noStrike">
              <a:solidFill>
                <a:srgbClr val="000000"/>
              </a:solidFill>
              <a:effectLst/>
              <a:uFillTx/>
              <a:latin typeface="Arial"/>
            </a:endParaRPr>
          </a:p>
        </p:txBody>
      </p:sp>
      <p:pic>
        <p:nvPicPr>
          <p:cNvPr id="155" name=""/>
          <p:cNvPicPr/>
          <p:nvPr/>
        </p:nvPicPr>
        <p:blipFill>
          <a:blip r:embed="rId1"/>
          <a:stretch/>
        </p:blipFill>
        <p:spPr>
          <a:xfrm>
            <a:off x="148680" y="2552760"/>
            <a:ext cx="3697200" cy="302688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6" name="Rectangle 21">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4.MST</a:t>
            </a:r>
            <a:endParaRPr lang="en-AU" sz="2800" b="0" u="none" strike="noStrike">
              <a:solidFill>
                <a:srgbClr val="FFFFFF"/>
              </a:solidFill>
              <a:effectLst/>
              <a:uFillTx/>
              <a:latin typeface="Arial"/>
            </a:endParaRPr>
          </a:p>
        </p:txBody>
      </p:sp>
      <p:sp>
        <p:nvSpPr>
          <p:cNvPr id="157"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Multiple Spanning Tree (MST): </a:t>
            </a:r>
            <a:r>
              <a:rPr lang="en-US" sz="1600" b="0" u="none" strike="noStrike">
                <a:solidFill>
                  <a:schemeClr val="dk1"/>
                </a:solidFill>
                <a:effectLst/>
                <a:uFillTx/>
                <a:latin typeface="Arial"/>
                <a:ea typeface="Microsoft YaHei"/>
              </a:rPr>
              <a:t>With PVST, PVST+ and RSTP, load sharing can be done by blocking alternate ports in alternate or different VLANs and root bridge can be placed in different switch per VLAN.</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But with 802.1D load sharing was not possible as it used single STP topology for all VLANs known as Common Spanning Tree (CST).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With per VLAN based STP, switches must process large amount of STP BPDUs proportional to the number of VLANs. Convergence due to large trunk link failure forces switches to recompute STP topology for large number of VLANs.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MST provides a blended approach by mapping one or more VLANs in to single spanning tree instances called Multiple Spanning Tree Intstance (MSTI).</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As shown in the figure, VLANs 1 &amp; 2 are mapped to Instance 1, VLAN 3 is mapped to Instance 2 and VLAN 4 is mapped to Instance 3.</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Adding more VLANs can be mapped to one of these instances.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p:txBody>
      </p:sp>
      <p:sp>
        <p:nvSpPr>
          <p:cNvPr id="158"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59"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60" name=""/>
          <p:cNvSpPr/>
          <p:nvPr/>
        </p:nvSpPr>
        <p:spPr>
          <a:xfrm>
            <a:off x="720" y="2196000"/>
            <a:ext cx="3779280" cy="19965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50"/>
              </a:spcBef>
              <a:tabLst>
                <a:tab pos="0" algn="l"/>
              </a:tabLst>
            </a:pPr>
            <a:r>
              <a:rPr lang="en-US" sz="1600" b="1" u="none" strike="noStrike">
                <a:solidFill>
                  <a:schemeClr val="dk1"/>
                </a:solidFill>
                <a:effectLst/>
                <a:uFillTx/>
                <a:latin typeface="Arial"/>
                <a:ea typeface="Microsoft YaHei"/>
              </a:rPr>
              <a:t>MST Region</a:t>
            </a:r>
            <a:endParaRPr lang="en-AU" sz="1600" b="0" u="none" strike="noStrike">
              <a:solidFill>
                <a:srgbClr val="000000"/>
              </a:solidFill>
              <a:effectLst/>
              <a:uFillTx/>
              <a:latin typeface="Arial"/>
            </a:endParaRPr>
          </a:p>
          <a:p>
            <a:pPr defTabSz="914400">
              <a:lnSpc>
                <a:spcPct val="100000"/>
              </a:lnSpc>
              <a:spcBef>
                <a:spcPts val="150"/>
              </a:spcBef>
              <a:tabLst>
                <a:tab pos="0" algn="l"/>
              </a:tabLst>
            </a:pPr>
            <a:r>
              <a:rPr lang="en-US" sz="1400" b="0" u="none" strike="noStrike">
                <a:solidFill>
                  <a:schemeClr val="dk1"/>
                </a:solidFill>
                <a:effectLst/>
                <a:uFillTx/>
                <a:latin typeface="Arial"/>
                <a:ea typeface="Microsoft YaHei"/>
              </a:rPr>
              <a:t>Grouping two or more switches that has same high level STP configuration is known as MST region.</a:t>
            </a:r>
            <a:endParaRPr lang="en-AU" sz="1400" b="0" u="none" strike="noStrike">
              <a:solidFill>
                <a:srgbClr val="000000"/>
              </a:solidFill>
              <a:effectLst/>
              <a:uFillTx/>
              <a:latin typeface="Arial"/>
            </a:endParaRPr>
          </a:p>
          <a:p>
            <a:pPr defTabSz="914400">
              <a:lnSpc>
                <a:spcPct val="100000"/>
              </a:lnSpc>
              <a:spcBef>
                <a:spcPts val="150"/>
              </a:spcBef>
              <a:tabLst>
                <a:tab pos="0" algn="l"/>
              </a:tabLst>
            </a:pPr>
            <a:r>
              <a:rPr lang="en-US" sz="1400" b="0" u="none" strike="noStrike">
                <a:solidFill>
                  <a:schemeClr val="dk1"/>
                </a:solidFill>
                <a:effectLst/>
                <a:uFillTx/>
                <a:latin typeface="Arial"/>
                <a:ea typeface="Microsoft YaHei"/>
              </a:rPr>
              <a:t>MST incorporates a mechanism that makes MST region appear as a single virtual switch to other switches outside the MST region.</a:t>
            </a:r>
            <a:endParaRPr lang="en-AU" sz="14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000" b="0" u="none" strike="noStrike">
              <a:solidFill>
                <a:srgbClr val="000000"/>
              </a:solidFill>
              <a:effectLst/>
              <a:uFillTx/>
              <a:latin typeface="Arial"/>
            </a:endParaRPr>
          </a:p>
          <a:p>
            <a:pPr defTabSz="914400">
              <a:lnSpc>
                <a:spcPct val="100000"/>
              </a:lnSpc>
              <a:spcBef>
                <a:spcPts val="150"/>
              </a:spcBef>
              <a:tabLst>
                <a:tab pos="0" algn="l"/>
              </a:tabLst>
            </a:pPr>
            <a:endParaRPr lang="en-AU" sz="1000" b="0" u="none" strike="noStrike">
              <a:solidFill>
                <a:srgbClr val="000000"/>
              </a:solidFill>
              <a:effectLst/>
              <a:uFillTx/>
              <a:latin typeface="Arial"/>
            </a:endParaRPr>
          </a:p>
        </p:txBody>
      </p:sp>
      <p:pic>
        <p:nvPicPr>
          <p:cNvPr id="161" name=""/>
          <p:cNvPicPr/>
          <p:nvPr/>
        </p:nvPicPr>
        <p:blipFill>
          <a:blip r:embed="rId1"/>
          <a:stretch/>
        </p:blipFill>
        <p:spPr>
          <a:xfrm>
            <a:off x="72000" y="936000"/>
            <a:ext cx="3600000" cy="1260000"/>
          </a:xfrm>
          <a:prstGeom prst="rect">
            <a:avLst/>
          </a:prstGeom>
          <a:noFill/>
          <a:ln w="0">
            <a:noFill/>
          </a:ln>
        </p:spPr>
      </p:pic>
      <p:pic>
        <p:nvPicPr>
          <p:cNvPr id="162" name=""/>
          <p:cNvPicPr/>
          <p:nvPr/>
        </p:nvPicPr>
        <p:blipFill>
          <a:blip r:embed="rId2"/>
          <a:stretch/>
        </p:blipFill>
        <p:spPr>
          <a:xfrm>
            <a:off x="162360" y="3961800"/>
            <a:ext cx="3257640" cy="161820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3" name="Rectangle 22">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4.MST</a:t>
            </a:r>
            <a:endParaRPr lang="en-AU" sz="2800" b="0" u="none" strike="noStrike">
              <a:solidFill>
                <a:srgbClr val="FFFFFF"/>
              </a:solidFill>
              <a:effectLst/>
              <a:uFillTx/>
              <a:latin typeface="Arial"/>
            </a:endParaRPr>
          </a:p>
        </p:txBody>
      </p:sp>
      <p:sp>
        <p:nvSpPr>
          <p:cNvPr id="164"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MST Instances (MSTI): </a:t>
            </a:r>
            <a:r>
              <a:rPr lang="en-US" sz="1600" b="0" u="none" strike="noStrike">
                <a:solidFill>
                  <a:schemeClr val="dk1"/>
                </a:solidFill>
                <a:effectLst/>
                <a:uFillTx/>
                <a:latin typeface="Arial"/>
                <a:ea typeface="Microsoft YaHei"/>
              </a:rPr>
              <a:t>Each switch in MST runs a special instance 0 known as Internal Spanning Tree (IST).</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IST runs on all switch interfaces in MST region regardless of the VLANs associated to the ports.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To minimize the number of BPDUs, information about other MSTIs is nested in the IST BPDUs and transmitted throughout the MST region.</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Cisco supports upto 16 MSTIs by default, Instance 0 is known as IST and instances from 1 to 15 can be used for other MST instances.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MST Configuration Steps:</a:t>
            </a:r>
            <a:endParaRPr lang="en-US" sz="1600" b="0" u="none" strike="noStrike">
              <a:solidFill>
                <a:schemeClr val="dk1"/>
              </a:solidFill>
              <a:effectLst/>
              <a:uFillTx/>
              <a:latin typeface="Aptos"/>
            </a:endParaRPr>
          </a:p>
          <a:p>
            <a:pPr marL="216000" indent="-216000" algn="l" defTabSz="914400">
              <a:lnSpc>
                <a:spcPct val="100000"/>
              </a:lnSpc>
              <a:spcBef>
                <a:spcPts val="434"/>
              </a:spcBef>
              <a:spcAft>
                <a:spcPts val="283"/>
              </a:spcAft>
              <a:buClr>
                <a:srgbClr val="000000"/>
              </a:buClr>
              <a:buFont typeface="Arial"/>
              <a:buAutoNum type="arabicPeriod"/>
              <a:tabLst>
                <a:tab pos="0" algn="l"/>
              </a:tabLst>
            </a:pPr>
            <a:r>
              <a:rPr lang="en-US" sz="1600" b="0" u="none" strike="noStrike">
                <a:solidFill>
                  <a:schemeClr val="dk1"/>
                </a:solidFill>
                <a:effectLst/>
                <a:uFillTx/>
                <a:latin typeface="Arial"/>
                <a:ea typeface="Microsoft YaHei"/>
              </a:rPr>
              <a:t>Define MST as spanning tree protocol with command </a:t>
            </a:r>
            <a:r>
              <a:rPr lang="en-US" sz="1400" b="1" u="none" strike="noStrike">
                <a:solidFill>
                  <a:schemeClr val="dk1"/>
                </a:solidFill>
                <a:effectLst/>
                <a:uFillTx/>
                <a:latin typeface="Arial"/>
                <a:ea typeface="Microsoft YaHei"/>
              </a:rPr>
              <a:t>spanning-tree mode mst</a:t>
            </a:r>
            <a:r>
              <a:rPr lang="en-US" sz="1400" b="0" u="none" strike="noStrike">
                <a:solidFill>
                  <a:schemeClr val="dk1"/>
                </a:solidFill>
                <a:effectLst/>
                <a:uFillTx/>
                <a:latin typeface="Arial"/>
                <a:ea typeface="Microsoft YaHei"/>
              </a:rPr>
              <a:t>.</a:t>
            </a:r>
            <a:endParaRPr lang="en-US" sz="1400" b="0" u="none" strike="noStrike">
              <a:solidFill>
                <a:schemeClr val="dk1"/>
              </a:solidFill>
              <a:effectLst/>
              <a:uFillTx/>
              <a:latin typeface="Aptos"/>
            </a:endParaRPr>
          </a:p>
          <a:p>
            <a:pPr marL="216000" indent="-216000" algn="l" defTabSz="914400">
              <a:lnSpc>
                <a:spcPct val="100000"/>
              </a:lnSpc>
              <a:spcBef>
                <a:spcPts val="434"/>
              </a:spcBef>
              <a:spcAft>
                <a:spcPts val="283"/>
              </a:spcAft>
              <a:buClr>
                <a:srgbClr val="000000"/>
              </a:buClr>
              <a:buFont typeface="Arial"/>
              <a:buAutoNum type="arabicPeriod"/>
              <a:tabLst>
                <a:tab pos="0" algn="l"/>
              </a:tabLst>
            </a:pPr>
            <a:r>
              <a:rPr lang="en-US" sz="1400" b="0"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(Optional) Define MST instance priority (root placement) with either of the following methods:</a:t>
            </a:r>
            <a:endParaRPr lang="en-US" sz="1600" b="0" u="none" strike="noStrike">
              <a:solidFill>
                <a:schemeClr val="dk1"/>
              </a:solidFill>
              <a:effectLst/>
              <a:uFillTx/>
              <a:latin typeface="Aptos"/>
            </a:endParaRPr>
          </a:p>
          <a:p>
            <a:pPr marL="360000" algn="l" defTabSz="914400">
              <a:lnSpc>
                <a:spcPct val="100000"/>
              </a:lnSpc>
              <a:spcBef>
                <a:spcPts val="434"/>
              </a:spcBef>
              <a:spcAft>
                <a:spcPts val="283"/>
              </a:spcAft>
              <a:buClr>
                <a:srgbClr val="000000"/>
              </a:buClr>
              <a:buSzPct val="45000"/>
              <a:buFont typeface="Wingdings" charset="2"/>
              <a:buChar char=""/>
              <a:tabLst>
                <a:tab pos="0" algn="l"/>
              </a:tabLst>
            </a:pPr>
            <a:r>
              <a:rPr lang="en-US" sz="1400" b="1" u="none" strike="noStrike">
                <a:solidFill>
                  <a:schemeClr val="dk1"/>
                </a:solidFill>
                <a:effectLst/>
                <a:uFillTx/>
                <a:latin typeface="Arial"/>
                <a:ea typeface="Microsoft YaHei"/>
              </a:rPr>
              <a:t>spanning-tree mst</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instance number</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priority</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priority</a:t>
            </a:r>
            <a:endParaRPr lang="en-US" sz="14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400" b="0" u="none" strike="noStrike">
                <a:solidFill>
                  <a:schemeClr val="dk1"/>
                </a:solidFill>
                <a:effectLst/>
                <a:uFillTx/>
                <a:latin typeface="Arial"/>
                <a:ea typeface="Microsoft YaHei"/>
              </a:rPr>
              <a:t>Priority range from 0 to 61,440, in increment of 4096.</a:t>
            </a:r>
            <a:endParaRPr lang="en-US" sz="1400" b="0" u="none" strike="noStrike">
              <a:solidFill>
                <a:schemeClr val="dk1"/>
              </a:solidFill>
              <a:effectLst/>
              <a:uFillTx/>
              <a:latin typeface="Aptos"/>
            </a:endParaRPr>
          </a:p>
          <a:p>
            <a:pPr marL="360000" algn="l" defTabSz="914400">
              <a:lnSpc>
                <a:spcPct val="100000"/>
              </a:lnSpc>
              <a:spcBef>
                <a:spcPts val="434"/>
              </a:spcBef>
              <a:spcAft>
                <a:spcPts val="283"/>
              </a:spcAft>
              <a:buClr>
                <a:srgbClr val="000000"/>
              </a:buClr>
              <a:buSzPct val="45000"/>
              <a:buFont typeface="Wingdings" charset="2"/>
              <a:buChar char=""/>
              <a:tabLst>
                <a:tab pos="0" algn="l"/>
              </a:tabLst>
            </a:pPr>
            <a:r>
              <a:rPr lang="en-US" sz="1400" b="1" u="none" strike="noStrike">
                <a:solidFill>
                  <a:schemeClr val="dk1"/>
                </a:solidFill>
                <a:effectLst/>
                <a:uFillTx/>
                <a:latin typeface="Arial"/>
                <a:ea typeface="Microsoft YaHei"/>
              </a:rPr>
              <a:t>spanning-tree mst</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instance number</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root</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primary</a:t>
            </a:r>
            <a:r>
              <a:rPr lang="en-US" sz="1400" b="0" u="none" strike="noStrike">
                <a:solidFill>
                  <a:schemeClr val="dk1"/>
                </a:solidFill>
                <a:effectLst/>
                <a:uFillTx/>
                <a:latin typeface="Arial"/>
                <a:ea typeface="Microsoft YaHei"/>
              </a:rPr>
              <a:t> | </a:t>
            </a:r>
            <a:r>
              <a:rPr lang="en-US" sz="1400" b="1" u="none" strike="noStrike">
                <a:solidFill>
                  <a:schemeClr val="dk1"/>
                </a:solidFill>
                <a:effectLst/>
                <a:uFillTx/>
                <a:latin typeface="Arial"/>
                <a:ea typeface="Microsoft YaHei"/>
              </a:rPr>
              <a:t>secondary</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diameter</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diameter</a:t>
            </a:r>
            <a:r>
              <a:rPr lang="en-US" sz="1400" b="0" u="none" strike="noStrike">
                <a:solidFill>
                  <a:schemeClr val="dk1"/>
                </a:solidFill>
                <a:effectLst/>
                <a:uFillTx/>
                <a:latin typeface="Arial"/>
                <a:ea typeface="Microsoft YaHei"/>
              </a:rPr>
              <a:t>] </a:t>
            </a:r>
            <a:endParaRPr lang="en-US" sz="1400" b="0" u="none" strike="noStrike">
              <a:solidFill>
                <a:schemeClr val="dk1"/>
              </a:solidFill>
              <a:effectLst/>
              <a:uFillTx/>
              <a:latin typeface="Aptos"/>
            </a:endParaRPr>
          </a:p>
          <a:p>
            <a:pPr marL="216000" indent="0" algn="l" defTabSz="914400">
              <a:lnSpc>
                <a:spcPct val="100000"/>
              </a:lnSpc>
              <a:spcBef>
                <a:spcPts val="434"/>
              </a:spcBef>
              <a:spcAft>
                <a:spcPts val="283"/>
              </a:spcAft>
              <a:buNone/>
              <a:tabLst>
                <a:tab pos="0" algn="l"/>
              </a:tabLst>
            </a:pPr>
            <a:endParaRPr lang="en-US" sz="1400" b="0" u="none" strike="noStrike">
              <a:solidFill>
                <a:schemeClr val="dk1"/>
              </a:solidFill>
              <a:effectLst/>
              <a:uFillTx/>
              <a:latin typeface="Aptos"/>
            </a:endParaRPr>
          </a:p>
          <a:p>
            <a:pPr marL="216000" indent="0" algn="l" defTabSz="914400">
              <a:lnSpc>
                <a:spcPct val="100000"/>
              </a:lnSpc>
              <a:spcBef>
                <a:spcPts val="434"/>
              </a:spcBef>
              <a:spcAft>
                <a:spcPts val="283"/>
              </a:spcAft>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p:txBody>
      </p:sp>
      <p:sp>
        <p:nvSpPr>
          <p:cNvPr id="165"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66"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67" name=""/>
          <p:cNvSpPr/>
          <p:nvPr/>
        </p:nvSpPr>
        <p:spPr>
          <a:xfrm>
            <a:off x="720" y="936000"/>
            <a:ext cx="3779280" cy="4542840"/>
          </a:xfrm>
          <a:prstGeom prst="rect">
            <a:avLst/>
          </a:prstGeom>
          <a:noFill/>
          <a:ln w="0">
            <a:noFill/>
          </a:ln>
        </p:spPr>
        <p:style>
          <a:lnRef idx="0"/>
          <a:fillRef idx="0"/>
          <a:effectRef idx="0"/>
          <a:fontRef idx="minor"/>
        </p:style>
        <p:txBody>
          <a:bodyPr lIns="90000" tIns="45000" rIns="90000" bIns="45000" anchor="t">
            <a:spAutoFit/>
          </a:bodyPr>
          <a:p>
            <a:pPr marL="216000" indent="-216000" defTabSz="914400">
              <a:lnSpc>
                <a:spcPct val="100000"/>
              </a:lnSpc>
              <a:spcBef>
                <a:spcPts val="150"/>
              </a:spcBef>
              <a:buClr>
                <a:srgbClr val="000000"/>
              </a:buClr>
              <a:buFont typeface="Wingdings" charset="2"/>
              <a:buAutoNum type="arabicPeriod" startAt="3"/>
              <a:tabLst>
                <a:tab pos="0" algn="l"/>
              </a:tabLst>
            </a:pPr>
            <a:r>
              <a:rPr lang="en-US" sz="1600" b="0" u="none" strike="noStrike">
                <a:solidFill>
                  <a:schemeClr val="dk1"/>
                </a:solidFill>
                <a:effectLst/>
                <a:uFillTx/>
                <a:latin typeface="Arial"/>
                <a:ea typeface="Microsoft YaHei"/>
              </a:rPr>
              <a:t>Associate vlans to MST Instance by entering MST configuration submode with command </a:t>
            </a:r>
            <a:r>
              <a:rPr lang="en-US" sz="1400" b="1" u="none" strike="noStrike">
                <a:solidFill>
                  <a:schemeClr val="dk1"/>
                </a:solidFill>
                <a:effectLst/>
                <a:uFillTx/>
                <a:latin typeface="Arial"/>
                <a:ea typeface="Microsoft YaHei"/>
              </a:rPr>
              <a:t>spanning-tree mst configuration</a:t>
            </a:r>
            <a:r>
              <a:rPr lang="en-US" sz="1400" b="0"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Under configuration submode, assign vlans to MSTI with command </a:t>
            </a:r>
            <a:r>
              <a:rPr lang="en-US" sz="1400" b="1" u="none" strike="noStrike">
                <a:solidFill>
                  <a:schemeClr val="dk1"/>
                </a:solidFill>
                <a:effectLst/>
                <a:uFillTx/>
                <a:latin typeface="Arial"/>
                <a:ea typeface="Microsoft YaHei"/>
              </a:rPr>
              <a:t>instance</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instance-number</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vlan</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vlan-id</a:t>
            </a:r>
            <a:r>
              <a:rPr lang="en-US" sz="1400" b="0" u="none" strike="noStrike">
                <a:solidFill>
                  <a:schemeClr val="dk1"/>
                </a:solidFill>
                <a:effectLst/>
                <a:uFillTx/>
                <a:latin typeface="Arial"/>
                <a:ea typeface="Microsoft YaHei"/>
              </a:rPr>
              <a:t>.</a:t>
            </a:r>
            <a:endParaRPr lang="en-AU" sz="1400" b="0" u="none" strike="noStrike">
              <a:solidFill>
                <a:srgbClr val="000000"/>
              </a:solidFill>
              <a:effectLst/>
              <a:uFillTx/>
              <a:latin typeface="Arial"/>
            </a:endParaRPr>
          </a:p>
          <a:p>
            <a:pPr marL="216000" indent="-216000" defTabSz="914400">
              <a:lnSpc>
                <a:spcPct val="100000"/>
              </a:lnSpc>
              <a:spcBef>
                <a:spcPts val="150"/>
              </a:spcBef>
              <a:buClr>
                <a:srgbClr val="000000"/>
              </a:buClr>
              <a:buFont typeface="Wingdings" charset="2"/>
              <a:buAutoNum type="arabicPeriod" startAt="3"/>
              <a:tabLst>
                <a:tab pos="0" algn="l"/>
              </a:tabLst>
            </a:pPr>
            <a:r>
              <a:rPr lang="en-US" sz="1600" b="0" u="none" strike="noStrike">
                <a:solidFill>
                  <a:schemeClr val="dk1"/>
                </a:solidFill>
                <a:effectLst/>
                <a:uFillTx/>
                <a:latin typeface="Arial"/>
                <a:ea typeface="Microsoft YaHei"/>
              </a:rPr>
              <a:t>MST version number must match on all switches in same MST region. Specify MST version number under configuration submode with command </a:t>
            </a:r>
            <a:r>
              <a:rPr lang="en-US" sz="1400" b="1" u="none" strike="noStrike">
                <a:solidFill>
                  <a:schemeClr val="dk1"/>
                </a:solidFill>
                <a:effectLst/>
                <a:uFillTx/>
                <a:latin typeface="Arial"/>
                <a:ea typeface="Microsoft YaHei"/>
              </a:rPr>
              <a:t>revision</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version</a:t>
            </a:r>
            <a:r>
              <a:rPr lang="en-US" sz="1600" b="0" u="none" strike="noStrike">
                <a:solidFill>
                  <a:schemeClr val="dk1"/>
                </a:solidFill>
                <a:effectLst/>
                <a:uFillTx/>
                <a:latin typeface="Arial"/>
                <a:ea typeface="Microsoft YaHei"/>
              </a:rPr>
              <a:t>.</a:t>
            </a:r>
            <a:endParaRPr lang="en-AU" sz="1600" b="0" u="none" strike="noStrike">
              <a:solidFill>
                <a:srgbClr val="000000"/>
              </a:solidFill>
              <a:effectLst/>
              <a:uFillTx/>
              <a:latin typeface="Arial"/>
            </a:endParaRPr>
          </a:p>
          <a:p>
            <a:pPr marL="216000" indent="-216000" defTabSz="914400">
              <a:lnSpc>
                <a:spcPct val="100000"/>
              </a:lnSpc>
              <a:spcBef>
                <a:spcPts val="150"/>
              </a:spcBef>
              <a:buClr>
                <a:srgbClr val="000000"/>
              </a:buClr>
              <a:buFont typeface="Wingdings" charset="2"/>
              <a:buAutoNum type="arabicPeriod" startAt="3"/>
              <a:tabLst>
                <a:tab pos="0" algn="l"/>
              </a:tabLst>
            </a:pPr>
            <a:r>
              <a:rPr lang="en-US" sz="1600" b="0" u="none" strike="noStrike">
                <a:solidFill>
                  <a:schemeClr val="dk1"/>
                </a:solidFill>
                <a:effectLst/>
                <a:uFillTx/>
                <a:latin typeface="Arial"/>
                <a:ea typeface="Microsoft YaHei"/>
              </a:rPr>
              <a:t>(Optional) define MST region name under configuration submode with command </a:t>
            </a:r>
            <a:r>
              <a:rPr lang="en-US" sz="1400" b="1" u="none" strike="noStrike">
                <a:solidFill>
                  <a:schemeClr val="dk1"/>
                </a:solidFill>
                <a:effectLst/>
                <a:uFillTx/>
                <a:latin typeface="Arial"/>
                <a:ea typeface="Microsoft YaHei"/>
              </a:rPr>
              <a:t>name</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mst-region-name</a:t>
            </a:r>
            <a:r>
              <a:rPr lang="en-US" sz="1400" b="0" u="none" strike="noStrike">
                <a:solidFill>
                  <a:schemeClr val="dk1"/>
                </a:solidFill>
                <a:effectLst/>
                <a:uFillTx/>
                <a:latin typeface="Arial"/>
                <a:ea typeface="Microsoft YaHei"/>
              </a:rPr>
              <a:t>.</a:t>
            </a:r>
            <a:endParaRPr lang="en-AU" sz="1400" b="0" u="none" strike="noStrike">
              <a:solidFill>
                <a:srgbClr val="000000"/>
              </a:solidFill>
              <a:effectLst/>
              <a:uFillTx/>
              <a:latin typeface="Arial"/>
            </a:endParaRPr>
          </a:p>
          <a:p>
            <a:pPr marL="216000" indent="-216000" defTabSz="914400">
              <a:lnSpc>
                <a:spcPct val="100000"/>
              </a:lnSpc>
              <a:spcBef>
                <a:spcPts val="150"/>
              </a:spcBef>
              <a:buClr>
                <a:srgbClr val="000000"/>
              </a:buClr>
              <a:buFont typeface="Wingdings" charset="2"/>
              <a:buAutoNum type="arabicPeriod" startAt="3"/>
              <a:tabLst>
                <a:tab pos="0" algn="l"/>
              </a:tabLst>
            </a:pPr>
            <a:r>
              <a:rPr lang="en-US" sz="1400" b="0" u="none" strike="noStrike">
                <a:solidFill>
                  <a:schemeClr val="dk1"/>
                </a:solidFill>
                <a:effectLst/>
                <a:uFillTx/>
                <a:latin typeface="Arial"/>
                <a:ea typeface="Microsoft YaHei"/>
              </a:rPr>
              <a:t>By default MST region name is an empty string.</a:t>
            </a:r>
            <a:endParaRPr lang="en-AU" sz="14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000" b="0" u="none" strike="noStrike">
              <a:solidFill>
                <a:srgbClr val="000000"/>
              </a:solidFill>
              <a:effectLst/>
              <a:uFillTx/>
              <a:latin typeface="Arial"/>
            </a:endParaRPr>
          </a:p>
          <a:p>
            <a:pPr defTabSz="914400">
              <a:lnSpc>
                <a:spcPct val="100000"/>
              </a:lnSpc>
              <a:spcBef>
                <a:spcPts val="150"/>
              </a:spcBef>
              <a:tabLst>
                <a:tab pos="0" algn="l"/>
              </a:tabLst>
            </a:pPr>
            <a:endParaRPr lang="en-AU"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8" name="Rectangle 23">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4.MST</a:t>
            </a:r>
            <a:endParaRPr lang="en-AU" sz="2800" b="0" u="none" strike="noStrike">
              <a:solidFill>
                <a:srgbClr val="FFFFFF"/>
              </a:solidFill>
              <a:effectLst/>
              <a:uFillTx/>
              <a:latin typeface="Arial"/>
            </a:endParaRPr>
          </a:p>
        </p:txBody>
      </p:sp>
      <p:sp>
        <p:nvSpPr>
          <p:cNvPr id="169"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PVST+ and MST Traffic comparison: </a:t>
            </a:r>
            <a:r>
              <a:rPr lang="en-US" sz="1600" b="0" u="none" strike="noStrike">
                <a:solidFill>
                  <a:schemeClr val="dk1"/>
                </a:solidFill>
                <a:effectLst/>
                <a:uFillTx/>
                <a:latin typeface="Arial"/>
                <a:ea typeface="Microsoft YaHei"/>
              </a:rPr>
              <a:t>Three switch topology with 105 total vlans. In first figure, about 105 (1 per vlan) packets/BPDUs every 2 seconds are transmitted. Whereas, in the second figure, MST generates 1 single instance 0 BPDU for all 105 vlans per 2 seconds. </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MST configuration Example:</a:t>
            </a: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SW1(config)#spanning-tree mode mst</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SW1(config)#spanning-tree mst configuration</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SW1(config-mst)#instance 1 vlan 1-50</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SW1(config-mst)#instance 2 vlan 51-100</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SW1(config-mst)#revision 1</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SW1(config-mst)#name main-region</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SW1(config-mst)#exit</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SW1(config)#spanning-tree mst 1 root primary</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SW1(config)#spanning-tree mst 2 root secondary</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p:txBody>
      </p:sp>
      <p:sp>
        <p:nvSpPr>
          <p:cNvPr id="170"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71"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72" name=""/>
          <p:cNvSpPr/>
          <p:nvPr/>
        </p:nvSpPr>
        <p:spPr>
          <a:xfrm>
            <a:off x="720" y="936000"/>
            <a:ext cx="3779280" cy="53892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50"/>
              </a:spcBef>
              <a:tabLst>
                <a:tab pos="0" algn="l"/>
              </a:tabLst>
            </a:pPr>
            <a:r>
              <a:rPr lang="en-US" sz="1600" b="1" u="none" strike="noStrike">
                <a:solidFill>
                  <a:schemeClr val="dk1"/>
                </a:solidFill>
                <a:effectLst/>
                <a:uFillTx/>
                <a:latin typeface="Arial"/>
                <a:ea typeface="Microsoft YaHei"/>
              </a:rPr>
              <a:t>MST Verification:</a:t>
            </a:r>
            <a:endParaRPr lang="en-AU" sz="1600" b="0" u="none" strike="noStrike">
              <a:solidFill>
                <a:srgbClr val="000000"/>
              </a:solidFill>
              <a:effectLst/>
              <a:uFillTx/>
              <a:latin typeface="Arial"/>
            </a:endParaRPr>
          </a:p>
          <a:p>
            <a:pPr marL="216000" indent="-216000" defTabSz="914400">
              <a:lnSpc>
                <a:spcPct val="100000"/>
              </a:lnSpc>
              <a:spcBef>
                <a:spcPts val="150"/>
              </a:spcBef>
              <a:buClr>
                <a:srgbClr val="000000"/>
              </a:buClr>
              <a:buSzPct val="45000"/>
              <a:buFont typeface="Wingdings" charset="2"/>
              <a:buChar char=""/>
              <a:tabLst>
                <a:tab pos="0" algn="l"/>
              </a:tabLst>
            </a:pPr>
            <a:r>
              <a:rPr lang="en-US" sz="1400" b="0" u="none" strike="noStrike">
                <a:solidFill>
                  <a:schemeClr val="dk1"/>
                </a:solidFill>
                <a:effectLst/>
                <a:uFillTx/>
                <a:latin typeface="Arial"/>
                <a:ea typeface="Microsoft YaHei"/>
              </a:rPr>
              <a:t>SW1#</a:t>
            </a:r>
            <a:r>
              <a:rPr lang="en-US" sz="1400" b="1" u="none" strike="noStrike">
                <a:solidFill>
                  <a:schemeClr val="dk1"/>
                </a:solidFill>
                <a:effectLst/>
                <a:uFillTx/>
                <a:latin typeface="Arial"/>
                <a:ea typeface="Microsoft YaHei"/>
              </a:rPr>
              <a:t>sh spanning-tree mst configuration</a:t>
            </a:r>
            <a:endParaRPr lang="en-AU" sz="14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Name      [</a:t>
            </a:r>
            <a:r>
              <a:rPr lang="en-US" sz="1000" b="0" u="none" strike="noStrike">
                <a:solidFill>
                  <a:schemeClr val="dk1"/>
                </a:solidFill>
                <a:effectLst/>
                <a:highlight>
                  <a:srgbClr val="FFFF00"/>
                </a:highlight>
                <a:uFillTx/>
                <a:latin typeface="Arial"/>
                <a:ea typeface="Microsoft YaHei"/>
              </a:rPr>
              <a:t>main-region</a:t>
            </a:r>
            <a:r>
              <a:rPr lang="en-US" sz="1000" b="0" u="none" strike="noStrike">
                <a:solidFill>
                  <a:schemeClr val="dk1"/>
                </a:solidFill>
                <a:effectLst/>
                <a:uFillTx/>
                <a:latin typeface="Arial"/>
                <a:ea typeface="Microsoft YaHei"/>
              </a:rPr>
              <a:t>]</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highlight>
                  <a:srgbClr val="FFFF00"/>
                </a:highlight>
                <a:uFillTx/>
                <a:latin typeface="Arial"/>
                <a:ea typeface="Microsoft YaHei"/>
              </a:rPr>
              <a:t>Revision  1</a:t>
            </a:r>
            <a:r>
              <a:rPr lang="en-US" sz="1000" b="0" u="none" strike="noStrike">
                <a:solidFill>
                  <a:schemeClr val="dk1"/>
                </a:solidFill>
                <a:effectLst/>
                <a:uFillTx/>
                <a:latin typeface="Arial"/>
                <a:ea typeface="Microsoft YaHei"/>
              </a:rPr>
              <a:t>     Instances configured </a:t>
            </a:r>
            <a:r>
              <a:rPr lang="en-US" sz="1000" b="0" u="none" strike="noStrike">
                <a:solidFill>
                  <a:schemeClr val="dk1"/>
                </a:solidFill>
                <a:effectLst/>
                <a:highlight>
                  <a:srgbClr val="FFFF00"/>
                </a:highlight>
                <a:uFillTx/>
                <a:latin typeface="Arial"/>
                <a:ea typeface="Microsoft YaHei"/>
              </a:rPr>
              <a:t>3</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Instance  Vlans mapped --------------------------------------------</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0         101-4094</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1         1-50</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2         51-100</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a:t>
            </a:r>
            <a:endParaRPr lang="en-AU" sz="1000" b="0" u="none" strike="noStrike">
              <a:solidFill>
                <a:srgbClr val="000000"/>
              </a:solidFill>
              <a:effectLst/>
              <a:uFillTx/>
              <a:latin typeface="Arial"/>
            </a:endParaRPr>
          </a:p>
          <a:p>
            <a:pPr marL="216000" indent="-216000" defTabSz="914400">
              <a:lnSpc>
                <a:spcPct val="100000"/>
              </a:lnSpc>
              <a:spcBef>
                <a:spcPts val="150"/>
              </a:spcBef>
              <a:buClr>
                <a:srgbClr val="000000"/>
              </a:buClr>
              <a:buSzPct val="45000"/>
              <a:buFont typeface="Wingdings" charset="2"/>
              <a:buChar char=""/>
              <a:tabLst>
                <a:tab pos="0" algn="l"/>
              </a:tabLst>
            </a:pPr>
            <a:r>
              <a:rPr lang="en-US" sz="1400" b="0" u="none" strike="noStrike">
                <a:solidFill>
                  <a:schemeClr val="dk1"/>
                </a:solidFill>
                <a:effectLst/>
                <a:uFillTx/>
                <a:latin typeface="Arial"/>
                <a:ea typeface="Microsoft YaHei"/>
              </a:rPr>
              <a:t>SW1#</a:t>
            </a:r>
            <a:r>
              <a:rPr lang="en-US" sz="1400" b="1" u="none" strike="noStrike">
                <a:solidFill>
                  <a:schemeClr val="dk1"/>
                </a:solidFill>
                <a:effectLst/>
                <a:uFillTx/>
                <a:latin typeface="Arial"/>
                <a:ea typeface="Microsoft YaHei"/>
              </a:rPr>
              <a:t>show spanning-tree mst 1</a:t>
            </a:r>
            <a:endParaRPr lang="en-AU" sz="14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a:t>
            </a:r>
            <a:r>
              <a:rPr lang="en-US" sz="1000" b="0" u="none" strike="noStrike">
                <a:solidFill>
                  <a:schemeClr val="dk1"/>
                </a:solidFill>
                <a:effectLst/>
                <a:highlight>
                  <a:srgbClr val="FFFF00"/>
                </a:highlight>
                <a:uFillTx/>
                <a:latin typeface="Arial"/>
                <a:ea typeface="Microsoft YaHei"/>
              </a:rPr>
              <a:t> MST1    vlans mapped:   1-50</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Bridge        address 5000.0001.0000  priority      24577 (24576 sysid 1)</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highlight>
                  <a:srgbClr val="FFFF00"/>
                </a:highlight>
                <a:uFillTx/>
                <a:latin typeface="Arial"/>
                <a:ea typeface="Microsoft YaHei"/>
              </a:rPr>
              <a:t>Root          this switch for MST1</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Interface        Role Sts Cost      Prio.Nbr Type</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Gi0/0            Desg FWD </a:t>
            </a:r>
            <a:r>
              <a:rPr lang="en-US" sz="1000" b="0" u="none" strike="noStrike">
                <a:solidFill>
                  <a:schemeClr val="dk1"/>
                </a:solidFill>
                <a:effectLst/>
                <a:highlight>
                  <a:srgbClr val="FFFF00"/>
                </a:highlight>
                <a:uFillTx/>
                <a:latin typeface="Arial"/>
                <a:ea typeface="Microsoft YaHei"/>
              </a:rPr>
              <a:t>20000</a:t>
            </a:r>
            <a:r>
              <a:rPr lang="en-US" sz="1000" b="0" u="none" strike="noStrike">
                <a:solidFill>
                  <a:schemeClr val="dk1"/>
                </a:solidFill>
                <a:effectLst/>
                <a:uFillTx/>
                <a:latin typeface="Arial"/>
                <a:ea typeface="Microsoft YaHei"/>
              </a:rPr>
              <a:t>     128.1    P2p</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Gi0/1            Desg FWD 20000     128.2    P2p</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Gi0/2            Desg FWD 20000     128.3    P2p</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Gi0/3            Desg FWD 20000     128.4    P2p</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Gi1/0            Desg FWD 20000     128.5    P2p</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Gi1/1            Desg FWD 20000     128.6    P2p</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Gi1/2            Desg FWD 20000     128.7    P2p</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r>
              <a:rPr lang="en-US" sz="1000" b="0" u="none" strike="noStrike">
                <a:solidFill>
                  <a:schemeClr val="dk1"/>
                </a:solidFill>
                <a:effectLst/>
                <a:uFillTx/>
                <a:latin typeface="Arial"/>
                <a:ea typeface="Microsoft YaHei"/>
              </a:rPr>
              <a:t>Gi1/3            Desg FWD 20000     128.8    P2p</a:t>
            </a:r>
            <a:endParaRPr lang="en-AU" sz="10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000" b="0" u="none" strike="noStrike">
              <a:solidFill>
                <a:srgbClr val="000000"/>
              </a:solidFill>
              <a:effectLst/>
              <a:uFillTx/>
              <a:latin typeface="Arial"/>
            </a:endParaRPr>
          </a:p>
          <a:p>
            <a:pPr defTabSz="914400">
              <a:lnSpc>
                <a:spcPct val="100000"/>
              </a:lnSpc>
              <a:spcBef>
                <a:spcPts val="150"/>
              </a:spcBef>
              <a:tabLst>
                <a:tab pos="0" algn="l"/>
              </a:tabLst>
            </a:pPr>
            <a:endParaRPr lang="en-AU" sz="1000" b="0" u="none" strike="noStrike">
              <a:solidFill>
                <a:srgbClr val="000000"/>
              </a:solidFill>
              <a:effectLst/>
              <a:uFillTx/>
              <a:latin typeface="Arial"/>
            </a:endParaRPr>
          </a:p>
        </p:txBody>
      </p:sp>
      <p:pic>
        <p:nvPicPr>
          <p:cNvPr id="173" name=""/>
          <p:cNvPicPr/>
          <p:nvPr/>
        </p:nvPicPr>
        <p:blipFill>
          <a:blip r:embed="rId1"/>
          <a:stretch/>
        </p:blipFill>
        <p:spPr>
          <a:xfrm>
            <a:off x="3960000" y="1008000"/>
            <a:ext cx="2880000" cy="1800000"/>
          </a:xfrm>
          <a:prstGeom prst="rect">
            <a:avLst/>
          </a:prstGeom>
          <a:noFill/>
          <a:ln w="0">
            <a:noFill/>
          </a:ln>
        </p:spPr>
      </p:pic>
      <p:pic>
        <p:nvPicPr>
          <p:cNvPr id="174" name=""/>
          <p:cNvPicPr/>
          <p:nvPr/>
        </p:nvPicPr>
        <p:blipFill>
          <a:blip r:embed="rId2"/>
          <a:stretch/>
        </p:blipFill>
        <p:spPr>
          <a:xfrm>
            <a:off x="6876000" y="1183680"/>
            <a:ext cx="2844000" cy="148032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5" name="Rectangle 24">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4.MST</a:t>
            </a:r>
            <a:endParaRPr lang="en-AU" sz="2800" b="0" u="none" strike="noStrike">
              <a:solidFill>
                <a:srgbClr val="FFFFFF"/>
              </a:solidFill>
              <a:effectLst/>
              <a:uFillTx/>
              <a:latin typeface="Arial"/>
            </a:endParaRPr>
          </a:p>
        </p:txBody>
      </p:sp>
      <p:sp>
        <p:nvSpPr>
          <p:cNvPr id="176"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lnSpcReduction="9999"/>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MST Verification:</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The priority value for an MST switch is system priority plus the instance id. </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show spanning-tree mst</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show spaninng-tree mst interface</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interface-id</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detail</a:t>
            </a:r>
            <a:r>
              <a:rPr lang="en-US" sz="1400" b="0" u="none" strike="noStrike">
                <a:solidFill>
                  <a:schemeClr val="dk1"/>
                </a:solidFill>
                <a:effectLst/>
                <a:uFillTx/>
                <a:latin typeface="Arial"/>
                <a:ea typeface="Microsoft YaHei"/>
              </a:rPr>
              <a:t>]</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All interface belongs to MST 0 by default, vlan 1 is included in MST 1 thus all interfaces are shown under MST 1.</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Interface Gi0/1 and Gi0/2 are trunk link that allows all vlans from 1 to 100, thus these interfaces appear in all three MST instances.</a:t>
            </a:r>
            <a:endParaRPr lang="en-US" sz="1600" b="0" u="none" strike="noStrike">
              <a:solidFill>
                <a:schemeClr val="dk1"/>
              </a:solidFill>
              <a:effectLst/>
              <a:uFillTx/>
              <a:latin typeface="Aptos"/>
            </a:endParaRPr>
          </a:p>
        </p:txBody>
      </p:sp>
      <p:sp>
        <p:nvSpPr>
          <p:cNvPr id="177"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78"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79" name=""/>
          <p:cNvSpPr/>
          <p:nvPr/>
        </p:nvSpPr>
        <p:spPr>
          <a:xfrm>
            <a:off x="720" y="936000"/>
            <a:ext cx="3779280" cy="33019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50"/>
              </a:spcBef>
              <a:tabLst>
                <a:tab pos="0" algn="l"/>
              </a:tabLst>
            </a:pPr>
            <a:r>
              <a:rPr lang="en-US" sz="1600" b="1" u="none" strike="noStrike">
                <a:solidFill>
                  <a:schemeClr val="dk1"/>
                </a:solidFill>
                <a:effectLst/>
                <a:uFillTx/>
                <a:latin typeface="Arial"/>
                <a:ea typeface="Microsoft YaHei"/>
              </a:rPr>
              <a:t>MST Tuning: </a:t>
            </a:r>
            <a:r>
              <a:rPr lang="en-US" sz="1600" b="0" u="none" strike="noStrike">
                <a:solidFill>
                  <a:schemeClr val="dk1"/>
                </a:solidFill>
                <a:effectLst/>
                <a:uFillTx/>
                <a:latin typeface="Arial"/>
                <a:ea typeface="Microsoft YaHei"/>
              </a:rPr>
              <a:t>MST supports the tuning of port cost and port priority.</a:t>
            </a:r>
            <a:endParaRPr lang="en-AU" sz="1600" b="0" u="none" strike="noStrike">
              <a:solidFill>
                <a:srgbClr val="000000"/>
              </a:solidFill>
              <a:effectLst/>
              <a:uFillTx/>
              <a:latin typeface="Arial"/>
            </a:endParaRPr>
          </a:p>
          <a:p>
            <a:pPr defTabSz="914400">
              <a:lnSpc>
                <a:spcPct val="100000"/>
              </a:lnSpc>
              <a:spcBef>
                <a:spcPts val="150"/>
              </a:spcBef>
              <a:tabLst>
                <a:tab pos="0" algn="l"/>
              </a:tabLst>
            </a:pPr>
            <a:r>
              <a:rPr lang="en-US" sz="1600" b="1" u="none" strike="noStrike">
                <a:solidFill>
                  <a:schemeClr val="dk1"/>
                </a:solidFill>
                <a:effectLst/>
                <a:uFillTx/>
                <a:latin typeface="Arial"/>
                <a:ea typeface="Microsoft YaHei"/>
              </a:rPr>
              <a:t>Port cost</a:t>
            </a:r>
            <a:r>
              <a:rPr lang="en-US" sz="1600" b="0" u="none" strike="noStrike">
                <a:solidFill>
                  <a:schemeClr val="dk1"/>
                </a:solidFill>
                <a:effectLst/>
                <a:uFillTx/>
                <a:latin typeface="Arial"/>
                <a:ea typeface="Microsoft YaHei"/>
              </a:rPr>
              <a:t>: Under interface configuration command use </a:t>
            </a:r>
            <a:r>
              <a:rPr lang="en-US" sz="1400" b="1" u="none" strike="noStrike">
                <a:solidFill>
                  <a:schemeClr val="dk1"/>
                </a:solidFill>
                <a:effectLst/>
                <a:uFillTx/>
                <a:latin typeface="Arial"/>
                <a:ea typeface="Microsoft YaHei"/>
              </a:rPr>
              <a:t>spanning-tree mst</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instance-number</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cost</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cost</a:t>
            </a:r>
            <a:endParaRPr lang="en-AU" sz="1400" b="0" u="none" strike="noStrike">
              <a:solidFill>
                <a:srgbClr val="000000"/>
              </a:solidFill>
              <a:effectLst/>
              <a:uFillTx/>
              <a:latin typeface="Arial"/>
            </a:endParaRPr>
          </a:p>
          <a:p>
            <a:pPr defTabSz="914400">
              <a:lnSpc>
                <a:spcPct val="100000"/>
              </a:lnSpc>
              <a:spcBef>
                <a:spcPts val="150"/>
              </a:spcBef>
              <a:tabLst>
                <a:tab pos="0" algn="l"/>
              </a:tabLst>
            </a:pPr>
            <a:r>
              <a:rPr lang="en-US" sz="1600" b="1" u="none" strike="noStrike">
                <a:solidFill>
                  <a:schemeClr val="dk1"/>
                </a:solidFill>
                <a:effectLst/>
                <a:uFillTx/>
                <a:latin typeface="Arial"/>
                <a:ea typeface="Microsoft YaHei"/>
              </a:rPr>
              <a:t>Port Priority: </a:t>
            </a:r>
            <a:r>
              <a:rPr lang="en-US" sz="1600" b="0" u="none" strike="noStrike">
                <a:solidFill>
                  <a:schemeClr val="dk1"/>
                </a:solidFill>
                <a:effectLst/>
                <a:uFillTx/>
                <a:latin typeface="Arial"/>
                <a:ea typeface="Microsoft YaHei"/>
              </a:rPr>
              <a:t>Under interface configuration command use </a:t>
            </a:r>
            <a:r>
              <a:rPr lang="en-US" sz="1400" b="1" u="none" strike="noStrike">
                <a:solidFill>
                  <a:schemeClr val="dk1"/>
                </a:solidFill>
                <a:effectLst/>
                <a:uFillTx/>
                <a:latin typeface="Arial"/>
                <a:ea typeface="Microsoft YaHei"/>
              </a:rPr>
              <a:t>spanning-tree mst</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instance-number</a:t>
            </a:r>
            <a:r>
              <a:rPr lang="en-US" sz="14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port-priority</a:t>
            </a:r>
            <a:r>
              <a:rPr lang="en-US" sz="1400" b="0" u="none" strike="noStrike">
                <a:solidFill>
                  <a:schemeClr val="dk1"/>
                </a:solidFill>
                <a:effectLst/>
                <a:uFillTx/>
                <a:latin typeface="Arial"/>
                <a:ea typeface="Microsoft YaHei"/>
              </a:rPr>
              <a:t> </a:t>
            </a:r>
            <a:r>
              <a:rPr lang="en-US" sz="1400" b="0" i="1" u="none" strike="noStrike">
                <a:solidFill>
                  <a:schemeClr val="dk1"/>
                </a:solidFill>
                <a:effectLst/>
                <a:uFillTx/>
                <a:latin typeface="Arial"/>
                <a:ea typeface="Microsoft YaHei"/>
              </a:rPr>
              <a:t>priority</a:t>
            </a: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6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000" b="0" u="none" strike="noStrike">
              <a:solidFill>
                <a:srgbClr val="000000"/>
              </a:solidFill>
              <a:effectLst/>
              <a:uFillTx/>
              <a:latin typeface="Arial"/>
            </a:endParaRPr>
          </a:p>
          <a:p>
            <a:pPr defTabSz="914400">
              <a:lnSpc>
                <a:spcPct val="100000"/>
              </a:lnSpc>
              <a:spcBef>
                <a:spcPts val="150"/>
              </a:spcBef>
              <a:tabLst>
                <a:tab pos="0" algn="l"/>
              </a:tabLst>
            </a:pPr>
            <a:endParaRPr lang="en-AU" sz="1000" b="0" u="none" strike="noStrike">
              <a:solidFill>
                <a:srgbClr val="000000"/>
              </a:solidFill>
              <a:effectLst/>
              <a:uFillTx/>
              <a:latin typeface="Arial"/>
            </a:endParaRPr>
          </a:p>
        </p:txBody>
      </p:sp>
      <p:pic>
        <p:nvPicPr>
          <p:cNvPr id="180" name=""/>
          <p:cNvPicPr/>
          <p:nvPr/>
        </p:nvPicPr>
        <p:blipFill>
          <a:blip r:embed="rId1"/>
          <a:stretch/>
        </p:blipFill>
        <p:spPr>
          <a:xfrm>
            <a:off x="3952800" y="1476000"/>
            <a:ext cx="2995200" cy="2220840"/>
          </a:xfrm>
          <a:prstGeom prst="rect">
            <a:avLst/>
          </a:prstGeom>
          <a:noFill/>
          <a:ln w="0">
            <a:noFill/>
          </a:ln>
        </p:spPr>
      </p:pic>
      <p:pic>
        <p:nvPicPr>
          <p:cNvPr id="181" name=""/>
          <p:cNvPicPr/>
          <p:nvPr/>
        </p:nvPicPr>
        <p:blipFill>
          <a:blip r:embed="rId2"/>
          <a:stretch/>
        </p:blipFill>
        <p:spPr>
          <a:xfrm>
            <a:off x="7020000" y="1404000"/>
            <a:ext cx="2926440" cy="2520000"/>
          </a:xfrm>
          <a:prstGeom prst="rect">
            <a:avLst/>
          </a:prstGeom>
          <a:noFill/>
          <a:ln w="0">
            <a:noFill/>
          </a:ln>
        </p:spPr>
      </p:pic>
      <p:pic>
        <p:nvPicPr>
          <p:cNvPr id="182" name=""/>
          <p:cNvPicPr/>
          <p:nvPr/>
        </p:nvPicPr>
        <p:blipFill>
          <a:blip r:embed="rId3"/>
          <a:stretch/>
        </p:blipFill>
        <p:spPr>
          <a:xfrm>
            <a:off x="720" y="3240000"/>
            <a:ext cx="1979280" cy="2177280"/>
          </a:xfrm>
          <a:prstGeom prst="rect">
            <a:avLst/>
          </a:prstGeom>
          <a:noFill/>
          <a:ln w="0">
            <a:noFill/>
          </a:ln>
        </p:spPr>
      </p:pic>
      <p:pic>
        <p:nvPicPr>
          <p:cNvPr id="183" name=""/>
          <p:cNvPicPr/>
          <p:nvPr/>
        </p:nvPicPr>
        <p:blipFill>
          <a:blip r:embed="rId4"/>
          <a:stretch/>
        </p:blipFill>
        <p:spPr>
          <a:xfrm>
            <a:off x="1800000" y="3240000"/>
            <a:ext cx="1935720" cy="215028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4" name="Rectangle 25">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4.MST</a:t>
            </a:r>
            <a:endParaRPr lang="en-AU" sz="2800" b="0" u="none" strike="noStrike">
              <a:solidFill>
                <a:srgbClr val="FFFFFF"/>
              </a:solidFill>
              <a:effectLst/>
              <a:uFillTx/>
              <a:latin typeface="Arial"/>
            </a:endParaRPr>
          </a:p>
        </p:txBody>
      </p:sp>
      <p:sp>
        <p:nvSpPr>
          <p:cNvPr id="185"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Common MST Misconfigurations:</a:t>
            </a:r>
            <a:endParaRPr lang="en-US" sz="1600" b="0" u="none" strike="noStrike">
              <a:solidFill>
                <a:schemeClr val="dk1"/>
              </a:solidFill>
              <a:effectLst/>
              <a:uFillTx/>
              <a:latin typeface="Aptos"/>
            </a:endParaRPr>
          </a:p>
          <a:p>
            <a:pPr indent="-324000" algn="l" defTabSz="914400">
              <a:lnSpc>
                <a:spcPct val="100000"/>
              </a:lnSpc>
              <a:spcBef>
                <a:spcPts val="434"/>
              </a:spcBef>
              <a:spcAft>
                <a:spcPts val="283"/>
              </a:spcAft>
              <a:buClr>
                <a:srgbClr val="000000"/>
              </a:buClr>
              <a:buFont typeface="Arial"/>
              <a:buAutoNum type="arabicPeriod"/>
              <a:tabLst>
                <a:tab pos="0" algn="l"/>
              </a:tabLst>
            </a:pPr>
            <a:r>
              <a:rPr lang="en-US" sz="1600" b="1" u="none" strike="noStrike">
                <a:solidFill>
                  <a:schemeClr val="dk1"/>
                </a:solidFill>
                <a:effectLst/>
                <a:uFillTx/>
                <a:latin typeface="Arial"/>
                <a:ea typeface="Microsoft YaHei"/>
              </a:rPr>
              <a:t>VLAN assignment to IST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PC-A, PC-B and interface Gi1/0/2 of both SW1 and SW2 belong to vlan 10. Vlan 10 is mapped to IST and vlan 20 is mapped to MSTI 1. It would appear that the traffic can flow between PC-A and PC-B via Gi1/0/2 link between SW1 and SW2.</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By default all the access interface belong to IST. For the link between SW1 and SW2, G1/0/1 of both switch will by default belong to IST as well. Thus, for IST, SW1 being root switch and both of its port are designated port, SW2 will have to block one of it’s port for the link.</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SW2 blocks Gi1/0/2 based on port number as shown in  second picture.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So the traffic for vlan 10 unintentionally flows through Gi1/0/1 interface instead of Gi1/0/2.</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To solve this either map vlan 10 to different MSTI other than IST or allow all vlans on trunk link between switches.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 </a:t>
            </a:r>
            <a:endParaRPr lang="en-US" sz="1600" b="0" u="none" strike="noStrike">
              <a:solidFill>
                <a:schemeClr val="dk1"/>
              </a:solidFill>
              <a:effectLst/>
              <a:uFillTx/>
              <a:latin typeface="Aptos"/>
            </a:endParaRPr>
          </a:p>
        </p:txBody>
      </p:sp>
      <p:sp>
        <p:nvSpPr>
          <p:cNvPr id="186"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87"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88" name=""/>
          <p:cNvSpPr/>
          <p:nvPr/>
        </p:nvSpPr>
        <p:spPr>
          <a:xfrm>
            <a:off x="0" y="2700000"/>
            <a:ext cx="3779280" cy="4337280"/>
          </a:xfrm>
          <a:prstGeom prst="rect">
            <a:avLst/>
          </a:prstGeom>
          <a:noFill/>
          <a:ln w="0">
            <a:noFill/>
          </a:ln>
        </p:spPr>
        <p:style>
          <a:lnRef idx="0"/>
          <a:fillRef idx="0"/>
          <a:effectRef idx="0"/>
          <a:fontRef idx="minor"/>
        </p:style>
        <p:txBody>
          <a:bodyPr lIns="90000" tIns="45000" rIns="90000" bIns="45000" anchor="t">
            <a:spAutoFit/>
          </a:bodyPr>
          <a:p>
            <a:pPr indent="-324000" defTabSz="914400">
              <a:lnSpc>
                <a:spcPct val="100000"/>
              </a:lnSpc>
              <a:spcBef>
                <a:spcPts val="434"/>
              </a:spcBef>
              <a:spcAft>
                <a:spcPts val="283"/>
              </a:spcAft>
              <a:buClr>
                <a:srgbClr val="000000"/>
              </a:buClr>
              <a:buAutoNum type="arabicPeriod" startAt="2"/>
              <a:tabLst>
                <a:tab pos="0" algn="l"/>
              </a:tabLst>
            </a:pPr>
            <a:r>
              <a:rPr lang="en-US" sz="1600" b="1" u="none" strike="noStrike">
                <a:solidFill>
                  <a:schemeClr val="dk1"/>
                </a:solidFill>
                <a:effectLst/>
                <a:uFillTx/>
                <a:latin typeface="Arial"/>
                <a:ea typeface="Microsoft YaHei"/>
              </a:rPr>
              <a:t>VLAN pruning on trunk link</a:t>
            </a: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600" b="0" u="none" strike="noStrike">
                <a:solidFill>
                  <a:schemeClr val="dk1"/>
                </a:solidFill>
                <a:effectLst/>
                <a:uFillTx/>
                <a:latin typeface="Arial"/>
                <a:ea typeface="Microsoft YaHei"/>
              </a:rPr>
              <a:t>While pruning vlans on trunk link of a MSTI topology, every vlans of MSTI must be pruned.</a:t>
            </a:r>
            <a:endParaRPr lang="en-AU" sz="16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600" b="0" u="none" strike="noStrike">
                <a:solidFill>
                  <a:schemeClr val="dk1"/>
                </a:solidFill>
                <a:effectLst/>
                <a:uFillTx/>
                <a:latin typeface="Arial"/>
                <a:ea typeface="Microsoft YaHei"/>
              </a:rPr>
              <a:t>Leaving one VLAN active while pruning another from the same instance on a link can cause MST to place the active VLAN's traffic on a port that the logical instance has blocked, resulting in dropped packets.</a:t>
            </a: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spcBef>
                <a:spcPts val="150"/>
              </a:spcBef>
              <a:tabLst>
                <a:tab pos="0" algn="l"/>
              </a:tabLst>
            </a:pPr>
            <a:endParaRPr lang="en-AU" sz="16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000" b="0" u="none" strike="noStrike">
              <a:solidFill>
                <a:srgbClr val="000000"/>
              </a:solidFill>
              <a:effectLst/>
              <a:uFillTx/>
              <a:latin typeface="Arial"/>
            </a:endParaRPr>
          </a:p>
          <a:p>
            <a:pPr defTabSz="914400">
              <a:lnSpc>
                <a:spcPct val="100000"/>
              </a:lnSpc>
              <a:spcBef>
                <a:spcPts val="150"/>
              </a:spcBef>
              <a:tabLst>
                <a:tab pos="0" algn="l"/>
              </a:tabLst>
            </a:pPr>
            <a:endParaRPr lang="en-AU" sz="1000" b="0" u="none" strike="noStrike">
              <a:solidFill>
                <a:srgbClr val="000000"/>
              </a:solidFill>
              <a:effectLst/>
              <a:uFillTx/>
              <a:latin typeface="Arial"/>
            </a:endParaRPr>
          </a:p>
        </p:txBody>
      </p:sp>
      <p:pic>
        <p:nvPicPr>
          <p:cNvPr id="189" name=""/>
          <p:cNvPicPr/>
          <p:nvPr/>
        </p:nvPicPr>
        <p:blipFill>
          <a:blip r:embed="rId1"/>
          <a:stretch/>
        </p:blipFill>
        <p:spPr>
          <a:xfrm>
            <a:off x="129960" y="943920"/>
            <a:ext cx="3650040" cy="157608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0" name="Rectangle 26">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4.MST</a:t>
            </a:r>
            <a:endParaRPr lang="en-AU" sz="2800" b="0" u="none" strike="noStrike">
              <a:solidFill>
                <a:srgbClr val="FFFFFF"/>
              </a:solidFill>
              <a:effectLst/>
              <a:uFillTx/>
              <a:latin typeface="Arial"/>
            </a:endParaRPr>
          </a:p>
        </p:txBody>
      </p:sp>
      <p:sp>
        <p:nvSpPr>
          <p:cNvPr id="191"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lnSpcReduction="9999"/>
          </a:bodyPr>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MST Region Boundary</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MST region boundary is any port that connects a MST region to different MST region or 802.1D or 802.1W switch.</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MST instances are contained within the IST.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Each MST region is represented as a single logical switch to another MST region or non-MSTP switch.</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A Common Spanning Tree (CST) is a spanning tree for connection between MST regions or connection between MST region and non-MSTP swtiches.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Propagating CST at the region boundary involves feature called PVST simulation mechanism.</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PVST simulation mechanism at the region boundary is to map region’s IST to vlans and transmit PVST+/RSTP BPDUs.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This is required because the PVST+/RSTP switches do not understand IST BPDU structure.</a:t>
            </a:r>
            <a:endParaRPr lang="en-US" sz="1600" b="0" u="none" strike="noStrike">
              <a:solidFill>
                <a:schemeClr val="dk1"/>
              </a:solidFill>
              <a:effectLst/>
              <a:uFillTx/>
              <a:latin typeface="Aptos"/>
            </a:endParaRPr>
          </a:p>
        </p:txBody>
      </p:sp>
      <p:sp>
        <p:nvSpPr>
          <p:cNvPr id="192"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93"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94" name=""/>
          <p:cNvSpPr/>
          <p:nvPr/>
        </p:nvSpPr>
        <p:spPr>
          <a:xfrm>
            <a:off x="110880" y="954720"/>
            <a:ext cx="3779280" cy="4729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600" b="0" u="none" strike="noStrike">
                <a:solidFill>
                  <a:schemeClr val="dk1"/>
                </a:solidFill>
                <a:effectLst/>
                <a:uFillTx/>
                <a:latin typeface="Arial"/>
                <a:ea typeface="Microsoft YaHei"/>
              </a:rPr>
              <a:t>On receiving PVST+/RSTP BPDU on region boundary, it is not mapped to vlans in MSTI.</a:t>
            </a: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600" b="0" u="none" strike="noStrike">
                <a:solidFill>
                  <a:schemeClr val="dk1"/>
                </a:solidFill>
                <a:effectLst/>
                <a:uFillTx/>
                <a:latin typeface="Arial"/>
                <a:ea typeface="Microsoft YaHei"/>
              </a:rPr>
              <a:t>Instead vlan 1 BPDU of PVST+/RSTP switches are mapped to IST of the MST region.</a:t>
            </a: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600" b="0" u="none" strike="noStrike">
                <a:solidFill>
                  <a:schemeClr val="dk1"/>
                </a:solidFill>
                <a:effectLst/>
                <a:uFillTx/>
                <a:latin typeface="Arial"/>
                <a:ea typeface="Microsoft YaHei"/>
              </a:rPr>
              <a:t>A common spanning tree that represents whole LAN (MST region’s IST, CST and PVST+ switches) is known as Common Internal Spanning Tree (CIST).</a:t>
            </a: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spcBef>
                <a:spcPts val="150"/>
              </a:spcBef>
              <a:tabLst>
                <a:tab pos="0" algn="l"/>
              </a:tabLst>
            </a:pPr>
            <a:endParaRPr lang="en-AU" sz="16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000" b="0" u="none" strike="noStrike">
              <a:solidFill>
                <a:srgbClr val="000000"/>
              </a:solidFill>
              <a:effectLst/>
              <a:uFillTx/>
              <a:latin typeface="Arial"/>
            </a:endParaRPr>
          </a:p>
          <a:p>
            <a:pPr defTabSz="914400">
              <a:lnSpc>
                <a:spcPct val="100000"/>
              </a:lnSpc>
              <a:spcBef>
                <a:spcPts val="150"/>
              </a:spcBef>
              <a:tabLst>
                <a:tab pos="0" algn="l"/>
              </a:tabLst>
            </a:pPr>
            <a:endParaRPr lang="en-AU" sz="1000" b="0" u="none" strike="noStrike">
              <a:solidFill>
                <a:srgbClr val="000000"/>
              </a:solidFill>
              <a:effectLst/>
              <a:uFillTx/>
              <a:latin typeface="Arial"/>
            </a:endParaRPr>
          </a:p>
        </p:txBody>
      </p:sp>
      <p:pic>
        <p:nvPicPr>
          <p:cNvPr id="195" name=""/>
          <p:cNvPicPr/>
          <p:nvPr/>
        </p:nvPicPr>
        <p:blipFill>
          <a:blip r:embed="rId1"/>
          <a:stretch/>
        </p:blipFill>
        <p:spPr>
          <a:xfrm>
            <a:off x="4680000" y="2503440"/>
            <a:ext cx="3780000" cy="106776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6" name="Rectangle 27">
            <a:extLst>
              <a:ext uri="{C183D7F6-B498-43B3-948B-1728B52AA6E4}">
                <adec:decorative xmlns:adec="http://schemas.microsoft.com/office/drawing/2017/decorative" val="1"/>
              </a:ext>
            </a:extLst>
          </p:cNvPr>
          <p:cNvSpPr/>
          <p:nvPr/>
        </p:nvSpPr>
        <p:spPr>
          <a:xfrm>
            <a:off x="360" y="360"/>
            <a:ext cx="3778560" cy="8992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4.MST</a:t>
            </a:r>
            <a:endParaRPr lang="en-AU" sz="2800" b="0" u="none" strike="noStrike">
              <a:solidFill>
                <a:srgbClr val="FFFFFF"/>
              </a:solidFill>
              <a:effectLst/>
              <a:uFillTx/>
              <a:latin typeface="Arial"/>
            </a:endParaRPr>
          </a:p>
        </p:txBody>
      </p:sp>
      <p:sp>
        <p:nvSpPr>
          <p:cNvPr id="197" name="PlaceHolder 1"/>
          <p:cNvSpPr>
            <a:spLocks noGrp="1"/>
          </p:cNvSpPr>
          <p:nvPr>
            <p:ph/>
          </p:nvPr>
        </p:nvSpPr>
        <p:spPr>
          <a:xfrm>
            <a:off x="3890160" y="55440"/>
            <a:ext cx="6009120" cy="5500440"/>
          </a:xfrm>
          <a:prstGeom prst="rect">
            <a:avLst/>
          </a:prstGeom>
          <a:noFill/>
          <a:ln w="0">
            <a:noFill/>
          </a:ln>
        </p:spPr>
        <p:txBody>
          <a:bodyPr numCol="1" spcCol="0" lIns="91440" tIns="45720" rIns="91440" bIns="45720" anchor="t">
            <a:normAutofit/>
          </a:bodyPr>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There are two scenarios while interconnecting MST region with non-MSTP switches:</a:t>
            </a:r>
            <a:endParaRPr lang="en-US" sz="1600" b="0" u="none" strike="noStrike">
              <a:solidFill>
                <a:schemeClr val="dk1"/>
              </a:solidFill>
              <a:effectLst/>
              <a:uFillTx/>
              <a:latin typeface="Aptos"/>
            </a:endParaRPr>
          </a:p>
          <a:p>
            <a:pPr marL="216000" indent="-216000" algn="l" defTabSz="914400">
              <a:lnSpc>
                <a:spcPct val="100000"/>
              </a:lnSpc>
              <a:spcBef>
                <a:spcPts val="434"/>
              </a:spcBef>
              <a:spcAft>
                <a:spcPts val="283"/>
              </a:spcAft>
              <a:buClr>
                <a:srgbClr val="000000"/>
              </a:buClr>
              <a:buAutoNum type="arabicPeriod"/>
              <a:tabLst>
                <a:tab pos="0" algn="l"/>
              </a:tabLst>
            </a:pPr>
            <a:r>
              <a:rPr lang="en-US" sz="1600" b="1" u="none" strike="noStrike">
                <a:solidFill>
                  <a:schemeClr val="dk1"/>
                </a:solidFill>
                <a:effectLst/>
                <a:uFillTx/>
                <a:latin typeface="Arial"/>
                <a:ea typeface="Microsoft YaHei"/>
              </a:rPr>
              <a:t>MST region as the root bridge (CIST root bridge in MST region)</a:t>
            </a:r>
            <a:endParaRPr lang="en-US" sz="1600" b="0" u="none" strike="noStrike">
              <a:solidFill>
                <a:schemeClr val="dk1"/>
              </a:solidFill>
              <a:effectLst/>
              <a:uFillTx/>
              <a:latin typeface="Aptos"/>
            </a:endParaRPr>
          </a:p>
          <a:p>
            <a:pPr marL="216000" indent="-216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This scenario makes region boundary port to flood same IST BPDU to all VLANs in the PVST switches.</a:t>
            </a:r>
            <a:endParaRPr lang="en-US" sz="1600" b="0" u="none" strike="noStrike">
              <a:solidFill>
                <a:schemeClr val="dk1"/>
              </a:solidFill>
              <a:effectLst/>
              <a:uFillTx/>
              <a:latin typeface="Aptos"/>
            </a:endParaRPr>
          </a:p>
          <a:p>
            <a:pPr marL="216000" indent="-216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The MST region appears as a single logical switch and PVST switches detect alternate links and place them in Blocking state.</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SW1 and SW2 transmit superior BPDUs for each VLAN towards SW3.</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SW3 is responsible for blocking ports towards MST region.</a:t>
            </a:r>
            <a:endParaRPr lang="en-US" sz="1600" b="0" u="none" strike="noStrike">
              <a:solidFill>
                <a:schemeClr val="dk1"/>
              </a:solidFill>
              <a:effectLst/>
              <a:uFillTx/>
              <a:latin typeface="Aptos"/>
            </a:endParaRPr>
          </a:p>
        </p:txBody>
      </p:sp>
      <p:sp>
        <p:nvSpPr>
          <p:cNvPr id="198" name=""/>
          <p:cNvSpPr/>
          <p:nvPr/>
        </p:nvSpPr>
        <p:spPr>
          <a:xfrm>
            <a:off x="1440" y="1080000"/>
            <a:ext cx="3777480" cy="11728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4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
        <p:nvSpPr>
          <p:cNvPr id="199" name=""/>
          <p:cNvSpPr/>
          <p:nvPr/>
        </p:nvSpPr>
        <p:spPr>
          <a:xfrm>
            <a:off x="0" y="3684960"/>
            <a:ext cx="3994920" cy="6321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200" name=""/>
          <p:cNvSpPr/>
          <p:nvPr/>
        </p:nvSpPr>
        <p:spPr>
          <a:xfrm>
            <a:off x="110880" y="954720"/>
            <a:ext cx="3779280" cy="21110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spcBef>
                <a:spcPts val="150"/>
              </a:spcBef>
              <a:tabLst>
                <a:tab pos="0" algn="l"/>
              </a:tabLst>
            </a:pPr>
            <a:endParaRPr lang="en-AU" sz="16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marL="360000" defTabSz="914400">
              <a:lnSpc>
                <a:spcPct val="100000"/>
              </a:lnSpc>
              <a:spcBef>
                <a:spcPts val="150"/>
              </a:spcBef>
              <a:tabLst>
                <a:tab pos="0" algn="l"/>
              </a:tabLst>
            </a:pPr>
            <a:endParaRPr lang="en-AU" sz="1000" b="0" u="none" strike="noStrike">
              <a:solidFill>
                <a:srgbClr val="000000"/>
              </a:solidFill>
              <a:effectLst/>
              <a:uFillTx/>
              <a:latin typeface="Arial"/>
            </a:endParaRPr>
          </a:p>
          <a:p>
            <a:pPr defTabSz="914400">
              <a:lnSpc>
                <a:spcPct val="100000"/>
              </a:lnSpc>
              <a:spcBef>
                <a:spcPts val="150"/>
              </a:spcBef>
              <a:tabLst>
                <a:tab pos="0" algn="l"/>
              </a:tabLst>
            </a:pPr>
            <a:endParaRPr lang="en-AU" sz="1000" b="0" u="none" strike="noStrike">
              <a:solidFill>
                <a:srgbClr val="000000"/>
              </a:solidFill>
              <a:effectLst/>
              <a:uFillTx/>
              <a:latin typeface="Arial"/>
            </a:endParaRPr>
          </a:p>
        </p:txBody>
      </p:sp>
      <p:pic>
        <p:nvPicPr>
          <p:cNvPr id="201" name=""/>
          <p:cNvPicPr/>
          <p:nvPr/>
        </p:nvPicPr>
        <p:blipFill>
          <a:blip r:embed="rId1"/>
          <a:stretch/>
        </p:blipFill>
        <p:spPr>
          <a:xfrm>
            <a:off x="5040000" y="2448000"/>
            <a:ext cx="3420000" cy="1593000"/>
          </a:xfrm>
          <a:prstGeom prst="rect">
            <a:avLst/>
          </a:prstGeom>
          <a:noFill/>
          <a:ln w="0">
            <a:noFill/>
          </a:ln>
        </p:spPr>
      </p:pic>
      <p:sp>
        <p:nvSpPr>
          <p:cNvPr id="202" name=""/>
          <p:cNvSpPr txBox="1"/>
          <p:nvPr/>
        </p:nvSpPr>
        <p:spPr>
          <a:xfrm>
            <a:off x="0" y="900000"/>
            <a:ext cx="3780000" cy="4680000"/>
          </a:xfrm>
          <a:prstGeom prst="rect">
            <a:avLst/>
          </a:prstGeom>
          <a:noFill/>
          <a:ln w="0">
            <a:noFill/>
          </a:ln>
        </p:spPr>
        <p:txBody>
          <a:bodyPr lIns="90000" tIns="45000" rIns="90000" bIns="45000" anchor="t">
            <a:spAutoFit/>
          </a:bodyPr>
          <a:p>
            <a:pPr marL="216000" indent="-216000" defTabSz="914400">
              <a:lnSpc>
                <a:spcPct val="100000"/>
              </a:lnSpc>
              <a:spcBef>
                <a:spcPts val="434"/>
              </a:spcBef>
              <a:spcAft>
                <a:spcPts val="283"/>
              </a:spcAft>
              <a:buClr>
                <a:srgbClr val="000000"/>
              </a:buClr>
              <a:buAutoNum type="arabicPeriod" startAt="2"/>
              <a:tabLst>
                <a:tab pos="0" algn="l"/>
              </a:tabLst>
            </a:pPr>
            <a:r>
              <a:rPr lang="en-US" sz="1600" b="1" u="none" strike="noStrike">
                <a:solidFill>
                  <a:schemeClr val="dk1"/>
                </a:solidFill>
                <a:effectLst/>
                <a:uFillTx/>
                <a:latin typeface="Arial"/>
                <a:ea typeface="Microsoft YaHei"/>
              </a:rPr>
              <a:t>MST region not a root bridge for any VLAN (CIST root bridge in PVST+ region)</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Since IST BPDU is a one to many translation of all vlans PVST BPDU, MST region port can only block or forward for all vlans.</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If superior BPDU is received for any VLAN from PVST switch, the MST region boundary port uses bpdu guard to block the port to create a loop free topology.</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This mechanism is called PVST simulation check.</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AutoNum type="arabicPeriod" startAt="2"/>
              <a:tabLst>
                <a:tab pos="0" algn="l"/>
              </a:tabLst>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148</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2026-07-26T10:19:09Z</dcterms:created>
  <dc:creator/>
  <dc:description/>
  <dc:language>en-AU</dc:language>
  <cp:lastModifiedBy/>
  <dcterms:modified xsi:type="dcterms:W3CDTF">2026-08-02T21:31:21Z</dcterms:modified>
  <cp:revision>8</cp:revision>
  <dc:subject/>
  <dc:title/>
</cp:coreProperties>
</file>

<file path=docProps/custom.xml><?xml version="1.0" encoding="utf-8"?>
<Properties xmlns="http://schemas.openxmlformats.org/officeDocument/2006/custom-properties" xmlns:vt="http://schemas.openxmlformats.org/officeDocument/2006/docPropsVTypes"/>
</file>