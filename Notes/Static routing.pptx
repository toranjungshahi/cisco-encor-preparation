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64" r:id="rId2"/>
    <p:sldId id="258" r:id="rId3"/>
    <p:sldId id="265" r:id="rId4"/>
    <p:sldId id="266" r:id="rId5"/>
    <p:sldId id="26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4C7D"/>
    <a:srgbClr val="00FF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A0727E-EB6F-4240-630D-89661CB2D541}" v="2629" dt="2026-05-25T11:50:25.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an Shahi" userId="9e80e87edecd0726" providerId="Windows Live" clId="Web-{2BA0727E-EB6F-4240-630D-89661CB2D541}"/>
    <pc:docChg chg="addSld delSld modSld">
      <pc:chgData name="Toran Shahi" userId="9e80e87edecd0726" providerId="Windows Live" clId="Web-{2BA0727E-EB6F-4240-630D-89661CB2D541}" dt="2026-05-25T11:50:25.523" v="2378" actId="1076"/>
      <pc:docMkLst>
        <pc:docMk/>
      </pc:docMkLst>
      <pc:sldChg chg="del">
        <pc:chgData name="Toran Shahi" userId="9e80e87edecd0726" providerId="Windows Live" clId="Web-{2BA0727E-EB6F-4240-630D-89661CB2D541}" dt="2026-05-25T01:15:28.077" v="0"/>
        <pc:sldMkLst>
          <pc:docMk/>
          <pc:sldMk cId="109857222" sldId="256"/>
        </pc:sldMkLst>
      </pc:sldChg>
      <pc:sldChg chg="new del">
        <pc:chgData name="Toran Shahi" userId="9e80e87edecd0726" providerId="Windows Live" clId="Web-{2BA0727E-EB6F-4240-630D-89661CB2D541}" dt="2026-05-25T01:20:05.017" v="3"/>
        <pc:sldMkLst>
          <pc:docMk/>
          <pc:sldMk cId="1702971283" sldId="256"/>
        </pc:sldMkLst>
      </pc:sldChg>
      <pc:sldChg chg="modSp add">
        <pc:chgData name="Toran Shahi" userId="9e80e87edecd0726" providerId="Windows Live" clId="Web-{2BA0727E-EB6F-4240-630D-89661CB2D541}" dt="2026-05-25T01:40:31.637" v="271" actId="20577"/>
        <pc:sldMkLst>
          <pc:docMk/>
          <pc:sldMk cId="1516740404" sldId="258"/>
        </pc:sldMkLst>
        <pc:spChg chg="mod">
          <ac:chgData name="Toran Shahi" userId="9e80e87edecd0726" providerId="Windows Live" clId="Web-{2BA0727E-EB6F-4240-630D-89661CB2D541}" dt="2026-05-25T01:35:35.103" v="105" actId="20577"/>
          <ac:spMkLst>
            <pc:docMk/>
            <pc:sldMk cId="1516740404" sldId="258"/>
            <ac:spMk id="2" creationId="{8254306B-2FA9-DBD0-4879-2F0F9F640255}"/>
          </ac:spMkLst>
        </pc:spChg>
        <pc:spChg chg="mod">
          <ac:chgData name="Toran Shahi" userId="9e80e87edecd0726" providerId="Windows Live" clId="Web-{2BA0727E-EB6F-4240-630D-89661CB2D541}" dt="2026-05-25T01:40:31.637" v="271" actId="20577"/>
          <ac:spMkLst>
            <pc:docMk/>
            <pc:sldMk cId="1516740404" sldId="258"/>
            <ac:spMk id="3" creationId="{19642708-C46C-0C1F-6CBC-B422CA064D0D}"/>
          </ac:spMkLst>
        </pc:spChg>
      </pc:sldChg>
      <pc:sldChg chg="modSp add">
        <pc:chgData name="Toran Shahi" userId="9e80e87edecd0726" providerId="Windows Live" clId="Web-{2BA0727E-EB6F-4240-630D-89661CB2D541}" dt="2026-05-25T01:34:56.056" v="93" actId="20577"/>
        <pc:sldMkLst>
          <pc:docMk/>
          <pc:sldMk cId="2028896172" sldId="264"/>
        </pc:sldMkLst>
        <pc:spChg chg="mod">
          <ac:chgData name="Toran Shahi" userId="9e80e87edecd0726" providerId="Windows Live" clId="Web-{2BA0727E-EB6F-4240-630D-89661CB2D541}" dt="2026-05-25T01:20:25.157" v="19" actId="20577"/>
          <ac:spMkLst>
            <pc:docMk/>
            <pc:sldMk cId="2028896172" sldId="264"/>
            <ac:spMk id="2" creationId="{C57AAFDA-F4A5-D0EE-C884-F2F4D1C46CBA}"/>
          </ac:spMkLst>
        </pc:spChg>
        <pc:spChg chg="mod">
          <ac:chgData name="Toran Shahi" userId="9e80e87edecd0726" providerId="Windows Live" clId="Web-{2BA0727E-EB6F-4240-630D-89661CB2D541}" dt="2026-05-25T01:34:56.056" v="93" actId="20577"/>
          <ac:spMkLst>
            <pc:docMk/>
            <pc:sldMk cId="2028896172" sldId="264"/>
            <ac:spMk id="3" creationId="{EF11D623-E612-AE09-C358-96D356FF3BF3}"/>
          </ac:spMkLst>
        </pc:spChg>
      </pc:sldChg>
      <pc:sldChg chg="addSp modSp add replId">
        <pc:chgData name="Toran Shahi" userId="9e80e87edecd0726" providerId="Windows Live" clId="Web-{2BA0727E-EB6F-4240-630D-89661CB2D541}" dt="2026-05-25T02:31:58.903" v="810" actId="20577"/>
        <pc:sldMkLst>
          <pc:docMk/>
          <pc:sldMk cId="201143199" sldId="265"/>
        </pc:sldMkLst>
        <pc:spChg chg="mod">
          <ac:chgData name="Toran Shahi" userId="9e80e87edecd0726" providerId="Windows Live" clId="Web-{2BA0727E-EB6F-4240-630D-89661CB2D541}" dt="2026-05-25T02:04:13.809" v="556" actId="20577"/>
          <ac:spMkLst>
            <pc:docMk/>
            <pc:sldMk cId="201143199" sldId="265"/>
            <ac:spMk id="2" creationId="{DAC69700-9E5F-D590-39F4-6078E3746534}"/>
          </ac:spMkLst>
        </pc:spChg>
        <pc:spChg chg="mod">
          <ac:chgData name="Toran Shahi" userId="9e80e87edecd0726" providerId="Windows Live" clId="Web-{2BA0727E-EB6F-4240-630D-89661CB2D541}" dt="2026-05-25T02:31:58.903" v="810" actId="20577"/>
          <ac:spMkLst>
            <pc:docMk/>
            <pc:sldMk cId="201143199" sldId="265"/>
            <ac:spMk id="3" creationId="{E2AD150D-00E6-2008-6050-3F4FF0EDC328}"/>
          </ac:spMkLst>
        </pc:spChg>
        <pc:spChg chg="add mod ord">
          <ac:chgData name="Toran Shahi" userId="9e80e87edecd0726" providerId="Windows Live" clId="Web-{2BA0727E-EB6F-4240-630D-89661CB2D541}" dt="2026-05-25T02:30:57.730" v="801" actId="1076"/>
          <ac:spMkLst>
            <pc:docMk/>
            <pc:sldMk cId="201143199" sldId="265"/>
            <ac:spMk id="4" creationId="{FCC2E456-4B06-8795-B628-D0F17A40B4F7}"/>
          </ac:spMkLst>
        </pc:spChg>
        <pc:spChg chg="add mod ord modVis">
          <ac:chgData name="Toran Shahi" userId="9e80e87edecd0726" providerId="Windows Live" clId="Web-{2BA0727E-EB6F-4240-630D-89661CB2D541}" dt="2026-05-25T02:31:02.199" v="802" actId="1076"/>
          <ac:spMkLst>
            <pc:docMk/>
            <pc:sldMk cId="201143199" sldId="265"/>
            <ac:spMk id="5" creationId="{C39E54A5-50B4-955D-770E-4CEFE653BB60}"/>
          </ac:spMkLst>
        </pc:spChg>
      </pc:sldChg>
      <pc:sldChg chg="delSp modSp add replId">
        <pc:chgData name="Toran Shahi" userId="9e80e87edecd0726" providerId="Windows Live" clId="Web-{2BA0727E-EB6F-4240-630D-89661CB2D541}" dt="2026-05-25T11:48:13.991" v="2359" actId="1076"/>
        <pc:sldMkLst>
          <pc:docMk/>
          <pc:sldMk cId="1702769275" sldId="266"/>
        </pc:sldMkLst>
        <pc:spChg chg="mod">
          <ac:chgData name="Toran Shahi" userId="9e80e87edecd0726" providerId="Windows Live" clId="Web-{2BA0727E-EB6F-4240-630D-89661CB2D541}" dt="2026-05-25T11:48:11.601" v="2358" actId="20577"/>
          <ac:spMkLst>
            <pc:docMk/>
            <pc:sldMk cId="1702769275" sldId="266"/>
            <ac:spMk id="3" creationId="{7F9AB25F-1118-ACFE-4441-C8F78C68604A}"/>
          </ac:spMkLst>
        </pc:spChg>
        <pc:spChg chg="del mod">
          <ac:chgData name="Toran Shahi" userId="9e80e87edecd0726" providerId="Windows Live" clId="Web-{2BA0727E-EB6F-4240-630D-89661CB2D541}" dt="2026-05-25T11:46:35.085" v="2332"/>
          <ac:spMkLst>
            <pc:docMk/>
            <pc:sldMk cId="1702769275" sldId="266"/>
            <ac:spMk id="4" creationId="{819958AA-FB2F-CBE4-99E6-926D0B7621A5}"/>
          </ac:spMkLst>
        </pc:spChg>
        <pc:spChg chg="mod">
          <ac:chgData name="Toran Shahi" userId="9e80e87edecd0726" providerId="Windows Live" clId="Web-{2BA0727E-EB6F-4240-630D-89661CB2D541}" dt="2026-05-25T11:48:13.991" v="2359" actId="1076"/>
          <ac:spMkLst>
            <pc:docMk/>
            <pc:sldMk cId="1702769275" sldId="266"/>
            <ac:spMk id="5" creationId="{531169EC-BE4D-7911-F956-EB8D0E86D336}"/>
          </ac:spMkLst>
        </pc:spChg>
      </pc:sldChg>
      <pc:sldChg chg="addSp delSp modSp add replId">
        <pc:chgData name="Toran Shahi" userId="9e80e87edecd0726" providerId="Windows Live" clId="Web-{2BA0727E-EB6F-4240-630D-89661CB2D541}" dt="2026-05-25T11:50:25.523" v="2378" actId="1076"/>
        <pc:sldMkLst>
          <pc:docMk/>
          <pc:sldMk cId="2903336109" sldId="267"/>
        </pc:sldMkLst>
        <pc:spChg chg="mod">
          <ac:chgData name="Toran Shahi" userId="9e80e87edecd0726" providerId="Windows Live" clId="Web-{2BA0727E-EB6F-4240-630D-89661CB2D541}" dt="2026-05-25T11:50:08.758" v="2377"/>
          <ac:spMkLst>
            <pc:docMk/>
            <pc:sldMk cId="2903336109" sldId="267"/>
            <ac:spMk id="3" creationId="{070E713B-2F13-8A86-28B2-257B7EEB0AF9}"/>
          </ac:spMkLst>
        </pc:spChg>
        <pc:spChg chg="del">
          <ac:chgData name="Toran Shahi" userId="9e80e87edecd0726" providerId="Windows Live" clId="Web-{2BA0727E-EB6F-4240-630D-89661CB2D541}" dt="2026-05-25T03:48:05.991" v="1771"/>
          <ac:spMkLst>
            <pc:docMk/>
            <pc:sldMk cId="2903336109" sldId="267"/>
            <ac:spMk id="4" creationId="{CB24CCFD-B98B-2C93-4E73-CB59C7BC55E0}"/>
          </ac:spMkLst>
        </pc:spChg>
        <pc:spChg chg="mod">
          <ac:chgData name="Toran Shahi" userId="9e80e87edecd0726" providerId="Windows Live" clId="Web-{2BA0727E-EB6F-4240-630D-89661CB2D541}" dt="2026-05-25T11:50:25.523" v="2378" actId="1076"/>
          <ac:spMkLst>
            <pc:docMk/>
            <pc:sldMk cId="2903336109" sldId="267"/>
            <ac:spMk id="5" creationId="{0F9BDF69-69E5-974E-9506-351391AD1A46}"/>
          </ac:spMkLst>
        </pc:spChg>
        <pc:spChg chg="add mod">
          <ac:chgData name="Toran Shahi" userId="9e80e87edecd0726" providerId="Windows Live" clId="Web-{2BA0727E-EB6F-4240-630D-89661CB2D541}" dt="2026-05-25T11:49:47.914" v="2376" actId="1076"/>
          <ac:spMkLst>
            <pc:docMk/>
            <pc:sldMk cId="2903336109" sldId="267"/>
            <ac:spMk id="6" creationId="{DE24AD30-9E74-52E4-2491-C4614A138A1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6A691F-5A3C-4DBE-89EF-FB41B4826373}" type="datetimeFigureOut">
              <a:t>5/25/2026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04B12F-E454-4DFB-A0CE-658118BD0B15}" type="slidenum">
              <a:t>‹#›</a:t>
            </a:fld>
            <a:endParaRPr lang="en-US"/>
          </a:p>
        </p:txBody>
      </p:sp>
    </p:spTree>
    <p:extLst>
      <p:ext uri="{BB962C8B-B14F-4D97-AF65-F5344CB8AC3E}">
        <p14:creationId xmlns:p14="http://schemas.microsoft.com/office/powerpoint/2010/main" val="1461732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92B64EF9-F507-43D1-85DB-FEE40D9637BC}" type="slidenum">
              <a:rPr lang="en-AU" smtClean="0"/>
              <a:t>2</a:t>
            </a:fld>
            <a:endParaRPr lang="en-AU"/>
          </a:p>
        </p:txBody>
      </p:sp>
    </p:spTree>
    <p:extLst>
      <p:ext uri="{BB962C8B-B14F-4D97-AF65-F5344CB8AC3E}">
        <p14:creationId xmlns:p14="http://schemas.microsoft.com/office/powerpoint/2010/main" val="1758855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ACD8B-C26E-385D-1745-6F9398C4E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EE657-E7DB-44B2-8344-BBE5CB7B5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561AD-651B-EC07-DD99-4CABEFD85F9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A8F4A5D-A79F-896D-4786-54B8491186DD}"/>
              </a:ext>
            </a:extLst>
          </p:cNvPr>
          <p:cNvSpPr>
            <a:spLocks noGrp="1"/>
          </p:cNvSpPr>
          <p:nvPr>
            <p:ph type="sldNum" sz="quarter" idx="5"/>
          </p:nvPr>
        </p:nvSpPr>
        <p:spPr/>
        <p:txBody>
          <a:bodyPr/>
          <a:lstStyle/>
          <a:p>
            <a:fld id="{92B64EF9-F507-43D1-85DB-FEE40D9637BC}" type="slidenum">
              <a:rPr lang="en-AU" smtClean="0"/>
              <a:t>3</a:t>
            </a:fld>
            <a:endParaRPr lang="en-AU"/>
          </a:p>
        </p:txBody>
      </p:sp>
    </p:spTree>
    <p:extLst>
      <p:ext uri="{BB962C8B-B14F-4D97-AF65-F5344CB8AC3E}">
        <p14:creationId xmlns:p14="http://schemas.microsoft.com/office/powerpoint/2010/main" val="3735679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C7249-77CB-A48B-FA75-CC535BA8A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28CB45-2955-CDDC-CF41-3A133DD77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5BD62-49A1-5793-D00A-F5CEA3BD2C8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37CB248-9C1D-CBC9-FFB9-CA656D5E8639}"/>
              </a:ext>
            </a:extLst>
          </p:cNvPr>
          <p:cNvSpPr>
            <a:spLocks noGrp="1"/>
          </p:cNvSpPr>
          <p:nvPr>
            <p:ph type="sldNum" sz="quarter" idx="5"/>
          </p:nvPr>
        </p:nvSpPr>
        <p:spPr/>
        <p:txBody>
          <a:bodyPr/>
          <a:lstStyle/>
          <a:p>
            <a:fld id="{92B64EF9-F507-43D1-85DB-FEE40D9637BC}" type="slidenum">
              <a:rPr lang="en-AU" smtClean="0"/>
              <a:t>4</a:t>
            </a:fld>
            <a:endParaRPr lang="en-AU"/>
          </a:p>
        </p:txBody>
      </p:sp>
    </p:spTree>
    <p:extLst>
      <p:ext uri="{BB962C8B-B14F-4D97-AF65-F5344CB8AC3E}">
        <p14:creationId xmlns:p14="http://schemas.microsoft.com/office/powerpoint/2010/main" val="2435467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C6AAE-0B7D-2208-0C15-6B75B7272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87B41-6818-B6B0-B85C-B08EF391A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9B5C6-3AB9-FCF9-89B7-6A5E5AA2816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DE3B4A5-EFE3-7EE5-82D6-F8E1669BA645}"/>
              </a:ext>
            </a:extLst>
          </p:cNvPr>
          <p:cNvSpPr>
            <a:spLocks noGrp="1"/>
          </p:cNvSpPr>
          <p:nvPr>
            <p:ph type="sldNum" sz="quarter" idx="5"/>
          </p:nvPr>
        </p:nvSpPr>
        <p:spPr/>
        <p:txBody>
          <a:bodyPr/>
          <a:lstStyle/>
          <a:p>
            <a:fld id="{92B64EF9-F507-43D1-85DB-FEE40D9637BC}" type="slidenum">
              <a:rPr lang="en-AU" smtClean="0"/>
              <a:t>5</a:t>
            </a:fld>
            <a:endParaRPr lang="en-AU"/>
          </a:p>
        </p:txBody>
      </p:sp>
    </p:spTree>
    <p:extLst>
      <p:ext uri="{BB962C8B-B14F-4D97-AF65-F5344CB8AC3E}">
        <p14:creationId xmlns:p14="http://schemas.microsoft.com/office/powerpoint/2010/main" val="50976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7EB2D3-BDF9-9298-ED42-678A0A7C0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AAFDA-F4A5-D0EE-C884-F2F4D1C46CBA}"/>
              </a:ext>
            </a:extLst>
          </p:cNvPr>
          <p:cNvSpPr>
            <a:spLocks noGrp="1"/>
          </p:cNvSpPr>
          <p:nvPr>
            <p:ph type="ctrTitle"/>
          </p:nvPr>
        </p:nvSpPr>
        <p:spPr>
          <a:xfrm>
            <a:off x="841248" y="548640"/>
            <a:ext cx="3273552" cy="5431536"/>
          </a:xfrm>
        </p:spPr>
        <p:txBody>
          <a:bodyPr vert="horz" lIns="91440" tIns="45720" rIns="91440" bIns="45720" rtlCol="0" anchor="ctr">
            <a:normAutofit/>
          </a:bodyPr>
          <a:lstStyle/>
          <a:p>
            <a:pPr algn="l"/>
            <a:r>
              <a:rPr lang="en-US" sz="5400">
                <a:solidFill>
                  <a:srgbClr val="C00000"/>
                </a:solidFill>
              </a:rPr>
              <a:t>STATIC ROUTING</a:t>
            </a:r>
            <a:endParaRPr lang="en-US" sz="5400" kern="1200">
              <a:solidFill>
                <a:srgbClr val="C00000"/>
              </a:solidFill>
              <a:latin typeface="+mj-lt"/>
            </a:endParaRPr>
          </a:p>
        </p:txBody>
      </p:sp>
      <p:sp>
        <p:nvSpPr>
          <p:cNvPr id="3" name="Subtitle 2">
            <a:extLst>
              <a:ext uri="{FF2B5EF4-FFF2-40B4-BE49-F238E27FC236}">
                <a16:creationId xmlns:a16="http://schemas.microsoft.com/office/drawing/2014/main" id="{EF11D623-E612-AE09-C358-96D356FF3BF3}"/>
              </a:ext>
            </a:extLst>
          </p:cNvPr>
          <p:cNvSpPr>
            <a:spLocks noGrp="1"/>
          </p:cNvSpPr>
          <p:nvPr>
            <p:ph type="subTitle" idx="1"/>
          </p:nvPr>
        </p:nvSpPr>
        <p:spPr>
          <a:xfrm>
            <a:off x="4793408" y="337458"/>
            <a:ext cx="7126014" cy="6281056"/>
          </a:xfrm>
        </p:spPr>
        <p:txBody>
          <a:bodyPr vert="horz" lIns="91440" tIns="45720" rIns="91440" bIns="45720" rtlCol="0" anchor="ctr">
            <a:noAutofit/>
          </a:bodyPr>
          <a:lstStyle/>
          <a:p>
            <a:pPr indent="-228600" algn="l">
              <a:buFont typeface="Arial" panose="020B0604020202020204" pitchFamily="34" charset="0"/>
              <a:buChar char="•"/>
            </a:pPr>
            <a:r>
              <a:rPr lang="en-US" sz="2800" b="1" dirty="0"/>
              <a:t>Learning Outcomes:</a:t>
            </a:r>
          </a:p>
          <a:p>
            <a:pPr indent="-228600" algn="l">
              <a:buFont typeface="Arial" panose="020B0604020202020204" pitchFamily="34" charset="0"/>
              <a:buChar char="•"/>
            </a:pPr>
            <a:endParaRPr lang="en-US" sz="2800" b="1" dirty="0">
              <a:solidFill>
                <a:srgbClr val="000000"/>
              </a:solidFill>
            </a:endParaRPr>
          </a:p>
          <a:p>
            <a:pPr marL="1200150" lvl="1" indent="-457200" algn="l">
              <a:buFont typeface="+mj-lt"/>
              <a:buAutoNum type="arabicPeriod"/>
            </a:pPr>
            <a:r>
              <a:rPr lang="en-US" sz="2800" b="1">
                <a:solidFill>
                  <a:schemeClr val="accent6"/>
                </a:solidFill>
              </a:rPr>
              <a:t>Types of Static routing</a:t>
            </a:r>
            <a:endParaRPr lang="en-US" sz="2800">
              <a:solidFill>
                <a:schemeClr val="accent6"/>
              </a:solidFill>
            </a:endParaRPr>
          </a:p>
          <a:p>
            <a:pPr marL="1200150" lvl="1" indent="-457200" algn="l">
              <a:buFont typeface="+mj-lt"/>
              <a:buAutoNum type="arabicPeriod"/>
            </a:pPr>
            <a:r>
              <a:rPr lang="en-US" sz="2800" b="1">
                <a:solidFill>
                  <a:schemeClr val="accent6"/>
                </a:solidFill>
              </a:rPr>
              <a:t>How they differ from one another</a:t>
            </a:r>
            <a:r>
              <a:rPr lang="en-US" sz="2800" dirty="0"/>
              <a:t> </a:t>
            </a:r>
          </a:p>
          <a:p>
            <a:pPr marL="1200150" lvl="1" indent="-457200" algn="l">
              <a:buFont typeface="+mj-lt"/>
              <a:buAutoNum type="arabicPeriod"/>
            </a:pPr>
            <a:r>
              <a:rPr lang="en-US" sz="2800" b="1">
                <a:solidFill>
                  <a:schemeClr val="accent6"/>
                </a:solidFill>
              </a:rPr>
              <a:t>Configuration Commands</a:t>
            </a:r>
            <a:endParaRPr lang="en-US" sz="2800" b="1" dirty="0">
              <a:solidFill>
                <a:schemeClr val="accent6"/>
              </a:solidFill>
            </a:endParaRPr>
          </a:p>
          <a:p>
            <a:pPr marL="742950" lvl="1" algn="l"/>
            <a:endParaRPr lang="en-US" sz="2800" dirty="0"/>
          </a:p>
        </p:txBody>
      </p:sp>
    </p:spTree>
    <p:extLst>
      <p:ext uri="{BB962C8B-B14F-4D97-AF65-F5344CB8AC3E}">
        <p14:creationId xmlns:p14="http://schemas.microsoft.com/office/powerpoint/2010/main" val="202889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4306B-2FA9-DBD0-4879-2F0F9F640255}"/>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1. Types of Static Routing</a:t>
            </a:r>
          </a:p>
        </p:txBody>
      </p:sp>
      <p:sp>
        <p:nvSpPr>
          <p:cNvPr id="3" name="Content Placeholder 2">
            <a:extLst>
              <a:ext uri="{FF2B5EF4-FFF2-40B4-BE49-F238E27FC236}">
                <a16:creationId xmlns:a16="http://schemas.microsoft.com/office/drawing/2014/main" id="{19642708-C46C-0C1F-6CBC-B422CA064D0D}"/>
              </a:ext>
            </a:extLst>
          </p:cNvPr>
          <p:cNvSpPr>
            <a:spLocks noGrp="1"/>
          </p:cNvSpPr>
          <p:nvPr>
            <p:ph idx="1"/>
          </p:nvPr>
        </p:nvSpPr>
        <p:spPr>
          <a:xfrm>
            <a:off x="4973179" y="1715165"/>
            <a:ext cx="6454962" cy="3429266"/>
          </a:xfrm>
        </p:spPr>
        <p:txBody>
          <a:bodyPr vert="horz" lIns="91440" tIns="45720" rIns="91440" bIns="45720" rtlCol="0" anchor="t">
            <a:normAutofit/>
          </a:bodyPr>
          <a:lstStyle/>
          <a:p>
            <a:pPr algn="just"/>
            <a:r>
              <a:rPr lang="en-US" b="1" dirty="0"/>
              <a:t>Directly Attached Static </a:t>
            </a:r>
            <a:r>
              <a:rPr lang="en-US" b="1"/>
              <a:t>Routing</a:t>
            </a:r>
            <a:endParaRPr lang="en-US" b="1" dirty="0"/>
          </a:p>
          <a:p>
            <a:pPr algn="just"/>
            <a:r>
              <a:rPr lang="en-US" b="1"/>
              <a:t>Recursive Static Routing</a:t>
            </a:r>
            <a:endParaRPr lang="en-US" b="1" dirty="0"/>
          </a:p>
          <a:p>
            <a:pPr algn="just"/>
            <a:r>
              <a:rPr lang="en-US" b="1" dirty="0"/>
              <a:t>Multi-hop </a:t>
            </a:r>
            <a:r>
              <a:rPr lang="en-US" b="1"/>
              <a:t>Topology Recursive Static Routing</a:t>
            </a:r>
            <a:endParaRPr lang="en-US" b="1" dirty="0"/>
          </a:p>
          <a:p>
            <a:pPr algn="just"/>
            <a:r>
              <a:rPr lang="en-US" b="1" dirty="0"/>
              <a:t>Fully Sp</a:t>
            </a:r>
            <a:r>
              <a:rPr lang="en-US" b="1"/>
              <a:t>ecified Static Routing</a:t>
            </a:r>
            <a:endParaRPr lang="en-US" b="1" dirty="0"/>
          </a:p>
          <a:p>
            <a:pPr algn="just"/>
            <a:r>
              <a:rPr lang="en-US" b="1"/>
              <a:t>Floating Static Routing</a:t>
            </a:r>
            <a:endParaRPr lang="en-US" b="1" dirty="0"/>
          </a:p>
          <a:p>
            <a:pPr algn="just"/>
            <a:r>
              <a:rPr lang="en-US" b="1"/>
              <a:t>Null Static Routing</a:t>
            </a:r>
            <a:endParaRPr lang="en-US" b="1" dirty="0"/>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1516740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FA576-5A35-7146-DCD9-33F994136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69700-9E5F-D590-39F4-6078E3746534}"/>
              </a:ext>
            </a:extLst>
          </p:cNvPr>
          <p:cNvSpPr>
            <a:spLocks noGrp="1"/>
          </p:cNvSpPr>
          <p:nvPr>
            <p:ph type="title"/>
          </p:nvPr>
        </p:nvSpPr>
        <p:spPr>
          <a:xfrm>
            <a:off x="1" y="0"/>
            <a:ext cx="4103914" cy="6858000"/>
          </a:xfrm>
          <a:solidFill>
            <a:schemeClr val="accent2"/>
          </a:solidFill>
        </p:spPr>
        <p:txBody>
          <a:bodyPr>
            <a:normAutofit/>
          </a:bodyPr>
          <a:lstStyle/>
          <a:p>
            <a:pPr algn="ctr"/>
            <a:r>
              <a:rPr lang="en-US" b="1" dirty="0">
                <a:solidFill>
                  <a:schemeClr val="bg1"/>
                </a:solidFill>
              </a:rPr>
              <a:t>2. Description and </a:t>
            </a:r>
            <a:r>
              <a:rPr lang="en-US" b="1">
                <a:solidFill>
                  <a:schemeClr val="bg1"/>
                </a:solidFill>
              </a:rPr>
              <a:t>Configuration</a:t>
            </a:r>
            <a:r>
              <a:rPr lang="en-US" b="1" dirty="0">
                <a:solidFill>
                  <a:schemeClr val="bg1"/>
                </a:solidFill>
              </a:rPr>
              <a:t> Commands</a:t>
            </a:r>
          </a:p>
        </p:txBody>
      </p:sp>
      <p:sp>
        <p:nvSpPr>
          <p:cNvPr id="3" name="Content Placeholder 2">
            <a:extLst>
              <a:ext uri="{FF2B5EF4-FFF2-40B4-BE49-F238E27FC236}">
                <a16:creationId xmlns:a16="http://schemas.microsoft.com/office/drawing/2014/main" id="{E2AD150D-00E6-2008-6050-3F4FF0EDC328}"/>
              </a:ext>
            </a:extLst>
          </p:cNvPr>
          <p:cNvSpPr>
            <a:spLocks noGrp="1"/>
          </p:cNvSpPr>
          <p:nvPr>
            <p:ph idx="1"/>
          </p:nvPr>
        </p:nvSpPr>
        <p:spPr>
          <a:xfrm>
            <a:off x="4359862" y="237629"/>
            <a:ext cx="7681596" cy="6458680"/>
          </a:xfrm>
        </p:spPr>
        <p:txBody>
          <a:bodyPr vert="horz" lIns="91440" tIns="45720" rIns="91440" bIns="45720" rtlCol="0" anchor="t">
            <a:normAutofit fontScale="92500" lnSpcReduction="20000"/>
          </a:bodyPr>
          <a:lstStyle/>
          <a:p>
            <a:pPr algn="just"/>
            <a:r>
              <a:rPr lang="en-US" b="1"/>
              <a:t>Directly Attached Static Routing: </a:t>
            </a:r>
            <a:endParaRPr lang="en-US">
              <a:ea typeface="+mn-lt"/>
              <a:cs typeface="+mn-lt"/>
            </a:endParaRPr>
          </a:p>
          <a:p>
            <a:pPr marL="457200" lvl="1" indent="0" algn="just">
              <a:buNone/>
            </a:pPr>
            <a:r>
              <a:rPr lang="en-US" dirty="0">
                <a:ea typeface="+mn-lt"/>
                <a:cs typeface="+mn-lt"/>
              </a:rPr>
              <a:t>A static route that uses only the outbound next-hop interface. Typically used in links with serial interfaces as they do not maintain adjacency tables and do not use </a:t>
            </a:r>
            <a:r>
              <a:rPr lang="en-US" dirty="0" err="1">
                <a:ea typeface="+mn-lt"/>
                <a:cs typeface="+mn-lt"/>
              </a:rPr>
              <a:t>ARP.Not</a:t>
            </a:r>
            <a:r>
              <a:rPr lang="en-US" dirty="0">
                <a:ea typeface="+mn-lt"/>
                <a:cs typeface="+mn-lt"/>
              </a:rPr>
              <a:t> recommended with ethernet links as </a:t>
            </a:r>
            <a:r>
              <a:rPr lang="en-US" dirty="0" err="1">
                <a:ea typeface="+mn-lt"/>
                <a:cs typeface="+mn-lt"/>
              </a:rPr>
              <a:t>it</a:t>
            </a:r>
            <a:r>
              <a:rPr lang="en-US" dirty="0">
                <a:ea typeface="+mn-lt"/>
                <a:cs typeface="+mn-lt"/>
              </a:rPr>
              <a:t> may cause system instability due to ARP lookup for each destination matching the route.</a:t>
            </a:r>
            <a:endParaRPr lang="en-US" dirty="0"/>
          </a:p>
          <a:p>
            <a:pPr marL="457200" lvl="1" indent="0" algn="just">
              <a:buNone/>
            </a:pPr>
            <a:endParaRPr lang="en-US" dirty="0"/>
          </a:p>
          <a:p>
            <a:pPr algn="just"/>
            <a:endParaRPr lang="en-US" b="1" dirty="0"/>
          </a:p>
          <a:p>
            <a:pPr algn="just"/>
            <a:r>
              <a:rPr lang="en-US" b="1"/>
              <a:t>Recursive Static Routing: </a:t>
            </a:r>
            <a:endParaRPr lang="en-US" b="1" dirty="0">
              <a:ea typeface="+mn-lt"/>
              <a:cs typeface="+mn-lt"/>
            </a:endParaRPr>
          </a:p>
          <a:p>
            <a:pPr marL="457200" lvl="1" indent="0" algn="just">
              <a:buNone/>
            </a:pPr>
            <a:r>
              <a:rPr lang="en-US">
                <a:ea typeface="+mn-lt"/>
                <a:cs typeface="+mn-lt"/>
              </a:rPr>
              <a:t>A recursive static route specifies the IP address of the next-hop address. </a:t>
            </a:r>
            <a:endParaRPr lang="en-US" b="1"/>
          </a:p>
          <a:p>
            <a:pPr marL="457200" lvl="1" indent="0" algn="just">
              <a:buNone/>
            </a:pPr>
            <a:endParaRPr lang="en-US" b="1" dirty="0"/>
          </a:p>
          <a:p>
            <a:pPr algn="just"/>
            <a:endParaRPr lang="en-US" b="1" dirty="0"/>
          </a:p>
          <a:p>
            <a:pPr lvl="1" algn="just">
              <a:buNone/>
            </a:pPr>
            <a:endParaRPr lang="en-US" dirty="0">
              <a:ea typeface="+mn-lt"/>
              <a:cs typeface="+mn-lt"/>
            </a:endParaRPr>
          </a:p>
          <a:p>
            <a:pPr lvl="1" algn="just">
              <a:buNone/>
            </a:pPr>
            <a:r>
              <a:rPr lang="en-US" dirty="0">
                <a:ea typeface="+mn-lt"/>
                <a:cs typeface="+mn-lt"/>
              </a:rPr>
              <a:t>Forwarding engine on Cisco devices needs to know which </a:t>
            </a:r>
            <a:endParaRPr lang="en-US" dirty="0"/>
          </a:p>
          <a:p>
            <a:pPr lvl="1" algn="just">
              <a:buNone/>
            </a:pPr>
            <a:r>
              <a:rPr lang="en-US" dirty="0">
                <a:ea typeface="+mn-lt"/>
                <a:cs typeface="+mn-lt"/>
              </a:rPr>
              <a:t>interface </a:t>
            </a:r>
            <a:r>
              <a:rPr lang="en-US" dirty="0" err="1">
                <a:ea typeface="+mn-lt"/>
                <a:cs typeface="+mn-lt"/>
              </a:rPr>
              <a:t>an</a:t>
            </a:r>
            <a:r>
              <a:rPr lang="en-US" sz="2400" dirty="0">
                <a:ea typeface="+mn-lt"/>
                <a:cs typeface="+mn-lt"/>
              </a:rPr>
              <a:t> outbound packet should use.</a:t>
            </a:r>
            <a:r>
              <a:rPr lang="en-US" dirty="0">
                <a:ea typeface="+mn-lt"/>
                <a:cs typeface="+mn-lt"/>
              </a:rPr>
              <a:t> Recursive</a:t>
            </a:r>
          </a:p>
          <a:p>
            <a:pPr lvl="1" algn="just">
              <a:buNone/>
            </a:pPr>
            <a:r>
              <a:rPr lang="en-US" dirty="0">
                <a:ea typeface="+mn-lt"/>
                <a:cs typeface="+mn-lt"/>
              </a:rPr>
              <a:t>lookup occurs</a:t>
            </a:r>
            <a:r>
              <a:rPr lang="en-US" sz="2400" dirty="0">
                <a:ea typeface="+mn-lt"/>
                <a:cs typeface="+mn-lt"/>
              </a:rPr>
              <a:t> when the router queries the RIB to </a:t>
            </a:r>
            <a:r>
              <a:rPr lang="en-US">
                <a:ea typeface="+mn-lt"/>
                <a:cs typeface="+mn-lt"/>
              </a:rPr>
              <a:t>locate</a:t>
            </a:r>
          </a:p>
          <a:p>
            <a:pPr lvl="1" algn="just">
              <a:buNone/>
            </a:pPr>
            <a:r>
              <a:rPr lang="en-US">
                <a:ea typeface="+mn-lt"/>
                <a:cs typeface="+mn-lt"/>
              </a:rPr>
              <a:t>the</a:t>
            </a:r>
            <a:r>
              <a:rPr lang="en-US" sz="2400">
                <a:ea typeface="+mn-lt"/>
                <a:cs typeface="+mn-lt"/>
              </a:rPr>
              <a:t> </a:t>
            </a:r>
            <a:r>
              <a:rPr lang="en-US">
                <a:ea typeface="+mn-lt"/>
                <a:cs typeface="+mn-lt"/>
              </a:rPr>
              <a:t>route toward</a:t>
            </a:r>
            <a:r>
              <a:rPr lang="en-US" sz="2400">
                <a:ea typeface="+mn-lt"/>
                <a:cs typeface="+mn-lt"/>
              </a:rPr>
              <a:t> </a:t>
            </a:r>
            <a:r>
              <a:rPr lang="en-US">
                <a:ea typeface="+mn-lt"/>
                <a:cs typeface="+mn-lt"/>
              </a:rPr>
              <a:t>the next-hop IP address (connected, </a:t>
            </a:r>
          </a:p>
          <a:p>
            <a:pPr lvl="1" algn="just">
              <a:buNone/>
            </a:pPr>
            <a:r>
              <a:rPr lang="en-US">
                <a:ea typeface="+mn-lt"/>
                <a:cs typeface="+mn-lt"/>
              </a:rPr>
              <a:t>static, or dynamic) and then cross-references the</a:t>
            </a:r>
          </a:p>
          <a:p>
            <a:pPr lvl="1" algn="just">
              <a:buNone/>
            </a:pPr>
            <a:r>
              <a:rPr lang="en-US">
                <a:ea typeface="+mn-lt"/>
                <a:cs typeface="+mn-lt"/>
              </a:rPr>
              <a:t>adjacency table.</a:t>
            </a:r>
            <a:endParaRPr lang="en-US"/>
          </a:p>
          <a:p>
            <a:pPr algn="just"/>
            <a:endParaRPr lang="en-US" b="1" dirty="0"/>
          </a:p>
          <a:p>
            <a:pPr marL="0" indent="0" algn="just">
              <a:buNone/>
            </a:pPr>
            <a:endParaRPr lang="en-US" b="1" dirty="0"/>
          </a:p>
          <a:p>
            <a:pPr algn="just"/>
            <a:endParaRPr lang="en-US" dirty="0"/>
          </a:p>
          <a:p>
            <a:endParaRPr lang="en-US" dirty="0"/>
          </a:p>
          <a:p>
            <a:endParaRPr lang="en-US" dirty="0"/>
          </a:p>
          <a:p>
            <a:endParaRPr lang="en-AU" dirty="0"/>
          </a:p>
        </p:txBody>
      </p:sp>
      <p:sp>
        <p:nvSpPr>
          <p:cNvPr id="4" name="TextBox 3">
            <a:extLst>
              <a:ext uri="{FF2B5EF4-FFF2-40B4-BE49-F238E27FC236}">
                <a16:creationId xmlns:a16="http://schemas.microsoft.com/office/drawing/2014/main" id="{FCC2E456-4B06-8795-B628-D0F17A40B4F7}"/>
              </a:ext>
            </a:extLst>
          </p:cNvPr>
          <p:cNvSpPr txBox="1">
            <a:spLocks noChangeAspect="1"/>
          </p:cNvSpPr>
          <p:nvPr/>
        </p:nvSpPr>
        <p:spPr>
          <a:xfrm>
            <a:off x="4950161" y="2077947"/>
            <a:ext cx="6729967" cy="646331"/>
          </a:xfrm>
          <a:prstGeom prst="rect">
            <a:avLst/>
          </a:prstGeom>
          <a:solidFill>
            <a:schemeClr val="bg1">
              <a:lumMod val="8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solidFill>
                  <a:schemeClr val="accent3">
                    <a:lumMod val="76000"/>
                  </a:schemeClr>
                </a:solidFill>
                <a:ea typeface="+mn-lt"/>
                <a:cs typeface="+mn-lt"/>
              </a:rPr>
              <a:t>ip</a:t>
            </a:r>
            <a:r>
              <a:rPr lang="en-US" b="1" dirty="0">
                <a:solidFill>
                  <a:schemeClr val="accent3">
                    <a:lumMod val="76000"/>
                  </a:schemeClr>
                </a:solidFill>
                <a:ea typeface="+mn-lt"/>
                <a:cs typeface="+mn-lt"/>
              </a:rPr>
              <a:t> route </a:t>
            </a:r>
            <a:r>
              <a:rPr lang="en-US" b="1" i="1" dirty="0">
                <a:solidFill>
                  <a:schemeClr val="accent3">
                    <a:lumMod val="76000"/>
                  </a:schemeClr>
                </a:solidFill>
                <a:latin typeface="Comic Sans MS"/>
                <a:ea typeface="Calibri"/>
                <a:cs typeface="Calibri"/>
              </a:rPr>
              <a:t>network</a:t>
            </a:r>
            <a:r>
              <a:rPr lang="en-US" b="1" dirty="0">
                <a:solidFill>
                  <a:schemeClr val="accent3">
                    <a:lumMod val="76000"/>
                  </a:schemeClr>
                </a:solidFill>
                <a:latin typeface="Comic Sans MS"/>
                <a:ea typeface="Calibri"/>
                <a:cs typeface="Calibri"/>
              </a:rPr>
              <a:t> </a:t>
            </a:r>
            <a:r>
              <a:rPr lang="en-US" b="1" i="1" dirty="0">
                <a:solidFill>
                  <a:schemeClr val="accent3">
                    <a:lumMod val="76000"/>
                  </a:schemeClr>
                </a:solidFill>
                <a:latin typeface="Comic Sans MS"/>
                <a:ea typeface="Calibri"/>
                <a:cs typeface="Calibri"/>
              </a:rPr>
              <a:t>subnet-mask</a:t>
            </a:r>
            <a:r>
              <a:rPr lang="en-US" b="1" dirty="0">
                <a:solidFill>
                  <a:schemeClr val="accent3">
                    <a:lumMod val="76000"/>
                  </a:schemeClr>
                </a:solidFill>
                <a:latin typeface="Comic Sans MS"/>
                <a:ea typeface="Calibri"/>
                <a:cs typeface="Calibri"/>
              </a:rPr>
              <a:t> </a:t>
            </a:r>
            <a:r>
              <a:rPr lang="en-US" b="1" i="1" dirty="0">
                <a:solidFill>
                  <a:schemeClr val="accent3">
                    <a:lumMod val="76000"/>
                  </a:schemeClr>
                </a:solidFill>
                <a:latin typeface="Comic Sans MS"/>
                <a:ea typeface="Calibri"/>
                <a:cs typeface="Calibri"/>
              </a:rPr>
              <a:t>next-hop-interface-id</a:t>
            </a:r>
          </a:p>
          <a:p>
            <a:r>
              <a:rPr lang="en-US" b="1" dirty="0" err="1">
                <a:solidFill>
                  <a:schemeClr val="accent3">
                    <a:lumMod val="76000"/>
                  </a:schemeClr>
                </a:solidFill>
              </a:rPr>
              <a:t>ip</a:t>
            </a:r>
            <a:r>
              <a:rPr lang="en-US" b="1" dirty="0">
                <a:solidFill>
                  <a:schemeClr val="accent3">
                    <a:lumMod val="76000"/>
                  </a:schemeClr>
                </a:solidFill>
              </a:rPr>
              <a:t> route </a:t>
            </a:r>
            <a:r>
              <a:rPr lang="en-US" b="1" dirty="0">
                <a:solidFill>
                  <a:schemeClr val="accent3">
                    <a:lumMod val="76000"/>
                  </a:schemeClr>
                </a:solidFill>
                <a:latin typeface="Aptos"/>
                <a:ea typeface="Calibri"/>
                <a:cs typeface="Calibri"/>
              </a:rPr>
              <a:t>10.1.17.0 255.255.255.0 Gi0/0</a:t>
            </a:r>
            <a:r>
              <a:rPr lang="en-US" b="1" dirty="0">
                <a:solidFill>
                  <a:schemeClr val="accent3">
                    <a:lumMod val="76000"/>
                  </a:schemeClr>
                </a:solidFill>
              </a:rPr>
              <a:t> </a:t>
            </a:r>
          </a:p>
        </p:txBody>
      </p:sp>
      <p:sp>
        <p:nvSpPr>
          <p:cNvPr id="5" name="TextBox 4">
            <a:extLst>
              <a:ext uri="{FF2B5EF4-FFF2-40B4-BE49-F238E27FC236}">
                <a16:creationId xmlns:a16="http://schemas.microsoft.com/office/drawing/2014/main" id="{C39E54A5-50B4-955D-770E-4CEFE653BB60}"/>
              </a:ext>
            </a:extLst>
          </p:cNvPr>
          <p:cNvSpPr txBox="1"/>
          <p:nvPr/>
        </p:nvSpPr>
        <p:spPr>
          <a:xfrm>
            <a:off x="4950159" y="3741336"/>
            <a:ext cx="6729967" cy="646331"/>
          </a:xfrm>
          <a:prstGeom prst="rect">
            <a:avLst/>
          </a:prstGeom>
          <a:solidFill>
            <a:schemeClr val="bg1">
              <a:lumMod val="8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solidFill>
                  <a:schemeClr val="accent3">
                    <a:lumMod val="76000"/>
                  </a:schemeClr>
                </a:solidFill>
                <a:ea typeface="+mn-lt"/>
                <a:cs typeface="+mn-lt"/>
              </a:rPr>
              <a:t>ip</a:t>
            </a:r>
            <a:r>
              <a:rPr lang="en-US" b="1" dirty="0">
                <a:solidFill>
                  <a:schemeClr val="accent3">
                    <a:lumMod val="76000"/>
                  </a:schemeClr>
                </a:solidFill>
                <a:ea typeface="+mn-lt"/>
                <a:cs typeface="+mn-lt"/>
              </a:rPr>
              <a:t> route </a:t>
            </a:r>
            <a:r>
              <a:rPr lang="en-US" b="1" i="1" dirty="0">
                <a:solidFill>
                  <a:schemeClr val="accent3">
                    <a:lumMod val="76000"/>
                  </a:schemeClr>
                </a:solidFill>
                <a:latin typeface="Comic Sans MS"/>
                <a:ea typeface="Calibri"/>
                <a:cs typeface="Calibri"/>
              </a:rPr>
              <a:t>network subnet-mask next-hop-</a:t>
            </a:r>
            <a:r>
              <a:rPr lang="en-US" b="1" i="1" dirty="0" err="1">
                <a:solidFill>
                  <a:schemeClr val="accent3">
                    <a:lumMod val="76000"/>
                  </a:schemeClr>
                </a:solidFill>
                <a:latin typeface="Comic Sans MS"/>
                <a:ea typeface="Calibri"/>
                <a:cs typeface="Calibri"/>
              </a:rPr>
              <a:t>ip</a:t>
            </a:r>
          </a:p>
          <a:p>
            <a:r>
              <a:rPr lang="en-US" b="1" dirty="0" err="1">
                <a:solidFill>
                  <a:schemeClr val="accent3">
                    <a:lumMod val="76000"/>
                  </a:schemeClr>
                </a:solidFill>
                <a:ea typeface="+mn-lt"/>
                <a:cs typeface="+mn-lt"/>
              </a:rPr>
              <a:t>ip</a:t>
            </a:r>
            <a:r>
              <a:rPr lang="en-US" b="1" dirty="0">
                <a:solidFill>
                  <a:schemeClr val="accent3">
                    <a:lumMod val="76000"/>
                  </a:schemeClr>
                </a:solidFill>
                <a:ea typeface="+mn-lt"/>
                <a:cs typeface="+mn-lt"/>
              </a:rPr>
              <a:t> route 10.1.16.0 255.255.255.0 10.1.12.2 </a:t>
            </a:r>
          </a:p>
        </p:txBody>
      </p:sp>
    </p:spTree>
    <p:extLst>
      <p:ext uri="{BB962C8B-B14F-4D97-AF65-F5344CB8AC3E}">
        <p14:creationId xmlns:p14="http://schemas.microsoft.com/office/powerpoint/2010/main" val="201143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F43B8-B1DA-10A0-BAC1-50C2589C6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72ABD-3070-E713-B750-BF597F1E4362}"/>
              </a:ext>
            </a:extLst>
          </p:cNvPr>
          <p:cNvSpPr>
            <a:spLocks noGrp="1"/>
          </p:cNvSpPr>
          <p:nvPr>
            <p:ph type="title"/>
          </p:nvPr>
        </p:nvSpPr>
        <p:spPr>
          <a:xfrm>
            <a:off x="1" y="0"/>
            <a:ext cx="4103914" cy="6858000"/>
          </a:xfrm>
          <a:solidFill>
            <a:schemeClr val="accent2"/>
          </a:solidFill>
        </p:spPr>
        <p:txBody>
          <a:bodyPr>
            <a:normAutofit/>
          </a:bodyPr>
          <a:lstStyle/>
          <a:p>
            <a:pPr algn="ctr"/>
            <a:r>
              <a:rPr lang="en-US" b="1" dirty="0">
                <a:solidFill>
                  <a:schemeClr val="bg1"/>
                </a:solidFill>
              </a:rPr>
              <a:t>2. Description and </a:t>
            </a:r>
            <a:r>
              <a:rPr lang="en-US" b="1">
                <a:solidFill>
                  <a:schemeClr val="bg1"/>
                </a:solidFill>
              </a:rPr>
              <a:t>Configuration</a:t>
            </a:r>
            <a:r>
              <a:rPr lang="en-US" b="1" dirty="0">
                <a:solidFill>
                  <a:schemeClr val="bg1"/>
                </a:solidFill>
              </a:rPr>
              <a:t> Commands</a:t>
            </a:r>
          </a:p>
        </p:txBody>
      </p:sp>
      <p:sp>
        <p:nvSpPr>
          <p:cNvPr id="3" name="Content Placeholder 2">
            <a:extLst>
              <a:ext uri="{FF2B5EF4-FFF2-40B4-BE49-F238E27FC236}">
                <a16:creationId xmlns:a16="http://schemas.microsoft.com/office/drawing/2014/main" id="{7F9AB25F-1118-ACFE-4441-C8F78C68604A}"/>
              </a:ext>
            </a:extLst>
          </p:cNvPr>
          <p:cNvSpPr>
            <a:spLocks noGrp="1"/>
          </p:cNvSpPr>
          <p:nvPr>
            <p:ph idx="1"/>
          </p:nvPr>
        </p:nvSpPr>
        <p:spPr>
          <a:xfrm>
            <a:off x="4359862" y="237629"/>
            <a:ext cx="7681596" cy="6458680"/>
          </a:xfrm>
        </p:spPr>
        <p:txBody>
          <a:bodyPr vert="horz" lIns="91440" tIns="45720" rIns="91440" bIns="45720" rtlCol="0" anchor="t">
            <a:normAutofit fontScale="92500" lnSpcReduction="10000"/>
          </a:bodyPr>
          <a:lstStyle/>
          <a:p>
            <a:pPr algn="just"/>
            <a:r>
              <a:rPr lang="en-US" sz="2400" b="1"/>
              <a:t>Multi-hop Topology Recursive Static Routing:</a:t>
            </a:r>
            <a:endParaRPr lang="en-US" sz="2400"/>
          </a:p>
          <a:p>
            <a:pPr marL="457200" lvl="1" indent="0" algn="just">
              <a:buNone/>
            </a:pPr>
            <a:r>
              <a:rPr lang="en-US" sz="2700" dirty="0"/>
              <a:t>A recursive static route with multi-hop topology can specify the next-hop-</a:t>
            </a:r>
            <a:r>
              <a:rPr lang="en-US" sz="2700" dirty="0" err="1"/>
              <a:t>ip</a:t>
            </a:r>
            <a:r>
              <a:rPr lang="en-US" sz="2700" dirty="0"/>
              <a:t> of an interface that is multiple hop away. In such case, the router performs multiple recursive lookup when building the CEF entry for the destination network.</a:t>
            </a:r>
          </a:p>
          <a:p>
            <a:pPr algn="just"/>
            <a:r>
              <a:rPr lang="en-US" sz="2400" b="1"/>
              <a:t>Fully Specified Static Routing:</a:t>
            </a:r>
            <a:endParaRPr lang="en-US" sz="2400"/>
          </a:p>
          <a:p>
            <a:pPr marL="457200" lvl="1" indent="0" algn="just">
              <a:buNone/>
            </a:pPr>
            <a:r>
              <a:rPr lang="en-US" sz="2700" dirty="0"/>
              <a:t>A static route with both the outbound interface and next-hop-</a:t>
            </a:r>
            <a:r>
              <a:rPr lang="en-US" sz="2700" dirty="0" err="1"/>
              <a:t>ip</a:t>
            </a:r>
            <a:r>
              <a:rPr lang="en-US" sz="2700" dirty="0"/>
              <a:t> address is called fully specified static route. </a:t>
            </a:r>
          </a:p>
          <a:p>
            <a:pPr marL="457200" lvl="1" indent="0" algn="just">
              <a:buNone/>
            </a:pPr>
            <a:endParaRPr lang="en-US" sz="2700" dirty="0"/>
          </a:p>
          <a:p>
            <a:pPr marL="457200" lvl="1" indent="0" algn="just">
              <a:buNone/>
            </a:pPr>
            <a:endParaRPr lang="en-US" sz="2700" dirty="0"/>
          </a:p>
          <a:p>
            <a:pPr marL="457200" lvl="1" indent="0" algn="just">
              <a:buNone/>
            </a:pPr>
            <a:r>
              <a:rPr lang="en-US" sz="2700" dirty="0"/>
              <a:t>If the outbound interface specified is not in </a:t>
            </a:r>
            <a:r>
              <a:rPr lang="en-US" sz="2700" dirty="0" err="1"/>
              <a:t>up state</a:t>
            </a:r>
            <a:r>
              <a:rPr lang="en-US" sz="2700" dirty="0"/>
              <a:t>, the router removes the static route from the RIB. Specifying the next-hop address and the physical interface removes the recursive lookup and does not involve the ARP processing problems while specifying only the outbound interface.</a:t>
            </a:r>
            <a:endParaRPr lang="en-US"/>
          </a:p>
          <a:p>
            <a:pPr marL="457200" lvl="1" indent="0" algn="just">
              <a:buNone/>
            </a:pPr>
            <a:endParaRPr lang="en-US" sz="2000" b="1" dirty="0"/>
          </a:p>
          <a:p>
            <a:pPr algn="just"/>
            <a:endParaRPr lang="en-US" sz="2400" b="1" dirty="0"/>
          </a:p>
          <a:p>
            <a:pPr algn="just"/>
            <a:endParaRPr lang="en-US" sz="2400" b="1" dirty="0"/>
          </a:p>
          <a:p>
            <a:pPr algn="just"/>
            <a:endParaRPr lang="en-US" b="1" dirty="0"/>
          </a:p>
          <a:p>
            <a:pPr algn="just"/>
            <a:endParaRPr lang="en-US" b="1" dirty="0"/>
          </a:p>
          <a:p>
            <a:pPr marL="0" indent="0" algn="just">
              <a:buNone/>
            </a:pPr>
            <a:endParaRPr lang="en-US" b="1" dirty="0"/>
          </a:p>
          <a:p>
            <a:pPr algn="just"/>
            <a:endParaRPr lang="en-US" dirty="0"/>
          </a:p>
          <a:p>
            <a:endParaRPr lang="en-US" dirty="0">
              <a:ea typeface="+mn-lt"/>
              <a:cs typeface="+mn-lt"/>
            </a:endParaRPr>
          </a:p>
          <a:p>
            <a:endParaRPr lang="en-US" dirty="0"/>
          </a:p>
          <a:p>
            <a:endParaRPr lang="en-AU" dirty="0"/>
          </a:p>
        </p:txBody>
      </p:sp>
      <p:sp>
        <p:nvSpPr>
          <p:cNvPr id="5" name="TextBox 4">
            <a:extLst>
              <a:ext uri="{FF2B5EF4-FFF2-40B4-BE49-F238E27FC236}">
                <a16:creationId xmlns:a16="http://schemas.microsoft.com/office/drawing/2014/main" id="{531169EC-BE4D-7911-F956-EB8D0E86D336}"/>
              </a:ext>
            </a:extLst>
          </p:cNvPr>
          <p:cNvSpPr txBox="1"/>
          <p:nvPr/>
        </p:nvSpPr>
        <p:spPr>
          <a:xfrm>
            <a:off x="4923572" y="3588523"/>
            <a:ext cx="6729967" cy="646331"/>
          </a:xfrm>
          <a:prstGeom prst="rect">
            <a:avLst/>
          </a:prstGeom>
          <a:solidFill>
            <a:schemeClr val="bg1">
              <a:lumMod val="8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solidFill>
                  <a:schemeClr val="accent3">
                    <a:lumMod val="76000"/>
                  </a:schemeClr>
                </a:solidFill>
                <a:ea typeface="+mn-lt"/>
                <a:cs typeface="+mn-lt"/>
              </a:rPr>
              <a:t>ip</a:t>
            </a:r>
            <a:r>
              <a:rPr lang="en-US" b="1" dirty="0">
                <a:solidFill>
                  <a:schemeClr val="accent3">
                    <a:lumMod val="76000"/>
                  </a:schemeClr>
                </a:solidFill>
                <a:ea typeface="+mn-lt"/>
                <a:cs typeface="+mn-lt"/>
              </a:rPr>
              <a:t> route </a:t>
            </a:r>
            <a:r>
              <a:rPr lang="en-US" b="1" i="1" dirty="0">
                <a:solidFill>
                  <a:schemeClr val="accent3">
                    <a:lumMod val="76000"/>
                  </a:schemeClr>
                </a:solidFill>
                <a:latin typeface="Comic Sans MS"/>
                <a:ea typeface="Calibri"/>
                <a:cs typeface="Calibri"/>
              </a:rPr>
              <a:t>network subnet-mask interface-id next-hop-</a:t>
            </a:r>
            <a:r>
              <a:rPr lang="en-US" b="1" i="1" dirty="0" err="1">
                <a:solidFill>
                  <a:schemeClr val="accent3">
                    <a:lumMod val="76000"/>
                  </a:schemeClr>
                </a:solidFill>
                <a:latin typeface="Comic Sans MS"/>
                <a:ea typeface="Calibri"/>
                <a:cs typeface="Calibri"/>
              </a:rPr>
              <a:t>ip</a:t>
            </a:r>
            <a:endParaRPr lang="en-US" b="1" i="1" dirty="0">
              <a:solidFill>
                <a:schemeClr val="accent3">
                  <a:lumMod val="76000"/>
                </a:schemeClr>
              </a:solidFill>
              <a:latin typeface="Comic Sans MS"/>
              <a:ea typeface="Calibri"/>
              <a:cs typeface="Calibri"/>
            </a:endParaRPr>
          </a:p>
          <a:p>
            <a:r>
              <a:rPr lang="en-US" b="1" dirty="0" err="1">
                <a:solidFill>
                  <a:schemeClr val="accent3">
                    <a:lumMod val="76000"/>
                  </a:schemeClr>
                </a:solidFill>
                <a:ea typeface="+mn-lt"/>
                <a:cs typeface="+mn-lt"/>
              </a:rPr>
              <a:t>ip</a:t>
            </a:r>
            <a:r>
              <a:rPr lang="en-US" b="1" dirty="0">
                <a:solidFill>
                  <a:schemeClr val="accent3">
                    <a:lumMod val="76000"/>
                  </a:schemeClr>
                </a:solidFill>
                <a:ea typeface="+mn-lt"/>
                <a:cs typeface="+mn-lt"/>
              </a:rPr>
              <a:t> route 10.1.17.0 255.255.255.0 Gi0/0 10.1.12.1</a:t>
            </a:r>
          </a:p>
        </p:txBody>
      </p:sp>
    </p:spTree>
    <p:extLst>
      <p:ext uri="{BB962C8B-B14F-4D97-AF65-F5344CB8AC3E}">
        <p14:creationId xmlns:p14="http://schemas.microsoft.com/office/powerpoint/2010/main" val="1702769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01175-237D-8DBB-D1A3-5E4254AB8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C7E1D-D622-1A35-2C17-392212B7EDE1}"/>
              </a:ext>
            </a:extLst>
          </p:cNvPr>
          <p:cNvSpPr>
            <a:spLocks noGrp="1"/>
          </p:cNvSpPr>
          <p:nvPr>
            <p:ph type="title"/>
          </p:nvPr>
        </p:nvSpPr>
        <p:spPr>
          <a:xfrm>
            <a:off x="1" y="0"/>
            <a:ext cx="4103914" cy="6858000"/>
          </a:xfrm>
          <a:solidFill>
            <a:schemeClr val="accent2"/>
          </a:solidFill>
        </p:spPr>
        <p:txBody>
          <a:bodyPr>
            <a:normAutofit/>
          </a:bodyPr>
          <a:lstStyle/>
          <a:p>
            <a:pPr algn="ctr"/>
            <a:r>
              <a:rPr lang="en-US" b="1" dirty="0">
                <a:solidFill>
                  <a:schemeClr val="bg1"/>
                </a:solidFill>
              </a:rPr>
              <a:t>2. Description and </a:t>
            </a:r>
            <a:r>
              <a:rPr lang="en-US" b="1">
                <a:solidFill>
                  <a:schemeClr val="bg1"/>
                </a:solidFill>
              </a:rPr>
              <a:t>Configuration</a:t>
            </a:r>
            <a:r>
              <a:rPr lang="en-US" b="1" dirty="0">
                <a:solidFill>
                  <a:schemeClr val="bg1"/>
                </a:solidFill>
              </a:rPr>
              <a:t> Commands</a:t>
            </a:r>
          </a:p>
        </p:txBody>
      </p:sp>
      <p:sp>
        <p:nvSpPr>
          <p:cNvPr id="3" name="Content Placeholder 2">
            <a:extLst>
              <a:ext uri="{FF2B5EF4-FFF2-40B4-BE49-F238E27FC236}">
                <a16:creationId xmlns:a16="http://schemas.microsoft.com/office/drawing/2014/main" id="{070E713B-2F13-8A86-28B2-257B7EEB0AF9}"/>
              </a:ext>
            </a:extLst>
          </p:cNvPr>
          <p:cNvSpPr>
            <a:spLocks noGrp="1"/>
          </p:cNvSpPr>
          <p:nvPr>
            <p:ph idx="1"/>
          </p:nvPr>
        </p:nvSpPr>
        <p:spPr>
          <a:xfrm>
            <a:off x="4359862" y="237629"/>
            <a:ext cx="7681596" cy="6458680"/>
          </a:xfrm>
        </p:spPr>
        <p:txBody>
          <a:bodyPr vert="horz" lIns="91440" tIns="45720" rIns="91440" bIns="45720" rtlCol="0" anchor="t">
            <a:normAutofit/>
          </a:bodyPr>
          <a:lstStyle/>
          <a:p>
            <a:pPr algn="just"/>
            <a:r>
              <a:rPr lang="en-US" sz="2400" b="1"/>
              <a:t>Floating Static Routing:</a:t>
            </a:r>
          </a:p>
          <a:p>
            <a:pPr marL="457200" lvl="1" indent="0" algn="just">
              <a:buNone/>
            </a:pPr>
            <a:r>
              <a:rPr lang="en-US" sz="1700"/>
              <a:t>The default AD on static routes is 1, but static routes can be configured with AD from 1 to 255 by appending the AD value to the command structure. </a:t>
            </a:r>
          </a:p>
          <a:p>
            <a:pPr lvl="1" algn="just"/>
            <a:endParaRPr lang="en-US" sz="1300" dirty="0"/>
          </a:p>
          <a:p>
            <a:pPr algn="just"/>
            <a:endParaRPr lang="en-US" sz="1500" dirty="0"/>
          </a:p>
          <a:p>
            <a:pPr marL="457200" lvl="1" indent="0" algn="just">
              <a:buNone/>
            </a:pPr>
            <a:endParaRPr lang="en-US" sz="1700" dirty="0"/>
          </a:p>
          <a:p>
            <a:pPr marL="457200" lvl="1" indent="0" algn="just">
              <a:buNone/>
            </a:pPr>
            <a:r>
              <a:rPr lang="en-US" sz="1700"/>
              <a:t>Using a floating static route is common technique to provide a backup route to a route learned by dynamic routing protocol. A floating static route is configured with higher AD than the primary route. Because the AD is higher than the primary route the floating static route is only installed in RIB when the primary route is withdrawn.</a:t>
            </a:r>
            <a:endParaRPr lang="en-US"/>
          </a:p>
          <a:p>
            <a:pPr algn="just"/>
            <a:r>
              <a:rPr lang="en-US" sz="2400" b="1"/>
              <a:t>Static Null Routing:</a:t>
            </a:r>
            <a:endParaRPr lang="en-US" sz="2400">
              <a:ea typeface="+mn-lt"/>
              <a:cs typeface="+mn-lt"/>
            </a:endParaRPr>
          </a:p>
          <a:p>
            <a:pPr marL="457200" lvl="1" indent="0" algn="just">
              <a:buNone/>
            </a:pPr>
            <a:r>
              <a:rPr lang="en-US" sz="1600" dirty="0">
                <a:ea typeface="+mn-lt"/>
                <a:cs typeface="+mn-lt"/>
              </a:rPr>
              <a:t>Configuring a static route to Null/Virtual interface provides a method of dropping the traffic without configuring the Access Control List. The static route to a null interface uses a </a:t>
            </a:r>
            <a:r>
              <a:rPr lang="en-US" sz="1600">
                <a:ea typeface="+mn-lt"/>
                <a:cs typeface="+mn-lt"/>
              </a:rPr>
              <a:t>summarized network range and routes that are more specific </a:t>
            </a:r>
            <a:r>
              <a:rPr lang="en-US" sz="1600" dirty="0">
                <a:ea typeface="+mn-lt"/>
                <a:cs typeface="+mn-lt"/>
              </a:rPr>
              <a:t>points toward actual destination.</a:t>
            </a:r>
          </a:p>
          <a:p>
            <a:pPr marL="457200" lvl="1" indent="0" algn="just">
              <a:buNone/>
            </a:pPr>
            <a:endParaRPr lang="en-US" sz="1600" dirty="0"/>
          </a:p>
          <a:p>
            <a:pPr marL="457200" lvl="1" indent="0" algn="just">
              <a:buNone/>
            </a:pPr>
            <a:endParaRPr lang="en-US" sz="1600" dirty="0">
              <a:ea typeface="+mn-lt"/>
              <a:cs typeface="+mn-lt"/>
            </a:endParaRPr>
          </a:p>
          <a:p>
            <a:pPr marL="457200" lvl="1" indent="0" algn="just">
              <a:buNone/>
            </a:pPr>
            <a:endParaRPr lang="en-US" sz="1600" dirty="0">
              <a:ea typeface="+mn-lt"/>
              <a:cs typeface="+mn-lt"/>
            </a:endParaRPr>
          </a:p>
          <a:p>
            <a:pPr marL="457200" lvl="1" indent="0" algn="just">
              <a:buNone/>
            </a:pPr>
            <a:r>
              <a:rPr lang="en-US" sz="1600" dirty="0">
                <a:ea typeface="+mn-lt"/>
                <a:cs typeface="+mn-lt"/>
              </a:rPr>
              <a:t>Any packet with destination address in this range that does not have more specific routes will be routed to Null0 interface and will be dropped thus saving bandwidth and possible routing loops.</a:t>
            </a:r>
            <a:endParaRPr lang="en-US" sz="1600" dirty="0"/>
          </a:p>
          <a:p>
            <a:endParaRPr lang="en-US" dirty="0"/>
          </a:p>
          <a:p>
            <a:endParaRPr lang="en-AU" dirty="0">
              <a:ea typeface="+mn-lt"/>
              <a:cs typeface="+mn-lt"/>
            </a:endParaRPr>
          </a:p>
        </p:txBody>
      </p:sp>
      <p:sp>
        <p:nvSpPr>
          <p:cNvPr id="5" name="TextBox 4">
            <a:extLst>
              <a:ext uri="{FF2B5EF4-FFF2-40B4-BE49-F238E27FC236}">
                <a16:creationId xmlns:a16="http://schemas.microsoft.com/office/drawing/2014/main" id="{0F9BDF69-69E5-974E-9506-351391AD1A46}"/>
              </a:ext>
            </a:extLst>
          </p:cNvPr>
          <p:cNvSpPr txBox="1"/>
          <p:nvPr/>
        </p:nvSpPr>
        <p:spPr>
          <a:xfrm>
            <a:off x="4959452" y="4735653"/>
            <a:ext cx="6729967" cy="646331"/>
          </a:xfrm>
          <a:prstGeom prst="rect">
            <a:avLst/>
          </a:prstGeom>
          <a:solidFill>
            <a:schemeClr val="bg1">
              <a:lumMod val="8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solidFill>
                  <a:schemeClr val="accent3">
                    <a:lumMod val="76000"/>
                  </a:schemeClr>
                </a:solidFill>
                <a:ea typeface="+mn-lt"/>
                <a:cs typeface="+mn-lt"/>
              </a:rPr>
              <a:t>ip</a:t>
            </a:r>
            <a:r>
              <a:rPr lang="en-US" b="1" dirty="0">
                <a:solidFill>
                  <a:schemeClr val="accent3">
                    <a:lumMod val="76000"/>
                  </a:schemeClr>
                </a:solidFill>
                <a:ea typeface="+mn-lt"/>
                <a:cs typeface="+mn-lt"/>
              </a:rPr>
              <a:t> route 10.1.12.0 255.255.252.0 Null0</a:t>
            </a:r>
          </a:p>
          <a:p>
            <a:r>
              <a:rPr lang="en-US" b="1" dirty="0" err="1">
                <a:solidFill>
                  <a:schemeClr val="accent3">
                    <a:lumMod val="76000"/>
                  </a:schemeClr>
                </a:solidFill>
                <a:latin typeface="Aptos"/>
                <a:ea typeface="Calibri"/>
                <a:cs typeface="Calibri"/>
              </a:rPr>
              <a:t>ip</a:t>
            </a:r>
            <a:r>
              <a:rPr lang="en-US" b="1" dirty="0">
                <a:solidFill>
                  <a:schemeClr val="accent3">
                    <a:lumMod val="76000"/>
                  </a:schemeClr>
                </a:solidFill>
                <a:latin typeface="Aptos"/>
                <a:ea typeface="Calibri"/>
                <a:cs typeface="Calibri"/>
              </a:rPr>
              <a:t> route 10.1.16.0 255.255.254.0 Null0</a:t>
            </a:r>
          </a:p>
        </p:txBody>
      </p:sp>
      <p:sp>
        <p:nvSpPr>
          <p:cNvPr id="6" name="TextBox 5">
            <a:extLst>
              <a:ext uri="{FF2B5EF4-FFF2-40B4-BE49-F238E27FC236}">
                <a16:creationId xmlns:a16="http://schemas.microsoft.com/office/drawing/2014/main" id="{DE24AD30-9E74-52E4-2491-C4614A138A16}"/>
              </a:ext>
            </a:extLst>
          </p:cNvPr>
          <p:cNvSpPr txBox="1"/>
          <p:nvPr/>
        </p:nvSpPr>
        <p:spPr>
          <a:xfrm>
            <a:off x="4960742" y="1153840"/>
            <a:ext cx="6729967" cy="646331"/>
          </a:xfrm>
          <a:prstGeom prst="rect">
            <a:avLst/>
          </a:prstGeom>
          <a:solidFill>
            <a:schemeClr val="bg1">
              <a:lumMod val="8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solidFill>
                  <a:schemeClr val="accent3">
                    <a:lumMod val="76000"/>
                  </a:schemeClr>
                </a:solidFill>
                <a:ea typeface="+mn-lt"/>
                <a:cs typeface="+mn-lt"/>
              </a:rPr>
              <a:t>ip</a:t>
            </a:r>
            <a:r>
              <a:rPr lang="en-US" b="1" dirty="0">
                <a:solidFill>
                  <a:schemeClr val="accent3">
                    <a:lumMod val="76000"/>
                  </a:schemeClr>
                </a:solidFill>
                <a:ea typeface="+mn-lt"/>
                <a:cs typeface="+mn-lt"/>
              </a:rPr>
              <a:t> route </a:t>
            </a:r>
            <a:r>
              <a:rPr lang="en-US" b="1" i="1" dirty="0">
                <a:solidFill>
                  <a:schemeClr val="accent3">
                    <a:lumMod val="76000"/>
                  </a:schemeClr>
                </a:solidFill>
                <a:latin typeface="Comic Sans MS"/>
                <a:ea typeface="Calibri"/>
                <a:cs typeface="Calibri"/>
              </a:rPr>
              <a:t>network subnet-mask interface-id next-hop-</a:t>
            </a:r>
            <a:r>
              <a:rPr lang="en-US" b="1" i="1" dirty="0" err="1">
                <a:solidFill>
                  <a:schemeClr val="accent3">
                    <a:lumMod val="76000"/>
                  </a:schemeClr>
                </a:solidFill>
                <a:latin typeface="Comic Sans MS"/>
                <a:ea typeface="Calibri"/>
                <a:cs typeface="Calibri"/>
              </a:rPr>
              <a:t>ip</a:t>
            </a:r>
            <a:r>
              <a:rPr lang="en-US" b="1" i="1" dirty="0">
                <a:solidFill>
                  <a:schemeClr val="accent3">
                    <a:lumMod val="76000"/>
                  </a:schemeClr>
                </a:solidFill>
                <a:latin typeface="Comic Sans MS"/>
                <a:ea typeface="Calibri"/>
                <a:cs typeface="Calibri"/>
              </a:rPr>
              <a:t> AD</a:t>
            </a:r>
          </a:p>
          <a:p>
            <a:r>
              <a:rPr lang="en-US" b="1" dirty="0" err="1">
                <a:solidFill>
                  <a:schemeClr val="accent3">
                    <a:lumMod val="76000"/>
                  </a:schemeClr>
                </a:solidFill>
                <a:ea typeface="+mn-lt"/>
                <a:cs typeface="+mn-lt"/>
              </a:rPr>
              <a:t>ip</a:t>
            </a:r>
            <a:r>
              <a:rPr lang="en-US" b="1" dirty="0">
                <a:solidFill>
                  <a:schemeClr val="accent3">
                    <a:lumMod val="76000"/>
                  </a:schemeClr>
                </a:solidFill>
                <a:ea typeface="+mn-lt"/>
                <a:cs typeface="+mn-lt"/>
              </a:rPr>
              <a:t> route 10.1.17.0 255.255.255.0 Gi0/0 10.1.12.1 210</a:t>
            </a:r>
          </a:p>
        </p:txBody>
      </p:sp>
    </p:spTree>
    <p:extLst>
      <p:ext uri="{BB962C8B-B14F-4D97-AF65-F5344CB8AC3E}">
        <p14:creationId xmlns:p14="http://schemas.microsoft.com/office/powerpoint/2010/main" val="2903336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4</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STATIC ROUTING</vt:lpstr>
      <vt:lpstr>1. Types of Static Routing</vt:lpstr>
      <vt:lpstr>2. Description and Configuration Commands</vt:lpstr>
      <vt:lpstr>2. Description and Configuration Commands</vt:lpstr>
      <vt:lpstr>2. Description and Configuration Commands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546</cp:revision>
  <dcterms:created xsi:type="dcterms:W3CDTF">2026-05-25T01:15:16Z</dcterms:created>
  <dcterms:modified xsi:type="dcterms:W3CDTF">2026-05-25T11:50:29Z</dcterms:modified>
</cp:coreProperties>
</file>