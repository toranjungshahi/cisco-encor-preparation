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9880" y="457200"/>
            <a:ext cx="3930480" cy="159840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3" name="PlaceHolder 2"/>
          <p:cNvSpPr>
            <a:spLocks noGrp="1"/>
          </p:cNvSpPr>
          <p:nvPr>
            <p:ph type="body"/>
          </p:nvPr>
        </p:nvSpPr>
        <p:spPr>
          <a:xfrm>
            <a:off x="5183280" y="987480"/>
            <a:ext cx="6170400" cy="4871880"/>
          </a:xfrm>
          <a:prstGeom prst="rect">
            <a:avLst/>
          </a:prstGeom>
          <a:noFill/>
          <a:ln w="0">
            <a:noFill/>
          </a:ln>
        </p:spPr>
        <p:txBody>
          <a:bodyPr lIns="90000" tIns="45000" rIns="90000" bIns="45000" anchor="t">
            <a:noAutofit/>
          </a:bodyPr>
          <a:lstStyle>
            <a:lvl1pPr marL="228600" indent="0" algn="l" defTabSz="914400">
              <a:lnSpc>
                <a:spcPct val="100000"/>
              </a:lnSpc>
              <a:spcBef>
                <a:spcPts val="1001"/>
              </a:spcBef>
              <a:buNone/>
              <a:tabLst>
                <a:tab pos="0" algn="l"/>
              </a:tabLst>
              <a:defRPr lang="en-US" sz="3200" b="0" u="none" strike="noStrike">
                <a:solidFill>
                  <a:schemeClr val="dk1"/>
                </a:solidFill>
                <a:effectLst/>
                <a:uFillTx/>
                <a:latin typeface="Aptos"/>
              </a:defRPr>
            </a:lvl1pPr>
          </a:lstStyle>
          <a:p>
            <a:pPr marL="228600" indent="0" algn="l" defTabSz="914400">
              <a:lnSpc>
                <a:spcPct val="100000"/>
              </a:lnSpc>
              <a:spcBef>
                <a:spcPts val="1001"/>
              </a:spcBef>
              <a:buNone/>
              <a:tabLst>
                <a:tab pos="0" algn="l"/>
              </a:tabLst>
            </a:pPr>
            <a:r>
              <a:rPr lang="en-US" sz="3200" b="0" u="none" strike="noStrike">
                <a:solidFill>
                  <a:schemeClr val="dk1"/>
                </a:solidFill>
                <a:effectLst/>
                <a:uFillTx/>
                <a:latin typeface="Aptos"/>
              </a:rPr>
              <a:t>Click icon to add picture</a:t>
            </a:r>
            <a:endParaRPr lang="en-US" sz="3200" b="0" u="none" strike="noStrike">
              <a:solidFill>
                <a:schemeClr val="dk1"/>
              </a:solidFill>
              <a:effectLst/>
              <a:uFillTx/>
              <a:latin typeface="Aptos"/>
            </a:endParaRPr>
          </a:p>
        </p:txBody>
      </p:sp>
      <p:sp>
        <p:nvSpPr>
          <p:cNvPr id="4" name="PlaceHolder 3"/>
          <p:cNvSpPr>
            <a:spLocks noGrp="1"/>
          </p:cNvSpPr>
          <p:nvPr>
            <p:ph type="body"/>
          </p:nvPr>
        </p:nvSpPr>
        <p:spPr>
          <a:xfrm>
            <a:off x="839880" y="2057400"/>
            <a:ext cx="3930480" cy="3809880"/>
          </a:xfrm>
          <a:prstGeom prst="rect">
            <a:avLst/>
          </a:prstGeom>
          <a:noFill/>
          <a:ln w="0">
            <a:noFill/>
          </a:ln>
        </p:spPr>
        <p:txBody>
          <a:bodyPr lIns="91440" tIns="45720" rIns="91440" bIns="45720" anchor="t">
            <a:noAutofit/>
          </a:bodyPr>
          <a:lstStyle>
            <a:lvl1pPr marL="228600"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 name="PlaceHolder 4"/>
          <p:cNvSpPr>
            <a:spLocks noGrp="1"/>
          </p:cNvSpPr>
          <p:nvPr>
            <p:ph type="dt" idx="1"/>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3016AB4-297F-42EA-AE20-17A7208792D7}"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9" name="PlaceHolder 2"/>
          <p:cNvSpPr>
            <a:spLocks noGrp="1"/>
          </p:cNvSpPr>
          <p:nvPr>
            <p:ph type="body"/>
          </p:nvPr>
        </p:nvSpPr>
        <p:spPr>
          <a:xfrm>
            <a:off x="838080" y="1825560"/>
            <a:ext cx="10513800" cy="434952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0" name="PlaceHolder 3"/>
          <p:cNvSpPr>
            <a:spLocks noGrp="1"/>
          </p:cNvSpPr>
          <p:nvPr>
            <p:ph type="dt" idx="4"/>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7D77819-3456-403B-B461-F28BEB11401F}"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724960" y="365040"/>
            <a:ext cx="2627280" cy="581004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4" name="PlaceHolder 2"/>
          <p:cNvSpPr>
            <a:spLocks noGrp="1"/>
          </p:cNvSpPr>
          <p:nvPr>
            <p:ph type="body"/>
          </p:nvPr>
        </p:nvSpPr>
        <p:spPr>
          <a:xfrm>
            <a:off x="838080" y="365040"/>
            <a:ext cx="7732440" cy="581004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5" name="PlaceHolder 3"/>
          <p:cNvSpPr>
            <a:spLocks noGrp="1"/>
          </p:cNvSpPr>
          <p:nvPr>
            <p:ph type="dt" idx="7"/>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25BA474-95C3-4F0A-BB4F-A201DED26224}"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9" name="PlaceHolder 2"/>
          <p:cNvSpPr>
            <a:spLocks noGrp="1"/>
          </p:cNvSpPr>
          <p:nvPr>
            <p:ph type="body"/>
          </p:nvPr>
        </p:nvSpPr>
        <p:spPr>
          <a:xfrm>
            <a:off x="838080" y="1825560"/>
            <a:ext cx="1051380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0" name="PlaceHolder 3"/>
          <p:cNvSpPr>
            <a:spLocks noGrp="1"/>
          </p:cNvSpPr>
          <p:nvPr>
            <p:ph type="dt" idx="10"/>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2" name="PlaceHolder 5"/>
          <p:cNvSpPr>
            <a:spLocks noGrp="1"/>
          </p:cNvSpPr>
          <p:nvPr>
            <p:ph type="sldNum" idx="12"/>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CBC6701-B646-4771-B987-B5AB6178E030}"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1960" y="1709640"/>
            <a:ext cx="10513800" cy="285084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24" name="PlaceHolder 2"/>
          <p:cNvSpPr>
            <a:spLocks noGrp="1"/>
          </p:cNvSpPr>
          <p:nvPr>
            <p:ph type="body"/>
          </p:nvPr>
        </p:nvSpPr>
        <p:spPr>
          <a:xfrm>
            <a:off x="831960" y="4589640"/>
            <a:ext cx="10513800" cy="1498320"/>
          </a:xfrm>
          <a:prstGeom prst="rect">
            <a:avLst/>
          </a:prstGeom>
          <a:noFill/>
          <a:ln w="0">
            <a:noFill/>
          </a:ln>
        </p:spPr>
        <p:txBody>
          <a:bodyPr lIns="91440" tIns="45720" rIns="91440" bIns="45720" anchor="t">
            <a:noAutofit/>
          </a:bodyPr>
          <a:lstStyle>
            <a:lvl1pPr marL="228600"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marL="228600"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25" name="PlaceHolder 3"/>
          <p:cNvSpPr>
            <a:spLocks noGrp="1"/>
          </p:cNvSpPr>
          <p:nvPr>
            <p:ph type="dt" idx="13"/>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FE87F8F-D257-4C10-A846-F533E2EAF00B}"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9" name="PlaceHolder 2"/>
          <p:cNvSpPr>
            <a:spLocks noGrp="1"/>
          </p:cNvSpPr>
          <p:nvPr>
            <p:ph type="body"/>
          </p:nvPr>
        </p:nvSpPr>
        <p:spPr>
          <a:xfrm>
            <a:off x="838080" y="1825560"/>
            <a:ext cx="517968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3"/>
          <p:cNvSpPr>
            <a:spLocks noGrp="1"/>
          </p:cNvSpPr>
          <p:nvPr>
            <p:ph type="body"/>
          </p:nvPr>
        </p:nvSpPr>
        <p:spPr>
          <a:xfrm>
            <a:off x="6172200" y="1825560"/>
            <a:ext cx="5179680" cy="43495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1" name="PlaceHolder 4"/>
          <p:cNvSpPr>
            <a:spLocks noGrp="1"/>
          </p:cNvSpPr>
          <p:nvPr>
            <p:ph type="dt" idx="16"/>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32" name="PlaceHolder 5"/>
          <p:cNvSpPr>
            <a:spLocks noGrp="1"/>
          </p:cNvSpPr>
          <p:nvPr>
            <p:ph type="ftr" idx="17"/>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78C0EDD-DFBB-49C0-A1C7-2FA4D4F540E1}"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98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5" name="PlaceHolder 2"/>
          <p:cNvSpPr>
            <a:spLocks noGrp="1"/>
          </p:cNvSpPr>
          <p:nvPr>
            <p:ph type="body"/>
          </p:nvPr>
        </p:nvSpPr>
        <p:spPr>
          <a:xfrm>
            <a:off x="839880" y="1681200"/>
            <a:ext cx="5155920" cy="822240"/>
          </a:xfrm>
          <a:prstGeom prst="rect">
            <a:avLst/>
          </a:prstGeom>
          <a:noFill/>
          <a:ln w="0">
            <a:noFill/>
          </a:ln>
        </p:spPr>
        <p:txBody>
          <a:bodyPr lIns="91440" tIns="45720" rIns="91440" bIns="45720" anchor="b">
            <a:noAutofit/>
          </a:bodyPr>
          <a:lstStyle>
            <a:lvl1pPr marL="228600"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6" name="PlaceHolder 3"/>
          <p:cNvSpPr>
            <a:spLocks noGrp="1"/>
          </p:cNvSpPr>
          <p:nvPr>
            <p:ph type="body"/>
          </p:nvPr>
        </p:nvSpPr>
        <p:spPr>
          <a:xfrm>
            <a:off x="839880" y="2505240"/>
            <a:ext cx="5155920" cy="3682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7" name="PlaceHolder 4"/>
          <p:cNvSpPr>
            <a:spLocks noGrp="1"/>
          </p:cNvSpPr>
          <p:nvPr>
            <p:ph type="body"/>
          </p:nvPr>
        </p:nvSpPr>
        <p:spPr>
          <a:xfrm>
            <a:off x="6172200" y="1681200"/>
            <a:ext cx="5181480" cy="822240"/>
          </a:xfrm>
          <a:prstGeom prst="rect">
            <a:avLst/>
          </a:prstGeom>
          <a:noFill/>
          <a:ln w="0">
            <a:noFill/>
          </a:ln>
        </p:spPr>
        <p:txBody>
          <a:bodyPr lIns="91440" tIns="45720" rIns="91440" bIns="45720" anchor="b">
            <a:noAutofit/>
          </a:bodyPr>
          <a:lstStyle>
            <a:lvl1pPr marL="228600"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8" name="PlaceHolder 5"/>
          <p:cNvSpPr>
            <a:spLocks noGrp="1"/>
          </p:cNvSpPr>
          <p:nvPr>
            <p:ph type="body"/>
          </p:nvPr>
        </p:nvSpPr>
        <p:spPr>
          <a:xfrm>
            <a:off x="6172200" y="2505240"/>
            <a:ext cx="5181480" cy="368280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9" name="PlaceHolder 6"/>
          <p:cNvSpPr>
            <a:spLocks noGrp="1"/>
          </p:cNvSpPr>
          <p:nvPr>
            <p:ph type="dt" idx="19"/>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0" name="PlaceHolder 7"/>
          <p:cNvSpPr>
            <a:spLocks noGrp="1"/>
          </p:cNvSpPr>
          <p:nvPr>
            <p:ph type="ftr" idx="20"/>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1" name="PlaceHolder 8"/>
          <p:cNvSpPr>
            <a:spLocks noGrp="1"/>
          </p:cNvSpPr>
          <p:nvPr>
            <p:ph type="sldNum" idx="21"/>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61B276E3-022E-4DB9-8751-5EAB130E7FA5}"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3800" cy="132372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3" name="PlaceHolder 2"/>
          <p:cNvSpPr>
            <a:spLocks noGrp="1"/>
          </p:cNvSpPr>
          <p:nvPr>
            <p:ph type="dt" idx="22"/>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4" name="PlaceHolder 3"/>
          <p:cNvSpPr>
            <a:spLocks noGrp="1"/>
          </p:cNvSpPr>
          <p:nvPr>
            <p:ph type="ftr" idx="23"/>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5" name="PlaceHolder 4"/>
          <p:cNvSpPr>
            <a:spLocks noGrp="1"/>
          </p:cNvSpPr>
          <p:nvPr>
            <p:ph type="sldNum" idx="24"/>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000D49A-BD7A-4D44-882B-CD05DBB9DB6C}"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dt" idx="25"/>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47" name="PlaceHolder 2"/>
          <p:cNvSpPr>
            <a:spLocks noGrp="1"/>
          </p:cNvSpPr>
          <p:nvPr>
            <p:ph type="ftr" idx="26"/>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48" name="PlaceHolder 3"/>
          <p:cNvSpPr>
            <a:spLocks noGrp="1"/>
          </p:cNvSpPr>
          <p:nvPr>
            <p:ph type="sldNum" idx="27"/>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1A60624-03C1-4F1F-86C3-36BDF1FBB681}"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1523880" y="1122480"/>
            <a:ext cx="9142200" cy="238572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50" name="PlaceHolder 2"/>
          <p:cNvSpPr>
            <a:spLocks noGrp="1"/>
          </p:cNvSpPr>
          <p:nvPr>
            <p:ph type="dt" idx="28"/>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1" name="PlaceHolder 3"/>
          <p:cNvSpPr>
            <a:spLocks noGrp="1"/>
          </p:cNvSpPr>
          <p:nvPr>
            <p:ph type="ftr" idx="29"/>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2" name="PlaceHolder 4"/>
          <p:cNvSpPr>
            <a:spLocks noGrp="1"/>
          </p:cNvSpPr>
          <p:nvPr>
            <p:ph type="sldNum" idx="30"/>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5775FA0-9D69-4802-8F4C-404C96250103}"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53"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AU"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AU"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AU"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AU"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AU"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AU"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AU"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AU" sz="3200" b="0" u="none" strike="noStrike">
                <a:solidFill>
                  <a:srgbClr val="000000"/>
                </a:solidFill>
                <a:effectLst/>
                <a:uFillTx/>
                <a:latin typeface="Arial"/>
              </a:rPr>
              <a:t>Click to edit the outline text format</a:t>
            </a:r>
            <a:endParaRPr lang="en-AU"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AU" sz="2800" b="0" u="none" strike="noStrike">
                <a:solidFill>
                  <a:srgbClr val="000000"/>
                </a:solidFill>
                <a:effectLst/>
                <a:uFillTx/>
                <a:latin typeface="Arial"/>
              </a:rPr>
              <a:t>Second Outline Level</a:t>
            </a:r>
            <a:endParaRPr lang="en-AU"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AU" sz="2400" b="0" u="none" strike="noStrike">
                <a:solidFill>
                  <a:srgbClr val="000000"/>
                </a:solidFill>
                <a:effectLst/>
                <a:uFillTx/>
                <a:latin typeface="Arial"/>
              </a:rPr>
              <a:t>Third Outline Level</a:t>
            </a:r>
            <a:endParaRPr lang="en-AU"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AU" sz="2000" b="0" u="none" strike="noStrike">
                <a:solidFill>
                  <a:srgbClr val="000000"/>
                </a:solidFill>
                <a:effectLst/>
                <a:uFillTx/>
                <a:latin typeface="Arial"/>
              </a:rPr>
              <a:t>Fourth Outline Level</a:t>
            </a:r>
            <a:endParaRPr lang="en-AU"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AU" sz="2000" b="0" u="none" strike="noStrike">
                <a:solidFill>
                  <a:srgbClr val="000000"/>
                </a:solidFill>
                <a:effectLst/>
                <a:uFillTx/>
                <a:latin typeface="Arial"/>
              </a:rPr>
              <a:t>Fifth Outline Level</a:t>
            </a:r>
            <a:endParaRPr lang="en-AU"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AU" sz="2000" b="0" u="none" strike="noStrike">
                <a:solidFill>
                  <a:srgbClr val="000000"/>
                </a:solidFill>
                <a:effectLst/>
                <a:uFillTx/>
                <a:latin typeface="Arial"/>
              </a:rPr>
              <a:t>Sixth Outline Level</a:t>
            </a:r>
            <a:endParaRPr lang="en-AU"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AU" sz="2000" b="0" u="none" strike="noStrike">
                <a:solidFill>
                  <a:srgbClr val="000000"/>
                </a:solidFill>
                <a:effectLst/>
                <a:uFillTx/>
                <a:latin typeface="Arial"/>
              </a:rPr>
              <a:t>Seventh Outline Level</a:t>
            </a:r>
            <a:endParaRPr lang="en-AU"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0480" cy="159840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5" name="PlaceHolder 2"/>
          <p:cNvSpPr>
            <a:spLocks noGrp="1"/>
          </p:cNvSpPr>
          <p:nvPr>
            <p:ph type="body"/>
          </p:nvPr>
        </p:nvSpPr>
        <p:spPr>
          <a:xfrm>
            <a:off x="5183280" y="987480"/>
            <a:ext cx="6170400" cy="4871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6" name="PlaceHolder 3"/>
          <p:cNvSpPr>
            <a:spLocks noGrp="1"/>
          </p:cNvSpPr>
          <p:nvPr>
            <p:ph type="body"/>
          </p:nvPr>
        </p:nvSpPr>
        <p:spPr>
          <a:xfrm>
            <a:off x="839880" y="2057400"/>
            <a:ext cx="3930480" cy="3809880"/>
          </a:xfrm>
          <a:prstGeom prst="rect">
            <a:avLst/>
          </a:prstGeom>
          <a:noFill/>
          <a:ln w="0">
            <a:noFill/>
          </a:ln>
        </p:spPr>
        <p:txBody>
          <a:bodyPr lIns="91440" tIns="45720" rIns="91440" bIns="45720" anchor="t">
            <a:noAutofit/>
          </a:bodyPr>
          <a:lstStyle>
            <a:lvl1pPr marL="228600"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marL="228600"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7" name="PlaceHolder 4"/>
          <p:cNvSpPr>
            <a:spLocks noGrp="1"/>
          </p:cNvSpPr>
          <p:nvPr>
            <p:ph type="dt" idx="31"/>
          </p:nvPr>
        </p:nvSpPr>
        <p:spPr>
          <a:xfrm>
            <a:off x="838080" y="6356520"/>
            <a:ext cx="2741400" cy="3632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US"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3000" cy="3632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AU"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1400" cy="3632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93D4328-8B39-45A1-959B-6CDBEDC56175}" type="slidenum">
              <a:rPr lang="en-US"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1_Title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836640" y="721800"/>
            <a:ext cx="10505520" cy="60372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66" name="PlaceHolder 2"/>
          <p:cNvSpPr>
            <a:spLocks noGrp="1"/>
          </p:cNvSpPr>
          <p:nvPr>
            <p:ph/>
          </p:nvPr>
        </p:nvSpPr>
        <p:spPr>
          <a:xfrm>
            <a:off x="836640" y="1824120"/>
            <a:ext cx="10505520" cy="4342680"/>
          </a:xfrm>
          <a:prstGeom prst="rect">
            <a:avLst/>
          </a:prstGeom>
          <a:noFill/>
          <a:ln w="0">
            <a:noFill/>
          </a:ln>
        </p:spPr>
        <p:txBody>
          <a:bodyPr lIns="0" tIns="0" rIns="0" bIns="0" anchor="t">
            <a:normAutofit/>
          </a:bodyPr>
          <a:p>
            <a:pPr indent="0" algn="l" defTabSz="914400">
              <a:lnSpc>
                <a:spcPct val="90000"/>
              </a:lnSpc>
              <a:spcBef>
                <a:spcPts val="1205"/>
              </a:spcBef>
              <a:buNone/>
            </a:pPr>
            <a:endParaRPr lang="en-US" sz="2800" b="0" u="none" strike="noStrike">
              <a:solidFill>
                <a:schemeClr val="dk1"/>
              </a:solidFill>
              <a:effectLst/>
              <a:uFillTx/>
              <a:latin typeface="Aptos"/>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E042FC75-4BF3-44E4-AB2E-FF83C800D13C}" type="slidenum">
              <a:t>&lt;#&gt;</a:t>
            </a:fld>
          </a:p>
        </p:txBody>
      </p:sp>
      <p:sp>
        <p:nvSpPr>
          <p:cNvPr id="6" name="PlaceHolder 5"/>
          <p:cNvSpPr>
            <a:spLocks noGrp="1"/>
          </p:cNvSpPr>
          <p:nvPr>
            <p:ph type="dt" idx="36"/>
          </p:nvPr>
        </p:nvSpPr>
        <p:spPr/>
        <p:txBody>
          <a:bodyPr/>
          <a:p>
            <a:r>
              <a:rPr lang="en-A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6640" y="721800"/>
            <a:ext cx="10505520" cy="60372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61" name="PlaceHolder 2"/>
          <p:cNvSpPr>
            <a:spLocks noGrp="1"/>
          </p:cNvSpPr>
          <p:nvPr>
            <p:ph type="body"/>
          </p:nvPr>
        </p:nvSpPr>
        <p:spPr>
          <a:xfrm>
            <a:off x="836640" y="1824120"/>
            <a:ext cx="10505520" cy="4342680"/>
          </a:xfrm>
          <a:prstGeom prst="rect">
            <a:avLst/>
          </a:prstGeom>
          <a:noFill/>
          <a:ln w="0">
            <a:noFill/>
          </a:ln>
        </p:spPr>
        <p:txBody>
          <a:bodyPr lIns="0" tIns="0" rIns="0" bIns="0" anchor="t">
            <a:normAutofit/>
          </a:bodyPr>
          <a:lstStyle>
            <a:lvl1pPr algn="l" defTabSz="914400">
              <a:lnSpc>
                <a:spcPct val="90000"/>
              </a:lnSpc>
              <a:spcBef>
                <a:spcPts val="1205"/>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598"/>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598"/>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598"/>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598"/>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337"/>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337"/>
              </a:spcBef>
              <a:buClr>
                <a:srgbClr val="000000"/>
              </a:buClr>
              <a:buSzPct val="45000"/>
              <a:buFont typeface="Wingdings" charset="2"/>
              <a:buChar char=""/>
              <a:defRPr lang="en-US" sz="2800" b="0" u="none" strike="noStrike">
                <a:solidFill>
                  <a:schemeClr val="dk1"/>
                </a:solidFill>
                <a:effectLst/>
                <a:uFillTx/>
                <a:latin typeface="Aptos"/>
              </a:defRPr>
            </a:lvl7pPr>
          </a:lstStyle>
          <a:p>
            <a:pPr indent="-324000" algn="l" defTabSz="914400">
              <a:lnSpc>
                <a:spcPct val="90000"/>
              </a:lnSpc>
              <a:spcBef>
                <a:spcPts val="1205"/>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598"/>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598"/>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598"/>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598"/>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337"/>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337"/>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62" name="PlaceHolder 3"/>
          <p:cNvSpPr>
            <a:spLocks noGrp="1"/>
          </p:cNvSpPr>
          <p:nvPr>
            <p:ph type="ftr" idx="34"/>
          </p:nvPr>
        </p:nvSpPr>
        <p:spPr>
          <a:xfrm>
            <a:off x="4037040" y="6353640"/>
            <a:ext cx="4106160" cy="35784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3" name="PlaceHolder 4"/>
          <p:cNvSpPr>
            <a:spLocks noGrp="1"/>
          </p:cNvSpPr>
          <p:nvPr>
            <p:ph type="sldNum" idx="35"/>
          </p:nvPr>
        </p:nvSpPr>
        <p:spPr>
          <a:xfrm>
            <a:off x="8607600" y="6353640"/>
            <a:ext cx="2735280" cy="3578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2770A46-1A65-46B5-B375-A704C6698AC4}"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64" name="PlaceHolder 5"/>
          <p:cNvSpPr>
            <a:spLocks noGrp="1"/>
          </p:cNvSpPr>
          <p:nvPr>
            <p:ph type="dt" idx="36"/>
          </p:nvPr>
        </p:nvSpPr>
        <p:spPr>
          <a:xfrm>
            <a:off x="836640" y="6353640"/>
            <a:ext cx="2735280" cy="357840"/>
          </a:xfrm>
          <a:prstGeom prst="rect">
            <a:avLst/>
          </a:prstGeom>
          <a:noFill/>
          <a:ln w="0">
            <a:noFill/>
          </a:ln>
        </p:spPr>
        <p:txBody>
          <a:bodyPr lIns="91440" tIns="45720" rIns="91440" bIns="45720" anchor="ctr">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2.xml"/>
</Relationships>
</file>

<file path=ppt/slides/_rels/slide1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311400" y="2574360"/>
            <a:ext cx="4187160" cy="116424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5400" b="0" u="none" strike="noStrike">
                <a:solidFill>
                  <a:srgbClr val="C00000"/>
                </a:solidFill>
                <a:effectLst/>
                <a:uFillTx/>
                <a:latin typeface="Arial"/>
              </a:rPr>
              <a:t>Virtualization</a:t>
            </a:r>
            <a:endParaRPr lang="en-US" sz="5400" b="0" u="none" strike="noStrike">
              <a:solidFill>
                <a:schemeClr val="dk1"/>
              </a:solidFill>
              <a:effectLst/>
              <a:uFillTx/>
              <a:latin typeface="Aptos Display"/>
            </a:endParaRPr>
          </a:p>
        </p:txBody>
      </p:sp>
      <p:sp>
        <p:nvSpPr>
          <p:cNvPr id="68" name="PlaceHolder 2"/>
          <p:cNvSpPr>
            <a:spLocks noGrp="1"/>
          </p:cNvSpPr>
          <p:nvPr>
            <p:ph type="subTitle"/>
          </p:nvPr>
        </p:nvSpPr>
        <p:spPr>
          <a:xfrm>
            <a:off x="4700520" y="337320"/>
            <a:ext cx="7217280" cy="6279120"/>
          </a:xfrm>
          <a:prstGeom prst="rect">
            <a:avLst/>
          </a:prstGeom>
          <a:noFill/>
          <a:ln w="0">
            <a:noFill/>
          </a:ln>
        </p:spPr>
        <p:txBody>
          <a:bodyPr lIns="91440" tIns="45720" rIns="91440" bIns="45720" anchor="ctr">
            <a:noAutofit/>
          </a:bodyPr>
          <a:p>
            <a:pPr marL="228600" indent="-228600" algn="l" defTabSz="914400">
              <a:lnSpc>
                <a:spcPct val="90000"/>
              </a:lnSpc>
              <a:spcBef>
                <a:spcPts val="1001"/>
              </a:spcBef>
              <a:buClr>
                <a:srgbClr val="000000"/>
              </a:buClr>
              <a:buSzPct val="45000"/>
              <a:buFont typeface="Arial"/>
              <a:buChar char="•"/>
              <a:tabLst>
                <a:tab pos="0" algn="l"/>
              </a:tabLst>
            </a:pPr>
            <a:r>
              <a:rPr lang="en-US" sz="2800" b="1" u="none" strike="noStrike">
                <a:solidFill>
                  <a:schemeClr val="dk1"/>
                </a:solidFill>
                <a:effectLst/>
                <a:uFillTx/>
                <a:latin typeface="Arial"/>
              </a:rPr>
              <a:t>Learning Outcomes:</a:t>
            </a:r>
            <a:endParaRPr lang="en-AU" sz="2800" b="0" u="none" strike="noStrike">
              <a:solidFill>
                <a:srgbClr val="000000"/>
              </a:solidFill>
              <a:effectLst/>
              <a:uFillTx/>
              <a:latin typeface="Arial"/>
            </a:endParaRPr>
          </a:p>
          <a:p>
            <a:pPr marL="228600" indent="0" algn="l" defTabSz="914400">
              <a:lnSpc>
                <a:spcPct val="90000"/>
              </a:lnSpc>
              <a:spcBef>
                <a:spcPts val="1001"/>
              </a:spcBef>
              <a:buNone/>
              <a:tabLst>
                <a:tab pos="0" algn="l"/>
              </a:tabLst>
            </a:pP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rial"/>
              <a:buAutoNum type="arabicPeriod"/>
              <a:tabLst>
                <a:tab pos="0" algn="l"/>
              </a:tabLst>
            </a:pPr>
            <a:r>
              <a:rPr lang="en-US" sz="2800" b="1" u="none" strike="noStrike">
                <a:solidFill>
                  <a:schemeClr val="accent6"/>
                </a:solidFill>
                <a:effectLst/>
                <a:uFillTx/>
                <a:latin typeface="Arial"/>
              </a:rPr>
              <a:t>Server Virtualization</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ptos Display"/>
              <a:buAutoNum type="arabicPeriod"/>
              <a:tabLst>
                <a:tab pos="0" algn="l"/>
              </a:tabLst>
            </a:pPr>
            <a:r>
              <a:rPr lang="en-US" sz="2800" b="1" u="none" strike="noStrike">
                <a:solidFill>
                  <a:schemeClr val="accent6"/>
                </a:solidFill>
                <a:effectLst/>
                <a:uFillTx/>
                <a:latin typeface="Arial"/>
              </a:rPr>
              <a:t>Network Function Virtualization (NFV)</a:t>
            </a:r>
            <a:r>
              <a:rPr lang="en-US" sz="2800" b="0" u="none" strike="noStrike">
                <a:solidFill>
                  <a:schemeClr val="dk1"/>
                </a:solidFill>
                <a:effectLst/>
                <a:uFillTx/>
                <a:latin typeface="Arial"/>
              </a:rPr>
              <a:t> </a:t>
            </a:r>
            <a:r>
              <a:rPr lang="en-US" sz="2800" b="1" u="none" strike="noStrike">
                <a:solidFill>
                  <a:schemeClr val="accent6"/>
                </a:solidFill>
                <a:effectLst/>
                <a:uFillTx/>
                <a:latin typeface="Arial"/>
              </a:rPr>
              <a:t>ETSI</a:t>
            </a:r>
            <a:endParaRPr lang="en-AU" sz="2800" b="0" u="none" strike="noStrike">
              <a:solidFill>
                <a:srgbClr val="000000"/>
              </a:solidFill>
              <a:effectLst/>
              <a:uFillTx/>
              <a:latin typeface="Arial"/>
            </a:endParaRPr>
          </a:p>
          <a:p>
            <a:pPr marL="1200240" lvl="1" indent="-457200" algn="l" defTabSz="914400">
              <a:lnSpc>
                <a:spcPct val="90000"/>
              </a:lnSpc>
              <a:spcBef>
                <a:spcPts val="499"/>
              </a:spcBef>
              <a:buClr>
                <a:srgbClr val="4EA72E"/>
              </a:buClr>
              <a:buSzPct val="75000"/>
              <a:buFont typeface="Aptos Display"/>
              <a:buAutoNum type="arabicPeriod"/>
              <a:tabLst>
                <a:tab pos="0" algn="l"/>
              </a:tabLst>
            </a:pPr>
            <a:r>
              <a:rPr lang="en-US" sz="2800" b="1" u="none" strike="noStrike">
                <a:solidFill>
                  <a:schemeClr val="accent6"/>
                </a:solidFill>
                <a:effectLst/>
                <a:uFillTx/>
                <a:latin typeface="Arial"/>
              </a:rPr>
              <a:t>Cisco Enterprise Network Function Virtualization (ENFV)</a:t>
            </a:r>
            <a:endParaRPr lang="en-AU" sz="2800" b="0" u="none" strike="noStrike">
              <a:solidFill>
                <a:srgbClr val="000000"/>
              </a:solidFill>
              <a:effectLst/>
              <a:uFillTx/>
              <a:latin typeface="Arial"/>
            </a:endParaRPr>
          </a:p>
          <a:p>
            <a:pPr marL="228600" indent="0" algn="l" defTabSz="914400">
              <a:lnSpc>
                <a:spcPct val="90000"/>
              </a:lnSpc>
              <a:spcBef>
                <a:spcPts val="499"/>
              </a:spcBef>
              <a:buNone/>
              <a:tabLst>
                <a:tab pos="0" algn="l"/>
              </a:tabLst>
            </a:pPr>
            <a:endParaRPr lang="en-AU" sz="2800" b="0" u="none" strike="noStrike">
              <a:solidFill>
                <a:srgbClr val="000000"/>
              </a:solidFill>
              <a:effectLst/>
              <a:uFillTx/>
              <a:latin typeface="Arial"/>
            </a:endParaRPr>
          </a:p>
          <a:p>
            <a:pPr marL="743040" indent="0" algn="l" defTabSz="914400">
              <a:lnSpc>
                <a:spcPct val="90000"/>
              </a:lnSpc>
              <a:spcBef>
                <a:spcPts val="499"/>
              </a:spcBef>
              <a:buNone/>
              <a:tabLst>
                <a:tab pos="0" algn="l"/>
              </a:tabLst>
            </a:pPr>
            <a:endParaRPr lang="en-AU"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Rectangle 4">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1.Server Virtualization</a:t>
            </a:r>
            <a:endParaRPr lang="en-AU" sz="3200" b="0" u="none" strike="noStrike">
              <a:solidFill>
                <a:srgbClr val="FFFFFF"/>
              </a:solidFill>
              <a:effectLst/>
              <a:uFillTx/>
              <a:latin typeface="Arial"/>
            </a:endParaRPr>
          </a:p>
        </p:txBody>
      </p:sp>
      <p:sp>
        <p:nvSpPr>
          <p:cNvPr id="70"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800" b="0" u="none" strike="noStrike">
                <a:solidFill>
                  <a:schemeClr val="dk1"/>
                </a:solidFill>
                <a:effectLst/>
                <a:uFillTx/>
                <a:latin typeface="Arial"/>
                <a:ea typeface="Microsoft YaHei"/>
              </a:rPr>
              <a:t>A physical server that uses software (hypervisor) to share it’s resources with multiple virtual machines  (Vms) running on it is known as virtualized server.</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Virtual Machines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A software emulation of physical server with an operating system is known as Virtual Machine. </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From application point of view, VMs provide the look and feel of real physical server with CPU,memory,and NICs.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Some advantages of VMs is that they can be easily migrated and can be used to provide high availability during primary server failure.</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Hypervisors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The software that creates VMs and performs hardware abstraction  that allows multiple VMs run concurrently is known as Hypervisor. </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Two types of hypervisor:</a:t>
            </a:r>
            <a:endParaRPr lang="en-US" sz="18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Type 1:</a:t>
            </a:r>
            <a:r>
              <a:rPr lang="en-US" sz="1800" b="0" u="none" strike="noStrike">
                <a:solidFill>
                  <a:schemeClr val="dk1"/>
                </a:solidFill>
                <a:effectLst/>
                <a:uFillTx/>
                <a:latin typeface="Arial"/>
                <a:ea typeface="Microsoft YaHei"/>
              </a:rPr>
              <a:t> Commonly referred as ‘bare metal’ or ‘native’, they run directly on hardware.</a:t>
            </a:r>
            <a:endParaRPr lang="en-US" sz="18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Type 2: </a:t>
            </a:r>
            <a:r>
              <a:rPr lang="en-US" sz="1800" b="0" u="none" strike="noStrike">
                <a:solidFill>
                  <a:schemeClr val="dk1"/>
                </a:solidFill>
                <a:effectLst/>
                <a:uFillTx/>
                <a:latin typeface="Arial"/>
                <a:ea typeface="Microsoft YaHei"/>
              </a:rPr>
              <a:t>Typically used by client devices, they run on host OS. VMware Fusion is an example.</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71" name=""/>
          <p:cNvSpPr/>
          <p:nvPr/>
        </p:nvSpPr>
        <p:spPr>
          <a:xfrm>
            <a:off x="41760" y="1368000"/>
            <a:ext cx="4349160" cy="52909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1" u="none" strike="noStrike">
                <a:solidFill>
                  <a:srgbClr val="000000"/>
                </a:solidFill>
                <a:effectLst/>
                <a:uFillTx/>
                <a:latin typeface="Arial"/>
                <a:ea typeface="DejaVu Sans"/>
              </a:rPr>
              <a:t>Containers</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Container is an isolated environment where a containerised application run.</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 containerised application is an application with all it’s dependencies packed together.</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 VM includes guest OS, that comes with large number of components that are not require for an application to run.</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Whereas, containers share the underlying resources of the host operating system and does not include guest OS.</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An application running on VM is dependent on states of guest OS (bootup and initialisation) whereas, containers run direclty on already up and running host OS.</a:t>
            </a: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72" name=""/>
          <p:cNvPicPr/>
          <p:nvPr/>
        </p:nvPicPr>
        <p:blipFill>
          <a:blip r:embed="rId1"/>
          <a:stretch/>
        </p:blipFill>
        <p:spPr>
          <a:xfrm>
            <a:off x="7200720" y="4978440"/>
            <a:ext cx="4570200" cy="1870920"/>
          </a:xfrm>
          <a:prstGeom prst="rect">
            <a:avLst/>
          </a:prstGeom>
          <a:noFill/>
          <a:ln w="0">
            <a:noFill/>
          </a:ln>
        </p:spPr>
      </p:pic>
      <p:pic>
        <p:nvPicPr>
          <p:cNvPr id="73" name=""/>
          <p:cNvPicPr/>
          <p:nvPr/>
        </p:nvPicPr>
        <p:blipFill>
          <a:blip r:embed="rId2"/>
          <a:stretch/>
        </p:blipFill>
        <p:spPr>
          <a:xfrm>
            <a:off x="341280" y="5580000"/>
            <a:ext cx="3941640" cy="11923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Rectangle 14">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1.Server Virtualization</a:t>
            </a:r>
            <a:endParaRPr lang="en-AU" sz="3200" b="0" u="none" strike="noStrike">
              <a:solidFill>
                <a:srgbClr val="FFFFFF"/>
              </a:solidFill>
              <a:effectLst/>
              <a:uFillTx/>
              <a:latin typeface="Arial"/>
            </a:endParaRPr>
          </a:p>
        </p:txBody>
      </p:sp>
      <p:sp>
        <p:nvSpPr>
          <p:cNvPr id="75"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800" b="0" u="none" strike="noStrike">
                <a:solidFill>
                  <a:schemeClr val="dk1"/>
                </a:solidFill>
                <a:effectLst/>
                <a:uFillTx/>
                <a:latin typeface="Arial"/>
                <a:ea typeface="Microsoft YaHei"/>
              </a:rPr>
              <a:t>A physical server that uses software (hypervisor) to share it’s resources with multiple virtual machines  (Vms) running on it is known as virtualized server.</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Virtual Machines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A software emulation of physical server with an operating system is known as Virtual Machine. </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From application point of view, VMs provide the look and feel of real physical server with CPU,memory,and NICs.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Some advantages of VMs is that they can be easily migrated and can be used to provide high availability during primary server failure.</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Hypervisors</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The software that creates VMs and performs hardware abstraction  that allows multiple VMs run concurrently is known as Hypervisor. </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Two types of hypervisor:</a:t>
            </a:r>
            <a:endParaRPr lang="en-US" sz="18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Type 1:</a:t>
            </a:r>
            <a:r>
              <a:rPr lang="en-US" sz="1800" b="0" u="none" strike="noStrike">
                <a:solidFill>
                  <a:schemeClr val="dk1"/>
                </a:solidFill>
                <a:effectLst/>
                <a:uFillTx/>
                <a:latin typeface="Arial"/>
                <a:ea typeface="Microsoft YaHei"/>
              </a:rPr>
              <a:t> Commonly referred as ‘bare metal’ or ‘native’, they run directly on hardware.</a:t>
            </a:r>
            <a:endParaRPr lang="en-US" sz="18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Type 2: </a:t>
            </a:r>
            <a:r>
              <a:rPr lang="en-US" sz="1800" b="0" u="none" strike="noStrike">
                <a:solidFill>
                  <a:schemeClr val="dk1"/>
                </a:solidFill>
                <a:effectLst/>
                <a:uFillTx/>
                <a:latin typeface="Arial"/>
                <a:ea typeface="Microsoft YaHei"/>
              </a:rPr>
              <a:t>Typically used by client devices, they run on host OS. VMware Fusion is an example.</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76" name=""/>
          <p:cNvSpPr/>
          <p:nvPr/>
        </p:nvSpPr>
        <p:spPr>
          <a:xfrm>
            <a:off x="41760" y="1368000"/>
            <a:ext cx="4349160" cy="52909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1" u="none" strike="noStrike">
                <a:solidFill>
                  <a:srgbClr val="000000"/>
                </a:solidFill>
                <a:effectLst/>
                <a:uFillTx/>
                <a:latin typeface="Arial"/>
                <a:ea typeface="DejaVu Sans"/>
              </a:rPr>
              <a:t>Containers</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Container is an isolated environment where a containerised application run.</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 containerised application is an application with all it’s dependencies packed together.</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 VM includes guest OS, that comes with large number of components that are not require for an application to run.</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Whereas, containers share the underlying resources of the host operating system and does not include guest OS.</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An application running on VM is dependent on states of guest OS (bootup and initialisation) whereas, containers run direclty on already up and running host OS.</a:t>
            </a: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77" name=""/>
          <p:cNvPicPr/>
          <p:nvPr/>
        </p:nvPicPr>
        <p:blipFill>
          <a:blip r:embed="rId1"/>
          <a:stretch/>
        </p:blipFill>
        <p:spPr>
          <a:xfrm>
            <a:off x="7200720" y="4978440"/>
            <a:ext cx="4570200" cy="1870920"/>
          </a:xfrm>
          <a:prstGeom prst="rect">
            <a:avLst/>
          </a:prstGeom>
          <a:noFill/>
          <a:ln w="0">
            <a:noFill/>
          </a:ln>
        </p:spPr>
      </p:pic>
      <p:pic>
        <p:nvPicPr>
          <p:cNvPr id="78" name=""/>
          <p:cNvPicPr/>
          <p:nvPr/>
        </p:nvPicPr>
        <p:blipFill>
          <a:blip r:embed="rId2"/>
          <a:stretch/>
        </p:blipFill>
        <p:spPr>
          <a:xfrm>
            <a:off x="341280" y="5580000"/>
            <a:ext cx="3941640" cy="1192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Rectangle 1">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1.Server Virtualization</a:t>
            </a:r>
            <a:endParaRPr lang="en-AU" sz="3200" b="0" u="none" strike="noStrike">
              <a:solidFill>
                <a:srgbClr val="FFFFFF"/>
              </a:solidFill>
              <a:effectLst/>
              <a:uFillTx/>
              <a:latin typeface="Arial"/>
            </a:endParaRPr>
          </a:p>
        </p:txBody>
      </p:sp>
      <p:sp>
        <p:nvSpPr>
          <p:cNvPr id="80"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Containers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A container image is the file created by container engine that includes application code and all it’s related dependencies only.</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A container engine is a software that creates, manages and runs containers in an isolated envirnoment.</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800" b="0" u="none" strike="noStrike">
                <a:solidFill>
                  <a:schemeClr val="dk1"/>
                </a:solidFill>
                <a:effectLst/>
                <a:uFillTx/>
                <a:latin typeface="Arial"/>
                <a:ea typeface="Microsoft YaHei"/>
              </a:rPr>
              <a:t>Docker engine is the most popular container engine and some other container engines available are :</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rkt (pronounced ‘rocket’)</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Open Container Initiative</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LXD (pronounced ‘lexdi’) from Canonical Ltd.</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Linux-Vserver</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Windows Containers </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Virtual Switching</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A virtual switch (vSwitch) is a software emulation of layer 2 switch.</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vSwitch enables VMs on a virtualized server to communicate with each other and outside physical network through physical NIC (pNIC).</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Multiple vSwitches can be created within a virtualized server but they cannot communicate with each other directly and cannot share pNIC.</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81" name=""/>
          <p:cNvSpPr/>
          <p:nvPr/>
        </p:nvSpPr>
        <p:spPr>
          <a:xfrm>
            <a:off x="-30240" y="3601080"/>
            <a:ext cx="4349160" cy="440604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In above figure, vSwitch1 is linked to pNIC 1  &amp; 2 and vSwitch3 is linked to pNIC3.</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VSwitch2 is not linked to any pNIC, therefore hosts connected to it (VM1) must communicate with outside network and VM0 via NGFWv.</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Some of the popular virtual switches are Cisco Nexus 1000VE series, Cisco Application Virtual Switch (AVS), Open vSwitch (OVS) and vSphere Switch.</a:t>
            </a: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82" name=""/>
          <p:cNvPicPr/>
          <p:nvPr/>
        </p:nvPicPr>
        <p:blipFill>
          <a:blip r:embed="rId1"/>
          <a:stretch/>
        </p:blipFill>
        <p:spPr>
          <a:xfrm>
            <a:off x="720000" y="1332000"/>
            <a:ext cx="2698920" cy="21427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angle 2">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1.Server Virtualization</a:t>
            </a:r>
            <a:endParaRPr lang="en-AU" sz="3200" b="0" u="none" strike="noStrike">
              <a:solidFill>
                <a:srgbClr val="FFFFFF"/>
              </a:solidFill>
              <a:effectLst/>
              <a:uFillTx/>
              <a:latin typeface="Arial"/>
            </a:endParaRPr>
          </a:p>
        </p:txBody>
      </p:sp>
      <p:sp>
        <p:nvSpPr>
          <p:cNvPr id="84"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 </a:t>
            </a:r>
            <a:r>
              <a:rPr lang="en-US" sz="1800" b="1" u="none" strike="noStrike">
                <a:solidFill>
                  <a:schemeClr val="dk1"/>
                </a:solidFill>
                <a:effectLst/>
                <a:uFillTx/>
                <a:latin typeface="Arial"/>
                <a:ea typeface="Microsoft YaHei"/>
              </a:rPr>
              <a:t>Virtual Switching</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A virtual switch (vSwitch) is a software emulation of layer 2 switch.</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vSwitch enables VMs on a virtualized server to communicate with each other and outside physical network through physical NIC (pNIC).</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Multiple vSwitches can be created within a virtualized server but they cannot communicate with each other directly and cannot share pNIC.</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Aggregation of vswitches from cluster of virtualized servers into a single Distributed Virtual Switch (DVS) for easier management and configuration.</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Virtual switches for containers is known as virtual bridges that enable inter container (within a node) and outside network communication.</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Docker engine creates a virtual bridge named docker0 with 172.16.0.1/16 subnet assigned to it.</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Every container created by docker is assigned a virtual ethernet (veth) interface with ip address from 172.16.0.0/16. </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The virtual ethernet interface (veth) appears as eth0 to the container.</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Containers in different nodes are not reachable by default, and needs to be linked using OS level routing or overlay networking.</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85" name=""/>
          <p:cNvSpPr/>
          <p:nvPr/>
        </p:nvSpPr>
        <p:spPr>
          <a:xfrm>
            <a:off x="149760" y="3420000"/>
            <a:ext cx="4349160" cy="351108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Containers in different nodes with default configuration end up with same subnet and ip addresses.</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Container orchestrator such as Kubernetes is a better option to manage connectivity between containers deployed in same or different node.</a:t>
            </a: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86" name=""/>
          <p:cNvPicPr/>
          <p:nvPr/>
        </p:nvPicPr>
        <p:blipFill>
          <a:blip r:embed="rId1"/>
          <a:stretch/>
        </p:blipFill>
        <p:spPr>
          <a:xfrm>
            <a:off x="1440000" y="1422000"/>
            <a:ext cx="1491840" cy="19969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Rectangle 3">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88"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 </a:t>
            </a:r>
            <a:r>
              <a:rPr lang="en-US" sz="1800" b="1" u="none" strike="noStrike">
                <a:solidFill>
                  <a:schemeClr val="dk1"/>
                </a:solidFill>
                <a:effectLst/>
                <a:uFillTx/>
                <a:latin typeface="Arial"/>
                <a:ea typeface="Microsoft YaHei"/>
              </a:rPr>
              <a:t>Network Function Virtualization (NFV)</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NFV is an architectural framework created by European Telecommunication Standard Institute (ETSI) that defines standard to decouple network functions from hardward based appliances and have them run on standard x86 based server.</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It also defines standard to manage and orchestrate network functions.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Network Functions (NF) are the functions performed by physical appliances such as firewall and router.</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Some of the benefits of NFV are :</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Reduced capital (capex) and operational  expenditure (opex) through reduced equipment costs and efficiency through power, storage and cooling.</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Faster time to market (TTM) because of simplified deployement.</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Improved return on investment (ROI).</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Ability to scale up/down and in/out (elasticity).</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Opportunities to test and deploy new services virtually with lower risk.</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89" name=""/>
          <p:cNvSpPr/>
          <p:nvPr/>
        </p:nvSpPr>
        <p:spPr>
          <a:xfrm>
            <a:off x="149760" y="3708000"/>
            <a:ext cx="4349160" cy="455004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1" u="none" strike="noStrike">
                <a:solidFill>
                  <a:srgbClr val="000000"/>
                </a:solidFill>
                <a:effectLst/>
                <a:uFillTx/>
                <a:latin typeface="Arial"/>
                <a:ea typeface="DejaVu Sans"/>
              </a:rPr>
              <a:t>NFV Infrastructure (NFVI)</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0" u="none" strike="noStrike">
                <a:solidFill>
                  <a:srgbClr val="000000"/>
                </a:solidFill>
                <a:effectLst/>
                <a:uFillTx/>
                <a:latin typeface="Arial"/>
                <a:ea typeface="DejaVu Sans"/>
              </a:rPr>
              <a:t>Hardware and software components that comprise platform environment to deploy virtualized network functions.</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1" u="none" strike="noStrike">
                <a:solidFill>
                  <a:srgbClr val="000000"/>
                </a:solidFill>
                <a:effectLst/>
                <a:uFillTx/>
                <a:latin typeface="Arial"/>
                <a:ea typeface="DejaVu Sans"/>
              </a:rPr>
              <a:t>Element Managers (EM)</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0" u="none" strike="noStrike">
                <a:solidFill>
                  <a:srgbClr val="000000"/>
                </a:solidFill>
                <a:effectLst/>
                <a:uFillTx/>
                <a:latin typeface="Arial"/>
                <a:ea typeface="DejaVu Sans"/>
              </a:rPr>
              <a:t>Also known as element management systems (EMSs) are responsible for functional management (Fault,Config,Accounting,Performance and Security) of VNFs. </a:t>
            </a: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90" name=""/>
          <p:cNvPicPr/>
          <p:nvPr/>
        </p:nvPicPr>
        <p:blipFill>
          <a:blip r:embed="rId1"/>
          <a:stretch/>
        </p:blipFill>
        <p:spPr>
          <a:xfrm>
            <a:off x="180000" y="1337400"/>
            <a:ext cx="3335760" cy="23749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Rectangle 5">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92"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lnSpcReduction="9999"/>
          </a:bodyPr>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Virtual Network Functions (VNF)</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VNFs are software version of NF that typically runs on hypervisor as a VM. </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VNFs are Commonly used for layer 4 to layer 7 functions such as load balancers, firewalls, Intrusion Detection Systems (IDSs), Application Delivery Controllers (ADC) and WAN optimization appliances. </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Some VNFs can however perform layer 2 and layer 3 functions as well.</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Some of the available Cisco VNFs are :</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Cloud Services Router (CSR) 1000v</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Cloud Services Platform (CSP) 2100</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Integrated Services Virtual Router (ISRv)</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NextGen Firewall Virtual Appliance (NGFWv)</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Adaptive Security Virtual Appliance (ASAv)</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Virtualized Infrastructure Manager (VIM)</a:t>
            </a:r>
            <a:endParaRPr lang="en-US" sz="18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NFVI VIM is responsible for management of hardware resources and virtualized resources.</a:t>
            </a:r>
            <a:endParaRPr lang="en-US" sz="18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It is also responsible for collection of performance measurement and fault information.</a:t>
            </a:r>
            <a:endParaRPr lang="en-US" sz="1800" b="0" u="none" strike="noStrike">
              <a:solidFill>
                <a:schemeClr val="dk1"/>
              </a:solidFill>
              <a:effectLst/>
              <a:uFillTx/>
              <a:latin typeface="Aptos"/>
            </a:endParaRPr>
          </a:p>
          <a:p>
            <a:pPr marL="360000" indent="-324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In addition it performs lifecycle management (setup,maintenance and teardown) of NFVI and service chaining.  </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93" name=""/>
          <p:cNvSpPr/>
          <p:nvPr/>
        </p:nvSpPr>
        <p:spPr>
          <a:xfrm>
            <a:off x="149760" y="3708000"/>
            <a:ext cx="4349160" cy="283212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0" u="none" strike="noStrike">
                <a:solidFill>
                  <a:srgbClr val="000000"/>
                </a:solidFill>
                <a:effectLst/>
                <a:uFillTx/>
                <a:latin typeface="Arial"/>
                <a:ea typeface="DejaVu Sans"/>
              </a:rPr>
              <a:t>Service chaining is chaining one or more VNFs to provide NFV service or solution. </a:t>
            </a: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94" name=""/>
          <p:cNvPicPr/>
          <p:nvPr/>
        </p:nvPicPr>
        <p:blipFill>
          <a:blip r:embed="rId1"/>
          <a:stretch/>
        </p:blipFill>
        <p:spPr>
          <a:xfrm>
            <a:off x="180000" y="1337400"/>
            <a:ext cx="2698920" cy="22615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6">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96"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Management and Orchestration (MANO)</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NFV orchestrator is responsible for the setup, maintenance and tearing down of the VNFs.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If multiple VNFs are part of network service, VNF orchestrator is responsible for end to end management of the network service over multiple VNFs. </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VNF manager manages lifecycle of VNFs and is responsible for FCAPS of the VNFs.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VNF  orchestrator and VNF manager together is know as MANO.</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Operation Support System (OSS)/Business Support System (BSS)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OSS is a platform typically used by service providers and large enterprises to manage network services.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It is used to manage the network inventory, provisioning new services,device configuration and resolve network issue.</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BSS is a combination of product management, customer management, revenue management (billing) and order management.</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800" b="1" u="none" strike="noStrike">
                <a:solidFill>
                  <a:schemeClr val="dk1"/>
                </a:solidFill>
                <a:effectLst/>
                <a:uFillTx/>
                <a:latin typeface="Arial"/>
                <a:ea typeface="Microsoft YaHei"/>
              </a:rPr>
              <a:t>VNF Performance</a:t>
            </a:r>
            <a:r>
              <a:rPr lang="en-US" sz="1800" b="0" u="none" strike="noStrike">
                <a:solidFill>
                  <a:schemeClr val="dk1"/>
                </a:solidFill>
                <a:effectLst/>
                <a:uFillTx/>
                <a:latin typeface="Arial"/>
                <a:ea typeface="Microsoft YaHei"/>
              </a:rPr>
              <a:t>  </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In NFV solution, data traffic enter through pNIC and reach the VNF and then can exit through pNIC, this type of traffic is known as North-South traffic.</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97" name=""/>
          <p:cNvSpPr/>
          <p:nvPr/>
        </p:nvSpPr>
        <p:spPr>
          <a:xfrm>
            <a:off x="78120" y="1440000"/>
            <a:ext cx="4349160" cy="7581240"/>
          </a:xfrm>
          <a:prstGeom prst="rect">
            <a:avLst/>
          </a:prstGeom>
          <a:noFill/>
          <a:ln w="0">
            <a:noFill/>
          </a:ln>
        </p:spPr>
        <p:style>
          <a:lnRef idx="0"/>
          <a:fillRef idx="0"/>
          <a:effectRef idx="0"/>
          <a:fontRef idx="minor"/>
        </p:style>
        <p:txBody>
          <a:bodyPr lIns="90000" tIns="45000" rIns="90000" bIns="45000" anchor="t">
            <a:spAutoFit/>
          </a:bodyPr>
          <a:p>
            <a:pPr marL="162000" indent="-162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Similarly, traffic can be East-West where it enters via pNIC reaches VNF and travels between VNFs (service chaining) and then exit through pNIC.</a:t>
            </a:r>
            <a:endParaRPr lang="en-AU" sz="1800" b="0" u="none" strike="noStrike">
              <a:solidFill>
                <a:srgbClr val="000000"/>
              </a:solidFill>
              <a:effectLst/>
              <a:uFillTx/>
              <a:latin typeface="Arial"/>
            </a:endParaRPr>
          </a:p>
          <a:p>
            <a:pPr marL="162000" indent="-162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VNF traffic can be combination of two as well where data traffic is North-South and performance metrics traffic is East-West.</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1" u="none" strike="noStrike">
                <a:solidFill>
                  <a:srgbClr val="000000"/>
                </a:solidFill>
                <a:effectLst/>
                <a:uFillTx/>
                <a:latin typeface="Arial"/>
                <a:ea typeface="DejaVu Sans"/>
              </a:rPr>
              <a:t>NFV solution terminology</a:t>
            </a:r>
            <a:r>
              <a:rPr lang="en-AU" sz="1800" b="0" u="none" strike="noStrike">
                <a:solidFill>
                  <a:srgbClr val="000000"/>
                </a:solidFill>
                <a:effectLst/>
                <a:uFillTx/>
                <a:latin typeface="Arial"/>
                <a:ea typeface="DejaVu Sans"/>
              </a:rPr>
              <a:t>  </a:t>
            </a:r>
            <a:endParaRPr lang="en-AU" sz="1800" b="0" u="none" strike="noStrike">
              <a:solidFill>
                <a:srgbClr val="000000"/>
              </a:solidFill>
              <a:effectLst/>
              <a:uFillTx/>
              <a:latin typeface="Arial"/>
            </a:endParaRPr>
          </a:p>
          <a:p>
            <a:pPr marL="162000" indent="-162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Input/Output (I/O) : Communication between computing system and outside network/devices.</a:t>
            </a:r>
            <a:endParaRPr lang="en-AU" sz="1800" b="0" u="none" strike="noStrike">
              <a:solidFill>
                <a:srgbClr val="000000"/>
              </a:solidFill>
              <a:effectLst/>
              <a:uFillTx/>
              <a:latin typeface="Arial"/>
            </a:endParaRPr>
          </a:p>
          <a:p>
            <a:pPr marL="162000" indent="-162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I/O device: Peripheral device such as mouse, keyboard, monitor or NIC.</a:t>
            </a:r>
            <a:endParaRPr lang="en-AU" sz="1800" b="0" u="none" strike="noStrike">
              <a:solidFill>
                <a:srgbClr val="000000"/>
              </a:solidFill>
              <a:effectLst/>
              <a:uFillTx/>
              <a:latin typeface="Arial"/>
            </a:endParaRPr>
          </a:p>
          <a:p>
            <a:pPr marL="162000" indent="-162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DejaVu Sans"/>
              </a:rPr>
              <a:t>Device driver: A computer program that controls the I/O device and allows communication with CPU. Ex. NIC driver. </a:t>
            </a: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8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Rectangle 7">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99"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283"/>
              </a:spcBef>
              <a:spcAft>
                <a:spcPts val="283"/>
              </a:spcAft>
              <a:buNone/>
              <a:tabLst>
                <a:tab pos="0" algn="l"/>
              </a:tabLst>
            </a:pPr>
            <a:r>
              <a:rPr lang="en-AU" sz="1800" b="1" u="none" strike="noStrike">
                <a:solidFill>
                  <a:schemeClr val="dk1"/>
                </a:solidFill>
                <a:effectLst/>
                <a:uFillTx/>
                <a:latin typeface="Arial"/>
                <a:ea typeface="DejaVu Sans"/>
              </a:rPr>
              <a:t>NFV solution terminology</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Interrupt request (IRQ): A hardware signal sent by I/O device to the CPU to notify data transfer. On receiving IRQ, CPU halts its current task and runs associated interrupt handler. </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Interrupt handler: Each device driver has it’s own  interrupt handler. It determines the cause of the interrupt, performs necessary processing, performs CPU state restore, and issues a return-from- interrupt instruction to return control to CPU.</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Direct memory access (DMA): Memory access method that allows I/O device to access main memory directly by passing CPU.</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Kernel and User space: Kernel (core in German) is a core part of the OS and memory where applications and associated libraries reside. Kernel directly manages hardware components and provides system services to applications. Kernel is executed in protected area of main memory known as kernel space to prevent other process from affecting it. Non-kernel processes are executed in memory area called user space where applications and their libraries reside.</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In Operating System Kernel and User Space figure, data destined for application travel through kernel space in a non virtualized environment.</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00" name=""/>
          <p:cNvSpPr/>
          <p:nvPr/>
        </p:nvSpPr>
        <p:spPr>
          <a:xfrm>
            <a:off x="0" y="4212000"/>
            <a:ext cx="4349160" cy="455004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But in virtualized environment as shown on above right figure, there are hypervisor and vswitch in between which are responsible for taking data from pNIC and sending it to vNIC.</a:t>
            </a:r>
            <a:endParaRPr lang="en-AU" sz="1800" b="0" u="none" strike="noStrike">
              <a:solidFill>
                <a:srgbClr val="000000"/>
              </a:solidFill>
              <a:effectLst/>
              <a:uFillTx/>
              <a:latin typeface="Arial"/>
            </a:endParaRPr>
          </a:p>
          <a:p>
            <a:pPr marL="162000" indent="-162000" defTabSz="914400">
              <a:lnSpc>
                <a:spcPct val="100000"/>
              </a:lnSpc>
              <a:spcBef>
                <a:spcPts val="283"/>
              </a:spcBef>
              <a:spcAft>
                <a:spcPts val="283"/>
              </a:spcAft>
              <a:buClr>
                <a:srgbClr val="000000"/>
              </a:buClr>
              <a:buSzPct val="45000"/>
              <a:buFont typeface="Wingdings" charset="2"/>
              <a:buChar char=""/>
              <a:tabLst>
                <a:tab pos="0" algn="l"/>
              </a:tabLst>
            </a:pPr>
            <a:r>
              <a:rPr lang="en-AU" sz="1800" b="0" u="none" strike="noStrike">
                <a:solidFill>
                  <a:srgbClr val="000000"/>
                </a:solidFill>
                <a:effectLst/>
                <a:uFillTx/>
                <a:latin typeface="Arial"/>
                <a:ea typeface="DejaVu Sans"/>
              </a:rPr>
              <a:t>Virtualization introduces new packet processing points and can create bottlenecks in input/output.</a:t>
            </a: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101" name=""/>
          <p:cNvPicPr/>
          <p:nvPr/>
        </p:nvPicPr>
        <p:blipFill>
          <a:blip r:embed="rId1"/>
          <a:stretch/>
        </p:blipFill>
        <p:spPr>
          <a:xfrm>
            <a:off x="0" y="1589040"/>
            <a:ext cx="2339280" cy="1819440"/>
          </a:xfrm>
          <a:prstGeom prst="rect">
            <a:avLst/>
          </a:prstGeom>
          <a:noFill/>
          <a:ln w="0">
            <a:noFill/>
          </a:ln>
        </p:spPr>
      </p:pic>
      <p:pic>
        <p:nvPicPr>
          <p:cNvPr id="102" name=""/>
          <p:cNvPicPr/>
          <p:nvPr/>
        </p:nvPicPr>
        <p:blipFill>
          <a:blip r:embed="rId2"/>
          <a:stretch/>
        </p:blipFill>
        <p:spPr>
          <a:xfrm>
            <a:off x="2520000" y="1337040"/>
            <a:ext cx="1902240" cy="25286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Rectangle 8">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104"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283"/>
              </a:spcBef>
              <a:spcAft>
                <a:spcPts val="283"/>
              </a:spcAft>
              <a:buNone/>
              <a:tabLst>
                <a:tab pos="0" algn="l"/>
              </a:tabLst>
            </a:pPr>
            <a:r>
              <a:rPr lang="en-AU" sz="1800" b="1" u="none" strike="noStrike">
                <a:solidFill>
                  <a:schemeClr val="dk1"/>
                </a:solidFill>
                <a:effectLst/>
                <a:uFillTx/>
                <a:latin typeface="Arial"/>
                <a:ea typeface="DejaVu Sans"/>
              </a:rPr>
              <a:t>High level packet flow in virtualized server</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Data traffic is received by pNIC and is placed on Rx queue (ring buffers) within pNIC.</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pNIC sends packet and packet descriptor to main memory buffer through DMA. Packet descriptor contains only it’s size and memory location.</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pNIC sends IRQ to CPU.</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CPU transfers control to pNIC driver that services the IRQ by receiving and placing the packets into network stack and into socket receive buffer.</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Then the packet is copied from socket receive buffer to OVS virtual switch.</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OVS processes and moves the packet to vNIC which is expensive in terms of CPU cycle as the packet is moved from kernel space to user space.</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Packet arrives at vNIC of VM and is placed on receive buffer of vNIC.</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vNIC sends packet and packet descriptor to virtual memory (VM memory) buffer through DMA.</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VNIC sends IRQ to vCPU.</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VCPU transfers control to vNIC driver, which serves the IRQ by receiving and placing the packet into network stack and into socket receive buffer.</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800" b="0" u="none" strike="noStrike">
                <a:solidFill>
                  <a:schemeClr val="dk1"/>
                </a:solidFill>
                <a:effectLst/>
                <a:uFillTx/>
                <a:latin typeface="Arial"/>
                <a:ea typeface="Microsoft YaHei"/>
              </a:rPr>
              <a:t>The packet is finally delivered to the application running on VM.</a:t>
            </a: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05" name=""/>
          <p:cNvSpPr/>
          <p:nvPr/>
        </p:nvSpPr>
        <p:spPr>
          <a:xfrm>
            <a:off x="0" y="1440000"/>
            <a:ext cx="4349160" cy="721908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With high numebr of data received on high speed links (40Gbps), CPU is interrupted frequently and reduces the throughput.</a:t>
            </a:r>
            <a:endParaRPr lang="en-AU" sz="1800" b="0" u="none" strike="noStrike">
              <a:solidFill>
                <a:srgbClr val="000000"/>
              </a:solidFill>
              <a:effectLst/>
              <a:uFillTx/>
              <a:latin typeface="Arial"/>
            </a:endParaRPr>
          </a:p>
          <a:p>
            <a:pPr marL="162000" indent="-162000"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To increase throughput and solve the problem of frequent CPU interruption, many I/O technologies have been created.</a:t>
            </a:r>
            <a:endParaRPr lang="en-AU" sz="1800" b="0" u="none" strike="noStrike">
              <a:solidFill>
                <a:srgbClr val="000000"/>
              </a:solidFill>
              <a:effectLst/>
              <a:uFillTx/>
              <a:latin typeface="Arial"/>
            </a:endParaRPr>
          </a:p>
          <a:p>
            <a:pPr marL="162000" indent="-162000"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Most prevalent I/O technologies are:</a:t>
            </a:r>
            <a:endParaRPr lang="en-AU" sz="1800" b="0" u="none" strike="noStrike">
              <a:solidFill>
                <a:srgbClr val="000000"/>
              </a:solidFill>
              <a:effectLst/>
              <a:uFillTx/>
              <a:latin typeface="Arial"/>
            </a:endParaRPr>
          </a:p>
          <a:p>
            <a:pPr marL="360000" indent="-162000" defTabSz="914400">
              <a:lnSpc>
                <a:spcPct val="100000"/>
              </a:lnSpc>
              <a:spcBef>
                <a:spcPts val="434"/>
              </a:spcBef>
              <a:spcAft>
                <a:spcPts val="283"/>
              </a:spcAft>
              <a:buClr>
                <a:srgbClr val="000000"/>
              </a:buClr>
              <a:buFont typeface="OpenSymbol"/>
              <a:buChar char="-"/>
              <a:tabLst>
                <a:tab pos="0" algn="l"/>
              </a:tabLst>
            </a:pPr>
            <a:r>
              <a:rPr lang="en-US" sz="1800" b="0" u="none" strike="noStrike">
                <a:solidFill>
                  <a:schemeClr val="dk1"/>
                </a:solidFill>
                <a:effectLst/>
                <a:uFillTx/>
                <a:latin typeface="Arial"/>
                <a:ea typeface="Microsoft YaHei"/>
              </a:rPr>
              <a:t>OVS Data Plane Development Kit (OVS-DPDK)</a:t>
            </a:r>
            <a:endParaRPr lang="en-AU" sz="1800" b="0" u="none" strike="noStrike">
              <a:solidFill>
                <a:srgbClr val="000000"/>
              </a:solidFill>
              <a:effectLst/>
              <a:uFillTx/>
              <a:latin typeface="Arial"/>
            </a:endParaRPr>
          </a:p>
          <a:p>
            <a:pPr marL="360000" indent="-162000" defTabSz="914400">
              <a:lnSpc>
                <a:spcPct val="100000"/>
              </a:lnSpc>
              <a:spcBef>
                <a:spcPts val="434"/>
              </a:spcBef>
              <a:spcAft>
                <a:spcPts val="283"/>
              </a:spcAft>
              <a:buClr>
                <a:srgbClr val="000000"/>
              </a:buClr>
              <a:buFont typeface="OpenSymbol"/>
              <a:buChar char="-"/>
              <a:tabLst>
                <a:tab pos="0" algn="l"/>
              </a:tabLst>
            </a:pPr>
            <a:r>
              <a:rPr lang="en-US" sz="1800" b="0" u="none" strike="noStrike">
                <a:solidFill>
                  <a:schemeClr val="dk1"/>
                </a:solidFill>
                <a:effectLst/>
                <a:uFillTx/>
                <a:latin typeface="Arial"/>
                <a:ea typeface="Microsoft YaHei"/>
              </a:rPr>
              <a:t>PCI Passthrough</a:t>
            </a:r>
            <a:endParaRPr lang="en-AU" sz="1800" b="0" u="none" strike="noStrike">
              <a:solidFill>
                <a:srgbClr val="000000"/>
              </a:solidFill>
              <a:effectLst/>
              <a:uFillTx/>
              <a:latin typeface="Arial"/>
            </a:endParaRPr>
          </a:p>
          <a:p>
            <a:pPr marL="360000" indent="-162000" defTabSz="914400">
              <a:lnSpc>
                <a:spcPct val="100000"/>
              </a:lnSpc>
              <a:spcBef>
                <a:spcPts val="434"/>
              </a:spcBef>
              <a:spcAft>
                <a:spcPts val="283"/>
              </a:spcAft>
              <a:buClr>
                <a:srgbClr val="000000"/>
              </a:buClr>
              <a:buFont typeface="OpenSymbol"/>
              <a:buChar char="-"/>
              <a:tabLst>
                <a:tab pos="0" algn="l"/>
              </a:tabLst>
            </a:pPr>
            <a:r>
              <a:rPr lang="en-US" sz="1800" b="0" u="none" strike="noStrike">
                <a:solidFill>
                  <a:schemeClr val="dk1"/>
                </a:solidFill>
                <a:effectLst/>
                <a:uFillTx/>
                <a:latin typeface="Arial"/>
                <a:ea typeface="Microsoft YaHei"/>
              </a:rPr>
              <a:t>Single-root Input/Output Virtualization (SR-IOV)</a:t>
            </a:r>
            <a:endParaRPr lang="en-AU" sz="1800" b="0" u="none" strike="noStrike">
              <a:solidFill>
                <a:srgbClr val="000000"/>
              </a:solidFill>
              <a:effectLst/>
              <a:uFillTx/>
              <a:latin typeface="Arial"/>
            </a:endParaRPr>
          </a:p>
          <a:p>
            <a:pPr marL="162000" indent="-162000" defTabSz="914400">
              <a:lnSpc>
                <a:spcPct val="100000"/>
              </a:lnSpc>
              <a:spcBef>
                <a:spcPts val="434"/>
              </a:spcBef>
              <a:spcAft>
                <a:spcPts val="283"/>
              </a:spcAft>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To implement these technologies, pNIC that supports them is required.</a:t>
            </a: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Rectangle 9">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107" name="PlaceHolder 1"/>
          <p:cNvSpPr>
            <a:spLocks noGrp="1"/>
          </p:cNvSpPr>
          <p:nvPr>
            <p:ph/>
          </p:nvPr>
        </p:nvSpPr>
        <p:spPr>
          <a:xfrm>
            <a:off x="4571280" y="91800"/>
            <a:ext cx="7396560" cy="6649560"/>
          </a:xfrm>
          <a:prstGeom prst="rect">
            <a:avLst/>
          </a:prstGeom>
          <a:noFill/>
          <a:ln w="0">
            <a:noFill/>
          </a:ln>
        </p:spPr>
        <p:txBody>
          <a:bodyPr lIns="91440" tIns="45720" rIns="91440" bIns="45720" anchor="t">
            <a:normAutofit/>
          </a:bodyPr>
          <a:p>
            <a:pPr indent="0" algn="l" defTabSz="914400">
              <a:lnSpc>
                <a:spcPct val="100000"/>
              </a:lnSpc>
              <a:spcBef>
                <a:spcPts val="283"/>
              </a:spcBef>
              <a:spcAft>
                <a:spcPts val="283"/>
              </a:spcAft>
              <a:buNone/>
              <a:tabLst>
                <a:tab pos="0" algn="l"/>
              </a:tabLst>
            </a:pPr>
            <a:r>
              <a:rPr lang="en-AU" sz="1800" b="1" u="none" strike="noStrike">
                <a:solidFill>
                  <a:schemeClr val="dk1"/>
                </a:solidFill>
                <a:effectLst/>
                <a:uFillTx/>
                <a:latin typeface="Arial"/>
                <a:ea typeface="DejaVu Sans"/>
              </a:rPr>
              <a:t>OVS-DPDK</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Enhancement to OVS with DPDK libraries that operates entirely in user space.</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OVS-DPDK includes Poll Mode Driver (DPDK-PMD) that polls and handles data arrived on pNIC bypassing the kernel space entirley. </a:t>
            </a:r>
            <a:endParaRPr lang="en-US" sz="18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But for DPDK-PMD to function it requires one or more CPU cores dedicated to it.</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08" name=""/>
          <p:cNvSpPr/>
          <p:nvPr/>
        </p:nvSpPr>
        <p:spPr>
          <a:xfrm>
            <a:off x="0" y="3807720"/>
            <a:ext cx="4349160" cy="2923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434"/>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109" name=""/>
          <p:cNvPicPr/>
          <p:nvPr/>
        </p:nvPicPr>
        <p:blipFill>
          <a:blip r:embed="rId1"/>
          <a:stretch/>
        </p:blipFill>
        <p:spPr>
          <a:xfrm>
            <a:off x="5400000" y="2592000"/>
            <a:ext cx="6286320" cy="3219120"/>
          </a:xfrm>
          <a:prstGeom prst="rect">
            <a:avLst/>
          </a:prstGeom>
          <a:noFill/>
          <a:ln w="0">
            <a:noFill/>
          </a:ln>
        </p:spPr>
      </p:pic>
      <p:pic>
        <p:nvPicPr>
          <p:cNvPr id="110" name=""/>
          <p:cNvPicPr/>
          <p:nvPr/>
        </p:nvPicPr>
        <p:blipFill>
          <a:blip r:embed="rId2"/>
          <a:stretch/>
        </p:blipFill>
        <p:spPr>
          <a:xfrm>
            <a:off x="84240" y="4140000"/>
            <a:ext cx="4521240" cy="2519280"/>
          </a:xfrm>
          <a:prstGeom prst="rect">
            <a:avLst/>
          </a:prstGeom>
          <a:noFill/>
          <a:ln w="0">
            <a:noFill/>
          </a:ln>
        </p:spPr>
      </p:pic>
      <p:sp>
        <p:nvSpPr>
          <p:cNvPr id="111" name=""/>
          <p:cNvSpPr/>
          <p:nvPr/>
        </p:nvSpPr>
        <p:spPr>
          <a:xfrm>
            <a:off x="0" y="1440000"/>
            <a:ext cx="4319280" cy="24663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r>
              <a:rPr lang="en-US" sz="1800" b="1" u="none" strike="noStrike">
                <a:solidFill>
                  <a:schemeClr val="dk1"/>
                </a:solidFill>
                <a:effectLst/>
                <a:uFillTx/>
                <a:latin typeface="Arial"/>
                <a:ea typeface="Microsoft YaHei"/>
              </a:rPr>
              <a:t>PCI Passthrough</a:t>
            </a:r>
            <a:endParaRPr lang="en-AU" sz="1800" b="0" u="none" strike="noStrike">
              <a:solidFill>
                <a:srgbClr val="000000"/>
              </a:solidFill>
              <a:effectLst/>
              <a:uFillTx/>
              <a:latin typeface="Arial"/>
            </a:endParaRPr>
          </a:p>
          <a:p>
            <a:pPr marL="162000" indent="-162000" defTabSz="914400">
              <a:lnSpc>
                <a:spcPct val="100000"/>
              </a:lnSpc>
              <a:spcBef>
                <a:spcPts val="434"/>
              </a:spcBef>
              <a:spcAft>
                <a:spcPts val="283"/>
              </a:spcAft>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PCI passthrough allows VMs (VNFs) to have direct access (one-to-one mapping) to physical PCI devices as if they are directly attached to them.</a:t>
            </a:r>
            <a:endParaRPr lang="en-AU" sz="1800" b="0" u="none" strike="noStrike">
              <a:solidFill>
                <a:srgbClr val="000000"/>
              </a:solidFill>
              <a:effectLst/>
              <a:uFillTx/>
              <a:latin typeface="Arial"/>
            </a:endParaRPr>
          </a:p>
          <a:p>
            <a:pPr marL="162000" indent="-162000" defTabSz="914400">
              <a:lnSpc>
                <a:spcPct val="100000"/>
              </a:lnSpc>
              <a:spcBef>
                <a:spcPts val="434"/>
              </a:spcBef>
              <a:spcAft>
                <a:spcPts val="283"/>
              </a:spcAft>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Downside of PCI passthrough is that, entire pNIC is dedicated to single VNF and cannot be shared between VNFs. </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Rectangle 10">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2.Network Function Virtualization</a:t>
            </a:r>
            <a:endParaRPr lang="en-AU" sz="3200" b="0" u="none" strike="noStrike">
              <a:solidFill>
                <a:srgbClr val="FFFFFF"/>
              </a:solidFill>
              <a:effectLst/>
              <a:uFillTx/>
              <a:latin typeface="Arial"/>
            </a:endParaRPr>
          </a:p>
        </p:txBody>
      </p:sp>
      <p:sp>
        <p:nvSpPr>
          <p:cNvPr id="113" name="PlaceHolder 1"/>
          <p:cNvSpPr>
            <a:spLocks noGrp="1"/>
          </p:cNvSpPr>
          <p:nvPr>
            <p:ph/>
          </p:nvPr>
        </p:nvSpPr>
        <p:spPr>
          <a:xfrm>
            <a:off x="5040000" y="91800"/>
            <a:ext cx="6927840" cy="6649560"/>
          </a:xfrm>
          <a:prstGeom prst="rect">
            <a:avLst/>
          </a:prstGeom>
          <a:noFill/>
          <a:ln w="0">
            <a:noFill/>
          </a:ln>
        </p:spPr>
        <p:txBody>
          <a:bodyPr lIns="91440" tIns="45720" rIns="91440" bIns="45720" anchor="t">
            <a:normAutofit/>
          </a:bodyPr>
          <a:p>
            <a:pPr indent="0" algn="l" defTabSz="914400">
              <a:lnSpc>
                <a:spcPct val="100000"/>
              </a:lnSpc>
              <a:spcBef>
                <a:spcPts val="283"/>
              </a:spcBef>
              <a:spcAft>
                <a:spcPts val="283"/>
              </a:spcAft>
              <a:buNone/>
              <a:tabLst>
                <a:tab pos="0" algn="l"/>
              </a:tabLst>
            </a:pPr>
            <a:r>
              <a:rPr lang="en-US" sz="1800" b="1" u="none" strike="noStrike">
                <a:solidFill>
                  <a:schemeClr val="dk1"/>
                </a:solidFill>
                <a:effectLst/>
                <a:uFillTx/>
                <a:latin typeface="Arial"/>
                <a:ea typeface="Microsoft YaHei"/>
              </a:rPr>
              <a:t>Single-root I/O Virtual Switch (SR-IOV)</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Enhancement to PCI passthrough that allows single pNIC to be shared by VNFs.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SR-IOV emulates (imitate behavior) single PCI express (PCIe) devices (pNIC) as multiple PCIe devices.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Emulated PCIe devices are called Virtual Functions (VFs) and physical PCIe devices are called  Physical Funtions (PFs).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VNFs have direct access to VFs using PCI passthrough technology.</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Symbol" charset="2"/>
              <a:buChar char=""/>
              <a:tabLst>
                <a:tab pos="0" algn="l"/>
              </a:tabLst>
            </a:pPr>
            <a:r>
              <a:rPr lang="en-US" sz="1800" b="0" u="none" strike="noStrike">
                <a:solidFill>
                  <a:schemeClr val="dk1"/>
                </a:solidFill>
                <a:effectLst/>
                <a:uFillTx/>
                <a:latin typeface="Arial"/>
                <a:ea typeface="Microsoft YaHei"/>
              </a:rPr>
              <a:t>SR-IOV enabled pNIC supports two different modes for switching traffic between VNFs:</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OpenSymbol"/>
              <a:buChar char="-"/>
              <a:tabLst>
                <a:tab pos="0" algn="l"/>
              </a:tabLst>
            </a:pPr>
            <a:r>
              <a:rPr lang="en-US" sz="1800" b="0" u="none" strike="noStrike">
                <a:solidFill>
                  <a:schemeClr val="dk1"/>
                </a:solidFill>
                <a:effectLst/>
                <a:uFillTx/>
                <a:latin typeface="Arial"/>
                <a:ea typeface="Microsoft YaHei"/>
              </a:rPr>
              <a:t>Virtual Ethernet Bridge (VEB): As shown in the figure above, data traffic between VNFs attached to same pNIC is hardware switched directly by pNIC.</a:t>
            </a:r>
            <a:endParaRPr lang="en-US" sz="1800" b="0" u="none" strike="noStrike">
              <a:solidFill>
                <a:schemeClr val="dk1"/>
              </a:solidFill>
              <a:effectLst/>
              <a:uFillTx/>
              <a:latin typeface="Aptos"/>
            </a:endParaRPr>
          </a:p>
          <a:p>
            <a:pPr marL="360000" indent="-162000" algn="l" defTabSz="914400">
              <a:lnSpc>
                <a:spcPct val="100000"/>
              </a:lnSpc>
              <a:spcBef>
                <a:spcPts val="434"/>
              </a:spcBef>
              <a:spcAft>
                <a:spcPts val="283"/>
              </a:spcAft>
              <a:buClr>
                <a:srgbClr val="000000"/>
              </a:buClr>
              <a:buFont typeface="OpenSymbol"/>
              <a:buChar char="-"/>
              <a:tabLst>
                <a:tab pos="0" algn="l"/>
              </a:tabLst>
            </a:pPr>
            <a:r>
              <a:rPr lang="en-US" sz="1800" b="0" u="none" strike="noStrike">
                <a:solidFill>
                  <a:schemeClr val="dk1"/>
                </a:solidFill>
                <a:effectLst/>
                <a:uFillTx/>
                <a:latin typeface="Arial"/>
                <a:ea typeface="Microsoft YaHei"/>
              </a:rPr>
              <a:t>Virtual Ethernet Port Aggregator (VEPA): Data traffic between VNFs attached to same pNIC is switched by an external switch.</a:t>
            </a: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r>
              <a:rPr lang="en-US" sz="1800" b="0" u="none" strike="noStrike">
                <a:solidFill>
                  <a:schemeClr val="dk1"/>
                </a:solidFill>
                <a:effectLst/>
                <a:uFillTx/>
                <a:latin typeface="Arial"/>
                <a:ea typeface="Microsoft YaHei"/>
              </a:rPr>
              <a:t> </a:t>
            </a: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14" name=""/>
          <p:cNvSpPr/>
          <p:nvPr/>
        </p:nvSpPr>
        <p:spPr>
          <a:xfrm>
            <a:off x="0" y="1980000"/>
            <a:ext cx="4349160" cy="88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115" name=""/>
          <p:cNvPicPr/>
          <p:nvPr/>
        </p:nvPicPr>
        <p:blipFill>
          <a:blip r:embed="rId1"/>
          <a:stretch/>
        </p:blipFill>
        <p:spPr>
          <a:xfrm>
            <a:off x="0" y="2124000"/>
            <a:ext cx="4621320" cy="26992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Rectangle 11">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3.Cisco Enterprise Network Function Virtualization (ENFV)</a:t>
            </a:r>
            <a:endParaRPr lang="en-AU" sz="3200" b="0" u="none" strike="noStrike">
              <a:solidFill>
                <a:srgbClr val="FFFFFF"/>
              </a:solidFill>
              <a:effectLst/>
              <a:uFillTx/>
              <a:latin typeface="Arial"/>
            </a:endParaRPr>
          </a:p>
        </p:txBody>
      </p:sp>
      <p:sp>
        <p:nvSpPr>
          <p:cNvPr id="117" name="PlaceHolder 1"/>
          <p:cNvSpPr>
            <a:spLocks noGrp="1"/>
          </p:cNvSpPr>
          <p:nvPr>
            <p:ph/>
          </p:nvPr>
        </p:nvSpPr>
        <p:spPr>
          <a:xfrm>
            <a:off x="4500000" y="91800"/>
            <a:ext cx="7467840" cy="6649560"/>
          </a:xfrm>
          <a:prstGeom prst="rect">
            <a:avLst/>
          </a:prstGeom>
          <a:noFill/>
          <a:ln w="0">
            <a:noFill/>
          </a:ln>
        </p:spPr>
        <p:txBody>
          <a:bodyPr lIns="91440" tIns="45720" rIns="91440" bIns="45720" anchor="t">
            <a:normAutofit/>
          </a:bodyPr>
          <a:p>
            <a:pPr indent="0" algn="l" defTabSz="914400">
              <a:lnSpc>
                <a:spcPct val="100000"/>
              </a:lnSpc>
              <a:spcBef>
                <a:spcPts val="283"/>
              </a:spcBef>
              <a:spcAft>
                <a:spcPts val="283"/>
              </a:spcAft>
              <a:buNone/>
              <a:tabLst>
                <a:tab pos="0" algn="l"/>
              </a:tabLst>
            </a:pPr>
            <a:r>
              <a:rPr lang="en-US" sz="1800" b="1" u="none" strike="noStrike">
                <a:solidFill>
                  <a:schemeClr val="dk1"/>
                </a:solidFill>
                <a:effectLst/>
                <a:uFillTx/>
                <a:latin typeface="Arial"/>
                <a:ea typeface="Microsoft YaHei"/>
              </a:rPr>
              <a:t>Cisco Enterprise Network Function Virtualization (ENFV)</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Cisco ENFV is a solution based on ETSI NFV architectural framework.</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It reduces the operational complexity of enterprise branch networks by running network services (firewalls,routers, load balancer, WLC, IDS) as VNFs on standard x86 host.</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Cisco ENFV provides added benefits to the ETSI NFV benefits.</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1" u="none" strike="noStrike">
                <a:solidFill>
                  <a:schemeClr val="dk1"/>
                </a:solidFill>
                <a:effectLst/>
                <a:uFillTx/>
                <a:latin typeface="Arial"/>
                <a:ea typeface="Microsoft YaHei"/>
              </a:rPr>
              <a:t>Cisco ENFV solution architecture</a:t>
            </a:r>
            <a:endParaRPr lang="en-US" sz="18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800" b="0" u="none" strike="noStrike">
                <a:solidFill>
                  <a:schemeClr val="dk1"/>
                </a:solidFill>
                <a:effectLst/>
                <a:uFillTx/>
                <a:latin typeface="Arial"/>
                <a:ea typeface="Microsoft YaHei"/>
              </a:rPr>
              <a:t>Based on ETSI NFV architecture, it has four main components</a:t>
            </a: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324000" algn="l" defTabSz="914400">
              <a:lnSpc>
                <a:spcPct val="100000"/>
              </a:lnSpc>
              <a:spcBef>
                <a:spcPts val="434"/>
              </a:spcBef>
              <a:spcAft>
                <a:spcPts val="283"/>
              </a:spcAft>
              <a:buClr>
                <a:srgbClr val="000000"/>
              </a:buClr>
              <a:buFont typeface="Arial"/>
              <a:buAutoNum type="arabicPeriod"/>
              <a:tabLst>
                <a:tab pos="0" algn="l"/>
              </a:tabLst>
            </a:pPr>
            <a:r>
              <a:rPr lang="en-US" sz="1800" b="1" u="none" strike="noStrike">
                <a:solidFill>
                  <a:schemeClr val="dk1"/>
                </a:solidFill>
                <a:effectLst/>
                <a:uFillTx/>
                <a:latin typeface="Arial"/>
                <a:ea typeface="Microsoft YaHei"/>
              </a:rPr>
              <a:t>Management and Orchestration</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Cisco Catalyst Centre (formerly DNA centre) provides MANO functionality to ENFV.</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It includes centralized dashboard and tools to design, provision manage and monitor all branch sites across enterprise.</a:t>
            </a: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18" name=""/>
          <p:cNvSpPr/>
          <p:nvPr/>
        </p:nvSpPr>
        <p:spPr>
          <a:xfrm>
            <a:off x="0" y="1980000"/>
            <a:ext cx="4349160" cy="88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119" name=""/>
          <p:cNvPicPr/>
          <p:nvPr/>
        </p:nvPicPr>
        <p:blipFill>
          <a:blip r:embed="rId1"/>
          <a:stretch/>
        </p:blipFill>
        <p:spPr>
          <a:xfrm>
            <a:off x="4850280" y="2736000"/>
            <a:ext cx="4644360" cy="2195280"/>
          </a:xfrm>
          <a:prstGeom prst="rect">
            <a:avLst/>
          </a:prstGeom>
          <a:noFill/>
          <a:ln w="0">
            <a:noFill/>
          </a:ln>
        </p:spPr>
      </p:pic>
      <p:sp>
        <p:nvSpPr>
          <p:cNvPr id="120" name=""/>
          <p:cNvSpPr/>
          <p:nvPr/>
        </p:nvSpPr>
        <p:spPr>
          <a:xfrm>
            <a:off x="0" y="1440000"/>
            <a:ext cx="4319280" cy="560556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Two of the main functions of Catalyst centre are to roll out new branch sites and deploy VNFs and network services.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It also provides a centralized policy management by creating network profiles that can be applied to branch sites.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Network profiles include:</a:t>
            </a:r>
            <a:endParaRPr lang="en-AU" sz="1800" b="0" u="none" strike="noStrike">
              <a:solidFill>
                <a:srgbClr val="000000"/>
              </a:solidFill>
              <a:effectLst/>
              <a:uFillTx/>
              <a:latin typeface="Arial"/>
            </a:endParaRPr>
          </a:p>
          <a:p>
            <a:pPr marL="360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Configuration for LAN and WAN virtual interfaces.</a:t>
            </a:r>
            <a:endParaRPr lang="en-AU" sz="1600" b="0" u="none" strike="noStrike">
              <a:solidFill>
                <a:srgbClr val="000000"/>
              </a:solidFill>
              <a:effectLst/>
              <a:uFillTx/>
              <a:latin typeface="Arial"/>
            </a:endParaRPr>
          </a:p>
          <a:p>
            <a:pPr marL="360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Services or VNFs and their system settings (CPU,memory etc) including service chaining.</a:t>
            </a:r>
            <a:endParaRPr lang="en-AU" sz="1600" b="0" u="none" strike="noStrike">
              <a:solidFill>
                <a:srgbClr val="000000"/>
              </a:solidFill>
              <a:effectLst/>
              <a:uFillTx/>
              <a:latin typeface="Arial"/>
            </a:endParaRPr>
          </a:p>
          <a:p>
            <a:pPr marL="360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ea typeface="DejaVu Sans"/>
              </a:rPr>
              <a:t>Device configuration for VNFs through configuration templates created through template editor tool.</a:t>
            </a:r>
            <a:endParaRPr lang="en-AU" sz="16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 Plug and Play allows new branch sites/ENFV to register and provision according to the network profiles assigned to the site.</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Rectangle 12">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3.Cisco Enterprise Network Function Virtualization (ENFV)</a:t>
            </a:r>
            <a:endParaRPr lang="en-AU" sz="3200" b="0" u="none" strike="noStrike">
              <a:solidFill>
                <a:srgbClr val="FFFFFF"/>
              </a:solidFill>
              <a:effectLst/>
              <a:uFillTx/>
              <a:latin typeface="Arial"/>
            </a:endParaRPr>
          </a:p>
        </p:txBody>
      </p:sp>
      <p:sp>
        <p:nvSpPr>
          <p:cNvPr id="122" name="PlaceHolder 1"/>
          <p:cNvSpPr>
            <a:spLocks noGrp="1"/>
          </p:cNvSpPr>
          <p:nvPr>
            <p:ph/>
          </p:nvPr>
        </p:nvSpPr>
        <p:spPr>
          <a:xfrm>
            <a:off x="4500000" y="91800"/>
            <a:ext cx="7467840" cy="6649560"/>
          </a:xfrm>
          <a:prstGeom prst="rect">
            <a:avLst/>
          </a:prstGeom>
          <a:noFill/>
          <a:ln w="0">
            <a:noFill/>
          </a:ln>
        </p:spPr>
        <p:txBody>
          <a:bodyPr lIns="91440" tIns="45720" rIns="91440" bIns="45720" anchor="t">
            <a:normAutofit lnSpcReduction="9999"/>
          </a:bodyPr>
          <a:p>
            <a:pPr marL="162000" indent="-162000" algn="l" defTabSz="914400">
              <a:lnSpc>
                <a:spcPct val="100000"/>
              </a:lnSpc>
              <a:spcBef>
                <a:spcPts val="283"/>
              </a:spcBef>
              <a:spcAft>
                <a:spcPts val="283"/>
              </a:spcAft>
              <a:buClr>
                <a:srgbClr val="000000"/>
              </a:buClr>
              <a:buFont typeface="OpenSymbol" charset="2"/>
              <a:buAutoNum type="arabicPeriod" startAt="2"/>
              <a:tabLst>
                <a:tab pos="0" algn="l"/>
              </a:tabLst>
            </a:pPr>
            <a:r>
              <a:rPr lang="en-US" sz="1800" b="1" u="none" strike="noStrike">
                <a:solidFill>
                  <a:schemeClr val="dk1"/>
                </a:solidFill>
                <a:effectLst/>
                <a:uFillTx/>
                <a:latin typeface="Arial"/>
                <a:ea typeface="Microsoft YaHei"/>
              </a:rPr>
              <a:t>Virtual Network Functions and Applications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Cisco and third party VNFs can be onboarded on the ENFV solution.</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Cisco supported VNFs are:</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Cisco Integrated Services Virtual Router (ISRv) for virtual routing</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Cisco ASAv for virtual firewall</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Cisco NGFWv for integrated firewall and Intrusion prevention and detection</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Viptela vEdge</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cEdge</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Cisco virtual Wide Area Application Services (vWAAS) for virtualized WAN optimization</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Cisco vWLCs</a:t>
            </a:r>
            <a:endParaRPr lang="en-US" sz="18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800" b="0" u="none" strike="noStrike">
                <a:solidFill>
                  <a:schemeClr val="dk1"/>
                </a:solidFill>
                <a:effectLst/>
                <a:uFillTx/>
                <a:latin typeface="Arial"/>
                <a:ea typeface="Microsoft YaHei"/>
              </a:rPr>
              <a:t>Third party VNFs supported by ENFV are: </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ThousandEyes</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Fortinet </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PaloAlto </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InfoVista </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CTERA</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r>
              <a:rPr lang="en-US" sz="1800" b="0" u="none" strike="noStrike">
                <a:solidFill>
                  <a:schemeClr val="dk1"/>
                </a:solidFill>
                <a:effectLst/>
                <a:uFillTx/>
                <a:latin typeface="Arial"/>
                <a:ea typeface="Microsoft YaHei"/>
              </a:rPr>
              <a:t>Windows Server and Linux Server</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23" name=""/>
          <p:cNvSpPr/>
          <p:nvPr/>
        </p:nvSpPr>
        <p:spPr>
          <a:xfrm>
            <a:off x="0" y="1980000"/>
            <a:ext cx="4349160" cy="88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sp>
        <p:nvSpPr>
          <p:cNvPr id="124" name=""/>
          <p:cNvSpPr/>
          <p:nvPr/>
        </p:nvSpPr>
        <p:spPr>
          <a:xfrm>
            <a:off x="0" y="1440000"/>
            <a:ext cx="4319280" cy="557604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Font typeface="Wingdings" charset="2"/>
              <a:buAutoNum type="arabicPeriod" startAt="3"/>
            </a:pPr>
            <a:r>
              <a:rPr lang="en-AU" sz="1800" b="1" u="none" strike="noStrike">
                <a:solidFill>
                  <a:srgbClr val="000000"/>
                </a:solidFill>
                <a:effectLst/>
                <a:uFillTx/>
                <a:latin typeface="Arial"/>
                <a:ea typeface="DejaVu Sans"/>
              </a:rPr>
              <a:t>x86 based hardware resources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Cisco ENFV is supported on following x86 hosting platforms: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Cisco Enterprise Network Compute System (ENCS)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Cisco Cloud Services Platform</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Cisco 4000 series ISRs with a Cisco UCS E-Series blade</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UCS C-Series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Which platform to choose depends on the features such as:</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VoIP</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Non-Ethernet based Interfaces (T1 or DSL)</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4G-LTE</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I/O technology such SR-IOV</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Number of cores needed</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Rectangle 13">
            <a:extLst>
              <a:ext uri="{C183D7F6-B498-43B3-948B-1728B52AA6E4}">
                <adec:decorative xmlns:adec="http://schemas.microsoft.com/office/drawing/2017/decorative" val="1"/>
              </a:ext>
            </a:extLst>
          </p:cNvPr>
          <p:cNvSpPr/>
          <p:nvPr/>
        </p:nvSpPr>
        <p:spPr>
          <a:xfrm>
            <a:off x="0" y="360"/>
            <a:ext cx="4350240" cy="129996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3.Cisco Enterprise Network Function Virtualization (ENFV)</a:t>
            </a:r>
            <a:endParaRPr lang="en-AU" sz="3200" b="0" u="none" strike="noStrike">
              <a:solidFill>
                <a:srgbClr val="FFFFFF"/>
              </a:solidFill>
              <a:effectLst/>
              <a:uFillTx/>
              <a:latin typeface="Arial"/>
            </a:endParaRPr>
          </a:p>
        </p:txBody>
      </p:sp>
      <p:sp>
        <p:nvSpPr>
          <p:cNvPr id="126" name="PlaceHolder 1"/>
          <p:cNvSpPr>
            <a:spLocks noGrp="1"/>
          </p:cNvSpPr>
          <p:nvPr>
            <p:ph/>
          </p:nvPr>
        </p:nvSpPr>
        <p:spPr>
          <a:xfrm>
            <a:off x="4500000" y="91800"/>
            <a:ext cx="7467840" cy="6649560"/>
          </a:xfrm>
          <a:prstGeom prst="rect">
            <a:avLst/>
          </a:prstGeom>
          <a:noFill/>
          <a:ln w="0">
            <a:noFill/>
          </a:ln>
        </p:spPr>
        <p:txBody>
          <a:bodyPr lIns="91440" tIns="45720" rIns="91440" bIns="45720" anchor="t">
            <a:normAutofit fontScale="92500" lnSpcReduction="9999"/>
          </a:bodyPr>
          <a:p>
            <a:pPr marL="216000" indent="-216000" algn="l" defTabSz="914400">
              <a:lnSpc>
                <a:spcPct val="100000"/>
              </a:lnSpc>
              <a:spcBef>
                <a:spcPts val="1205"/>
              </a:spcBef>
              <a:buClr>
                <a:srgbClr val="000000"/>
              </a:buClr>
              <a:buFont typeface="Arial"/>
              <a:buAutoNum type="arabicPeriod" startAt="4"/>
              <a:tabLst>
                <a:tab pos="0" algn="l"/>
              </a:tabLst>
            </a:pPr>
            <a:r>
              <a:rPr lang="en-AU" sz="1800" b="1" u="none" strike="noStrike">
                <a:solidFill>
                  <a:schemeClr val="dk1"/>
                </a:solidFill>
                <a:effectLst/>
                <a:uFillTx/>
                <a:latin typeface="Arial"/>
                <a:ea typeface="Microsoft YaHei"/>
              </a:rPr>
              <a:t>Network Function Virtualization Infrastructure Software (NFVIS)</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NFVIS is based on standard Linux packaged with additional functions for virtualization, VNF lifecycle management, monitoring, device programmability and hardware acceleration.</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Components of NFVIS are shown in the figure:</a:t>
            </a:r>
            <a:endParaRPr lang="en-US" sz="1800" b="0" u="none" strike="noStrike">
              <a:solidFill>
                <a:schemeClr val="dk1"/>
              </a:solidFill>
              <a:effectLst/>
              <a:uFillTx/>
              <a:latin typeface="Aptos"/>
            </a:endParaRPr>
          </a:p>
          <a:p>
            <a:pPr marL="216000" indent="0" algn="l" defTabSz="914400">
              <a:lnSpc>
                <a:spcPct val="100000"/>
              </a:lnSpc>
              <a:spcBef>
                <a:spcPts val="1205"/>
              </a:spcBef>
              <a:buNone/>
              <a:tabLst>
                <a:tab pos="0" algn="l"/>
              </a:tabLst>
            </a:pPr>
            <a:r>
              <a:rPr lang="en-AU" sz="1800" b="0" u="none" strike="noStrike">
                <a:solidFill>
                  <a:schemeClr val="dk1"/>
                </a:solidFill>
                <a:effectLst/>
                <a:uFillTx/>
                <a:latin typeface="Arial"/>
                <a:ea typeface="Microsoft YaHei"/>
              </a:rPr>
              <a:t>Linux: Drives the underlying x86 hosting platform and hosts virtualization for VNFs, vSwitch API, interface drivers, platform drivers and management.</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Hypervisor : Based on Kernel-based Virtual Machine (KVM) and include Quick Emulator (QEMU), LibVirt and other associated libraries.</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Vswitch: It is Open vSwitch (OVS) and it enables communication between VNFs and outside network.</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VM Lifecycle Maangement: Provides VIM functionality of NFV framework through ENFV embedded Elastic Services Controller (ECS) lite. ECS lite supports dynamic bringup of VNFs-creating and deleting VNFs, addinf CPU core, memory and storage. It also supports monitoring of VNF with auto restart of VNFs and send alarm to SNMP or Syslog.</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PnP Client: Enables bring up of new hosting platform. It communicates with PnP Server on Catalyst Center to provision and zero touch deployment of x86 hosts.</a:t>
            </a:r>
            <a:endParaRPr lang="en-US" sz="1800" b="0" u="none" strike="noStrike">
              <a:solidFill>
                <a:schemeClr val="dk1"/>
              </a:solidFill>
              <a:effectLst/>
              <a:uFillTx/>
              <a:latin typeface="Aptos"/>
            </a:endParaRPr>
          </a:p>
          <a:p>
            <a:pPr marL="216000" indent="-216000" algn="l" defTabSz="914400">
              <a:lnSpc>
                <a:spcPct val="100000"/>
              </a:lnSpc>
              <a:spcBef>
                <a:spcPts val="1205"/>
              </a:spcBef>
              <a:buClr>
                <a:srgbClr val="000000"/>
              </a:buClr>
              <a:buSzPct val="45000"/>
              <a:buFont typeface="Wingdings" charset="2"/>
              <a:buChar char=""/>
              <a:tabLst>
                <a:tab pos="0" algn="l"/>
              </a:tabLst>
            </a:pPr>
            <a:r>
              <a:rPr lang="en-AU" sz="1800" b="0" u="none" strike="noStrike">
                <a:solidFill>
                  <a:schemeClr val="dk1"/>
                </a:solidFill>
                <a:effectLst/>
                <a:uFillTx/>
                <a:latin typeface="Arial"/>
                <a:ea typeface="Microsoft YaHei"/>
              </a:rPr>
              <a:t>RBAC: Users accessing the platform are authenticated using RBAC.</a:t>
            </a:r>
            <a:endParaRPr lang="en-US" sz="1800" b="0" u="none" strike="noStrike">
              <a:solidFill>
                <a:schemeClr val="dk1"/>
              </a:solidFill>
              <a:effectLst/>
              <a:uFillTx/>
              <a:latin typeface="Aptos"/>
            </a:endParaRPr>
          </a:p>
          <a:p>
            <a:pPr marL="360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8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27" name=""/>
          <p:cNvSpPr/>
          <p:nvPr/>
        </p:nvSpPr>
        <p:spPr>
          <a:xfrm>
            <a:off x="0" y="1980000"/>
            <a:ext cx="4349160" cy="887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434"/>
              </a:spcBef>
              <a:spcAft>
                <a:spcPts val="283"/>
              </a:spcAft>
              <a:tabLst>
                <a:tab pos="0" algn="l"/>
              </a:tabLst>
            </a:pPr>
            <a:endParaRPr lang="en-AU" sz="18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sp>
        <p:nvSpPr>
          <p:cNvPr id="128" name=""/>
          <p:cNvSpPr/>
          <p:nvPr/>
        </p:nvSpPr>
        <p:spPr>
          <a:xfrm>
            <a:off x="0" y="1440000"/>
            <a:ext cx="4319280" cy="255852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Orchestration:</a:t>
            </a:r>
            <a:r>
              <a:rPr lang="en-AU" sz="1800" b="1" u="none" strike="noStrike">
                <a:solidFill>
                  <a:srgbClr val="000000"/>
                </a:solidFill>
                <a:effectLst/>
                <a:uFillTx/>
                <a:latin typeface="Arial"/>
                <a:ea typeface="DejaVu Sans"/>
              </a:rPr>
              <a:t> </a:t>
            </a:r>
            <a:r>
              <a:rPr lang="en-AU" sz="1800" b="0" u="none" strike="noStrike">
                <a:solidFill>
                  <a:srgbClr val="000000"/>
                </a:solidFill>
                <a:effectLst/>
                <a:uFillTx/>
                <a:latin typeface="Arial"/>
                <a:ea typeface="DejaVu Sans"/>
              </a:rPr>
              <a:t>REST, CLI, HTTPS and NETCONF/YANG data models are supported for orchestration and management.</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ea typeface="DejaVu Sans"/>
              </a:rPr>
              <a:t>HTTPS Web Server: Provides connectivity to local platform for task such as VNF code uploading, start/stop VNFs/services, connect to VNFs and monitor services.</a:t>
            </a:r>
            <a:endParaRPr lang="en-AU" sz="1800" b="0" u="none" strike="noStrike">
              <a:solidFill>
                <a:srgbClr val="000000"/>
              </a:solidFill>
              <a:effectLst/>
              <a:uFillTx/>
              <a:latin typeface="Arial"/>
            </a:endParaRPr>
          </a:p>
        </p:txBody>
      </p:sp>
      <p:pic>
        <p:nvPicPr>
          <p:cNvPr id="129" name=""/>
          <p:cNvPicPr/>
          <p:nvPr/>
        </p:nvPicPr>
        <p:blipFill>
          <a:blip r:embed="rId1"/>
          <a:stretch/>
        </p:blipFill>
        <p:spPr>
          <a:xfrm>
            <a:off x="218880" y="4212000"/>
            <a:ext cx="4049640" cy="24213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pitchFamily="0" charset="1"/>
        <a:ea typeface=""/>
        <a:cs typeface=""/>
      </a:majorFont>
      <a:minorFont>
        <a:latin typeface="Aptos" panose="020B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1619</TotalTime>
  <Application>LibreOffice/26.2.5.2$Windows_X86_64 LibreOffice_project/cd7284b4cbbfeb507e630c1aac019f4157393acb</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2013-07-15T20:26:40Z</dcterms:created>
  <dc:creator/>
  <dc:description/>
  <dc:language>en-AU</dc:language>
  <cp:lastModifiedBy/>
  <dcterms:modified xsi:type="dcterms:W3CDTF">2026-08-14T09:07:09Z</dcterms:modified>
  <cp:revision>21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vt:i4>
  </property>
</Properties>
</file>